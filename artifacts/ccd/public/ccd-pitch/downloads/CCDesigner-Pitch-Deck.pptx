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image" Target="../media/image-12-15.png"/><Relationship Id="rId16" Type="http://schemas.openxmlformats.org/officeDocument/2006/relationships/image" Target="../media/image-12-16.svg"/><Relationship Id="rId17" Type="http://schemas.openxmlformats.org/officeDocument/2006/relationships/image" Target="../media/image-12-17.png"/><Relationship Id="rId18" Type="http://schemas.openxmlformats.org/officeDocument/2006/relationships/image" Target="../media/image-12-18.svg"/><Relationship Id="rId19" Type="http://schemas.openxmlformats.org/officeDocument/2006/relationships/image" Target="../media/image-12-19.png"/><Relationship Id="rId20" Type="http://schemas.openxmlformats.org/officeDocument/2006/relationships/image" Target="../media/image-12-20.svg"/><Relationship Id="rId21" Type="http://schemas.openxmlformats.org/officeDocument/2006/relationships/image" Target="../media/image-12-21.png"/><Relationship Id="rId22" Type="http://schemas.openxmlformats.org/officeDocument/2006/relationships/image" Target="../media/image-12-22.svg"/><Relationship Id="rId23" Type="http://schemas.openxmlformats.org/officeDocument/2006/relationships/image" Target="../media/image-12-23.png"/><Relationship Id="rId24" Type="http://schemas.openxmlformats.org/officeDocument/2006/relationships/image" Target="../media/image-12-24.svg"/><Relationship Id="rId25" Type="http://schemas.openxmlformats.org/officeDocument/2006/relationships/image" Target="../media/image-12-25.png"/><Relationship Id="rId26" Type="http://schemas.openxmlformats.org/officeDocument/2006/relationships/image" Target="../media/image-12-26.svg"/><Relationship Id="rId27" Type="http://schemas.openxmlformats.org/officeDocument/2006/relationships/image" Target="../media/image-12-27.png"/><Relationship Id="rId28" Type="http://schemas.openxmlformats.org/officeDocument/2006/relationships/image" Target="../media/image-12-28.svg"/><Relationship Id="rId29" Type="http://schemas.openxmlformats.org/officeDocument/2006/relationships/image" Target="../media/image-12-29.png"/><Relationship Id="rId30" Type="http://schemas.openxmlformats.org/officeDocument/2006/relationships/slideLayout" Target="../slideLayouts/slideLayout1.xml"/><Relationship Id="rId3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image" Target="../media/image-17-10.svg"/><Relationship Id="rId11" Type="http://schemas.openxmlformats.org/officeDocument/2006/relationships/image" Target="../media/image-17-11.png"/><Relationship Id="rId12" Type="http://schemas.openxmlformats.org/officeDocument/2006/relationships/image" Target="../media/image-17-12.svg"/><Relationship Id="rId13" Type="http://schemas.openxmlformats.org/officeDocument/2006/relationships/image" Target="../media/image-17-13.png"/><Relationship Id="rId14" Type="http://schemas.openxmlformats.org/officeDocument/2006/relationships/slideLayout" Target="../slideLayouts/slideLayout1.xml"/><Relationship Id="rId1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image" Target="../media/image-20-11.png"/><Relationship Id="rId12" Type="http://schemas.openxmlformats.org/officeDocument/2006/relationships/image" Target="../media/image-20-12.svg"/><Relationship Id="rId13" Type="http://schemas.openxmlformats.org/officeDocument/2006/relationships/image" Target="../media/image-20-13.png"/><Relationship Id="rId14" Type="http://schemas.openxmlformats.org/officeDocument/2006/relationships/image" Target="../media/image-20-14.svg"/><Relationship Id="rId15" Type="http://schemas.openxmlformats.org/officeDocument/2006/relationships/image" Target="../media/image-20-15.png"/><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86296" y="3991273"/>
            <a:ext cx="61912" cy="61912"/>
          </a:xfrm>
          <a:prstGeom prst="ellipse">
            <a:avLst/>
          </a:prstGeom>
          <a:solidFill>
            <a:srgbClr val="B86F3A"/>
          </a:solidFill>
          <a:ln/>
          <a:effectLst>
            <a:outerShdw sx="100000" sy="100000" kx="0" ky="0" algn="bl" rotWithShape="0" blurRad="101600" dist="50800" dir="16200000">
              <a:srgbClr val="B86F3A">
                <a:alpha val="10000"/>
              </a:srgbClr>
            </a:outerShdw>
          </a:effectLst>
        </p:spPr>
      </p:sp>
      <p:sp>
        <p:nvSpPr>
          <p:cNvPr id="3" name="Text 1"/>
          <p:cNvSpPr/>
          <p:nvPr/>
        </p:nvSpPr>
        <p:spPr>
          <a:xfrm>
            <a:off x="914884" y="4111861"/>
            <a:ext cx="404813" cy="104775"/>
          </a:xfrm>
          <a:prstGeom prst="rect">
            <a:avLst/>
          </a:prstGeom>
          <a:ln/>
        </p:spPr>
        <p:txBody>
          <a:bodyPr wrap="square" lIns="0" tIns="0" rIns="0" bIns="0" rtlCol="0" anchor="t"/>
          <a:lstStyle/>
          <a:p>
            <a:pPr algn="l" indent="0" marL="0">
              <a:lnSpc>
                <a:spcPts val="842"/>
              </a:lnSpc>
              <a:spcBef>
                <a:spcPts val="446"/>
              </a:spcBef>
              <a:buNone/>
            </a:pPr>
            <a:r>
              <a:rPr lang="en-US" sz="500" dirty="0">
                <a:solidFill>
                  <a:srgbClr val="5C4530"/>
                </a:solidFill>
                <a:latin typeface="Inter" pitchFamily="34" charset="0"/>
                <a:ea typeface="Inter" pitchFamily="34" charset="-122"/>
                <a:cs typeface="Inter" pitchFamily="34" charset="-120"/>
              </a:rPr>
              <a:t>SCHOOLS</a:t>
            </a:r>
            <a:endParaRPr lang="en-US" sz="5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205" y="4039865"/>
            <a:ext cx="504825" cy="4763"/>
          </a:xfrm>
          <a:prstGeom prst="rect">
            <a:avLst/>
          </a:prstGeom>
        </p:spPr>
      </p:pic>
      <p:sp>
        <p:nvSpPr>
          <p:cNvPr id="5" name="Shape 2"/>
          <p:cNvSpPr/>
          <p:nvPr/>
        </p:nvSpPr>
        <p:spPr>
          <a:xfrm>
            <a:off x="2289721" y="3991273"/>
            <a:ext cx="61912" cy="61912"/>
          </a:xfrm>
          <a:prstGeom prst="ellipse">
            <a:avLst/>
          </a:prstGeom>
          <a:solidFill>
            <a:srgbClr val="B86F3A"/>
          </a:solidFill>
          <a:ln/>
          <a:effectLst>
            <a:outerShdw sx="100000" sy="100000" kx="0" ky="0" algn="bl" rotWithShape="0" blurRad="101600" dist="50800" dir="16200000">
              <a:srgbClr val="B86F3A">
                <a:alpha val="10000"/>
              </a:srgbClr>
            </a:outerShdw>
          </a:effectLst>
        </p:spPr>
      </p:sp>
      <p:sp>
        <p:nvSpPr>
          <p:cNvPr id="6" name="Text 3"/>
          <p:cNvSpPr/>
          <p:nvPr/>
        </p:nvSpPr>
        <p:spPr>
          <a:xfrm>
            <a:off x="2080171" y="4111861"/>
            <a:ext cx="481012" cy="104775"/>
          </a:xfrm>
          <a:prstGeom prst="rect">
            <a:avLst/>
          </a:prstGeom>
          <a:ln/>
        </p:spPr>
        <p:txBody>
          <a:bodyPr wrap="square" lIns="0" tIns="0" rIns="0" bIns="0" rtlCol="0" anchor="t"/>
          <a:lstStyle/>
          <a:p>
            <a:pPr algn="l" indent="0" marL="0">
              <a:lnSpc>
                <a:spcPts val="842"/>
              </a:lnSpc>
              <a:spcBef>
                <a:spcPts val="446"/>
              </a:spcBef>
              <a:buNone/>
            </a:pPr>
            <a:r>
              <a:rPr lang="en-US" sz="500" dirty="0">
                <a:solidFill>
                  <a:srgbClr val="5C4530"/>
                </a:solidFill>
                <a:latin typeface="Inter" pitchFamily="34" charset="0"/>
                <a:ea typeface="Inter" pitchFamily="34" charset="-122"/>
                <a:cs typeface="Inter" pitchFamily="34" charset="-120"/>
              </a:rPr>
              <a:t>ARTS ORGS</a:t>
            </a:r>
            <a:endParaRPr lang="en-US" sz="5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9324" y="4039865"/>
            <a:ext cx="504825" cy="4763"/>
          </a:xfrm>
          <a:prstGeom prst="rect">
            <a:avLst/>
          </a:prstGeom>
        </p:spPr>
      </p:pic>
      <p:sp>
        <p:nvSpPr>
          <p:cNvPr id="8" name="Shape 4"/>
          <p:cNvSpPr/>
          <p:nvPr/>
        </p:nvSpPr>
        <p:spPr>
          <a:xfrm>
            <a:off x="3627462" y="3991273"/>
            <a:ext cx="61912" cy="61912"/>
          </a:xfrm>
          <a:prstGeom prst="ellipse">
            <a:avLst/>
          </a:prstGeom>
          <a:solidFill>
            <a:srgbClr val="B86F3A"/>
          </a:solidFill>
          <a:ln/>
          <a:effectLst>
            <a:outerShdw sx="100000" sy="100000" kx="0" ky="0" algn="bl" rotWithShape="0" blurRad="101600" dist="50800" dir="16200000">
              <a:srgbClr val="B86F3A">
                <a:alpha val="10000"/>
              </a:srgbClr>
            </a:outerShdw>
          </a:effectLst>
        </p:spPr>
      </p:sp>
      <p:sp>
        <p:nvSpPr>
          <p:cNvPr id="9" name="Text 5"/>
          <p:cNvSpPr/>
          <p:nvPr/>
        </p:nvSpPr>
        <p:spPr>
          <a:xfrm>
            <a:off x="3320318" y="4111861"/>
            <a:ext cx="676275" cy="104775"/>
          </a:xfrm>
          <a:prstGeom prst="rect">
            <a:avLst/>
          </a:prstGeom>
          <a:ln/>
        </p:spPr>
        <p:txBody>
          <a:bodyPr wrap="square" lIns="0" tIns="0" rIns="0" bIns="0" rtlCol="0" anchor="t"/>
          <a:lstStyle/>
          <a:p>
            <a:pPr algn="l" indent="0" marL="0">
              <a:lnSpc>
                <a:spcPts val="842"/>
              </a:lnSpc>
              <a:spcBef>
                <a:spcPts val="446"/>
              </a:spcBef>
              <a:buNone/>
            </a:pPr>
            <a:r>
              <a:rPr lang="en-US" sz="500" dirty="0">
                <a:solidFill>
                  <a:srgbClr val="5C4530"/>
                </a:solidFill>
                <a:latin typeface="Inter" pitchFamily="34" charset="0"/>
                <a:ea typeface="Inter" pitchFamily="34" charset="-122"/>
                <a:cs typeface="Inter" pitchFamily="34" charset="-120"/>
              </a:rPr>
              <a:t>PRACTITIONERS</a:t>
            </a:r>
            <a:endParaRPr lang="en-US" sz="5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22762" y="4039865"/>
            <a:ext cx="504825" cy="4763"/>
          </a:xfrm>
          <a:prstGeom prst="rect">
            <a:avLst/>
          </a:prstGeom>
        </p:spPr>
      </p:pic>
      <p:sp>
        <p:nvSpPr>
          <p:cNvPr id="11" name="Shape 6"/>
          <p:cNvSpPr/>
          <p:nvPr/>
        </p:nvSpPr>
        <p:spPr>
          <a:xfrm>
            <a:off x="4937075" y="3991273"/>
            <a:ext cx="61912" cy="61912"/>
          </a:xfrm>
          <a:prstGeom prst="ellipse">
            <a:avLst/>
          </a:prstGeom>
          <a:solidFill>
            <a:srgbClr val="B86F3A"/>
          </a:solidFill>
          <a:ln/>
          <a:effectLst>
            <a:outerShdw sx="100000" sy="100000" kx="0" ky="0" algn="bl" rotWithShape="0" blurRad="101600" dist="50800" dir="16200000">
              <a:srgbClr val="B86F3A">
                <a:alpha val="10000"/>
              </a:srgbClr>
            </a:outerShdw>
          </a:effectLst>
        </p:spPr>
      </p:sp>
      <p:sp>
        <p:nvSpPr>
          <p:cNvPr id="12" name="Text 7"/>
          <p:cNvSpPr/>
          <p:nvPr/>
        </p:nvSpPr>
        <p:spPr>
          <a:xfrm>
            <a:off x="4753756" y="4111861"/>
            <a:ext cx="428625" cy="104775"/>
          </a:xfrm>
          <a:prstGeom prst="rect">
            <a:avLst/>
          </a:prstGeom>
          <a:ln/>
        </p:spPr>
        <p:txBody>
          <a:bodyPr wrap="square" lIns="0" tIns="0" rIns="0" bIns="0" rtlCol="0" anchor="t"/>
          <a:lstStyle/>
          <a:p>
            <a:pPr algn="l" indent="0" marL="0">
              <a:lnSpc>
                <a:spcPts val="842"/>
              </a:lnSpc>
              <a:spcBef>
                <a:spcPts val="446"/>
              </a:spcBef>
              <a:buNone/>
            </a:pPr>
            <a:r>
              <a:rPr lang="en-US" sz="500" dirty="0">
                <a:solidFill>
                  <a:srgbClr val="5C4530"/>
                </a:solidFill>
                <a:latin typeface="Inter" pitchFamily="34" charset="0"/>
                <a:ea typeface="Inter" pitchFamily="34" charset="-122"/>
                <a:cs typeface="Inter" pitchFamily="34" charset="-120"/>
              </a:rPr>
              <a:t>CHILDREN</a:t>
            </a:r>
            <a:endParaRPr lang="en-US" sz="500" dirty="0"/>
          </a:p>
        </p:txBody>
      </p:sp>
      <p:sp>
        <p:nvSpPr>
          <p:cNvPr id="13" name="Text 8"/>
          <p:cNvSpPr/>
          <p:nvPr/>
        </p:nvSpPr>
        <p:spPr>
          <a:xfrm>
            <a:off x="914400" y="4776713"/>
            <a:ext cx="7315200" cy="109537"/>
          </a:xfrm>
          <a:prstGeom prst="rect">
            <a:avLst/>
          </a:prstGeom>
          <a:ln/>
        </p:spPr>
        <p:txBody>
          <a:bodyPr wrap="square" lIns="0" tIns="0" rIns="0" bIns="0" rtlCol="0" anchor="t"/>
          <a:lstStyle/>
          <a:p>
            <a:pPr algn="l" indent="0" marL="0">
              <a:lnSpc>
                <a:spcPts val="864"/>
              </a:lnSpc>
              <a:buNone/>
            </a:pPr>
            <a:r>
              <a:rPr lang="en-US" sz="500" dirty="0">
                <a:solidFill>
                  <a:srgbClr val="5C4530"/>
                </a:solidFill>
                <a:latin typeface="Inter" pitchFamily="34" charset="0"/>
                <a:ea typeface="Inter" pitchFamily="34" charset="-122"/>
                <a:cs typeface="Inter" pitchFamily="34" charset="-120"/>
              </a:rPr>
              <a:t>CREATIVE CURRICULUM DESIGNER</a:t>
            </a:r>
            <a:pPr algn="l" indent="0" marL="0">
              <a:lnSpc>
                <a:spcPts val="864"/>
              </a:lnSpc>
              <a:buNone/>
            </a:pPr>
            <a:r>
              <a:rPr lang="en-US" sz="500" dirty="0">
                <a:solidFill>
                  <a:srgbClr val="5C4530"/>
                </a:solidFill>
                <a:latin typeface="Inter" pitchFamily="34" charset="0"/>
                <a:ea typeface="Inter" pitchFamily="34" charset="-122"/>
                <a:cs typeface="Inter" pitchFamily="34" charset="-120"/>
              </a:rPr>
              <a:t>creativecurriculumdesigner.com</a:t>
            </a:r>
            <a:endParaRPr lang="en-US" sz="500" dirty="0"/>
          </a:p>
        </p:txBody>
      </p:sp>
      <p:sp>
        <p:nvSpPr>
          <p:cNvPr id="14" name="Text 9"/>
          <p:cNvSpPr/>
          <p:nvPr/>
        </p:nvSpPr>
        <p:spPr>
          <a:xfrm>
            <a:off x="915330" y="1540966"/>
            <a:ext cx="6581775" cy="128588"/>
          </a:xfrm>
          <a:prstGeom prst="rect">
            <a:avLst/>
          </a:prstGeom>
          <a:ln/>
        </p:spPr>
        <p:txBody>
          <a:bodyPr wrap="square" lIns="0" tIns="0" rIns="0" bIns="0" rtlCol="0" anchor="t"/>
          <a:lstStyle/>
          <a:p>
            <a:pPr algn="l" indent="0" marL="0">
              <a:lnSpc>
                <a:spcPts val="1026"/>
              </a:lnSpc>
              <a:buNone/>
            </a:pPr>
            <a:r>
              <a:rPr lang="en-US" sz="600" dirty="0">
                <a:solidFill>
                  <a:srgbClr val="7A5A3A"/>
                </a:solidFill>
                <a:latin typeface="Inter" pitchFamily="34" charset="0"/>
                <a:ea typeface="Inter" pitchFamily="34" charset="-122"/>
                <a:cs typeface="Inter" pitchFamily="34" charset="-120"/>
              </a:rPr>
              <a:t>A PROPOSAL TO THE ARTS COUNCIL</a:t>
            </a:r>
            <a:endParaRPr lang="en-US" sz="600" dirty="0"/>
          </a:p>
        </p:txBody>
      </p:sp>
      <p:sp>
        <p:nvSpPr>
          <p:cNvPr id="15" name="Text 10"/>
          <p:cNvSpPr/>
          <p:nvPr/>
        </p:nvSpPr>
        <p:spPr>
          <a:xfrm>
            <a:off x="915330" y="1833711"/>
            <a:ext cx="6581775" cy="1009650"/>
          </a:xfrm>
          <a:prstGeom prst="rect">
            <a:avLst/>
          </a:prstGeom>
          <a:ln/>
        </p:spPr>
        <p:txBody>
          <a:bodyPr wrap="square" lIns="0" tIns="0" rIns="0" bIns="0" rtlCol="0" anchor="t"/>
          <a:lstStyle/>
          <a:p>
            <a:pPr algn="l" indent="0" marL="0">
              <a:lnSpc>
                <a:spcPts val="3966"/>
              </a:lnSpc>
              <a:spcBef>
                <a:spcPts val="1296"/>
              </a:spcBef>
              <a:buNone/>
            </a:pPr>
            <a:r>
              <a:rPr lang="en-US" sz="3800" dirty="0">
                <a:solidFill>
                  <a:srgbClr val="1F1A14"/>
                </a:solidFill>
                <a:latin typeface="Inter" pitchFamily="34" charset="0"/>
                <a:ea typeface="Inter" pitchFamily="34" charset="-122"/>
                <a:cs typeface="Inter" pitchFamily="34" charset="-120"/>
              </a:rPr>
              <a:t>Bringing the arts</a:t>
            </a:r>
            <a:pPr algn="l" indent="0" marL="0">
              <a:buNone/>
            </a:pPr>
            <a:endParaRPr lang="en-US" sz="3800" dirty="0"/>
          </a:p>
          <a:p>
            <a:pPr algn="l" indent="0" marL="0">
              <a:lnSpc>
                <a:spcPts val="3966"/>
              </a:lnSpc>
              <a:buNone/>
            </a:pPr>
            <a:r>
              <a:rPr lang="en-US" sz="3800" i="1" dirty="0">
                <a:solidFill>
                  <a:srgbClr val="B86F3A"/>
                </a:solidFill>
                <a:latin typeface="Inter" pitchFamily="34" charset="0"/>
                <a:ea typeface="Inter" pitchFamily="34" charset="-122"/>
                <a:cs typeface="Inter" pitchFamily="34" charset="-120"/>
              </a:rPr>
              <a:t>together</a:t>
            </a:r>
            <a:pPr algn="l" indent="0" marL="0">
              <a:lnSpc>
                <a:spcPts val="3966"/>
              </a:lnSpc>
              <a:spcBef>
                <a:spcPts val="1296"/>
              </a:spcBef>
              <a:buNone/>
            </a:pPr>
            <a:r>
              <a:rPr lang="en-US" sz="3800" dirty="0">
                <a:solidFill>
                  <a:srgbClr val="1F1A14"/>
                </a:solidFill>
                <a:latin typeface="Inter" pitchFamily="34" charset="0"/>
                <a:ea typeface="Inter" pitchFamily="34" charset="-122"/>
                <a:cs typeface="Inter" pitchFamily="34" charset="-120"/>
              </a:rPr>
              <a:t> </a:t>
            </a:r>
            <a:pPr algn="l" indent="0" marL="0">
              <a:lnSpc>
                <a:spcPts val="3966"/>
              </a:lnSpc>
              <a:buNone/>
            </a:pPr>
            <a:r>
              <a:rPr lang="en-US" sz="3800" dirty="0">
                <a:solidFill>
                  <a:srgbClr val="1F1A14"/>
                </a:solidFill>
                <a:latin typeface="Inter" pitchFamily="34" charset="0"/>
                <a:ea typeface="Inter" pitchFamily="34" charset="-122"/>
                <a:cs typeface="Inter" pitchFamily="34" charset="-120"/>
              </a:rPr>
              <a:t>— for every child.</a:t>
            </a:r>
            <a:endParaRPr lang="en-US" sz="3800" dirty="0"/>
          </a:p>
        </p:txBody>
      </p:sp>
      <p:sp>
        <p:nvSpPr>
          <p:cNvPr id="16" name="Text 11"/>
          <p:cNvSpPr/>
          <p:nvPr/>
        </p:nvSpPr>
        <p:spPr>
          <a:xfrm>
            <a:off x="914846" y="3046958"/>
            <a:ext cx="4205288" cy="557213"/>
          </a:xfrm>
          <a:prstGeom prst="rect">
            <a:avLst/>
          </a:prstGeom>
          <a:ln/>
        </p:spPr>
        <p:txBody>
          <a:bodyPr wrap="square" lIns="0" tIns="0" rIns="0" bIns="0" rtlCol="0" anchor="t"/>
          <a:lstStyle/>
          <a:p>
            <a:pPr algn="l" indent="0" marL="0">
              <a:lnSpc>
                <a:spcPts val="1458"/>
              </a:lnSpc>
              <a:spcBef>
                <a:spcPts val="1620"/>
              </a:spcBef>
              <a:buNone/>
            </a:pPr>
            <a:r>
              <a:rPr lang="en-US" sz="900" dirty="0">
                <a:solidFill>
                  <a:srgbClr val="2A2218"/>
                </a:solidFill>
                <a:latin typeface="Inter" pitchFamily="34" charset="0"/>
                <a:ea typeface="Inter" pitchFamily="34" charset="-122"/>
                <a:cs typeface="Inter" pitchFamily="34" charset="-120"/>
              </a:rPr>
              <a:t>One connected home for schools, arts organisations and practitioners — so exceptional creative opportunities reach the children who need them.</a:t>
            </a:r>
            <a:endParaRPr lang="en-US" sz="900" dirty="0"/>
          </a:p>
        </p:txBody>
      </p:sp>
      <p:pic>
        <p:nvPicPr>
          <p:cNvPr id="17" name="Image 3" descr="preencoded.png">    </p:cNvPr>
          <p:cNvPicPr>
            <a:picLocks noChangeAspect="1"/>
          </p:cNvPicPr>
          <p:nvPr/>
        </p:nvPicPr>
        <p:blipFill>
          <a:blip r:embed="rId7"/>
          <a:stretch>
            <a:fillRect/>
          </a:stretch>
        </p:blipFill>
        <p:spPr>
          <a:xfrm>
            <a:off x="228600" y="154260"/>
            <a:ext cx="857250" cy="257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39812" y="359532"/>
            <a:ext cx="828675" cy="138113"/>
          </a:xfrm>
          <a:prstGeom prst="rect">
            <a:avLst/>
          </a:prstGeom>
          <a:ln/>
        </p:spPr>
        <p:txBody>
          <a:bodyPr wrap="square" lIns="0" tIns="0" rIns="0" bIns="0" rtlCol="0" anchor="t"/>
          <a:lstStyle/>
          <a:p>
            <a:pPr algn="l" indent="0" marL="0">
              <a:lnSpc>
                <a:spcPts val="1080"/>
              </a:lnSpc>
              <a:spcAft>
                <a:spcPts val="1215"/>
              </a:spcAft>
              <a:buNone/>
            </a:pPr>
            <a:r>
              <a:rPr lang="en-US" sz="700" b="1" dirty="0">
                <a:solidFill>
                  <a:srgbClr val="FF6B6B"/>
                </a:solidFill>
                <a:latin typeface="Inter" pitchFamily="34" charset="0"/>
                <a:ea typeface="Inter" pitchFamily="34" charset="-122"/>
                <a:cs typeface="Inter" pitchFamily="34" charset="-120"/>
              </a:rPr>
              <a:t>THE PROBLEM</a:t>
            </a:r>
            <a:endParaRPr lang="en-US" sz="700" dirty="0"/>
          </a:p>
        </p:txBody>
      </p:sp>
      <p:sp>
        <p:nvSpPr>
          <p:cNvPr id="4" name="Text 2"/>
          <p:cNvSpPr/>
          <p:nvPr/>
        </p:nvSpPr>
        <p:spPr>
          <a:xfrm>
            <a:off x="639105" y="651979"/>
            <a:ext cx="3171825" cy="1285875"/>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Arts teachers are working alone.</a:t>
            </a:r>
            <a:endParaRPr lang="en-US" sz="3300" dirty="0"/>
          </a:p>
        </p:txBody>
      </p:sp>
      <p:sp>
        <p:nvSpPr>
          <p:cNvPr id="5" name="Text 3"/>
          <p:cNvSpPr/>
          <p:nvPr/>
        </p:nvSpPr>
        <p:spPr>
          <a:xfrm>
            <a:off x="639105" y="2092449"/>
            <a:ext cx="3171825" cy="1114425"/>
          </a:xfrm>
          <a:prstGeom prst="rect">
            <a:avLst/>
          </a:prstGeom>
          <a:ln/>
        </p:spPr>
        <p:txBody>
          <a:bodyPr wrap="square" lIns="0" tIns="0" rIns="0" bIns="0" rtlCol="0" anchor="t"/>
          <a:lstStyle/>
          <a:p>
            <a:pPr algn="l" indent="0" marL="0">
              <a:lnSpc>
                <a:spcPts val="1755"/>
              </a:lnSpc>
              <a:spcBef>
                <a:spcPts val="1215"/>
              </a:spcBef>
              <a:buNone/>
            </a:pPr>
            <a:r>
              <a:rPr lang="en-US" sz="1000" dirty="0">
                <a:solidFill>
                  <a:srgbClr val="6B7D80"/>
                </a:solidFill>
                <a:latin typeface="Inter" pitchFamily="34" charset="0"/>
                <a:ea typeface="Inter" pitchFamily="34" charset="-122"/>
                <a:cs typeface="Inter" pitchFamily="34" charset="-120"/>
              </a:rPr>
              <a:t>Drama, dance and music teachers stitch a year together from PDFs, shared drives, photocopied schemes and last year's tabs — often as the only specialist in the building. Great practice gets lost; non-specialists are left guessing.</a:t>
            </a:r>
            <a:endParaRPr lang="en-US" sz="1000" dirty="0"/>
          </a:p>
        </p:txBody>
      </p:sp>
      <p:sp>
        <p:nvSpPr>
          <p:cNvPr id="6" name="Shape 4"/>
          <p:cNvSpPr/>
          <p:nvPr/>
        </p:nvSpPr>
        <p:spPr>
          <a:xfrm>
            <a:off x="639105" y="3568564"/>
            <a:ext cx="3171825" cy="1214438"/>
          </a:xfrm>
          <a:prstGeom prst="rect">
            <a:avLst/>
          </a:prstGeom>
          <a:ln/>
        </p:spPr>
      </p:sp>
      <p:sp>
        <p:nvSpPr>
          <p:cNvPr id="7" name="Text 5"/>
          <p:cNvSpPr/>
          <p:nvPr/>
        </p:nvSpPr>
        <p:spPr>
          <a:xfrm>
            <a:off x="639142" y="4026694"/>
            <a:ext cx="614363" cy="457200"/>
          </a:xfrm>
          <a:prstGeom prst="rect">
            <a:avLst/>
          </a:prstGeom>
          <a:ln/>
        </p:spPr>
        <p:txBody>
          <a:bodyPr wrap="square" lIns="0" tIns="0" rIns="0" bIns="0" rtlCol="0" anchor="t"/>
          <a:lstStyle/>
          <a:p>
            <a:pPr algn="l" indent="0" marL="0">
              <a:lnSpc>
                <a:spcPts val="3600"/>
              </a:lnSpc>
              <a:buNone/>
            </a:pPr>
            <a:r>
              <a:rPr lang="en-US" sz="3600" b="1" dirty="0">
                <a:solidFill>
                  <a:srgbClr val="008272"/>
                </a:solidFill>
                <a:latin typeface="Inter" pitchFamily="34" charset="0"/>
                <a:ea typeface="Inter" pitchFamily="34" charset="-122"/>
                <a:cs typeface="Inter" pitchFamily="34" charset="-120"/>
              </a:rPr>
              <a:t>5+</a:t>
            </a:r>
            <a:endParaRPr lang="en-US" sz="3600" dirty="0"/>
          </a:p>
        </p:txBody>
      </p:sp>
      <p:sp>
        <p:nvSpPr>
          <p:cNvPr id="8" name="Text 6"/>
          <p:cNvSpPr/>
          <p:nvPr/>
        </p:nvSpPr>
        <p:spPr>
          <a:xfrm>
            <a:off x="1389273" y="3726656"/>
            <a:ext cx="1281112" cy="1057275"/>
          </a:xfrm>
          <a:prstGeom prst="rect">
            <a:avLst/>
          </a:prstGeom>
          <a:ln/>
        </p:spPr>
        <p:txBody>
          <a:bodyPr wrap="square" lIns="0" tIns="0" rIns="0" bIns="0" rtlCol="0" anchor="t"/>
          <a:lstStyle/>
          <a:p>
            <a:pPr algn="l" indent="0" marL="0">
              <a:lnSpc>
                <a:spcPts val="1188"/>
              </a:lnSpc>
              <a:buNone/>
            </a:pPr>
            <a:r>
              <a:rPr lang="en-US" sz="800" dirty="0">
                <a:solidFill>
                  <a:srgbClr val="6B7D80"/>
                </a:solidFill>
                <a:latin typeface="Inter" pitchFamily="34" charset="0"/>
                <a:ea typeface="Inter" pitchFamily="34" charset="-122"/>
                <a:cs typeface="Inter" pitchFamily="34" charset="-120"/>
              </a:rPr>
              <a:t>hours a week the average teacher spends planning outside of class — most of it reinventing what someone, somewhere has already made.</a:t>
            </a:r>
            <a:endParaRPr lang="en-US" sz="800" dirty="0"/>
          </a:p>
        </p:txBody>
      </p:sp>
      <p:sp>
        <p:nvSpPr>
          <p:cNvPr id="9" name="Shape 7"/>
          <p:cNvSpPr/>
          <p:nvPr/>
        </p:nvSpPr>
        <p:spPr>
          <a:xfrm>
            <a:off x="3993356" y="1144525"/>
            <a:ext cx="4510087" cy="781050"/>
          </a:xfrm>
          <a:prstGeom prst="roundRect">
            <a:avLst>
              <a:gd name="adj" fmla="val 17133"/>
            </a:avLst>
          </a:prstGeom>
          <a:solidFill>
            <a:srgbClr val="FFFFFF"/>
          </a:solidFill>
          <a:ln/>
          <a:effectLst>
            <a:outerShdw sx="100000" sy="100000" kx="0" ky="0" algn="bl" rotWithShape="0" blurRad="152400" dist="38100" dir="5400000">
              <a:srgbClr val="004C45">
                <a:alpha val="8000"/>
              </a:srgbClr>
            </a:outerShdw>
          </a:effectLst>
        </p:spPr>
      </p:sp>
      <p:sp>
        <p:nvSpPr>
          <p:cNvPr id="10" name="Text 8"/>
          <p:cNvSpPr/>
          <p:nvPr/>
        </p:nvSpPr>
        <p:spPr>
          <a:xfrm>
            <a:off x="4220468" y="1271215"/>
            <a:ext cx="276225" cy="276225"/>
          </a:xfrm>
          <a:prstGeom prst="roundRect">
            <a:avLst>
              <a:gd name="adj" fmla="val 22830"/>
            </a:avLst>
          </a:prstGeom>
          <a:solidFill>
            <a:srgbClr val="FF6B6B">
              <a:alpha val="14902"/>
            </a:srgbClr>
          </a:solidFill>
          <a:ln/>
        </p:spPr>
        <p:txBody>
          <a:bodyPr wrap="square" lIns="0" tIns="0" rIns="0" bIns="0" rtlCol="0" anchor="ctr"/>
          <a:lstStyle/>
          <a:p>
            <a:pPr algn="ctr" indent="0" marL="0">
              <a:lnSpc>
                <a:spcPts val="1728"/>
              </a:lnSpc>
              <a:buNone/>
            </a:pPr>
            <a:r>
              <a:rPr lang="en-US" sz="1100" b="1" dirty="0">
                <a:solidFill>
                  <a:srgbClr val="FF6B6B"/>
                </a:solidFill>
                <a:latin typeface="Inter" pitchFamily="34" charset="0"/>
                <a:ea typeface="Inter" pitchFamily="34" charset="-122"/>
                <a:cs typeface="Inter" pitchFamily="34" charset="-120"/>
              </a:rPr>
              <a:t>01</a:t>
            </a:r>
            <a:endParaRPr lang="en-US" sz="1100" dirty="0"/>
          </a:p>
        </p:txBody>
      </p:sp>
      <p:sp>
        <p:nvSpPr>
          <p:cNvPr id="11" name="Text 9"/>
          <p:cNvSpPr/>
          <p:nvPr/>
        </p:nvSpPr>
        <p:spPr>
          <a:xfrm>
            <a:off x="4632461" y="1273113"/>
            <a:ext cx="3643313" cy="180975"/>
          </a:xfrm>
          <a:prstGeom prst="rect">
            <a:avLst/>
          </a:prstGeom>
          <a:ln/>
        </p:spPr>
        <p:txBody>
          <a:bodyPr wrap="square" lIns="0" tIns="0" rIns="0" bIns="0" rtlCol="0" anchor="t"/>
          <a:lstStyle/>
          <a:p>
            <a:pPr algn="l" indent="0" marL="0">
              <a:lnSpc>
                <a:spcPts val="1440"/>
              </a:lnSpc>
              <a:buNone/>
            </a:pPr>
            <a:r>
              <a:rPr lang="en-US" sz="1100" b="1" dirty="0">
                <a:solidFill>
                  <a:srgbClr val="0F2A2E"/>
                </a:solidFill>
                <a:latin typeface="Inter" pitchFamily="34" charset="0"/>
                <a:ea typeface="Inter" pitchFamily="34" charset="-122"/>
                <a:cs typeface="Inter" pitchFamily="34" charset="-120"/>
              </a:rPr>
              <a:t>Practice lives in too many places</a:t>
            </a:r>
            <a:endParaRPr lang="en-US" sz="1100" dirty="0"/>
          </a:p>
        </p:txBody>
      </p:sp>
      <p:sp>
        <p:nvSpPr>
          <p:cNvPr id="12" name="Text 10"/>
          <p:cNvSpPr/>
          <p:nvPr/>
        </p:nvSpPr>
        <p:spPr>
          <a:xfrm>
            <a:off x="4632461" y="1496988"/>
            <a:ext cx="3643313" cy="300038"/>
          </a:xfrm>
          <a:prstGeom prst="rect">
            <a:avLst/>
          </a:prstGeom>
          <a:ln/>
        </p:spPr>
        <p:txBody>
          <a:bodyPr wrap="square" lIns="0" tIns="0" rIns="0" bIns="0" rtlCol="0" anchor="t"/>
          <a:lstStyle/>
          <a:p>
            <a:pPr algn="l" indent="0" marL="0">
              <a:lnSpc>
                <a:spcPts val="1188"/>
              </a:lnSpc>
              <a:spcBef>
                <a:spcPts val="324"/>
              </a:spcBef>
              <a:buNone/>
            </a:pPr>
            <a:r>
              <a:rPr lang="en-US" sz="800" dirty="0">
                <a:solidFill>
                  <a:srgbClr val="6B7D80"/>
                </a:solidFill>
                <a:latin typeface="Inter" pitchFamily="34" charset="0"/>
                <a:ea typeface="Inter" pitchFamily="34" charset="-122"/>
                <a:cs typeface="Inter" pitchFamily="34" charset="-120"/>
              </a:rPr>
              <a:t>Schemes in folders, rehearsal notes on a phone, warm-ups in a notebook. Nothing connects, nothing carries forward.</a:t>
            </a:r>
            <a:endParaRPr lang="en-US" sz="800" dirty="0"/>
          </a:p>
        </p:txBody>
      </p:sp>
      <p:sp>
        <p:nvSpPr>
          <p:cNvPr id="13" name="Shape 11"/>
          <p:cNvSpPr/>
          <p:nvPr/>
        </p:nvSpPr>
        <p:spPr>
          <a:xfrm>
            <a:off x="3993356" y="2030276"/>
            <a:ext cx="4510087" cy="781050"/>
          </a:xfrm>
          <a:prstGeom prst="roundRect">
            <a:avLst>
              <a:gd name="adj" fmla="val 17133"/>
            </a:avLst>
          </a:prstGeom>
          <a:solidFill>
            <a:srgbClr val="FFFFFF"/>
          </a:solidFill>
          <a:ln/>
          <a:effectLst>
            <a:outerShdw sx="100000" sy="100000" kx="0" ky="0" algn="bl" rotWithShape="0" blurRad="152400" dist="38100" dir="5400000">
              <a:srgbClr val="004C45">
                <a:alpha val="8000"/>
              </a:srgbClr>
            </a:outerShdw>
          </a:effectLst>
        </p:spPr>
      </p:sp>
      <p:sp>
        <p:nvSpPr>
          <p:cNvPr id="14" name="Text 12"/>
          <p:cNvSpPr/>
          <p:nvPr/>
        </p:nvSpPr>
        <p:spPr>
          <a:xfrm>
            <a:off x="4220468" y="2156966"/>
            <a:ext cx="276225" cy="276225"/>
          </a:xfrm>
          <a:prstGeom prst="roundRect">
            <a:avLst>
              <a:gd name="adj" fmla="val 22830"/>
            </a:avLst>
          </a:prstGeom>
          <a:solidFill>
            <a:srgbClr val="14B5A8">
              <a:alpha val="14902"/>
            </a:srgbClr>
          </a:solidFill>
          <a:ln/>
        </p:spPr>
        <p:txBody>
          <a:bodyPr wrap="square" lIns="0" tIns="0" rIns="0" bIns="0" rtlCol="0" anchor="ctr"/>
          <a:lstStyle/>
          <a:p>
            <a:pPr algn="ctr" indent="0" marL="0">
              <a:lnSpc>
                <a:spcPts val="1728"/>
              </a:lnSpc>
              <a:buNone/>
            </a:pPr>
            <a:r>
              <a:rPr lang="en-US" sz="1100" b="1" dirty="0">
                <a:solidFill>
                  <a:srgbClr val="008272"/>
                </a:solidFill>
                <a:latin typeface="Inter" pitchFamily="34" charset="0"/>
                <a:ea typeface="Inter" pitchFamily="34" charset="-122"/>
                <a:cs typeface="Inter" pitchFamily="34" charset="-120"/>
              </a:rPr>
              <a:t>02</a:t>
            </a:r>
            <a:endParaRPr lang="en-US" sz="1100" dirty="0"/>
          </a:p>
        </p:txBody>
      </p:sp>
      <p:sp>
        <p:nvSpPr>
          <p:cNvPr id="15" name="Text 13"/>
          <p:cNvSpPr/>
          <p:nvPr/>
        </p:nvSpPr>
        <p:spPr>
          <a:xfrm>
            <a:off x="4632461" y="2158864"/>
            <a:ext cx="3643313" cy="180975"/>
          </a:xfrm>
          <a:prstGeom prst="rect">
            <a:avLst/>
          </a:prstGeom>
          <a:ln/>
        </p:spPr>
        <p:txBody>
          <a:bodyPr wrap="square" lIns="0" tIns="0" rIns="0" bIns="0" rtlCol="0" anchor="t"/>
          <a:lstStyle/>
          <a:p>
            <a:pPr algn="l" indent="0" marL="0">
              <a:lnSpc>
                <a:spcPts val="1440"/>
              </a:lnSpc>
              <a:buNone/>
            </a:pPr>
            <a:r>
              <a:rPr lang="en-US" sz="1100" b="1" dirty="0">
                <a:solidFill>
                  <a:srgbClr val="0F2A2E"/>
                </a:solidFill>
                <a:latin typeface="Inter" pitchFamily="34" charset="0"/>
                <a:ea typeface="Inter" pitchFamily="34" charset="-122"/>
                <a:cs typeface="Inter" pitchFamily="34" charset="-120"/>
              </a:rPr>
              <a:t>The bigger arc is invisible</a:t>
            </a:r>
            <a:endParaRPr lang="en-US" sz="1100" dirty="0"/>
          </a:p>
        </p:txBody>
      </p:sp>
      <p:sp>
        <p:nvSpPr>
          <p:cNvPr id="16" name="Text 14"/>
          <p:cNvSpPr/>
          <p:nvPr/>
        </p:nvSpPr>
        <p:spPr>
          <a:xfrm>
            <a:off x="4632461" y="2382738"/>
            <a:ext cx="3643313" cy="300038"/>
          </a:xfrm>
          <a:prstGeom prst="rect">
            <a:avLst/>
          </a:prstGeom>
          <a:ln/>
        </p:spPr>
        <p:txBody>
          <a:bodyPr wrap="square" lIns="0" tIns="0" rIns="0" bIns="0" rtlCol="0" anchor="t"/>
          <a:lstStyle/>
          <a:p>
            <a:pPr algn="l" indent="0" marL="0">
              <a:lnSpc>
                <a:spcPts val="1188"/>
              </a:lnSpc>
              <a:spcBef>
                <a:spcPts val="324"/>
              </a:spcBef>
              <a:buNone/>
            </a:pPr>
            <a:r>
              <a:rPr lang="en-US" sz="800" dirty="0">
                <a:solidFill>
                  <a:srgbClr val="6B7D80"/>
                </a:solidFill>
                <a:latin typeface="Inter" pitchFamily="34" charset="0"/>
                <a:ea typeface="Inter" pitchFamily="34" charset="-122"/>
                <a:cs typeface="Inter" pitchFamily="34" charset="-120"/>
              </a:rPr>
              <a:t>It's hard to see how a term, a key stage, or a whole creative journey fits together — let alone shape it without starting over.</a:t>
            </a:r>
            <a:endParaRPr lang="en-US" sz="800" dirty="0"/>
          </a:p>
        </p:txBody>
      </p:sp>
      <p:sp>
        <p:nvSpPr>
          <p:cNvPr id="17" name="Shape 15"/>
          <p:cNvSpPr/>
          <p:nvPr/>
        </p:nvSpPr>
        <p:spPr>
          <a:xfrm>
            <a:off x="3993356" y="2914538"/>
            <a:ext cx="4510087" cy="1085850"/>
          </a:xfrm>
          <a:prstGeom prst="roundRect">
            <a:avLst>
              <a:gd name="adj" fmla="val 8864"/>
            </a:avLst>
          </a:prstGeom>
          <a:solidFill>
            <a:srgbClr val="FFFFFF"/>
          </a:solidFill>
          <a:ln/>
          <a:effectLst>
            <a:outerShdw sx="100000" sy="100000" kx="0" ky="0" algn="bl" rotWithShape="0" blurRad="152400" dist="38100" dir="5400000">
              <a:srgbClr val="004C45">
                <a:alpha val="8000"/>
              </a:srgbClr>
            </a:outerShdw>
          </a:effectLst>
        </p:spPr>
      </p:sp>
      <p:sp>
        <p:nvSpPr>
          <p:cNvPr id="18" name="Text 16"/>
          <p:cNvSpPr/>
          <p:nvPr/>
        </p:nvSpPr>
        <p:spPr>
          <a:xfrm>
            <a:off x="4220468" y="3042717"/>
            <a:ext cx="276225" cy="276225"/>
          </a:xfrm>
          <a:prstGeom prst="roundRect">
            <a:avLst>
              <a:gd name="adj" fmla="val 22830"/>
            </a:avLst>
          </a:prstGeom>
          <a:solidFill>
            <a:srgbClr val="FF6B6B">
              <a:alpha val="14902"/>
            </a:srgbClr>
          </a:solidFill>
          <a:ln/>
        </p:spPr>
        <p:txBody>
          <a:bodyPr wrap="square" lIns="0" tIns="0" rIns="0" bIns="0" rtlCol="0" anchor="ctr"/>
          <a:lstStyle/>
          <a:p>
            <a:pPr algn="ctr" indent="0" marL="0">
              <a:lnSpc>
                <a:spcPts val="1728"/>
              </a:lnSpc>
              <a:buNone/>
            </a:pPr>
            <a:r>
              <a:rPr lang="en-US" sz="1100" b="1" dirty="0">
                <a:solidFill>
                  <a:srgbClr val="FF6B6B"/>
                </a:solidFill>
                <a:latin typeface="Inter" pitchFamily="34" charset="0"/>
                <a:ea typeface="Inter" pitchFamily="34" charset="-122"/>
                <a:cs typeface="Inter" pitchFamily="34" charset="-120"/>
              </a:rPr>
              <a:t>03</a:t>
            </a:r>
            <a:endParaRPr lang="en-US" sz="1100" dirty="0"/>
          </a:p>
        </p:txBody>
      </p:sp>
      <p:sp>
        <p:nvSpPr>
          <p:cNvPr id="19" name="Text 17"/>
          <p:cNvSpPr/>
          <p:nvPr/>
        </p:nvSpPr>
        <p:spPr>
          <a:xfrm>
            <a:off x="4632461" y="3044614"/>
            <a:ext cx="3643313" cy="180975"/>
          </a:xfrm>
          <a:prstGeom prst="rect">
            <a:avLst/>
          </a:prstGeom>
          <a:ln/>
        </p:spPr>
        <p:txBody>
          <a:bodyPr wrap="square" lIns="0" tIns="0" rIns="0" bIns="0" rtlCol="0" anchor="t"/>
          <a:lstStyle/>
          <a:p>
            <a:pPr algn="l" indent="0" marL="0">
              <a:lnSpc>
                <a:spcPts val="1440"/>
              </a:lnSpc>
              <a:buNone/>
            </a:pPr>
            <a:r>
              <a:rPr lang="en-US" sz="1100" b="1" dirty="0">
                <a:solidFill>
                  <a:srgbClr val="0F2A2E"/>
                </a:solidFill>
                <a:latin typeface="Inter" pitchFamily="34" charset="0"/>
                <a:ea typeface="Inter" pitchFamily="34" charset="-122"/>
                <a:cs typeface="Inter" pitchFamily="34" charset="-120"/>
              </a:rPr>
              <a:t>Creative practice gets lost</a:t>
            </a:r>
            <a:endParaRPr lang="en-US" sz="1100" dirty="0"/>
          </a:p>
        </p:txBody>
      </p:sp>
      <p:sp>
        <p:nvSpPr>
          <p:cNvPr id="20" name="Text 18"/>
          <p:cNvSpPr/>
          <p:nvPr/>
        </p:nvSpPr>
        <p:spPr>
          <a:xfrm>
            <a:off x="4632461" y="3267001"/>
            <a:ext cx="3643313" cy="604837"/>
          </a:xfrm>
          <a:prstGeom prst="rect">
            <a:avLst/>
          </a:prstGeom>
          <a:ln/>
        </p:spPr>
        <p:txBody>
          <a:bodyPr wrap="square" lIns="0" tIns="0" rIns="0" bIns="0" rtlCol="0" anchor="t"/>
          <a:lstStyle/>
          <a:p>
            <a:pPr algn="l" indent="0" marL="0">
              <a:lnSpc>
                <a:spcPts val="1188"/>
              </a:lnSpc>
              <a:spcBef>
                <a:spcPts val="324"/>
              </a:spcBef>
              <a:buNone/>
            </a:pPr>
            <a:r>
              <a:rPr lang="en-US" sz="800" dirty="0">
                <a:solidFill>
                  <a:srgbClr val="6B7D80"/>
                </a:solidFill>
                <a:latin typeface="Inter" pitchFamily="34" charset="0"/>
                <a:ea typeface="Inter" pitchFamily="34" charset="-122"/>
                <a:cs typeface="Inter" pitchFamily="34" charset="-120"/>
              </a:rPr>
              <a:t>Teaching is creative work — but the warm-up that worked, the rehearsal that landed, the unit a colleague nailed disappear into forgotten documents by July, learned again the hard way next September.</a:t>
            </a:r>
            <a:endParaRPr lang="en-US" sz="800" dirty="0"/>
          </a:p>
        </p:txBody>
      </p:sp>
      <p:pic>
        <p:nvPicPr>
          <p:cNvPr id="2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9105" y="3568564"/>
            <a:ext cx="3171825" cy="1214438"/>
          </a:xfrm>
          <a:prstGeom prst="rect">
            <a:avLst/>
          </a:prstGeom>
        </p:spPr>
      </p:pic>
      <p:pic>
        <p:nvPicPr>
          <p:cNvPr id="22"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8272"/>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640966" y="720514"/>
            <a:ext cx="876300" cy="138113"/>
          </a:xfrm>
          <a:prstGeom prst="rect">
            <a:avLst/>
          </a:prstGeom>
          <a:ln/>
        </p:spPr>
        <p:txBody>
          <a:bodyPr wrap="square" lIns="0" tIns="0" rIns="0" bIns="0" rtlCol="0" anchor="t"/>
          <a:lstStyle/>
          <a:p>
            <a:pPr algn="l" indent="0" marL="0">
              <a:lnSpc>
                <a:spcPts val="1080"/>
              </a:lnSpc>
              <a:spcAft>
                <a:spcPts val="1215"/>
              </a:spcAft>
              <a:buNone/>
            </a:pPr>
            <a:r>
              <a:rPr lang="en-US" sz="700" b="1" dirty="0">
                <a:solidFill>
                  <a:srgbClr val="FF6B6B"/>
                </a:solidFill>
                <a:latin typeface="Inter" pitchFamily="34" charset="0"/>
                <a:ea typeface="Inter" pitchFamily="34" charset="-122"/>
                <a:cs typeface="Inter" pitchFamily="34" charset="-120"/>
              </a:rPr>
              <a:t>THE SOLUTION</a:t>
            </a:r>
            <a:endParaRPr lang="en-US" sz="700" dirty="0"/>
          </a:p>
        </p:txBody>
      </p:sp>
      <p:sp>
        <p:nvSpPr>
          <p:cNvPr id="5" name="Text 2"/>
          <p:cNvSpPr/>
          <p:nvPr/>
        </p:nvSpPr>
        <p:spPr>
          <a:xfrm>
            <a:off x="640035" y="1011585"/>
            <a:ext cx="7315200" cy="971550"/>
          </a:xfrm>
          <a:prstGeom prst="rect">
            <a:avLst/>
          </a:prstGeom>
          <a:ln/>
        </p:spPr>
        <p:txBody>
          <a:bodyPr wrap="square" lIns="0" tIns="0" rIns="0" bIns="0" rtlCol="0" anchor="t"/>
          <a:lstStyle/>
          <a:p>
            <a:pPr algn="l" indent="0" marL="0">
              <a:lnSpc>
                <a:spcPts val="3819"/>
              </a:lnSpc>
              <a:buNone/>
            </a:pPr>
            <a:r>
              <a:rPr lang="en-US" sz="3700" b="1" dirty="0">
                <a:solidFill>
                  <a:srgbClr val="FFFFFF"/>
                </a:solidFill>
                <a:latin typeface="Inter" pitchFamily="34" charset="0"/>
                <a:ea typeface="Inter" pitchFamily="34" charset="-122"/>
                <a:cs typeface="Inter" pitchFamily="34" charset="-120"/>
              </a:rPr>
              <a:t>One living home for drama, dance and music.</a:t>
            </a:r>
            <a:endParaRPr lang="en-US" sz="3700" dirty="0"/>
          </a:p>
        </p:txBody>
      </p:sp>
      <p:sp>
        <p:nvSpPr>
          <p:cNvPr id="6" name="Text 3"/>
          <p:cNvSpPr/>
          <p:nvPr/>
        </p:nvSpPr>
        <p:spPr>
          <a:xfrm>
            <a:off x="640035" y="2110197"/>
            <a:ext cx="5486400" cy="604837"/>
          </a:xfrm>
          <a:prstGeom prst="rect">
            <a:avLst/>
          </a:prstGeom>
          <a:ln/>
        </p:spPr>
        <p:txBody>
          <a:bodyPr wrap="square" lIns="0" tIns="0" rIns="0" bIns="0" rtlCol="0" anchor="t"/>
          <a:lstStyle/>
          <a:p>
            <a:pPr algn="l" indent="0" marL="0">
              <a:lnSpc>
                <a:spcPts val="1584"/>
              </a:lnSpc>
              <a:spcBef>
                <a:spcPts val="1013"/>
              </a:spcBef>
              <a:buNone/>
            </a:pPr>
            <a:r>
              <a:rPr lang="en-US" sz="1100" dirty="0">
                <a:solidFill>
                  <a:srgbClr val="FFFFFF"/>
                </a:solidFill>
                <a:latin typeface="Inter" pitchFamily="34" charset="0"/>
                <a:ea typeface="Inter" pitchFamily="34" charset="-122"/>
                <a:cs typeface="Inter" pitchFamily="34" charset="-120"/>
              </a:rPr>
              <a:t>Creative Curriculum Designer is a living workspace where great teaching ideas live, evolve and grow — purpose-built for performing arts education from EYFS through to KS5, and shared with the wider arts sector.</a:t>
            </a:r>
            <a:endParaRPr lang="en-US" sz="1100" dirty="0"/>
          </a:p>
        </p:txBody>
      </p:sp>
      <p:sp>
        <p:nvSpPr>
          <p:cNvPr id="7" name="Shape 4"/>
          <p:cNvSpPr/>
          <p:nvPr/>
        </p:nvSpPr>
        <p:spPr>
          <a:xfrm>
            <a:off x="639589" y="3022625"/>
            <a:ext cx="2500313" cy="1400175"/>
          </a:xfrm>
          <a:prstGeom prst="roundRect">
            <a:avLst>
              <a:gd name="adj" fmla="val 5331"/>
            </a:avLst>
          </a:prstGeom>
          <a:solidFill>
            <a:srgbClr val="FFFFFF">
              <a:alpha val="7843"/>
            </a:srgbClr>
          </a:solidFill>
          <a:ln w="4763">
            <a:solidFill>
              <a:srgbClr val="FFFFFF">
                <a:alpha val="14902"/>
              </a:srgbClr>
            </a:solidFill>
            <a:prstDash val="solid"/>
          </a:ln>
        </p:spPr>
      </p:sp>
      <p:sp>
        <p:nvSpPr>
          <p:cNvPr id="8" name="Text 5"/>
          <p:cNvSpPr/>
          <p:nvPr/>
        </p:nvSpPr>
        <p:spPr>
          <a:xfrm>
            <a:off x="828080" y="3172123"/>
            <a:ext cx="319088" cy="319088"/>
          </a:xfrm>
          <a:prstGeom prst="roundRect">
            <a:avLst>
              <a:gd name="adj" fmla="val 17108"/>
            </a:avLst>
          </a:prstGeom>
          <a:solidFill>
            <a:srgbClr val="FF6B6B"/>
          </a:solidFill>
          <a:ln/>
        </p:spPr>
        <p:txBody>
          <a:bodyPr wrap="square" lIns="0" tIns="0" rIns="0" bIns="0" rtlCol="0" anchor="ctr"/>
          <a:lstStyle/>
          <a:p>
            <a:pPr algn="ctr" indent="0" marL="0">
              <a:lnSpc>
                <a:spcPts val="1944"/>
              </a:lnSpc>
              <a:buNone/>
            </a:pPr>
            <a:r>
              <a:rPr lang="en-US" sz="1200" b="1" dirty="0">
                <a:solidFill>
                  <a:srgbClr val="FFFFFF"/>
                </a:solidFill>
                <a:latin typeface="Inter" pitchFamily="34" charset="0"/>
                <a:ea typeface="Inter" pitchFamily="34" charset="-122"/>
                <a:cs typeface="Inter" pitchFamily="34" charset="-120"/>
              </a:rPr>
              <a:t>1</a:t>
            </a:r>
            <a:endParaRPr lang="en-US" sz="1200" dirty="0"/>
          </a:p>
        </p:txBody>
      </p:sp>
      <p:sp>
        <p:nvSpPr>
          <p:cNvPr id="9" name="Text 6"/>
          <p:cNvSpPr/>
          <p:nvPr/>
        </p:nvSpPr>
        <p:spPr>
          <a:xfrm>
            <a:off x="827708" y="3594013"/>
            <a:ext cx="2124075" cy="195263"/>
          </a:xfrm>
          <a:prstGeom prst="rect">
            <a:avLst/>
          </a:prstGeom>
          <a:ln/>
        </p:spPr>
        <p:txBody>
          <a:bodyPr wrap="square" lIns="0" tIns="0" rIns="0" bIns="0" rtlCol="0" anchor="t"/>
          <a:lstStyle/>
          <a:p>
            <a:pPr algn="l" indent="0" marL="0">
              <a:lnSpc>
                <a:spcPts val="1530"/>
              </a:lnSpc>
              <a:buNone/>
            </a:pPr>
            <a:r>
              <a:rPr lang="en-US" sz="1200" b="1" dirty="0">
                <a:solidFill>
                  <a:srgbClr val="FFFFFF"/>
                </a:solidFill>
                <a:latin typeface="Inter" pitchFamily="34" charset="0"/>
                <a:ea typeface="Inter" pitchFamily="34" charset="-122"/>
                <a:cs typeface="Inter" pitchFamily="34" charset="-120"/>
              </a:rPr>
              <a:t>Half-term planner</a:t>
            </a:r>
            <a:endParaRPr lang="en-US" sz="1200" dirty="0"/>
          </a:p>
        </p:txBody>
      </p:sp>
      <p:sp>
        <p:nvSpPr>
          <p:cNvPr id="10" name="Text 7"/>
          <p:cNvSpPr/>
          <p:nvPr/>
        </p:nvSpPr>
        <p:spPr>
          <a:xfrm>
            <a:off x="827708" y="3840287"/>
            <a:ext cx="2124075" cy="433388"/>
          </a:xfrm>
          <a:prstGeom prst="rect">
            <a:avLst/>
          </a:prstGeom>
          <a:ln/>
        </p:spPr>
        <p:txBody>
          <a:bodyPr wrap="square" lIns="0" tIns="0" rIns="0" bIns="0" rtlCol="0" anchor="t"/>
          <a:lstStyle/>
          <a:p>
            <a:pPr algn="l" indent="0" marL="0">
              <a:lnSpc>
                <a:spcPts val="1139"/>
              </a:lnSpc>
              <a:spcBef>
                <a:spcPts val="405"/>
              </a:spcBef>
              <a:buNone/>
            </a:pPr>
            <a:r>
              <a:rPr lang="en-US" sz="800" dirty="0">
                <a:solidFill>
                  <a:srgbClr val="FFFFFF"/>
                </a:solidFill>
                <a:latin typeface="Inter" pitchFamily="34" charset="0"/>
                <a:ea typeface="Inter" pitchFamily="34" charset="-122"/>
                <a:cs typeface="Inter" pitchFamily="34" charset="-120"/>
              </a:rPr>
              <a:t>See six half-terms at a glance. Drag, reorder, and shape the year before the year begins.</a:t>
            </a:r>
            <a:endParaRPr lang="en-US" sz="800" dirty="0"/>
          </a:p>
        </p:txBody>
      </p:sp>
      <p:sp>
        <p:nvSpPr>
          <p:cNvPr id="11" name="Shape 8"/>
          <p:cNvSpPr/>
          <p:nvPr/>
        </p:nvSpPr>
        <p:spPr>
          <a:xfrm>
            <a:off x="3321844" y="3022625"/>
            <a:ext cx="2500313" cy="1400175"/>
          </a:xfrm>
          <a:prstGeom prst="roundRect">
            <a:avLst>
              <a:gd name="adj" fmla="val 5331"/>
            </a:avLst>
          </a:prstGeom>
          <a:solidFill>
            <a:srgbClr val="FFFFFF">
              <a:alpha val="7843"/>
            </a:srgbClr>
          </a:solidFill>
          <a:ln w="4763">
            <a:solidFill>
              <a:srgbClr val="FFFFFF">
                <a:alpha val="14902"/>
              </a:srgbClr>
            </a:solidFill>
            <a:prstDash val="solid"/>
          </a:ln>
        </p:spPr>
      </p:sp>
      <p:sp>
        <p:nvSpPr>
          <p:cNvPr id="12" name="Text 9"/>
          <p:cNvSpPr/>
          <p:nvPr/>
        </p:nvSpPr>
        <p:spPr>
          <a:xfrm>
            <a:off x="3510335" y="3172123"/>
            <a:ext cx="319088" cy="319088"/>
          </a:xfrm>
          <a:prstGeom prst="roundRect">
            <a:avLst>
              <a:gd name="adj" fmla="val 17108"/>
            </a:avLst>
          </a:prstGeom>
          <a:solidFill>
            <a:srgbClr val="14B8A6"/>
          </a:solidFill>
          <a:ln/>
        </p:spPr>
        <p:txBody>
          <a:bodyPr wrap="square" lIns="0" tIns="0" rIns="0" bIns="0" rtlCol="0" anchor="ctr"/>
          <a:lstStyle/>
          <a:p>
            <a:pPr algn="ctr" indent="0" marL="0">
              <a:lnSpc>
                <a:spcPts val="1944"/>
              </a:lnSpc>
              <a:buNone/>
            </a:pPr>
            <a:r>
              <a:rPr lang="en-US" sz="1200" b="1" dirty="0">
                <a:solidFill>
                  <a:srgbClr val="FFFFFF"/>
                </a:solidFill>
                <a:latin typeface="Inter" pitchFamily="34" charset="0"/>
                <a:ea typeface="Inter" pitchFamily="34" charset="-122"/>
                <a:cs typeface="Inter" pitchFamily="34" charset="-120"/>
              </a:rPr>
              <a:t>2</a:t>
            </a:r>
            <a:endParaRPr lang="en-US" sz="1200" dirty="0"/>
          </a:p>
        </p:txBody>
      </p:sp>
      <p:sp>
        <p:nvSpPr>
          <p:cNvPr id="13" name="Text 10"/>
          <p:cNvSpPr/>
          <p:nvPr/>
        </p:nvSpPr>
        <p:spPr>
          <a:xfrm>
            <a:off x="3509963" y="3594013"/>
            <a:ext cx="2124075" cy="195263"/>
          </a:xfrm>
          <a:prstGeom prst="rect">
            <a:avLst/>
          </a:prstGeom>
          <a:ln/>
        </p:spPr>
        <p:txBody>
          <a:bodyPr wrap="square" lIns="0" tIns="0" rIns="0" bIns="0" rtlCol="0" anchor="t"/>
          <a:lstStyle/>
          <a:p>
            <a:pPr algn="l" indent="0" marL="0">
              <a:lnSpc>
                <a:spcPts val="1530"/>
              </a:lnSpc>
              <a:buNone/>
            </a:pPr>
            <a:r>
              <a:rPr lang="en-US" sz="1200" b="1" dirty="0">
                <a:solidFill>
                  <a:srgbClr val="FFFFFF"/>
                </a:solidFill>
                <a:latin typeface="Inter" pitchFamily="34" charset="0"/>
                <a:ea typeface="Inter" pitchFamily="34" charset="-122"/>
                <a:cs typeface="Inter" pitchFamily="34" charset="-120"/>
              </a:rPr>
              <a:t>Lesson library</a:t>
            </a:r>
            <a:endParaRPr lang="en-US" sz="1200" dirty="0"/>
          </a:p>
        </p:txBody>
      </p:sp>
      <p:sp>
        <p:nvSpPr>
          <p:cNvPr id="14" name="Text 11"/>
          <p:cNvSpPr/>
          <p:nvPr/>
        </p:nvSpPr>
        <p:spPr>
          <a:xfrm>
            <a:off x="3509963" y="3840287"/>
            <a:ext cx="2124075" cy="433388"/>
          </a:xfrm>
          <a:prstGeom prst="rect">
            <a:avLst/>
          </a:prstGeom>
          <a:ln/>
        </p:spPr>
        <p:txBody>
          <a:bodyPr wrap="square" lIns="0" tIns="0" rIns="0" bIns="0" rtlCol="0" anchor="t"/>
          <a:lstStyle/>
          <a:p>
            <a:pPr algn="l" indent="0" marL="0">
              <a:lnSpc>
                <a:spcPts val="1139"/>
              </a:lnSpc>
              <a:spcBef>
                <a:spcPts val="405"/>
              </a:spcBef>
              <a:buNone/>
            </a:pPr>
            <a:r>
              <a:rPr lang="en-US" sz="800" dirty="0">
                <a:solidFill>
                  <a:srgbClr val="FFFFFF"/>
                </a:solidFill>
                <a:latin typeface="Inter" pitchFamily="34" charset="0"/>
                <a:ea typeface="Inter" pitchFamily="34" charset="-122"/>
                <a:cs typeface="Inter" pitchFamily="34" charset="-120"/>
              </a:rPr>
              <a:t>Build, reuse and share lessons. Tag by year group and unit. Find the right one in seconds.</a:t>
            </a:r>
            <a:endParaRPr lang="en-US" sz="800" dirty="0"/>
          </a:p>
        </p:txBody>
      </p:sp>
      <p:sp>
        <p:nvSpPr>
          <p:cNvPr id="15" name="Shape 12"/>
          <p:cNvSpPr/>
          <p:nvPr/>
        </p:nvSpPr>
        <p:spPr>
          <a:xfrm>
            <a:off x="6004099" y="3022625"/>
            <a:ext cx="2500313" cy="1400175"/>
          </a:xfrm>
          <a:prstGeom prst="roundRect">
            <a:avLst>
              <a:gd name="adj" fmla="val 5331"/>
            </a:avLst>
          </a:prstGeom>
          <a:solidFill>
            <a:srgbClr val="FFFFFF">
              <a:alpha val="7843"/>
            </a:srgbClr>
          </a:solidFill>
          <a:ln w="4763">
            <a:solidFill>
              <a:srgbClr val="FFFFFF">
                <a:alpha val="14902"/>
              </a:srgbClr>
            </a:solidFill>
            <a:prstDash val="solid"/>
          </a:ln>
        </p:spPr>
      </p:sp>
      <p:sp>
        <p:nvSpPr>
          <p:cNvPr id="16" name="Text 13"/>
          <p:cNvSpPr/>
          <p:nvPr/>
        </p:nvSpPr>
        <p:spPr>
          <a:xfrm>
            <a:off x="6192589" y="3172123"/>
            <a:ext cx="319088" cy="319088"/>
          </a:xfrm>
          <a:prstGeom prst="roundRect">
            <a:avLst>
              <a:gd name="adj" fmla="val 17108"/>
            </a:avLst>
          </a:prstGeom>
          <a:solidFill>
            <a:srgbClr val="FF6B6B"/>
          </a:solidFill>
          <a:ln/>
        </p:spPr>
        <p:txBody>
          <a:bodyPr wrap="square" lIns="0" tIns="0" rIns="0" bIns="0" rtlCol="0" anchor="ctr"/>
          <a:lstStyle/>
          <a:p>
            <a:pPr algn="ctr" indent="0" marL="0">
              <a:lnSpc>
                <a:spcPts val="1944"/>
              </a:lnSpc>
              <a:buNone/>
            </a:pPr>
            <a:r>
              <a:rPr lang="en-US" sz="1200" b="1" dirty="0">
                <a:solidFill>
                  <a:srgbClr val="FFFFFF"/>
                </a:solidFill>
                <a:latin typeface="Inter" pitchFamily="34" charset="0"/>
                <a:ea typeface="Inter" pitchFamily="34" charset="-122"/>
                <a:cs typeface="Inter" pitchFamily="34" charset="-120"/>
              </a:rPr>
              <a:t>3</a:t>
            </a:r>
            <a:endParaRPr lang="en-US" sz="1200" dirty="0"/>
          </a:p>
        </p:txBody>
      </p:sp>
      <p:sp>
        <p:nvSpPr>
          <p:cNvPr id="17" name="Text 14"/>
          <p:cNvSpPr/>
          <p:nvPr/>
        </p:nvSpPr>
        <p:spPr>
          <a:xfrm>
            <a:off x="6192217" y="3594013"/>
            <a:ext cx="2124075" cy="195263"/>
          </a:xfrm>
          <a:prstGeom prst="rect">
            <a:avLst/>
          </a:prstGeom>
          <a:ln/>
        </p:spPr>
        <p:txBody>
          <a:bodyPr wrap="square" lIns="0" tIns="0" rIns="0" bIns="0" rtlCol="0" anchor="t"/>
          <a:lstStyle/>
          <a:p>
            <a:pPr algn="l" indent="0" marL="0">
              <a:lnSpc>
                <a:spcPts val="1530"/>
              </a:lnSpc>
              <a:buNone/>
            </a:pPr>
            <a:r>
              <a:rPr lang="en-US" sz="1200" b="1" dirty="0">
                <a:solidFill>
                  <a:srgbClr val="FFFFFF"/>
                </a:solidFill>
                <a:latin typeface="Inter" pitchFamily="34" charset="0"/>
                <a:ea typeface="Inter" pitchFamily="34" charset="-122"/>
                <a:cs typeface="Inter" pitchFamily="34" charset="-120"/>
              </a:rPr>
              <a:t>Activity stacks</a:t>
            </a:r>
            <a:endParaRPr lang="en-US" sz="1200" dirty="0"/>
          </a:p>
        </p:txBody>
      </p:sp>
      <p:sp>
        <p:nvSpPr>
          <p:cNvPr id="18" name="Text 15"/>
          <p:cNvSpPr/>
          <p:nvPr/>
        </p:nvSpPr>
        <p:spPr>
          <a:xfrm>
            <a:off x="6192217" y="3840287"/>
            <a:ext cx="2124075" cy="433388"/>
          </a:xfrm>
          <a:prstGeom prst="rect">
            <a:avLst/>
          </a:prstGeom>
          <a:ln/>
        </p:spPr>
        <p:txBody>
          <a:bodyPr wrap="square" lIns="0" tIns="0" rIns="0" bIns="0" rtlCol="0" anchor="t"/>
          <a:lstStyle/>
          <a:p>
            <a:pPr algn="l" indent="0" marL="0">
              <a:lnSpc>
                <a:spcPts val="1139"/>
              </a:lnSpc>
              <a:spcBef>
                <a:spcPts val="405"/>
              </a:spcBef>
              <a:buNone/>
            </a:pPr>
            <a:r>
              <a:rPr lang="en-US" sz="800" dirty="0">
                <a:solidFill>
                  <a:srgbClr val="FFFFFF"/>
                </a:solidFill>
                <a:latin typeface="Inter" pitchFamily="34" charset="0"/>
                <a:ea typeface="Inter" pitchFamily="34" charset="-122"/>
                <a:cs typeface="Inter" pitchFamily="34" charset="-120"/>
              </a:rPr>
              <a:t>Group warm-ups, mains and plenaries into reusable stacks. Drop them straight into any lesson.</a:t>
            </a:r>
            <a:endParaRPr lang="en-US" sz="800" dirty="0"/>
          </a:p>
        </p:txBody>
      </p:sp>
      <p:pic>
        <p:nvPicPr>
          <p:cNvPr id="19"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39068" y="359532"/>
            <a:ext cx="1019175" cy="138113"/>
          </a:xfrm>
          <a:prstGeom prst="rect">
            <a:avLst/>
          </a:prstGeom>
          <a:ln/>
        </p:spPr>
        <p:txBody>
          <a:bodyPr wrap="square" lIns="0" tIns="0" rIns="0" bIns="0" rtlCol="0" anchor="t"/>
          <a:lstStyle/>
          <a:p>
            <a:pPr algn="l" indent="0" marL="0">
              <a:lnSpc>
                <a:spcPts val="1080"/>
              </a:lnSpc>
              <a:spcAft>
                <a:spcPts val="1013"/>
              </a:spcAft>
              <a:buNone/>
            </a:pPr>
            <a:r>
              <a:rPr lang="en-US" sz="700" b="1" dirty="0">
                <a:solidFill>
                  <a:srgbClr val="FF6B6B"/>
                </a:solidFill>
                <a:latin typeface="Inter" pitchFamily="34" charset="0"/>
                <a:ea typeface="Inter" pitchFamily="34" charset="-122"/>
                <a:cs typeface="Inter" pitchFamily="34" charset="-120"/>
              </a:rPr>
              <a:t>WHAT IT COVERS</a:t>
            </a:r>
            <a:endParaRPr lang="en-US" sz="700" dirty="0"/>
          </a:p>
        </p:txBody>
      </p:sp>
      <p:sp>
        <p:nvSpPr>
          <p:cNvPr id="4" name="Text 2"/>
          <p:cNvSpPr/>
          <p:nvPr/>
        </p:nvSpPr>
        <p:spPr>
          <a:xfrm>
            <a:off x="640035" y="626120"/>
            <a:ext cx="6400800" cy="857250"/>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Drama. Music. Dance. One workspace.</a:t>
            </a:r>
            <a:endParaRPr lang="en-US" sz="3300" dirty="0"/>
          </a:p>
        </p:txBody>
      </p:sp>
      <p:sp>
        <p:nvSpPr>
          <p:cNvPr id="5" name="Text 3"/>
          <p:cNvSpPr/>
          <p:nvPr/>
        </p:nvSpPr>
        <p:spPr>
          <a:xfrm>
            <a:off x="640035" y="1586136"/>
            <a:ext cx="5029200" cy="704850"/>
          </a:xfrm>
          <a:prstGeom prst="rect">
            <a:avLst/>
          </a:prstGeom>
          <a:ln/>
        </p:spPr>
        <p:txBody>
          <a:bodyPr wrap="square" lIns="0" tIns="0" rIns="0" bIns="0" rtlCol="0" anchor="t"/>
          <a:lstStyle/>
          <a:p>
            <a:pPr algn="l" indent="0" marL="0">
              <a:lnSpc>
                <a:spcPts val="1386"/>
              </a:lnSpc>
              <a:spcBef>
                <a:spcPts val="810"/>
              </a:spcBef>
              <a:buNone/>
            </a:pPr>
            <a:r>
              <a:rPr lang="en-US" sz="1000" dirty="0">
                <a:solidFill>
                  <a:srgbClr val="6B7D80"/>
                </a:solidFill>
                <a:latin typeface="Inter" pitchFamily="34" charset="0"/>
                <a:ea typeface="Inter" pitchFamily="34" charset="-122"/>
                <a:cs typeface="Inter" pitchFamily="34" charset="-120"/>
              </a:rPr>
              <a:t>Three disciplines that share the same rhythm of teaching — warm-up, main, plenary — modelled end-to-end with starter content across every key stage from EYFS to KS5. Designed so a non-specialist can step in confidently, and a specialist can build on top.</a:t>
            </a:r>
            <a:endParaRPr lang="en-US" sz="1000" dirty="0"/>
          </a:p>
        </p:txBody>
      </p:sp>
      <p:sp>
        <p:nvSpPr>
          <p:cNvPr id="6" name="Shape 4"/>
          <p:cNvSpPr/>
          <p:nvPr/>
        </p:nvSpPr>
        <p:spPr>
          <a:xfrm>
            <a:off x="640928" y="2548793"/>
            <a:ext cx="2509838" cy="2233612"/>
          </a:xfrm>
          <a:prstGeom prst="roundRect">
            <a:avLst>
              <a:gd name="adj" fmla="val 2095"/>
            </a:avLst>
          </a:prstGeom>
          <a:solidFill>
            <a:srgbClr val="FFE5D6"/>
          </a:solidFill>
          <a:ln w="4763">
            <a:solidFill>
              <a:srgbClr val="FFAF7A">
                <a:alpha val="40000"/>
              </a:srgbClr>
            </a:solidFill>
            <a:prstDash val="solid"/>
          </a:ln>
        </p:spPr>
      </p:sp>
      <p:sp>
        <p:nvSpPr>
          <p:cNvPr id="7" name="Text 5"/>
          <p:cNvSpPr/>
          <p:nvPr/>
        </p:nvSpPr>
        <p:spPr>
          <a:xfrm>
            <a:off x="809997" y="2707295"/>
            <a:ext cx="2171700" cy="200025"/>
          </a:xfrm>
          <a:prstGeom prst="rect">
            <a:avLst/>
          </a:prstGeom>
          <a:ln/>
        </p:spPr>
        <p:txBody>
          <a:bodyPr wrap="square" lIns="0" tIns="0" rIns="0" bIns="0" rtlCol="0" anchor="ctr"/>
          <a:lstStyle/>
          <a:p>
            <a:pPr algn="l" indent="0" marL="0">
              <a:lnSpc>
                <a:spcPts val="1584"/>
              </a:lnSpc>
              <a:buNone/>
            </a:pPr>
            <a:r>
              <a:rPr lang="en-US" sz="1500" b="1" dirty="0">
                <a:solidFill>
                  <a:srgbClr val="A24A1A"/>
                </a:solidFill>
                <a:latin typeface="Inter" pitchFamily="34" charset="0"/>
                <a:ea typeface="Inter" pitchFamily="34" charset="-122"/>
                <a:cs typeface="Inter" pitchFamily="34" charset="-120"/>
              </a:rPr>
              <a:t>Drama</a:t>
            </a:r>
            <a:pPr algn="l" indent="0" marL="0">
              <a:lnSpc>
                <a:spcPts val="1026"/>
              </a:lnSpc>
              <a:buNone/>
            </a:pPr>
            <a:r>
              <a:rPr lang="en-US" sz="600" dirty="0">
                <a:solidFill>
                  <a:srgbClr val="A24A1A"/>
                </a:solidFill>
                <a:latin typeface="Inter" pitchFamily="34" charset="0"/>
                <a:ea typeface="Inter" pitchFamily="34" charset="-122"/>
                <a:cs typeface="Inter" pitchFamily="34" charset="-120"/>
              </a:rPr>
              <a:t>EYFS · KS1–KS2 · KS3–KS5</a:t>
            </a:r>
            <a:endParaRPr lang="en-US" sz="1500" dirty="0"/>
          </a:p>
        </p:txBody>
      </p:sp>
      <p:sp>
        <p:nvSpPr>
          <p:cNvPr id="8" name="Text 6"/>
          <p:cNvSpPr/>
          <p:nvPr/>
        </p:nvSpPr>
        <p:spPr>
          <a:xfrm>
            <a:off x="809997" y="3010979"/>
            <a:ext cx="2171700" cy="395287"/>
          </a:xfrm>
          <a:prstGeom prst="rect">
            <a:avLst/>
          </a:prstGeom>
          <a:ln/>
        </p:spPr>
        <p:txBody>
          <a:bodyPr wrap="square" lIns="0" tIns="0" rIns="0" bIns="0" rtlCol="0" anchor="t"/>
          <a:lstStyle/>
          <a:p>
            <a:pPr algn="l" indent="0" marL="0">
              <a:lnSpc>
                <a:spcPts val="1040"/>
              </a:lnSpc>
              <a:spcAft>
                <a:spcPts val="810"/>
              </a:spcAft>
              <a:buNone/>
            </a:pPr>
            <a:r>
              <a:rPr lang="en-US" sz="700" dirty="0">
                <a:solidFill>
                  <a:srgbClr val="A24A1A"/>
                </a:solidFill>
                <a:latin typeface="Inter" pitchFamily="34" charset="0"/>
                <a:ea typeface="Inter" pitchFamily="34" charset="-122"/>
                <a:cs typeface="Inter" pitchFamily="34" charset="-120"/>
              </a:rPr>
              <a:t>Storytelling, voice, character &amp; physical theatre — built around ensemble work and clear performance moments.</a:t>
            </a:r>
            <a:endParaRPr lang="en-US" sz="700" dirty="0"/>
          </a:p>
        </p:txBody>
      </p:sp>
      <p:sp>
        <p:nvSpPr>
          <p:cNvPr id="9" name="Shape 7"/>
          <p:cNvSpPr/>
          <p:nvPr/>
        </p:nvSpPr>
        <p:spPr>
          <a:xfrm>
            <a:off x="809997" y="3871392"/>
            <a:ext cx="2171700" cy="752475"/>
          </a:xfrm>
          <a:prstGeom prst="rect">
            <a:avLst/>
          </a:prstGeom>
          <a:ln/>
        </p:spPr>
      </p:sp>
      <p:sp>
        <p:nvSpPr>
          <p:cNvPr id="10" name="Text 8"/>
          <p:cNvSpPr/>
          <p:nvPr/>
        </p:nvSpPr>
        <p:spPr>
          <a:xfrm>
            <a:off x="809997" y="3952168"/>
            <a:ext cx="2171700" cy="138113"/>
          </a:xfrm>
          <a:prstGeom prst="rect">
            <a:avLst/>
          </a:prstGeom>
          <a:ln/>
        </p:spPr>
        <p:txBody>
          <a:bodyPr wrap="square" lIns="0" tIns="0" rIns="0" bIns="0" rtlCol="0" anchor="t"/>
          <a:lstStyle/>
          <a:p>
            <a:pPr algn="l" indent="0" marL="0">
              <a:lnSpc>
                <a:spcPts val="1080"/>
              </a:lnSpc>
              <a:buNone/>
            </a:pPr>
            <a:r>
              <a:rPr lang="en-US" sz="700" dirty="0">
                <a:solidFill>
                  <a:srgbClr val="A24A1A"/>
                </a:solidFill>
                <a:latin typeface="Inter" pitchFamily="34" charset="0"/>
                <a:ea typeface="Inter" pitchFamily="34" charset="-122"/>
                <a:cs typeface="Inter" pitchFamily="34" charset="-120"/>
              </a:rPr>
              <a:t>· Storytelling Through Drama</a:t>
            </a:r>
            <a:endParaRPr lang="en-US" sz="700" dirty="0"/>
          </a:p>
        </p:txBody>
      </p:sp>
      <p:sp>
        <p:nvSpPr>
          <p:cNvPr id="11" name="Text 9"/>
          <p:cNvSpPr/>
          <p:nvPr/>
        </p:nvSpPr>
        <p:spPr>
          <a:xfrm>
            <a:off x="809997" y="4130390"/>
            <a:ext cx="2171700" cy="138113"/>
          </a:xfrm>
          <a:prstGeom prst="rect">
            <a:avLst/>
          </a:prstGeom>
          <a:ln/>
        </p:spPr>
        <p:txBody>
          <a:bodyPr wrap="square" lIns="0" tIns="0" rIns="0" bIns="0" rtlCol="0" anchor="t"/>
          <a:lstStyle/>
          <a:p>
            <a:pPr algn="l" indent="0" marL="0">
              <a:lnSpc>
                <a:spcPts val="1080"/>
              </a:lnSpc>
              <a:buNone/>
            </a:pPr>
            <a:r>
              <a:rPr lang="en-US" sz="700" dirty="0">
                <a:solidFill>
                  <a:srgbClr val="A24A1A"/>
                </a:solidFill>
                <a:latin typeface="Inter" pitchFamily="34" charset="0"/>
                <a:ea typeface="Inter" pitchFamily="34" charset="-122"/>
                <a:cs typeface="Inter" pitchFamily="34" charset="-120"/>
              </a:rPr>
              <a:t>· Improvisation &amp; Status</a:t>
            </a:r>
            <a:endParaRPr lang="en-US" sz="700" dirty="0"/>
          </a:p>
        </p:txBody>
      </p:sp>
      <p:sp>
        <p:nvSpPr>
          <p:cNvPr id="12" name="Text 10"/>
          <p:cNvSpPr/>
          <p:nvPr/>
        </p:nvSpPr>
        <p:spPr>
          <a:xfrm>
            <a:off x="809997" y="4308611"/>
            <a:ext cx="2171700" cy="138113"/>
          </a:xfrm>
          <a:prstGeom prst="rect">
            <a:avLst/>
          </a:prstGeom>
          <a:ln/>
        </p:spPr>
        <p:txBody>
          <a:bodyPr wrap="square" lIns="0" tIns="0" rIns="0" bIns="0" rtlCol="0" anchor="t"/>
          <a:lstStyle/>
          <a:p>
            <a:pPr algn="l" indent="0" marL="0">
              <a:lnSpc>
                <a:spcPts val="1080"/>
              </a:lnSpc>
              <a:buNone/>
            </a:pPr>
            <a:r>
              <a:rPr lang="en-US" sz="700" dirty="0">
                <a:solidFill>
                  <a:srgbClr val="A24A1A"/>
                </a:solidFill>
                <a:latin typeface="Inter" pitchFamily="34" charset="0"/>
                <a:ea typeface="Inter" pitchFamily="34" charset="-122"/>
                <a:cs typeface="Inter" pitchFamily="34" charset="-120"/>
              </a:rPr>
              <a:t>· Scripted Scene Work</a:t>
            </a:r>
            <a:endParaRPr lang="en-US" sz="700" dirty="0"/>
          </a:p>
        </p:txBody>
      </p:sp>
      <p:sp>
        <p:nvSpPr>
          <p:cNvPr id="13" name="Text 11"/>
          <p:cNvSpPr/>
          <p:nvPr/>
        </p:nvSpPr>
        <p:spPr>
          <a:xfrm>
            <a:off x="809997" y="4486833"/>
            <a:ext cx="2171700" cy="138113"/>
          </a:xfrm>
          <a:prstGeom prst="rect">
            <a:avLst/>
          </a:prstGeom>
          <a:ln/>
        </p:spPr>
        <p:txBody>
          <a:bodyPr wrap="square" lIns="0" tIns="0" rIns="0" bIns="0" rtlCol="0" anchor="t"/>
          <a:lstStyle/>
          <a:p>
            <a:pPr algn="l" indent="0" marL="0">
              <a:lnSpc>
                <a:spcPts val="1080"/>
              </a:lnSpc>
              <a:buNone/>
            </a:pPr>
            <a:r>
              <a:rPr lang="en-US" sz="700" dirty="0">
                <a:solidFill>
                  <a:srgbClr val="A24A1A"/>
                </a:solidFill>
                <a:latin typeface="Inter" pitchFamily="34" charset="0"/>
                <a:ea typeface="Inter" pitchFamily="34" charset="-122"/>
                <a:cs typeface="Inter" pitchFamily="34" charset="-120"/>
              </a:rPr>
              <a:t>· Devising from Stimulus</a:t>
            </a:r>
            <a:endParaRPr lang="en-US" sz="700" dirty="0"/>
          </a:p>
        </p:txBody>
      </p:sp>
      <p:sp>
        <p:nvSpPr>
          <p:cNvPr id="14" name="Shape 12"/>
          <p:cNvSpPr/>
          <p:nvPr/>
        </p:nvSpPr>
        <p:spPr>
          <a:xfrm>
            <a:off x="3317081" y="2548793"/>
            <a:ext cx="2509838" cy="2233612"/>
          </a:xfrm>
          <a:prstGeom prst="roundRect">
            <a:avLst>
              <a:gd name="adj" fmla="val 2095"/>
            </a:avLst>
          </a:prstGeom>
          <a:solidFill>
            <a:srgbClr val="D6E8F2"/>
          </a:solidFill>
          <a:ln w="4763">
            <a:solidFill>
              <a:srgbClr val="0DA6D4">
                <a:alpha val="30196"/>
              </a:srgbClr>
            </a:solidFill>
            <a:prstDash val="solid"/>
          </a:ln>
        </p:spPr>
      </p:sp>
      <p:sp>
        <p:nvSpPr>
          <p:cNvPr id="15" name="Text 13"/>
          <p:cNvSpPr/>
          <p:nvPr/>
        </p:nvSpPr>
        <p:spPr>
          <a:xfrm>
            <a:off x="3486150" y="2707295"/>
            <a:ext cx="2171700" cy="200025"/>
          </a:xfrm>
          <a:prstGeom prst="rect">
            <a:avLst/>
          </a:prstGeom>
          <a:ln/>
        </p:spPr>
        <p:txBody>
          <a:bodyPr wrap="square" lIns="0" tIns="0" rIns="0" bIns="0" rtlCol="0" anchor="ctr"/>
          <a:lstStyle/>
          <a:p>
            <a:pPr algn="l" indent="0" marL="0">
              <a:lnSpc>
                <a:spcPts val="1584"/>
              </a:lnSpc>
              <a:buNone/>
            </a:pPr>
            <a:r>
              <a:rPr lang="en-US" sz="1500" b="1" dirty="0">
                <a:solidFill>
                  <a:srgbClr val="0A4A66"/>
                </a:solidFill>
                <a:latin typeface="Inter" pitchFamily="34" charset="0"/>
                <a:ea typeface="Inter" pitchFamily="34" charset="-122"/>
                <a:cs typeface="Inter" pitchFamily="34" charset="-120"/>
              </a:rPr>
              <a:t>Music</a:t>
            </a:r>
            <a:pPr algn="l" indent="0" marL="0">
              <a:lnSpc>
                <a:spcPts val="1026"/>
              </a:lnSpc>
              <a:buNone/>
            </a:pPr>
            <a:r>
              <a:rPr lang="en-US" sz="600" dirty="0">
                <a:solidFill>
                  <a:srgbClr val="0A4A66"/>
                </a:solidFill>
                <a:latin typeface="Inter" pitchFamily="34" charset="0"/>
                <a:ea typeface="Inter" pitchFamily="34" charset="-122"/>
                <a:cs typeface="Inter" pitchFamily="34" charset="-120"/>
              </a:rPr>
              <a:t>EYFS · KS1–KS2 · KS3–KS5</a:t>
            </a:r>
            <a:endParaRPr lang="en-US" sz="1500" dirty="0"/>
          </a:p>
        </p:txBody>
      </p:sp>
      <p:sp>
        <p:nvSpPr>
          <p:cNvPr id="16" name="Text 14"/>
          <p:cNvSpPr/>
          <p:nvPr/>
        </p:nvSpPr>
        <p:spPr>
          <a:xfrm>
            <a:off x="3486150" y="3010979"/>
            <a:ext cx="2171700" cy="395287"/>
          </a:xfrm>
          <a:prstGeom prst="rect">
            <a:avLst/>
          </a:prstGeom>
          <a:ln/>
        </p:spPr>
        <p:txBody>
          <a:bodyPr wrap="square" lIns="0" tIns="0" rIns="0" bIns="0" rtlCol="0" anchor="t"/>
          <a:lstStyle/>
          <a:p>
            <a:pPr algn="l" indent="0" marL="0">
              <a:lnSpc>
                <a:spcPts val="1040"/>
              </a:lnSpc>
              <a:spcAft>
                <a:spcPts val="810"/>
              </a:spcAft>
              <a:buNone/>
            </a:pPr>
            <a:r>
              <a:rPr lang="en-US" sz="700" dirty="0">
                <a:solidFill>
                  <a:srgbClr val="0B4A66"/>
                </a:solidFill>
                <a:latin typeface="Inter" pitchFamily="34" charset="0"/>
                <a:ea typeface="Inter" pitchFamily="34" charset="-122"/>
                <a:cs typeface="Inter" pitchFamily="34" charset="-120"/>
              </a:rPr>
              <a:t>Rhythm, pitch, listening and singing — with backing tracks, vocal guides and resource links attached to every activity.</a:t>
            </a:r>
            <a:endParaRPr lang="en-US" sz="700" dirty="0"/>
          </a:p>
        </p:txBody>
      </p:sp>
      <p:sp>
        <p:nvSpPr>
          <p:cNvPr id="17" name="Shape 15"/>
          <p:cNvSpPr/>
          <p:nvPr/>
        </p:nvSpPr>
        <p:spPr>
          <a:xfrm>
            <a:off x="3486150" y="3871392"/>
            <a:ext cx="2171700" cy="752475"/>
          </a:xfrm>
          <a:prstGeom prst="rect">
            <a:avLst/>
          </a:prstGeom>
          <a:ln/>
        </p:spPr>
      </p:sp>
      <p:sp>
        <p:nvSpPr>
          <p:cNvPr id="18" name="Text 16"/>
          <p:cNvSpPr/>
          <p:nvPr/>
        </p:nvSpPr>
        <p:spPr>
          <a:xfrm>
            <a:off x="3486150" y="3952168"/>
            <a:ext cx="2171700" cy="138113"/>
          </a:xfrm>
          <a:prstGeom prst="rect">
            <a:avLst/>
          </a:prstGeom>
          <a:ln/>
        </p:spPr>
        <p:txBody>
          <a:bodyPr wrap="square" lIns="0" tIns="0" rIns="0" bIns="0" rtlCol="0" anchor="t"/>
          <a:lstStyle/>
          <a:p>
            <a:pPr algn="l" indent="0" marL="0">
              <a:lnSpc>
                <a:spcPts val="1080"/>
              </a:lnSpc>
              <a:buNone/>
            </a:pPr>
            <a:r>
              <a:rPr lang="en-US" sz="700" dirty="0">
                <a:solidFill>
                  <a:srgbClr val="0A4A66"/>
                </a:solidFill>
                <a:latin typeface="Inter" pitchFamily="34" charset="0"/>
                <a:ea typeface="Inter" pitchFamily="34" charset="-122"/>
                <a:cs typeface="Inter" pitchFamily="34" charset="-120"/>
              </a:rPr>
              <a:t>· Rhythms of West Africa</a:t>
            </a:r>
            <a:endParaRPr lang="en-US" sz="700" dirty="0"/>
          </a:p>
        </p:txBody>
      </p:sp>
      <p:sp>
        <p:nvSpPr>
          <p:cNvPr id="19" name="Text 17"/>
          <p:cNvSpPr/>
          <p:nvPr/>
        </p:nvSpPr>
        <p:spPr>
          <a:xfrm>
            <a:off x="3486150" y="4130390"/>
            <a:ext cx="2171700" cy="138113"/>
          </a:xfrm>
          <a:prstGeom prst="rect">
            <a:avLst/>
          </a:prstGeom>
          <a:ln/>
        </p:spPr>
        <p:txBody>
          <a:bodyPr wrap="square" lIns="0" tIns="0" rIns="0" bIns="0" rtlCol="0" anchor="t"/>
          <a:lstStyle/>
          <a:p>
            <a:pPr algn="l" indent="0" marL="0">
              <a:lnSpc>
                <a:spcPts val="1080"/>
              </a:lnSpc>
              <a:buNone/>
            </a:pPr>
            <a:r>
              <a:rPr lang="en-US" sz="700" dirty="0">
                <a:solidFill>
                  <a:srgbClr val="0A4A66"/>
                </a:solidFill>
                <a:latin typeface="Inter" pitchFamily="34" charset="0"/>
                <a:ea typeface="Inter" pitchFamily="34" charset="-122"/>
                <a:cs typeface="Inter" pitchFamily="34" charset="-120"/>
              </a:rPr>
              <a:t>· Singing &amp; Vocal Health</a:t>
            </a:r>
            <a:endParaRPr lang="en-US" sz="700" dirty="0"/>
          </a:p>
        </p:txBody>
      </p:sp>
      <p:sp>
        <p:nvSpPr>
          <p:cNvPr id="20" name="Text 18"/>
          <p:cNvSpPr/>
          <p:nvPr/>
        </p:nvSpPr>
        <p:spPr>
          <a:xfrm>
            <a:off x="3486150" y="4308611"/>
            <a:ext cx="2171700" cy="138113"/>
          </a:xfrm>
          <a:prstGeom prst="rect">
            <a:avLst/>
          </a:prstGeom>
          <a:ln/>
        </p:spPr>
        <p:txBody>
          <a:bodyPr wrap="square" lIns="0" tIns="0" rIns="0" bIns="0" rtlCol="0" anchor="t"/>
          <a:lstStyle/>
          <a:p>
            <a:pPr algn="l" indent="0" marL="0">
              <a:lnSpc>
                <a:spcPts val="1080"/>
              </a:lnSpc>
              <a:buNone/>
            </a:pPr>
            <a:r>
              <a:rPr lang="en-US" sz="700" dirty="0">
                <a:solidFill>
                  <a:srgbClr val="0A4A66"/>
                </a:solidFill>
                <a:latin typeface="Inter" pitchFamily="34" charset="0"/>
                <a:ea typeface="Inter" pitchFamily="34" charset="-122"/>
                <a:cs typeface="Inter" pitchFamily="34" charset="-120"/>
              </a:rPr>
              <a:t>· Body Percussion</a:t>
            </a:r>
            <a:endParaRPr lang="en-US" sz="700" dirty="0"/>
          </a:p>
        </p:txBody>
      </p:sp>
      <p:sp>
        <p:nvSpPr>
          <p:cNvPr id="21" name="Text 19"/>
          <p:cNvSpPr/>
          <p:nvPr/>
        </p:nvSpPr>
        <p:spPr>
          <a:xfrm>
            <a:off x="3486150" y="4486833"/>
            <a:ext cx="2171700" cy="138113"/>
          </a:xfrm>
          <a:prstGeom prst="rect">
            <a:avLst/>
          </a:prstGeom>
          <a:ln/>
        </p:spPr>
        <p:txBody>
          <a:bodyPr wrap="square" lIns="0" tIns="0" rIns="0" bIns="0" rtlCol="0" anchor="t"/>
          <a:lstStyle/>
          <a:p>
            <a:pPr algn="l" indent="0" marL="0">
              <a:lnSpc>
                <a:spcPts val="1080"/>
              </a:lnSpc>
              <a:buNone/>
            </a:pPr>
            <a:r>
              <a:rPr lang="en-US" sz="700" dirty="0">
                <a:solidFill>
                  <a:srgbClr val="0A4A66"/>
                </a:solidFill>
                <a:latin typeface="Inter" pitchFamily="34" charset="0"/>
                <a:ea typeface="Inter" pitchFamily="34" charset="-122"/>
                <a:cs typeface="Inter" pitchFamily="34" charset="-120"/>
              </a:rPr>
              <a:t>· Composing with Loops</a:t>
            </a:r>
            <a:endParaRPr lang="en-US" sz="700" dirty="0"/>
          </a:p>
        </p:txBody>
      </p:sp>
      <p:sp>
        <p:nvSpPr>
          <p:cNvPr id="22" name="Shape 20"/>
          <p:cNvSpPr/>
          <p:nvPr/>
        </p:nvSpPr>
        <p:spPr>
          <a:xfrm>
            <a:off x="5993234" y="2548793"/>
            <a:ext cx="2509838" cy="2233612"/>
          </a:xfrm>
          <a:prstGeom prst="roundRect">
            <a:avLst>
              <a:gd name="adj" fmla="val 2095"/>
            </a:avLst>
          </a:prstGeom>
          <a:solidFill>
            <a:srgbClr val="E8E2F2"/>
          </a:solidFill>
          <a:ln w="4763">
            <a:solidFill>
              <a:srgbClr val="7B6AEE">
                <a:alpha val="30196"/>
              </a:srgbClr>
            </a:solidFill>
            <a:prstDash val="solid"/>
          </a:ln>
        </p:spPr>
      </p:sp>
      <p:sp>
        <p:nvSpPr>
          <p:cNvPr id="23" name="Text 21"/>
          <p:cNvSpPr/>
          <p:nvPr/>
        </p:nvSpPr>
        <p:spPr>
          <a:xfrm>
            <a:off x="6162303" y="2707295"/>
            <a:ext cx="2171700" cy="200025"/>
          </a:xfrm>
          <a:prstGeom prst="rect">
            <a:avLst/>
          </a:prstGeom>
          <a:ln/>
        </p:spPr>
        <p:txBody>
          <a:bodyPr wrap="square" lIns="0" tIns="0" rIns="0" bIns="0" rtlCol="0" anchor="ctr"/>
          <a:lstStyle/>
          <a:p>
            <a:pPr algn="l" indent="0" marL="0">
              <a:lnSpc>
                <a:spcPts val="1584"/>
              </a:lnSpc>
              <a:buNone/>
            </a:pPr>
            <a:r>
              <a:rPr lang="en-US" sz="1500" b="1" dirty="0">
                <a:solidFill>
                  <a:srgbClr val="3D2F7A"/>
                </a:solidFill>
                <a:latin typeface="Inter" pitchFamily="34" charset="0"/>
                <a:ea typeface="Inter" pitchFamily="34" charset="-122"/>
                <a:cs typeface="Inter" pitchFamily="34" charset="-120"/>
              </a:rPr>
              <a:t>Dance</a:t>
            </a:r>
            <a:pPr algn="l" indent="0" marL="0">
              <a:lnSpc>
                <a:spcPts val="1026"/>
              </a:lnSpc>
              <a:buNone/>
            </a:pPr>
            <a:r>
              <a:rPr lang="en-US" sz="600" dirty="0">
                <a:solidFill>
                  <a:srgbClr val="3D2F7A"/>
                </a:solidFill>
                <a:latin typeface="Inter" pitchFamily="34" charset="0"/>
                <a:ea typeface="Inter" pitchFamily="34" charset="-122"/>
                <a:cs typeface="Inter" pitchFamily="34" charset="-120"/>
              </a:rPr>
              <a:t>EYFS · KS1–KS2 · KS3–KS5</a:t>
            </a:r>
            <a:endParaRPr lang="en-US" sz="1500" dirty="0"/>
          </a:p>
        </p:txBody>
      </p:sp>
      <p:sp>
        <p:nvSpPr>
          <p:cNvPr id="24" name="Text 22"/>
          <p:cNvSpPr/>
          <p:nvPr/>
        </p:nvSpPr>
        <p:spPr>
          <a:xfrm>
            <a:off x="6162303" y="3010979"/>
            <a:ext cx="2171700" cy="395287"/>
          </a:xfrm>
          <a:prstGeom prst="rect">
            <a:avLst/>
          </a:prstGeom>
          <a:ln/>
        </p:spPr>
        <p:txBody>
          <a:bodyPr wrap="square" lIns="0" tIns="0" rIns="0" bIns="0" rtlCol="0" anchor="t"/>
          <a:lstStyle/>
          <a:p>
            <a:pPr algn="l" indent="0" marL="0">
              <a:lnSpc>
                <a:spcPts val="1040"/>
              </a:lnSpc>
              <a:spcAft>
                <a:spcPts val="810"/>
              </a:spcAft>
              <a:buNone/>
            </a:pPr>
            <a:r>
              <a:rPr lang="en-US" sz="700" dirty="0">
                <a:solidFill>
                  <a:srgbClr val="3D2F7A"/>
                </a:solidFill>
                <a:latin typeface="Inter" pitchFamily="34" charset="0"/>
                <a:ea typeface="Inter" pitchFamily="34" charset="-122"/>
                <a:cs typeface="Inter" pitchFamily="34" charset="-120"/>
              </a:rPr>
              <a:t>Motif, canon, contact and choreography — sequenced so a class can build a performance piece across a half-term.</a:t>
            </a:r>
            <a:endParaRPr lang="en-US" sz="700" dirty="0"/>
          </a:p>
        </p:txBody>
      </p:sp>
      <p:sp>
        <p:nvSpPr>
          <p:cNvPr id="25" name="Shape 23"/>
          <p:cNvSpPr/>
          <p:nvPr/>
        </p:nvSpPr>
        <p:spPr>
          <a:xfrm>
            <a:off x="6162303" y="3871392"/>
            <a:ext cx="2171700" cy="752475"/>
          </a:xfrm>
          <a:prstGeom prst="rect">
            <a:avLst/>
          </a:prstGeom>
          <a:ln/>
        </p:spPr>
      </p:sp>
      <p:sp>
        <p:nvSpPr>
          <p:cNvPr id="26" name="Text 24"/>
          <p:cNvSpPr/>
          <p:nvPr/>
        </p:nvSpPr>
        <p:spPr>
          <a:xfrm>
            <a:off x="6162303" y="3952168"/>
            <a:ext cx="2171700" cy="138113"/>
          </a:xfrm>
          <a:prstGeom prst="rect">
            <a:avLst/>
          </a:prstGeom>
          <a:ln/>
        </p:spPr>
        <p:txBody>
          <a:bodyPr wrap="square" lIns="0" tIns="0" rIns="0" bIns="0" rtlCol="0" anchor="t"/>
          <a:lstStyle/>
          <a:p>
            <a:pPr algn="l" indent="0" marL="0">
              <a:lnSpc>
                <a:spcPts val="1080"/>
              </a:lnSpc>
              <a:buNone/>
            </a:pPr>
            <a:r>
              <a:rPr lang="en-US" sz="700" dirty="0">
                <a:solidFill>
                  <a:srgbClr val="3D2F7A"/>
                </a:solidFill>
                <a:latin typeface="Inter" pitchFamily="34" charset="0"/>
                <a:ea typeface="Inter" pitchFamily="34" charset="-122"/>
                <a:cs typeface="Inter" pitchFamily="34" charset="-120"/>
              </a:rPr>
              <a:t>· Motif &amp; Canon</a:t>
            </a:r>
            <a:endParaRPr lang="en-US" sz="700" dirty="0"/>
          </a:p>
        </p:txBody>
      </p:sp>
      <p:sp>
        <p:nvSpPr>
          <p:cNvPr id="27" name="Text 25"/>
          <p:cNvSpPr/>
          <p:nvPr/>
        </p:nvSpPr>
        <p:spPr>
          <a:xfrm>
            <a:off x="6162303" y="4130390"/>
            <a:ext cx="2171700" cy="138113"/>
          </a:xfrm>
          <a:prstGeom prst="rect">
            <a:avLst/>
          </a:prstGeom>
          <a:ln/>
        </p:spPr>
        <p:txBody>
          <a:bodyPr wrap="square" lIns="0" tIns="0" rIns="0" bIns="0" rtlCol="0" anchor="t"/>
          <a:lstStyle/>
          <a:p>
            <a:pPr algn="l" indent="0" marL="0">
              <a:lnSpc>
                <a:spcPts val="1080"/>
              </a:lnSpc>
              <a:buNone/>
            </a:pPr>
            <a:r>
              <a:rPr lang="en-US" sz="700" dirty="0">
                <a:solidFill>
                  <a:srgbClr val="3D2F7A"/>
                </a:solidFill>
                <a:latin typeface="Inter" pitchFamily="34" charset="0"/>
                <a:ea typeface="Inter" pitchFamily="34" charset="-122"/>
                <a:cs typeface="Inter" pitchFamily="34" charset="-120"/>
              </a:rPr>
              <a:t>· Contact &amp; Trust Work</a:t>
            </a:r>
            <a:endParaRPr lang="en-US" sz="700" dirty="0"/>
          </a:p>
        </p:txBody>
      </p:sp>
      <p:sp>
        <p:nvSpPr>
          <p:cNvPr id="28" name="Text 26"/>
          <p:cNvSpPr/>
          <p:nvPr/>
        </p:nvSpPr>
        <p:spPr>
          <a:xfrm>
            <a:off x="6162303" y="4308611"/>
            <a:ext cx="2171700" cy="138113"/>
          </a:xfrm>
          <a:prstGeom prst="rect">
            <a:avLst/>
          </a:prstGeom>
          <a:ln/>
        </p:spPr>
        <p:txBody>
          <a:bodyPr wrap="square" lIns="0" tIns="0" rIns="0" bIns="0" rtlCol="0" anchor="t"/>
          <a:lstStyle/>
          <a:p>
            <a:pPr algn="l" indent="0" marL="0">
              <a:lnSpc>
                <a:spcPts val="1080"/>
              </a:lnSpc>
              <a:buNone/>
            </a:pPr>
            <a:r>
              <a:rPr lang="en-US" sz="700" dirty="0">
                <a:solidFill>
                  <a:srgbClr val="3D2F7A"/>
                </a:solidFill>
                <a:latin typeface="Inter" pitchFamily="34" charset="0"/>
                <a:ea typeface="Inter" pitchFamily="34" charset="-122"/>
                <a:cs typeface="Inter" pitchFamily="34" charset="-120"/>
              </a:rPr>
              <a:t>· Storm &amp; Weather Studies</a:t>
            </a:r>
            <a:endParaRPr lang="en-US" sz="700" dirty="0"/>
          </a:p>
        </p:txBody>
      </p:sp>
      <p:sp>
        <p:nvSpPr>
          <p:cNvPr id="29" name="Text 27"/>
          <p:cNvSpPr/>
          <p:nvPr/>
        </p:nvSpPr>
        <p:spPr>
          <a:xfrm>
            <a:off x="6162303" y="4486833"/>
            <a:ext cx="2171700" cy="138113"/>
          </a:xfrm>
          <a:prstGeom prst="rect">
            <a:avLst/>
          </a:prstGeom>
          <a:ln/>
        </p:spPr>
        <p:txBody>
          <a:bodyPr wrap="square" lIns="0" tIns="0" rIns="0" bIns="0" rtlCol="0" anchor="t"/>
          <a:lstStyle/>
          <a:p>
            <a:pPr algn="l" indent="0" marL="0">
              <a:lnSpc>
                <a:spcPts val="1080"/>
              </a:lnSpc>
              <a:buNone/>
            </a:pPr>
            <a:r>
              <a:rPr lang="en-US" sz="700" dirty="0">
                <a:solidFill>
                  <a:srgbClr val="3D2F7A"/>
                </a:solidFill>
                <a:latin typeface="Inter" pitchFamily="34" charset="0"/>
                <a:ea typeface="Inter" pitchFamily="34" charset="-122"/>
                <a:cs typeface="Inter" pitchFamily="34" charset="-120"/>
              </a:rPr>
              <a:t>· Choreographing in Groups</a:t>
            </a:r>
            <a:endParaRPr lang="en-US" sz="700" dirty="0"/>
          </a:p>
        </p:txBody>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9997" y="3871392"/>
            <a:ext cx="2171700" cy="752475"/>
          </a:xfrm>
          <a:prstGeom prst="rect">
            <a:avLst/>
          </a:prstGeom>
        </p:spPr>
      </p:pic>
      <p:pic>
        <p:nvPicPr>
          <p:cNvPr id="3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6150" y="3871392"/>
            <a:ext cx="2171700" cy="752475"/>
          </a:xfrm>
          <a:prstGeom prst="rect">
            <a:avLst/>
          </a:prstGeom>
        </p:spPr>
      </p:pic>
      <p:pic>
        <p:nvPicPr>
          <p:cNvPr id="3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62303" y="3871392"/>
            <a:ext cx="2171700" cy="752475"/>
          </a:xfrm>
          <a:prstGeom prst="rect">
            <a:avLst/>
          </a:prstGeom>
        </p:spPr>
      </p:pic>
      <p:pic>
        <p:nvPicPr>
          <p:cNvPr id="33" name="Image 3" descr="preencoded.png">    </p:cNvPr>
          <p:cNvPicPr>
            <a:picLocks noChangeAspect="1"/>
          </p:cNvPicPr>
          <p:nvPr/>
        </p:nvPicPr>
        <p:blipFill>
          <a:blip r:embed="rId7"/>
          <a:stretch>
            <a:fillRect/>
          </a:stretch>
        </p:blipFill>
        <p:spPr>
          <a:xfrm>
            <a:off x="228600" y="154260"/>
            <a:ext cx="857250" cy="257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110" y="359532"/>
            <a:ext cx="833437" cy="138113"/>
          </a:xfrm>
          <a:prstGeom prst="rect">
            <a:avLst/>
          </a:prstGeom>
          <a:ln/>
        </p:spPr>
        <p:txBody>
          <a:bodyPr wrap="square" lIns="0" tIns="0" rIns="0" bIns="0" rtlCol="0" anchor="t"/>
          <a:lstStyle/>
          <a:p>
            <a:pPr algn="l" indent="0" marL="0">
              <a:lnSpc>
                <a:spcPts val="1080"/>
              </a:lnSpc>
              <a:spcAft>
                <a:spcPts val="1013"/>
              </a:spcAft>
              <a:buNone/>
            </a:pPr>
            <a:r>
              <a:rPr lang="en-US" sz="700" b="1" dirty="0">
                <a:solidFill>
                  <a:srgbClr val="FF6B6B"/>
                </a:solidFill>
                <a:latin typeface="Inter" pitchFamily="34" charset="0"/>
                <a:ea typeface="Inter" pitchFamily="34" charset="-122"/>
                <a:cs typeface="Inter" pitchFamily="34" charset="-120"/>
              </a:rPr>
              <a:t>WHO IT'S FOR</a:t>
            </a:r>
            <a:endParaRPr lang="en-US" sz="700" dirty="0"/>
          </a:p>
        </p:txBody>
      </p:sp>
      <p:sp>
        <p:nvSpPr>
          <p:cNvPr id="4" name="Text 2"/>
          <p:cNvSpPr/>
          <p:nvPr/>
        </p:nvSpPr>
        <p:spPr>
          <a:xfrm>
            <a:off x="640035" y="626120"/>
            <a:ext cx="6400800" cy="857250"/>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Built with arts educators — every key stage, EYFS to KS5.</a:t>
            </a:r>
            <a:endParaRPr lang="en-US" sz="3300" dirty="0"/>
          </a:p>
        </p:txBody>
      </p:sp>
      <p:sp>
        <p:nvSpPr>
          <p:cNvPr id="5" name="Shape 3"/>
          <p:cNvSpPr/>
          <p:nvPr/>
        </p:nvSpPr>
        <p:spPr>
          <a:xfrm>
            <a:off x="639589" y="1792486"/>
            <a:ext cx="2500313" cy="2990850"/>
          </a:xfrm>
          <a:prstGeom prst="roundRect">
            <a:avLst>
              <a:gd name="adj" fmla="val 1672"/>
            </a:avLst>
          </a:prstGeom>
          <a:solidFill>
            <a:srgbClr val="FFFFFF"/>
          </a:solidFill>
          <a:ln/>
          <a:effectLst>
            <a:outerShdw sx="100000" sy="100000" kx="0" ky="0" algn="bl" rotWithShape="0" blurRad="152400" dist="38100" dir="5400000">
              <a:srgbClr val="004C45">
                <a:alpha val="8000"/>
              </a:srgbClr>
            </a:outerShdw>
          </a:effectLst>
        </p:spPr>
      </p:sp>
      <p:sp>
        <p:nvSpPr>
          <p:cNvPr id="6" name="Text 4"/>
          <p:cNvSpPr/>
          <p:nvPr/>
        </p:nvSpPr>
        <p:spPr>
          <a:xfrm>
            <a:off x="822945" y="1946225"/>
            <a:ext cx="2133600" cy="476250"/>
          </a:xfrm>
          <a:prstGeom prst="rect">
            <a:avLst/>
          </a:prstGeom>
          <a:ln/>
        </p:spPr>
        <p:txBody>
          <a:bodyPr wrap="square" lIns="0" tIns="0" rIns="0" bIns="0" rtlCol="0" anchor="t"/>
          <a:lstStyle/>
          <a:p>
            <a:pPr algn="l" indent="0" marL="0">
              <a:lnSpc>
                <a:spcPts val="1872"/>
              </a:lnSpc>
              <a:buNone/>
            </a:pPr>
            <a:r>
              <a:rPr lang="en-US" sz="1800" b="1" dirty="0">
                <a:solidFill>
                  <a:srgbClr val="008272"/>
                </a:solidFill>
                <a:latin typeface="Inter" pitchFamily="34" charset="0"/>
                <a:ea typeface="Inter" pitchFamily="34" charset="-122"/>
                <a:cs typeface="Inter" pitchFamily="34" charset="-120"/>
              </a:rPr>
              <a:t>Early Years &amp; Primary</a:t>
            </a:r>
            <a:endParaRPr lang="en-US" sz="1800" dirty="0"/>
          </a:p>
        </p:txBody>
      </p:sp>
      <p:sp>
        <p:nvSpPr>
          <p:cNvPr id="7" name="Text 5"/>
          <p:cNvSpPr/>
          <p:nvPr/>
        </p:nvSpPr>
        <p:spPr>
          <a:xfrm>
            <a:off x="822945" y="2524460"/>
            <a:ext cx="2133600" cy="138113"/>
          </a:xfrm>
          <a:prstGeom prst="rect">
            <a:avLst/>
          </a:prstGeom>
          <a:ln/>
        </p:spPr>
        <p:txBody>
          <a:bodyPr wrap="square" lIns="0" tIns="0" rIns="0" bIns="0" rtlCol="0" anchor="t"/>
          <a:lstStyle/>
          <a:p>
            <a:pPr algn="l" indent="0" marL="0">
              <a:lnSpc>
                <a:spcPts val="1080"/>
              </a:lnSpc>
              <a:spcAft>
                <a:spcPts val="607"/>
              </a:spcAft>
              <a:buNone/>
            </a:pPr>
            <a:r>
              <a:rPr lang="en-US" sz="700" dirty="0">
                <a:solidFill>
                  <a:srgbClr val="6B7D80"/>
                </a:solidFill>
                <a:latin typeface="Inter" pitchFamily="34" charset="0"/>
                <a:ea typeface="Inter" pitchFamily="34" charset="-122"/>
                <a:cs typeface="Inter" pitchFamily="34" charset="-120"/>
              </a:rPr>
              <a:t>EYFS · KS1 · KS2 · Ages 3–11</a:t>
            </a:r>
            <a:endParaRPr lang="en-US" sz="700" dirty="0"/>
          </a:p>
        </p:txBody>
      </p:sp>
      <p:sp>
        <p:nvSpPr>
          <p:cNvPr id="8" name="Text 6"/>
          <p:cNvSpPr/>
          <p:nvPr/>
        </p:nvSpPr>
        <p:spPr>
          <a:xfrm>
            <a:off x="822945" y="2739070"/>
            <a:ext cx="2133600" cy="514350"/>
          </a:xfrm>
          <a:prstGeom prst="rect">
            <a:avLst/>
          </a:prstGeom>
          <a:ln/>
        </p:spPr>
        <p:txBody>
          <a:bodyPr wrap="square" lIns="0" tIns="0" rIns="0" bIns="0" rtlCol="0" anchor="t"/>
          <a:lstStyle/>
          <a:p>
            <a:pPr algn="l" indent="0" marL="0">
              <a:lnSpc>
                <a:spcPts val="1350"/>
              </a:lnSpc>
              <a:spcAft>
                <a:spcPts val="607"/>
              </a:spcAft>
              <a:buNone/>
            </a:pPr>
            <a:r>
              <a:rPr lang="en-US" sz="1000" b="1" dirty="0">
                <a:solidFill>
                  <a:srgbClr val="0F2A2E"/>
                </a:solidFill>
                <a:latin typeface="Inter" pitchFamily="34" charset="0"/>
                <a:ea typeface="Inter" pitchFamily="34" charset="-122"/>
                <a:cs typeface="Inter" pitchFamily="34" charset="-120"/>
              </a:rPr>
              <a:t>Reception leads, generalist teachers and primary arts specialists</a:t>
            </a:r>
            <a:endParaRPr lang="en-US" sz="1000" dirty="0"/>
          </a:p>
        </p:txBody>
      </p:sp>
      <p:sp>
        <p:nvSpPr>
          <p:cNvPr id="9" name="Text 7"/>
          <p:cNvSpPr/>
          <p:nvPr/>
        </p:nvSpPr>
        <p:spPr>
          <a:xfrm>
            <a:off x="822945" y="3329732"/>
            <a:ext cx="2133600" cy="723900"/>
          </a:xfrm>
          <a:prstGeom prst="rect">
            <a:avLst/>
          </a:prstGeom>
          <a:ln/>
        </p:spPr>
        <p:txBody>
          <a:bodyPr wrap="square" lIns="0" tIns="0" rIns="0" bIns="0" rtlCol="0" anchor="t"/>
          <a:lstStyle/>
          <a:p>
            <a:pPr algn="l" indent="0" marL="0">
              <a:lnSpc>
                <a:spcPts val="1139"/>
              </a:lnSpc>
              <a:buNone/>
            </a:pPr>
            <a:r>
              <a:rPr lang="en-US" sz="800" dirty="0">
                <a:solidFill>
                  <a:srgbClr val="6B7D80"/>
                </a:solidFill>
                <a:latin typeface="Inter" pitchFamily="34" charset="0"/>
                <a:ea typeface="Inter" pitchFamily="34" charset="-122"/>
                <a:cs typeface="Inter" pitchFamily="34" charset="-120"/>
              </a:rPr>
              <a:t>Plan around continuous provision and adult-led inputs. Give non-specialist teachers the confidence to lead drama, dance and music — backed by activities they can actually run.</a:t>
            </a:r>
            <a:endParaRPr lang="en-US" sz="800" dirty="0"/>
          </a:p>
        </p:txBody>
      </p:sp>
      <p:sp>
        <p:nvSpPr>
          <p:cNvPr id="10" name="Text 8"/>
          <p:cNvSpPr/>
          <p:nvPr/>
        </p:nvSpPr>
        <p:spPr>
          <a:xfrm>
            <a:off x="822945" y="4377221"/>
            <a:ext cx="2133600" cy="252412"/>
          </a:xfrm>
          <a:prstGeom prst="rect">
            <a:avLst/>
          </a:prstGeom>
          <a:ln/>
        </p:spPr>
        <p:txBody>
          <a:bodyPr wrap="square" lIns="0" tIns="0" rIns="0" bIns="0" rtlCol="0" anchor="t"/>
          <a:lstStyle/>
          <a:p>
            <a:pPr algn="l" indent="0" marL="0">
              <a:lnSpc>
                <a:spcPts val="1134"/>
              </a:lnSpc>
              <a:spcBef>
                <a:spcPts val="2556"/>
              </a:spcBef>
              <a:buNone/>
            </a:pPr>
            <a:r>
              <a:rPr lang="en-US" sz="700" dirty="0">
                <a:solidFill>
                  <a:srgbClr val="0F2A2E"/>
                </a:solidFill>
                <a:latin typeface="Inter" pitchFamily="34" charset="0"/>
                <a:ea typeface="Inter" pitchFamily="34" charset="-122"/>
                <a:cs typeface="Inter" pitchFamily="34" charset="-120"/>
              </a:rPr>
              <a:t>Continuous provision · non-specialist support</a:t>
            </a:r>
            <a:endParaRPr lang="en-US" sz="700" dirty="0"/>
          </a:p>
        </p:txBody>
      </p:sp>
      <p:sp>
        <p:nvSpPr>
          <p:cNvPr id="11" name="Shape 9"/>
          <p:cNvSpPr/>
          <p:nvPr/>
        </p:nvSpPr>
        <p:spPr>
          <a:xfrm>
            <a:off x="3321844" y="1792486"/>
            <a:ext cx="2500313" cy="2990850"/>
          </a:xfrm>
          <a:prstGeom prst="roundRect">
            <a:avLst>
              <a:gd name="adj" fmla="val 1672"/>
            </a:avLst>
          </a:prstGeom>
          <a:solidFill>
            <a:srgbClr val="008272"/>
          </a:solidFill>
          <a:ln/>
          <a:effectLst>
            <a:outerShdw sx="100000" sy="100000" kx="0" ky="0" algn="bl" rotWithShape="0" blurRad="190500" dist="57150" dir="5400000">
              <a:srgbClr val="004C45">
                <a:alpha val="20000"/>
              </a:srgbClr>
            </a:outerShdw>
          </a:effectLst>
        </p:spPr>
      </p:sp>
      <p:sp>
        <p:nvSpPr>
          <p:cNvPr id="12" name="Text 10"/>
          <p:cNvSpPr/>
          <p:nvPr/>
        </p:nvSpPr>
        <p:spPr>
          <a:xfrm>
            <a:off x="3505200" y="1946225"/>
            <a:ext cx="2133600" cy="476250"/>
          </a:xfrm>
          <a:prstGeom prst="rect">
            <a:avLst/>
          </a:prstGeom>
          <a:ln/>
        </p:spPr>
        <p:txBody>
          <a:bodyPr wrap="square" lIns="0" tIns="0" rIns="0" bIns="0" rtlCol="0" anchor="t"/>
          <a:lstStyle/>
          <a:p>
            <a:pPr algn="l" indent="0" marL="0">
              <a:lnSpc>
                <a:spcPts val="1872"/>
              </a:lnSpc>
              <a:buNone/>
            </a:pPr>
            <a:r>
              <a:rPr lang="en-US" sz="1800" b="1" dirty="0">
                <a:solidFill>
                  <a:srgbClr val="FFFFFF"/>
                </a:solidFill>
                <a:latin typeface="Inter" pitchFamily="34" charset="0"/>
                <a:ea typeface="Inter" pitchFamily="34" charset="-122"/>
                <a:cs typeface="Inter" pitchFamily="34" charset="-120"/>
              </a:rPr>
              <a:t>Secondary &amp; Sixth Form</a:t>
            </a:r>
            <a:endParaRPr lang="en-US" sz="1800" dirty="0"/>
          </a:p>
        </p:txBody>
      </p:sp>
      <p:sp>
        <p:nvSpPr>
          <p:cNvPr id="13" name="Text 11"/>
          <p:cNvSpPr/>
          <p:nvPr/>
        </p:nvSpPr>
        <p:spPr>
          <a:xfrm>
            <a:off x="3505200" y="2524460"/>
            <a:ext cx="2133600" cy="138113"/>
          </a:xfrm>
          <a:prstGeom prst="rect">
            <a:avLst/>
          </a:prstGeom>
          <a:ln/>
        </p:spPr>
        <p:txBody>
          <a:bodyPr wrap="square" lIns="0" tIns="0" rIns="0" bIns="0" rtlCol="0" anchor="t"/>
          <a:lstStyle/>
          <a:p>
            <a:pPr algn="l" indent="0" marL="0">
              <a:lnSpc>
                <a:spcPts val="1080"/>
              </a:lnSpc>
              <a:spcAft>
                <a:spcPts val="607"/>
              </a:spcAft>
              <a:buNone/>
            </a:pPr>
            <a:r>
              <a:rPr lang="en-US" sz="700" dirty="0">
                <a:solidFill>
                  <a:srgbClr val="FFFFFF"/>
                </a:solidFill>
                <a:latin typeface="Inter" pitchFamily="34" charset="0"/>
                <a:ea typeface="Inter" pitchFamily="34" charset="-122"/>
                <a:cs typeface="Inter" pitchFamily="34" charset="-120"/>
              </a:rPr>
              <a:t>KS3 · KS4 · KS5 · Ages 11–18</a:t>
            </a:r>
            <a:endParaRPr lang="en-US" sz="700" dirty="0"/>
          </a:p>
        </p:txBody>
      </p:sp>
      <p:sp>
        <p:nvSpPr>
          <p:cNvPr id="14" name="Text 12"/>
          <p:cNvSpPr/>
          <p:nvPr/>
        </p:nvSpPr>
        <p:spPr>
          <a:xfrm>
            <a:off x="3505200" y="2739107"/>
            <a:ext cx="2133600" cy="342900"/>
          </a:xfrm>
          <a:prstGeom prst="rect">
            <a:avLst/>
          </a:prstGeom>
          <a:ln/>
        </p:spPr>
        <p:txBody>
          <a:bodyPr wrap="square" lIns="0" tIns="0" rIns="0" bIns="0" rtlCol="0" anchor="t"/>
          <a:lstStyle/>
          <a:p>
            <a:pPr algn="l" indent="0" marL="0">
              <a:lnSpc>
                <a:spcPts val="1350"/>
              </a:lnSpc>
              <a:spcAft>
                <a:spcPts val="607"/>
              </a:spcAft>
              <a:buNone/>
            </a:pPr>
            <a:r>
              <a:rPr lang="en-US" sz="1000" b="1" dirty="0">
                <a:solidFill>
                  <a:srgbClr val="FFFFFF"/>
                </a:solidFill>
                <a:latin typeface="Inter" pitchFamily="34" charset="0"/>
                <a:ea typeface="Inter" pitchFamily="34" charset="-122"/>
                <a:cs typeface="Inter" pitchFamily="34" charset="-120"/>
              </a:rPr>
              <a:t>Drama, dance and music subject leads &amp; departments</a:t>
            </a:r>
            <a:endParaRPr lang="en-US" sz="1000" dirty="0"/>
          </a:p>
        </p:txBody>
      </p:sp>
      <p:sp>
        <p:nvSpPr>
          <p:cNvPr id="15" name="Text 13"/>
          <p:cNvSpPr/>
          <p:nvPr/>
        </p:nvSpPr>
        <p:spPr>
          <a:xfrm>
            <a:off x="3505200" y="3159175"/>
            <a:ext cx="2133600" cy="866775"/>
          </a:xfrm>
          <a:prstGeom prst="rect">
            <a:avLst/>
          </a:prstGeom>
          <a:ln/>
        </p:spPr>
        <p:txBody>
          <a:bodyPr wrap="square" lIns="0" tIns="0" rIns="0" bIns="0" rtlCol="0" anchor="t"/>
          <a:lstStyle/>
          <a:p>
            <a:pPr algn="l" indent="0" marL="0">
              <a:lnSpc>
                <a:spcPts val="1139"/>
              </a:lnSpc>
              <a:buNone/>
            </a:pPr>
            <a:r>
              <a:rPr lang="en-US" sz="800" dirty="0">
                <a:solidFill>
                  <a:srgbClr val="FFFFFF"/>
                </a:solidFill>
                <a:latin typeface="Inter" pitchFamily="34" charset="0"/>
                <a:ea typeface="Inter" pitchFamily="34" charset="-122"/>
                <a:cs typeface="Inter" pitchFamily="34" charset="-120"/>
              </a:rPr>
              <a:t>Sequence units across years, key stages and qualifications — GCSE, A-Level, BTEC and beyond. Build a shared department library of rehearsal techniques, schemes of work and reflective practice, so a great unit is taught well by every teacher.</a:t>
            </a:r>
            <a:endParaRPr lang="en-US" sz="800" dirty="0"/>
          </a:p>
        </p:txBody>
      </p:sp>
      <p:sp>
        <p:nvSpPr>
          <p:cNvPr id="16" name="Text 14"/>
          <p:cNvSpPr/>
          <p:nvPr/>
        </p:nvSpPr>
        <p:spPr>
          <a:xfrm>
            <a:off x="3505200" y="4233788"/>
            <a:ext cx="2133600" cy="395287"/>
          </a:xfrm>
          <a:prstGeom prst="rect">
            <a:avLst/>
          </a:prstGeom>
          <a:ln/>
        </p:spPr>
        <p:txBody>
          <a:bodyPr wrap="square" lIns="0" tIns="0" rIns="0" bIns="0" rtlCol="0" anchor="t"/>
          <a:lstStyle/>
          <a:p>
            <a:pPr algn="l" indent="0" marL="0">
              <a:lnSpc>
                <a:spcPts val="1134"/>
              </a:lnSpc>
              <a:spcBef>
                <a:spcPts val="1634"/>
              </a:spcBef>
              <a:buNone/>
            </a:pPr>
            <a:r>
              <a:rPr lang="en-US" sz="700" dirty="0">
                <a:solidFill>
                  <a:srgbClr val="FFFFFF"/>
                </a:solidFill>
                <a:latin typeface="Inter" pitchFamily="34" charset="0"/>
                <a:ea typeface="Inter" pitchFamily="34" charset="-122"/>
                <a:cs typeface="Inter" pitchFamily="34" charset="-120"/>
              </a:rPr>
              <a:t>GCSE, A-Level &amp; BTEC frameworks · departmental sharing</a:t>
            </a:r>
            <a:endParaRPr lang="en-US" sz="700" dirty="0"/>
          </a:p>
        </p:txBody>
      </p:sp>
      <p:sp>
        <p:nvSpPr>
          <p:cNvPr id="17" name="Shape 15"/>
          <p:cNvSpPr/>
          <p:nvPr/>
        </p:nvSpPr>
        <p:spPr>
          <a:xfrm>
            <a:off x="6004099" y="1792486"/>
            <a:ext cx="2500313" cy="2990850"/>
          </a:xfrm>
          <a:prstGeom prst="roundRect">
            <a:avLst>
              <a:gd name="adj" fmla="val 1672"/>
            </a:avLst>
          </a:prstGeom>
          <a:solidFill>
            <a:srgbClr val="FFFFFF"/>
          </a:solidFill>
          <a:ln/>
          <a:effectLst>
            <a:outerShdw sx="100000" sy="100000" kx="0" ky="0" algn="bl" rotWithShape="0" blurRad="152400" dist="38100" dir="5400000">
              <a:srgbClr val="004C45">
                <a:alpha val="8000"/>
              </a:srgbClr>
            </a:outerShdw>
          </a:effectLst>
        </p:spPr>
      </p:sp>
      <p:sp>
        <p:nvSpPr>
          <p:cNvPr id="18" name="Text 16"/>
          <p:cNvSpPr/>
          <p:nvPr/>
        </p:nvSpPr>
        <p:spPr>
          <a:xfrm>
            <a:off x="6187455" y="1946225"/>
            <a:ext cx="2133600" cy="476250"/>
          </a:xfrm>
          <a:prstGeom prst="rect">
            <a:avLst/>
          </a:prstGeom>
          <a:ln/>
        </p:spPr>
        <p:txBody>
          <a:bodyPr wrap="square" lIns="0" tIns="0" rIns="0" bIns="0" rtlCol="0" anchor="t"/>
          <a:lstStyle/>
          <a:p>
            <a:pPr algn="l" indent="0" marL="0">
              <a:lnSpc>
                <a:spcPts val="1872"/>
              </a:lnSpc>
              <a:buNone/>
            </a:pPr>
            <a:r>
              <a:rPr lang="en-US" sz="1800" b="1" dirty="0">
                <a:solidFill>
                  <a:srgbClr val="008272"/>
                </a:solidFill>
                <a:latin typeface="Inter" pitchFamily="34" charset="0"/>
                <a:ea typeface="Inter" pitchFamily="34" charset="-122"/>
                <a:cs typeface="Inter" pitchFamily="34" charset="-120"/>
              </a:rPr>
              <a:t>Arts Sector Partners</a:t>
            </a:r>
            <a:endParaRPr lang="en-US" sz="1800" dirty="0"/>
          </a:p>
        </p:txBody>
      </p:sp>
      <p:sp>
        <p:nvSpPr>
          <p:cNvPr id="19" name="Text 17"/>
          <p:cNvSpPr/>
          <p:nvPr/>
        </p:nvSpPr>
        <p:spPr>
          <a:xfrm>
            <a:off x="6187455" y="2523976"/>
            <a:ext cx="2133600" cy="276225"/>
          </a:xfrm>
          <a:prstGeom prst="rect">
            <a:avLst/>
          </a:prstGeom>
          <a:ln/>
        </p:spPr>
        <p:txBody>
          <a:bodyPr wrap="square" lIns="0" tIns="0" rIns="0" bIns="0" rtlCol="0" anchor="t"/>
          <a:lstStyle/>
          <a:p>
            <a:pPr algn="l" indent="0" marL="0">
              <a:lnSpc>
                <a:spcPts val="1080"/>
              </a:lnSpc>
              <a:spcAft>
                <a:spcPts val="607"/>
              </a:spcAft>
              <a:buNone/>
            </a:pPr>
            <a:r>
              <a:rPr lang="en-US" sz="700" dirty="0">
                <a:solidFill>
                  <a:srgbClr val="6B7D80"/>
                </a:solidFill>
                <a:latin typeface="Inter" pitchFamily="34" charset="0"/>
                <a:ea typeface="Inter" pitchFamily="34" charset="-122"/>
                <a:cs typeface="Inter" pitchFamily="34" charset="-120"/>
              </a:rPr>
              <a:t>Theatres · Orchestras · Dance companies · Universities</a:t>
            </a:r>
            <a:endParaRPr lang="en-US" sz="700" dirty="0"/>
          </a:p>
        </p:txBody>
      </p:sp>
      <p:sp>
        <p:nvSpPr>
          <p:cNvPr id="20" name="Text 18"/>
          <p:cNvSpPr/>
          <p:nvPr/>
        </p:nvSpPr>
        <p:spPr>
          <a:xfrm>
            <a:off x="6187455" y="2876215"/>
            <a:ext cx="2133600" cy="514350"/>
          </a:xfrm>
          <a:prstGeom prst="rect">
            <a:avLst/>
          </a:prstGeom>
          <a:ln/>
        </p:spPr>
        <p:txBody>
          <a:bodyPr wrap="square" lIns="0" tIns="0" rIns="0" bIns="0" rtlCol="0" anchor="t"/>
          <a:lstStyle/>
          <a:p>
            <a:pPr algn="l" indent="0" marL="0">
              <a:lnSpc>
                <a:spcPts val="1350"/>
              </a:lnSpc>
              <a:spcAft>
                <a:spcPts val="607"/>
              </a:spcAft>
              <a:buNone/>
            </a:pPr>
            <a:r>
              <a:rPr lang="en-US" sz="1000" b="1" dirty="0">
                <a:solidFill>
                  <a:srgbClr val="0F2A2E"/>
                </a:solidFill>
                <a:latin typeface="Inter" pitchFamily="34" charset="0"/>
                <a:ea typeface="Inter" pitchFamily="34" charset="-122"/>
                <a:cs typeface="Inter" pitchFamily="34" charset="-120"/>
              </a:rPr>
              <a:t>Outreach teams, practitioners, training providers and university arts faculties</a:t>
            </a:r>
            <a:endParaRPr lang="en-US" sz="1000" dirty="0"/>
          </a:p>
        </p:txBody>
      </p:sp>
      <p:sp>
        <p:nvSpPr>
          <p:cNvPr id="21" name="Text 19"/>
          <p:cNvSpPr/>
          <p:nvPr/>
        </p:nvSpPr>
        <p:spPr>
          <a:xfrm>
            <a:off x="6187455" y="3466877"/>
            <a:ext cx="2133600" cy="723900"/>
          </a:xfrm>
          <a:prstGeom prst="rect">
            <a:avLst/>
          </a:prstGeom>
          <a:ln/>
        </p:spPr>
        <p:txBody>
          <a:bodyPr wrap="square" lIns="0" tIns="0" rIns="0" bIns="0" rtlCol="0" anchor="t"/>
          <a:lstStyle/>
          <a:p>
            <a:pPr algn="l" indent="0" marL="0">
              <a:lnSpc>
                <a:spcPts val="1139"/>
              </a:lnSpc>
              <a:buNone/>
            </a:pPr>
            <a:r>
              <a:rPr lang="en-US" sz="800" dirty="0">
                <a:solidFill>
                  <a:srgbClr val="6B7D80"/>
                </a:solidFill>
                <a:latin typeface="Inter" pitchFamily="34" charset="0"/>
                <a:ea typeface="Inter" pitchFamily="34" charset="-122"/>
                <a:cs typeface="Inter" pitchFamily="34" charset="-120"/>
              </a:rPr>
              <a:t>Contribute outreach resources, rehearsal techniques, research-informed frameworks and training pathways into the schools you partner with — strengthening creative practice from EYFS to KS5.</a:t>
            </a:r>
            <a:endParaRPr lang="en-US" sz="800" dirty="0"/>
          </a:p>
        </p:txBody>
      </p:sp>
      <p:sp>
        <p:nvSpPr>
          <p:cNvPr id="22" name="Text 20"/>
          <p:cNvSpPr/>
          <p:nvPr/>
        </p:nvSpPr>
        <p:spPr>
          <a:xfrm>
            <a:off x="6187455" y="4377221"/>
            <a:ext cx="2133600" cy="252412"/>
          </a:xfrm>
          <a:prstGeom prst="rect">
            <a:avLst/>
          </a:prstGeom>
          <a:ln/>
        </p:spPr>
        <p:txBody>
          <a:bodyPr wrap="square" lIns="0" tIns="0" rIns="0" bIns="0" rtlCol="0" anchor="t"/>
          <a:lstStyle/>
          <a:p>
            <a:pPr algn="l" indent="0" marL="0">
              <a:lnSpc>
                <a:spcPts val="1134"/>
              </a:lnSpc>
              <a:spcBef>
                <a:spcPts val="1477"/>
              </a:spcBef>
              <a:buNone/>
            </a:pPr>
            <a:r>
              <a:rPr lang="en-US" sz="700" dirty="0">
                <a:solidFill>
                  <a:srgbClr val="0F2A2E"/>
                </a:solidFill>
                <a:latin typeface="Inter" pitchFamily="34" charset="0"/>
                <a:ea typeface="Inter" pitchFamily="34" charset="-122"/>
                <a:cs typeface="Inter" pitchFamily="34" charset="-120"/>
              </a:rPr>
              <a:t>Outreach · training · sector-wide collaboration</a:t>
            </a:r>
            <a:endParaRPr lang="en-US" sz="700" dirty="0"/>
          </a:p>
        </p:txBody>
      </p:sp>
      <p:pic>
        <p:nvPicPr>
          <p:cNvPr id="2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2945" y="4377221"/>
            <a:ext cx="2133600" cy="252412"/>
          </a:xfrm>
          <a:prstGeom prst="rect">
            <a:avLst/>
          </a:prstGeom>
        </p:spPr>
      </p:pic>
      <p:pic>
        <p:nvPicPr>
          <p:cNvPr id="2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5200" y="4233788"/>
            <a:ext cx="2133600" cy="395287"/>
          </a:xfrm>
          <a:prstGeom prst="rect">
            <a:avLst/>
          </a:prstGeom>
        </p:spPr>
      </p:pic>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7455" y="4377221"/>
            <a:ext cx="2133600" cy="252412"/>
          </a:xfrm>
          <a:prstGeom prst="rect">
            <a:avLst/>
          </a:prstGeom>
        </p:spPr>
      </p:pic>
      <p:pic>
        <p:nvPicPr>
          <p:cNvPr id="26" name="Image 3" descr="preencoded.png">    </p:cNvPr>
          <p:cNvPicPr>
            <a:picLocks noChangeAspect="1"/>
          </p:cNvPicPr>
          <p:nvPr/>
        </p:nvPicPr>
        <p:blipFill>
          <a:blip r:embed="rId7"/>
          <a:stretch>
            <a:fillRect/>
          </a:stretch>
        </p:blipFill>
        <p:spPr>
          <a:xfrm>
            <a:off x="228600" y="154260"/>
            <a:ext cx="857250" cy="257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1069814"/>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01</a:t>
            </a:r>
            <a:endParaRPr lang="en-US" sz="700" dirty="0"/>
          </a:p>
        </p:txBody>
      </p:sp>
      <p:sp>
        <p:nvSpPr>
          <p:cNvPr id="4" name="Text 2"/>
          <p:cNvSpPr/>
          <p:nvPr/>
        </p:nvSpPr>
        <p:spPr>
          <a:xfrm>
            <a:off x="640035" y="1309092"/>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See your year in six half-terms.</a:t>
            </a:r>
            <a:endParaRPr lang="en-US" sz="3000" dirty="0"/>
          </a:p>
        </p:txBody>
      </p:sp>
      <p:sp>
        <p:nvSpPr>
          <p:cNvPr id="5" name="Text 3"/>
          <p:cNvSpPr/>
          <p:nvPr/>
        </p:nvSpPr>
        <p:spPr>
          <a:xfrm>
            <a:off x="640035" y="2248012"/>
            <a:ext cx="3143250" cy="623888"/>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A clean overview of the whole academic year. Track progress, spot gaps, and reshape a half-term in a click.</a:t>
            </a:r>
            <a:endParaRPr lang="en-US" sz="1000" dirty="0"/>
          </a:p>
        </p:txBody>
      </p:sp>
      <p:sp>
        <p:nvSpPr>
          <p:cNvPr id="6" name="Shape 4"/>
          <p:cNvSpPr/>
          <p:nvPr/>
        </p:nvSpPr>
        <p:spPr>
          <a:xfrm>
            <a:off x="639254" y="3098341"/>
            <a:ext cx="38100" cy="219075"/>
          </a:xfrm>
          <a:prstGeom prst="roundRect">
            <a:avLst>
              <a:gd name="adj" fmla="val 300000"/>
            </a:avLst>
          </a:prstGeom>
          <a:solidFill>
            <a:srgbClr val="FF6B6B"/>
          </a:solidFill>
          <a:ln/>
        </p:spPr>
      </p:sp>
      <p:sp>
        <p:nvSpPr>
          <p:cNvPr id="7" name="Text 5"/>
          <p:cNvSpPr/>
          <p:nvPr/>
        </p:nvSpPr>
        <p:spPr>
          <a:xfrm>
            <a:off x="766986" y="3078063"/>
            <a:ext cx="1852612" cy="147637"/>
          </a:xfrm>
          <a:prstGeom prst="rect">
            <a:avLst/>
          </a:prstGeom>
          <a:ln/>
        </p:spPr>
        <p:txBody>
          <a:bodyPr wrap="square" lIns="0" tIns="0" rIns="0" bIns="0" rtlCol="0" anchor="t"/>
          <a:lstStyle/>
          <a:p>
            <a:pPr algn="l" indent="0" marL="0">
              <a:lnSpc>
                <a:spcPts val="1170"/>
              </a:lnSpc>
              <a:buNone/>
            </a:pPr>
            <a:r>
              <a:rPr lang="en-US" sz="900" b="1" dirty="0">
                <a:solidFill>
                  <a:srgbClr val="0F2A2E"/>
                </a:solidFill>
                <a:latin typeface="Inter" pitchFamily="34" charset="0"/>
                <a:ea typeface="Inter" pitchFamily="34" charset="-122"/>
                <a:cs typeface="Inter" pitchFamily="34" charset="-120"/>
              </a:rPr>
              <a:t>Six color-coded terms</a:t>
            </a:r>
            <a:endParaRPr lang="en-US" sz="900" dirty="0"/>
          </a:p>
        </p:txBody>
      </p:sp>
      <p:sp>
        <p:nvSpPr>
          <p:cNvPr id="8" name="Text 6"/>
          <p:cNvSpPr/>
          <p:nvPr/>
        </p:nvSpPr>
        <p:spPr>
          <a:xfrm>
            <a:off x="766986" y="3225440"/>
            <a:ext cx="1852612" cy="133350"/>
          </a:xfrm>
          <a:prstGeom prst="rect">
            <a:avLst/>
          </a:prstGeom>
          <a:ln/>
        </p:spPr>
        <p:txBody>
          <a:bodyPr wrap="square" lIns="0" tIns="0" rIns="0" bIns="0" rtlCol="0" anchor="t"/>
          <a:lstStyle/>
          <a:p>
            <a:pPr algn="l" indent="0" marL="0">
              <a:lnSpc>
                <a:spcPts val="1040"/>
              </a:lnSpc>
              <a:buNone/>
            </a:pPr>
            <a:r>
              <a:rPr lang="en-US" sz="700" dirty="0">
                <a:solidFill>
                  <a:srgbClr val="6B7D80"/>
                </a:solidFill>
                <a:latin typeface="Inter" pitchFamily="34" charset="0"/>
                <a:ea typeface="Inter" pitchFamily="34" charset="-122"/>
                <a:cs typeface="Inter" pitchFamily="34" charset="-120"/>
              </a:rPr>
              <a:t>Autumn 1 through Summer 2 in one view.</a:t>
            </a:r>
            <a:endParaRPr lang="en-US" sz="700" dirty="0"/>
          </a:p>
        </p:txBody>
      </p:sp>
      <p:sp>
        <p:nvSpPr>
          <p:cNvPr id="9" name="Shape 7"/>
          <p:cNvSpPr/>
          <p:nvPr/>
        </p:nvSpPr>
        <p:spPr>
          <a:xfrm>
            <a:off x="639254" y="3455901"/>
            <a:ext cx="38100" cy="219075"/>
          </a:xfrm>
          <a:prstGeom prst="roundRect">
            <a:avLst>
              <a:gd name="adj" fmla="val 300000"/>
            </a:avLst>
          </a:prstGeom>
          <a:solidFill>
            <a:srgbClr val="14B8A6"/>
          </a:solidFill>
          <a:ln/>
        </p:spPr>
      </p:sp>
      <p:sp>
        <p:nvSpPr>
          <p:cNvPr id="10" name="Text 8"/>
          <p:cNvSpPr/>
          <p:nvPr/>
        </p:nvSpPr>
        <p:spPr>
          <a:xfrm>
            <a:off x="767730" y="3435623"/>
            <a:ext cx="2362200" cy="147637"/>
          </a:xfrm>
          <a:prstGeom prst="rect">
            <a:avLst/>
          </a:prstGeom>
          <a:ln/>
        </p:spPr>
        <p:txBody>
          <a:bodyPr wrap="square" lIns="0" tIns="0" rIns="0" bIns="0" rtlCol="0" anchor="t"/>
          <a:lstStyle/>
          <a:p>
            <a:pPr algn="l" indent="0" marL="0">
              <a:lnSpc>
                <a:spcPts val="1170"/>
              </a:lnSpc>
              <a:buNone/>
            </a:pPr>
            <a:r>
              <a:rPr lang="en-US" sz="900" b="1" dirty="0">
                <a:solidFill>
                  <a:srgbClr val="0F2A2E"/>
                </a:solidFill>
                <a:latin typeface="Inter" pitchFamily="34" charset="0"/>
                <a:ea typeface="Inter" pitchFamily="34" charset="-122"/>
                <a:cs typeface="Inter" pitchFamily="34" charset="-120"/>
              </a:rPr>
              <a:t>Live lesson counts</a:t>
            </a:r>
            <a:endParaRPr lang="en-US" sz="900" dirty="0"/>
          </a:p>
        </p:txBody>
      </p:sp>
      <p:sp>
        <p:nvSpPr>
          <p:cNvPr id="11" name="Text 9"/>
          <p:cNvSpPr/>
          <p:nvPr/>
        </p:nvSpPr>
        <p:spPr>
          <a:xfrm>
            <a:off x="767730" y="3583000"/>
            <a:ext cx="2362200" cy="133350"/>
          </a:xfrm>
          <a:prstGeom prst="rect">
            <a:avLst/>
          </a:prstGeom>
          <a:ln/>
        </p:spPr>
        <p:txBody>
          <a:bodyPr wrap="square" lIns="0" tIns="0" rIns="0" bIns="0" rtlCol="0" anchor="t"/>
          <a:lstStyle/>
          <a:p>
            <a:pPr algn="l" indent="0" marL="0">
              <a:lnSpc>
                <a:spcPts val="1040"/>
              </a:lnSpc>
              <a:buNone/>
            </a:pPr>
            <a:r>
              <a:rPr lang="en-US" sz="700" dirty="0">
                <a:solidFill>
                  <a:srgbClr val="6B7D80"/>
                </a:solidFill>
                <a:latin typeface="Inter" pitchFamily="34" charset="0"/>
                <a:ea typeface="Inter" pitchFamily="34" charset="-122"/>
                <a:cs typeface="Inter" pitchFamily="34" charset="-120"/>
              </a:rPr>
              <a:t>Know what's planned and what's empty at a glance.</a:t>
            </a:r>
            <a:endParaRPr lang="en-US" sz="700" dirty="0"/>
          </a:p>
        </p:txBody>
      </p:sp>
      <p:sp>
        <p:nvSpPr>
          <p:cNvPr id="12" name="Shape 10"/>
          <p:cNvSpPr/>
          <p:nvPr/>
        </p:nvSpPr>
        <p:spPr>
          <a:xfrm>
            <a:off x="639254" y="3813460"/>
            <a:ext cx="38100" cy="219075"/>
          </a:xfrm>
          <a:prstGeom prst="roundRect">
            <a:avLst>
              <a:gd name="adj" fmla="val 300000"/>
            </a:avLst>
          </a:prstGeom>
          <a:solidFill>
            <a:srgbClr val="FF6B6B"/>
          </a:solidFill>
          <a:ln/>
        </p:spPr>
      </p:sp>
      <p:sp>
        <p:nvSpPr>
          <p:cNvPr id="13" name="Text 11"/>
          <p:cNvSpPr/>
          <p:nvPr/>
        </p:nvSpPr>
        <p:spPr>
          <a:xfrm>
            <a:off x="767804" y="3793182"/>
            <a:ext cx="1819275" cy="147637"/>
          </a:xfrm>
          <a:prstGeom prst="rect">
            <a:avLst/>
          </a:prstGeom>
          <a:ln/>
        </p:spPr>
        <p:txBody>
          <a:bodyPr wrap="square" lIns="0" tIns="0" rIns="0" bIns="0" rtlCol="0" anchor="t"/>
          <a:lstStyle/>
          <a:p>
            <a:pPr algn="l" indent="0" marL="0">
              <a:lnSpc>
                <a:spcPts val="1170"/>
              </a:lnSpc>
              <a:buNone/>
            </a:pPr>
            <a:r>
              <a:rPr lang="en-US" sz="900" b="1" dirty="0">
                <a:solidFill>
                  <a:srgbClr val="0F2A2E"/>
                </a:solidFill>
                <a:latin typeface="Inter" pitchFamily="34" charset="0"/>
                <a:ea typeface="Inter" pitchFamily="34" charset="-122"/>
                <a:cs typeface="Inter" pitchFamily="34" charset="-120"/>
              </a:rPr>
              <a:t>Drag to reorder</a:t>
            </a:r>
            <a:endParaRPr lang="en-US" sz="900" dirty="0"/>
          </a:p>
        </p:txBody>
      </p:sp>
      <p:sp>
        <p:nvSpPr>
          <p:cNvPr id="14" name="Text 12"/>
          <p:cNvSpPr/>
          <p:nvPr/>
        </p:nvSpPr>
        <p:spPr>
          <a:xfrm>
            <a:off x="767804" y="3940559"/>
            <a:ext cx="1819275" cy="133350"/>
          </a:xfrm>
          <a:prstGeom prst="rect">
            <a:avLst/>
          </a:prstGeom>
          <a:ln/>
        </p:spPr>
        <p:txBody>
          <a:bodyPr wrap="square" lIns="0" tIns="0" rIns="0" bIns="0" rtlCol="0" anchor="t"/>
          <a:lstStyle/>
          <a:p>
            <a:pPr algn="l" indent="0" marL="0">
              <a:lnSpc>
                <a:spcPts val="1040"/>
              </a:lnSpc>
              <a:buNone/>
            </a:pPr>
            <a:r>
              <a:rPr lang="en-US" sz="700" dirty="0">
                <a:solidFill>
                  <a:srgbClr val="6B7D80"/>
                </a:solidFill>
                <a:latin typeface="Inter" pitchFamily="34" charset="0"/>
                <a:ea typeface="Inter" pitchFamily="34" charset="-122"/>
                <a:cs typeface="Inter" pitchFamily="34" charset="-120"/>
              </a:rPr>
              <a:t>Move a unit, copy a term, adjust the arc.</a:t>
            </a:r>
            <a:endParaRPr lang="en-US" sz="700" dirty="0"/>
          </a:p>
        </p:txBody>
      </p:sp>
      <p:sp>
        <p:nvSpPr>
          <p:cNvPr id="15" name="Shape 13"/>
          <p:cNvSpPr/>
          <p:nvPr/>
        </p:nvSpPr>
        <p:spPr>
          <a:xfrm>
            <a:off x="4012406" y="1102482"/>
            <a:ext cx="4491038" cy="2938463"/>
          </a:xfrm>
          <a:prstGeom prst="roundRect">
            <a:avLst>
              <a:gd name="adj" fmla="val 1210"/>
            </a:avLst>
          </a:prstGeom>
          <a:solidFill>
            <a:srgbClr val="FFFFFF"/>
          </a:solidFill>
          <a:ln w="4763">
            <a:solidFill>
              <a:srgbClr val="142727">
                <a:alpha val="5098"/>
              </a:srgbClr>
            </a:solidFill>
            <a:prstDash val="solid"/>
          </a:ln>
          <a:effectLst>
            <a:outerShdw sx="100000" sy="100000" kx="0" ky="0" algn="bl" rotWithShape="0" blurRad="285750" dist="95250" dir="5400000">
              <a:srgbClr val="004C45">
                <a:alpha val="12000"/>
              </a:srgbClr>
            </a:outerShdw>
          </a:effectLst>
        </p:spPr>
      </p:sp>
      <p:sp>
        <p:nvSpPr>
          <p:cNvPr id="16" name="Text 14"/>
          <p:cNvSpPr/>
          <p:nvPr/>
        </p:nvSpPr>
        <p:spPr>
          <a:xfrm>
            <a:off x="4245769" y="1337072"/>
            <a:ext cx="4024312" cy="190500"/>
          </a:xfrm>
          <a:prstGeom prst="rect">
            <a:avLst/>
          </a:prstGeom>
          <a:ln/>
        </p:spPr>
        <p:txBody>
          <a:bodyPr wrap="square" lIns="0" tIns="0" rIns="0" bIns="0" rtlCol="0" anchor="ctr"/>
          <a:lstStyle/>
          <a:p>
            <a:pPr algn="l" indent="0" marL="0">
              <a:lnSpc>
                <a:spcPts val="1512"/>
              </a:lnSpc>
              <a:buNone/>
            </a:pPr>
            <a:r>
              <a:rPr lang="en-US" sz="1000" b="1" dirty="0">
                <a:solidFill>
                  <a:srgbClr val="0F2A2E"/>
                </a:solidFill>
                <a:latin typeface="Inter" pitchFamily="34" charset="0"/>
                <a:ea typeface="Inter" pitchFamily="34" charset="-122"/>
                <a:cs typeface="Inter" pitchFamily="34" charset="-120"/>
              </a:rPr>
              <a:t>Year 4 · Music</a:t>
            </a:r>
            <a:pPr algn="l" indent="0" marL="0">
              <a:lnSpc>
                <a:spcPts val="1080"/>
              </a:lnSpc>
              <a:buNone/>
            </a:pPr>
            <a:r>
              <a:rPr lang="en-US" sz="700" dirty="0">
                <a:solidFill>
                  <a:srgbClr val="6B7D80"/>
                </a:solidFill>
                <a:latin typeface="Inter" pitchFamily="34" charset="0"/>
                <a:ea typeface="Inter" pitchFamily="34" charset="-122"/>
                <a:cs typeface="Inter" pitchFamily="34" charset="-120"/>
              </a:rPr>
              <a:t>2025–26 academic year</a:t>
            </a:r>
            <a:endParaRPr lang="en-US" sz="1000" dirty="0"/>
          </a:p>
        </p:txBody>
      </p:sp>
      <p:sp>
        <p:nvSpPr>
          <p:cNvPr id="17" name="Shape 15"/>
          <p:cNvSpPr/>
          <p:nvPr/>
        </p:nvSpPr>
        <p:spPr>
          <a:xfrm>
            <a:off x="4246141" y="1630524"/>
            <a:ext cx="1266825" cy="847725"/>
          </a:xfrm>
          <a:prstGeom prst="roundRect">
            <a:avLst>
              <a:gd name="adj" fmla="val 9696"/>
            </a:avLst>
          </a:prstGeom>
          <a:solidFill>
            <a:srgbClr val="FFE5D6"/>
          </a:solidFill>
          <a:ln w="4763">
            <a:solidFill>
              <a:srgbClr val="FFAF7A">
                <a:alpha val="40000"/>
              </a:srgbClr>
            </a:solidFill>
            <a:prstDash val="solid"/>
          </a:ln>
        </p:spPr>
      </p:sp>
      <p:sp>
        <p:nvSpPr>
          <p:cNvPr id="18" name="Text 16"/>
          <p:cNvSpPr/>
          <p:nvPr/>
        </p:nvSpPr>
        <p:spPr>
          <a:xfrm>
            <a:off x="4341391" y="1717402"/>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A24A1A"/>
                </a:solidFill>
                <a:latin typeface="Inter" pitchFamily="34" charset="0"/>
                <a:ea typeface="Inter" pitchFamily="34" charset="-122"/>
                <a:cs typeface="Inter" pitchFamily="34" charset="-120"/>
              </a:rPr>
              <a:t>Autumn 1</a:t>
            </a:r>
            <a:endParaRPr lang="en-US" sz="700" dirty="0"/>
          </a:p>
        </p:txBody>
      </p:sp>
      <p:sp>
        <p:nvSpPr>
          <p:cNvPr id="19" name="Text 17"/>
          <p:cNvSpPr/>
          <p:nvPr/>
        </p:nvSpPr>
        <p:spPr>
          <a:xfrm>
            <a:off x="4341391" y="1890712"/>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A24A1A"/>
                </a:solidFill>
                <a:latin typeface="Inter" pitchFamily="34" charset="0"/>
                <a:ea typeface="Inter" pitchFamily="34" charset="-122"/>
                <a:cs typeface="Inter" pitchFamily="34" charset="-120"/>
              </a:rPr>
              <a:t>Sep–Oct</a:t>
            </a:r>
            <a:endParaRPr lang="en-US" sz="600" dirty="0"/>
          </a:p>
        </p:txBody>
      </p:sp>
      <p:sp>
        <p:nvSpPr>
          <p:cNvPr id="20" name="Text 18"/>
          <p:cNvSpPr/>
          <p:nvPr/>
        </p:nvSpPr>
        <p:spPr>
          <a:xfrm>
            <a:off x="4341391" y="2058107"/>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A24A1A"/>
                </a:solidFill>
                <a:latin typeface="Inter" pitchFamily="34" charset="0"/>
                <a:ea typeface="Inter" pitchFamily="34" charset="-122"/>
                <a:cs typeface="Inter" pitchFamily="34" charset="-120"/>
              </a:rPr>
              <a:t>6</a:t>
            </a:r>
            <a:endParaRPr lang="en-US" sz="1500" dirty="0"/>
          </a:p>
        </p:txBody>
      </p:sp>
      <p:sp>
        <p:nvSpPr>
          <p:cNvPr id="21" name="Text 19"/>
          <p:cNvSpPr/>
          <p:nvPr/>
        </p:nvSpPr>
        <p:spPr>
          <a:xfrm>
            <a:off x="4341391" y="2275210"/>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A24A1A"/>
                </a:solidFill>
                <a:latin typeface="Inter" pitchFamily="34" charset="0"/>
                <a:ea typeface="Inter" pitchFamily="34" charset="-122"/>
                <a:cs typeface="Inter" pitchFamily="34" charset="-120"/>
              </a:rPr>
              <a:t>lessons planned</a:t>
            </a:r>
            <a:endParaRPr lang="en-US" sz="600" dirty="0"/>
          </a:p>
        </p:txBody>
      </p:sp>
      <p:sp>
        <p:nvSpPr>
          <p:cNvPr id="22" name="Shape 20"/>
          <p:cNvSpPr/>
          <p:nvPr/>
        </p:nvSpPr>
        <p:spPr>
          <a:xfrm>
            <a:off x="5624475" y="1630524"/>
            <a:ext cx="1266825" cy="847725"/>
          </a:xfrm>
          <a:prstGeom prst="roundRect">
            <a:avLst>
              <a:gd name="adj" fmla="val 9696"/>
            </a:avLst>
          </a:prstGeom>
          <a:solidFill>
            <a:srgbClr val="FFD6D6"/>
          </a:solidFill>
          <a:ln w="4763">
            <a:solidFill>
              <a:srgbClr val="FF8A8A">
                <a:alpha val="40000"/>
              </a:srgbClr>
            </a:solidFill>
            <a:prstDash val="solid"/>
          </a:ln>
        </p:spPr>
      </p:sp>
      <p:sp>
        <p:nvSpPr>
          <p:cNvPr id="23" name="Text 21"/>
          <p:cNvSpPr/>
          <p:nvPr/>
        </p:nvSpPr>
        <p:spPr>
          <a:xfrm>
            <a:off x="5719725" y="1717402"/>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9A2F2F"/>
                </a:solidFill>
                <a:latin typeface="Inter" pitchFamily="34" charset="0"/>
                <a:ea typeface="Inter" pitchFamily="34" charset="-122"/>
                <a:cs typeface="Inter" pitchFamily="34" charset="-120"/>
              </a:rPr>
              <a:t>Autumn 2</a:t>
            </a:r>
            <a:endParaRPr lang="en-US" sz="700" dirty="0"/>
          </a:p>
        </p:txBody>
      </p:sp>
      <p:sp>
        <p:nvSpPr>
          <p:cNvPr id="24" name="Text 22"/>
          <p:cNvSpPr/>
          <p:nvPr/>
        </p:nvSpPr>
        <p:spPr>
          <a:xfrm>
            <a:off x="5719725" y="1890712"/>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9A2F2F"/>
                </a:solidFill>
                <a:latin typeface="Inter" pitchFamily="34" charset="0"/>
                <a:ea typeface="Inter" pitchFamily="34" charset="-122"/>
                <a:cs typeface="Inter" pitchFamily="34" charset="-120"/>
              </a:rPr>
              <a:t>Nov–Dec</a:t>
            </a:r>
            <a:endParaRPr lang="en-US" sz="600" dirty="0"/>
          </a:p>
        </p:txBody>
      </p:sp>
      <p:sp>
        <p:nvSpPr>
          <p:cNvPr id="25" name="Text 23"/>
          <p:cNvSpPr/>
          <p:nvPr/>
        </p:nvSpPr>
        <p:spPr>
          <a:xfrm>
            <a:off x="5719725" y="2058107"/>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9A2F2F"/>
                </a:solidFill>
                <a:latin typeface="Inter" pitchFamily="34" charset="0"/>
                <a:ea typeface="Inter" pitchFamily="34" charset="-122"/>
                <a:cs typeface="Inter" pitchFamily="34" charset="-120"/>
              </a:rPr>
              <a:t>7</a:t>
            </a:r>
            <a:endParaRPr lang="en-US" sz="1500" dirty="0"/>
          </a:p>
        </p:txBody>
      </p:sp>
      <p:sp>
        <p:nvSpPr>
          <p:cNvPr id="26" name="Text 24"/>
          <p:cNvSpPr/>
          <p:nvPr/>
        </p:nvSpPr>
        <p:spPr>
          <a:xfrm>
            <a:off x="5719725" y="2275210"/>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9A2F2F"/>
                </a:solidFill>
                <a:latin typeface="Inter" pitchFamily="34" charset="0"/>
                <a:ea typeface="Inter" pitchFamily="34" charset="-122"/>
                <a:cs typeface="Inter" pitchFamily="34" charset="-120"/>
              </a:rPr>
              <a:t>lessons planned</a:t>
            </a:r>
            <a:endParaRPr lang="en-US" sz="600" dirty="0"/>
          </a:p>
        </p:txBody>
      </p:sp>
      <p:sp>
        <p:nvSpPr>
          <p:cNvPr id="27" name="Shape 25"/>
          <p:cNvSpPr/>
          <p:nvPr/>
        </p:nvSpPr>
        <p:spPr>
          <a:xfrm>
            <a:off x="7002810" y="1630524"/>
            <a:ext cx="1266825" cy="847725"/>
          </a:xfrm>
          <a:prstGeom prst="roundRect">
            <a:avLst>
              <a:gd name="adj" fmla="val 9696"/>
            </a:avLst>
          </a:prstGeom>
          <a:solidFill>
            <a:srgbClr val="D6F2EE"/>
          </a:solidFill>
          <a:ln w="4763">
            <a:solidFill>
              <a:srgbClr val="14B9A6">
                <a:alpha val="30196"/>
              </a:srgbClr>
            </a:solidFill>
            <a:prstDash val="solid"/>
          </a:ln>
        </p:spPr>
      </p:sp>
      <p:sp>
        <p:nvSpPr>
          <p:cNvPr id="28" name="Text 26"/>
          <p:cNvSpPr/>
          <p:nvPr/>
        </p:nvSpPr>
        <p:spPr>
          <a:xfrm>
            <a:off x="7098060" y="1717402"/>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004C45"/>
                </a:solidFill>
                <a:latin typeface="Inter" pitchFamily="34" charset="0"/>
                <a:ea typeface="Inter" pitchFamily="34" charset="-122"/>
                <a:cs typeface="Inter" pitchFamily="34" charset="-120"/>
              </a:rPr>
              <a:t>Spring 1</a:t>
            </a:r>
            <a:endParaRPr lang="en-US" sz="700" dirty="0"/>
          </a:p>
        </p:txBody>
      </p:sp>
      <p:sp>
        <p:nvSpPr>
          <p:cNvPr id="29" name="Text 27"/>
          <p:cNvSpPr/>
          <p:nvPr/>
        </p:nvSpPr>
        <p:spPr>
          <a:xfrm>
            <a:off x="7098060" y="1890712"/>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004C45"/>
                </a:solidFill>
                <a:latin typeface="Inter" pitchFamily="34" charset="0"/>
                <a:ea typeface="Inter" pitchFamily="34" charset="-122"/>
                <a:cs typeface="Inter" pitchFamily="34" charset="-120"/>
              </a:rPr>
              <a:t>Jan–Feb</a:t>
            </a:r>
            <a:endParaRPr lang="en-US" sz="600" dirty="0"/>
          </a:p>
        </p:txBody>
      </p:sp>
      <p:sp>
        <p:nvSpPr>
          <p:cNvPr id="30" name="Text 28"/>
          <p:cNvSpPr/>
          <p:nvPr/>
        </p:nvSpPr>
        <p:spPr>
          <a:xfrm>
            <a:off x="7098060" y="2058107"/>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004C45"/>
                </a:solidFill>
                <a:latin typeface="Inter" pitchFamily="34" charset="0"/>
                <a:ea typeface="Inter" pitchFamily="34" charset="-122"/>
                <a:cs typeface="Inter" pitchFamily="34" charset="-120"/>
              </a:rPr>
              <a:t>5</a:t>
            </a:r>
            <a:endParaRPr lang="en-US" sz="1500" dirty="0"/>
          </a:p>
        </p:txBody>
      </p:sp>
      <p:sp>
        <p:nvSpPr>
          <p:cNvPr id="31" name="Text 29"/>
          <p:cNvSpPr/>
          <p:nvPr/>
        </p:nvSpPr>
        <p:spPr>
          <a:xfrm>
            <a:off x="7098060" y="2275210"/>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004C45"/>
                </a:solidFill>
                <a:latin typeface="Inter" pitchFamily="34" charset="0"/>
                <a:ea typeface="Inter" pitchFamily="34" charset="-122"/>
                <a:cs typeface="Inter" pitchFamily="34" charset="-120"/>
              </a:rPr>
              <a:t>lessons planned</a:t>
            </a:r>
            <a:endParaRPr lang="en-US" sz="600" dirty="0"/>
          </a:p>
        </p:txBody>
      </p:sp>
      <p:sp>
        <p:nvSpPr>
          <p:cNvPr id="32" name="Shape 30"/>
          <p:cNvSpPr/>
          <p:nvPr/>
        </p:nvSpPr>
        <p:spPr>
          <a:xfrm>
            <a:off x="4246141" y="2586670"/>
            <a:ext cx="1266825" cy="847725"/>
          </a:xfrm>
          <a:prstGeom prst="roundRect">
            <a:avLst>
              <a:gd name="adj" fmla="val 9696"/>
            </a:avLst>
          </a:prstGeom>
          <a:solidFill>
            <a:srgbClr val="D6E8F2"/>
          </a:solidFill>
          <a:ln w="4763">
            <a:solidFill>
              <a:srgbClr val="0DA6D4">
                <a:alpha val="30196"/>
              </a:srgbClr>
            </a:solidFill>
            <a:prstDash val="solid"/>
          </a:ln>
        </p:spPr>
      </p:sp>
      <p:sp>
        <p:nvSpPr>
          <p:cNvPr id="33" name="Text 31"/>
          <p:cNvSpPr/>
          <p:nvPr/>
        </p:nvSpPr>
        <p:spPr>
          <a:xfrm>
            <a:off x="4341391" y="2673548"/>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0A4A66"/>
                </a:solidFill>
                <a:latin typeface="Inter" pitchFamily="34" charset="0"/>
                <a:ea typeface="Inter" pitchFamily="34" charset="-122"/>
                <a:cs typeface="Inter" pitchFamily="34" charset="-120"/>
              </a:rPr>
              <a:t>Spring 2</a:t>
            </a:r>
            <a:endParaRPr lang="en-US" sz="700" dirty="0"/>
          </a:p>
        </p:txBody>
      </p:sp>
      <p:sp>
        <p:nvSpPr>
          <p:cNvPr id="34" name="Text 32"/>
          <p:cNvSpPr/>
          <p:nvPr/>
        </p:nvSpPr>
        <p:spPr>
          <a:xfrm>
            <a:off x="4341391" y="2846859"/>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0A4A66"/>
                </a:solidFill>
                <a:latin typeface="Inter" pitchFamily="34" charset="0"/>
                <a:ea typeface="Inter" pitchFamily="34" charset="-122"/>
                <a:cs typeface="Inter" pitchFamily="34" charset="-120"/>
              </a:rPr>
              <a:t>Mar–Apr</a:t>
            </a:r>
            <a:endParaRPr lang="en-US" sz="600" dirty="0"/>
          </a:p>
        </p:txBody>
      </p:sp>
      <p:sp>
        <p:nvSpPr>
          <p:cNvPr id="35" name="Text 33"/>
          <p:cNvSpPr/>
          <p:nvPr/>
        </p:nvSpPr>
        <p:spPr>
          <a:xfrm>
            <a:off x="4341391" y="3014253"/>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0A4A66"/>
                </a:solidFill>
                <a:latin typeface="Inter" pitchFamily="34" charset="0"/>
                <a:ea typeface="Inter" pitchFamily="34" charset="-122"/>
                <a:cs typeface="Inter" pitchFamily="34" charset="-120"/>
              </a:rPr>
              <a:t>6</a:t>
            </a:r>
            <a:endParaRPr lang="en-US" sz="1500" dirty="0"/>
          </a:p>
        </p:txBody>
      </p:sp>
      <p:sp>
        <p:nvSpPr>
          <p:cNvPr id="36" name="Text 34"/>
          <p:cNvSpPr/>
          <p:nvPr/>
        </p:nvSpPr>
        <p:spPr>
          <a:xfrm>
            <a:off x="4341391" y="3231356"/>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0A4A66"/>
                </a:solidFill>
                <a:latin typeface="Inter" pitchFamily="34" charset="0"/>
                <a:ea typeface="Inter" pitchFamily="34" charset="-122"/>
                <a:cs typeface="Inter" pitchFamily="34" charset="-120"/>
              </a:rPr>
              <a:t>lessons planned</a:t>
            </a:r>
            <a:endParaRPr lang="en-US" sz="600" dirty="0"/>
          </a:p>
        </p:txBody>
      </p:sp>
      <p:sp>
        <p:nvSpPr>
          <p:cNvPr id="37" name="Shape 35"/>
          <p:cNvSpPr/>
          <p:nvPr/>
        </p:nvSpPr>
        <p:spPr>
          <a:xfrm>
            <a:off x="5624475" y="2586670"/>
            <a:ext cx="1266825" cy="847725"/>
          </a:xfrm>
          <a:prstGeom prst="roundRect">
            <a:avLst>
              <a:gd name="adj" fmla="val 9696"/>
            </a:avLst>
          </a:prstGeom>
          <a:solidFill>
            <a:srgbClr val="FFF1D6"/>
          </a:solidFill>
          <a:ln w="4763">
            <a:solidFill>
              <a:srgbClr val="EEB300">
                <a:alpha val="30196"/>
              </a:srgbClr>
            </a:solidFill>
            <a:prstDash val="solid"/>
          </a:ln>
        </p:spPr>
      </p:sp>
      <p:sp>
        <p:nvSpPr>
          <p:cNvPr id="38" name="Text 36"/>
          <p:cNvSpPr/>
          <p:nvPr/>
        </p:nvSpPr>
        <p:spPr>
          <a:xfrm>
            <a:off x="5719725" y="2673548"/>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7A5500"/>
                </a:solidFill>
                <a:latin typeface="Inter" pitchFamily="34" charset="0"/>
                <a:ea typeface="Inter" pitchFamily="34" charset="-122"/>
                <a:cs typeface="Inter" pitchFamily="34" charset="-120"/>
              </a:rPr>
              <a:t>Summer 1</a:t>
            </a:r>
            <a:endParaRPr lang="en-US" sz="700" dirty="0"/>
          </a:p>
        </p:txBody>
      </p:sp>
      <p:sp>
        <p:nvSpPr>
          <p:cNvPr id="39" name="Text 37"/>
          <p:cNvSpPr/>
          <p:nvPr/>
        </p:nvSpPr>
        <p:spPr>
          <a:xfrm>
            <a:off x="5719725" y="2846859"/>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7A5500"/>
                </a:solidFill>
                <a:latin typeface="Inter" pitchFamily="34" charset="0"/>
                <a:ea typeface="Inter" pitchFamily="34" charset="-122"/>
                <a:cs typeface="Inter" pitchFamily="34" charset="-120"/>
              </a:rPr>
              <a:t>Apr–May</a:t>
            </a:r>
            <a:endParaRPr lang="en-US" sz="600" dirty="0"/>
          </a:p>
        </p:txBody>
      </p:sp>
      <p:sp>
        <p:nvSpPr>
          <p:cNvPr id="40" name="Text 38"/>
          <p:cNvSpPr/>
          <p:nvPr/>
        </p:nvSpPr>
        <p:spPr>
          <a:xfrm>
            <a:off x="5719725" y="3014253"/>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7A5500"/>
                </a:solidFill>
                <a:latin typeface="Inter" pitchFamily="34" charset="0"/>
                <a:ea typeface="Inter" pitchFamily="34" charset="-122"/>
                <a:cs typeface="Inter" pitchFamily="34" charset="-120"/>
              </a:rPr>
              <a:t>4</a:t>
            </a:r>
            <a:endParaRPr lang="en-US" sz="1500" dirty="0"/>
          </a:p>
        </p:txBody>
      </p:sp>
      <p:sp>
        <p:nvSpPr>
          <p:cNvPr id="41" name="Text 39"/>
          <p:cNvSpPr/>
          <p:nvPr/>
        </p:nvSpPr>
        <p:spPr>
          <a:xfrm>
            <a:off x="5719725" y="3231356"/>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7A5500"/>
                </a:solidFill>
                <a:latin typeface="Inter" pitchFamily="34" charset="0"/>
                <a:ea typeface="Inter" pitchFamily="34" charset="-122"/>
                <a:cs typeface="Inter" pitchFamily="34" charset="-120"/>
              </a:rPr>
              <a:t>lessons planned</a:t>
            </a:r>
            <a:endParaRPr lang="en-US" sz="600" dirty="0"/>
          </a:p>
        </p:txBody>
      </p:sp>
      <p:sp>
        <p:nvSpPr>
          <p:cNvPr id="42" name="Shape 40"/>
          <p:cNvSpPr/>
          <p:nvPr/>
        </p:nvSpPr>
        <p:spPr>
          <a:xfrm>
            <a:off x="7002810" y="2586670"/>
            <a:ext cx="1266825" cy="847725"/>
          </a:xfrm>
          <a:prstGeom prst="roundRect">
            <a:avLst>
              <a:gd name="adj" fmla="val 9696"/>
            </a:avLst>
          </a:prstGeom>
          <a:solidFill>
            <a:srgbClr val="E8E2F2"/>
          </a:solidFill>
          <a:ln w="4763">
            <a:solidFill>
              <a:srgbClr val="7B6AEE">
                <a:alpha val="30196"/>
              </a:srgbClr>
            </a:solidFill>
            <a:prstDash val="solid"/>
          </a:ln>
        </p:spPr>
      </p:sp>
      <p:sp>
        <p:nvSpPr>
          <p:cNvPr id="43" name="Text 41"/>
          <p:cNvSpPr/>
          <p:nvPr/>
        </p:nvSpPr>
        <p:spPr>
          <a:xfrm>
            <a:off x="7098060" y="2673548"/>
            <a:ext cx="1076325" cy="152400"/>
          </a:xfrm>
          <a:prstGeom prst="rect">
            <a:avLst/>
          </a:prstGeom>
          <a:ln/>
        </p:spPr>
        <p:txBody>
          <a:bodyPr wrap="square" lIns="0" tIns="0" rIns="0" bIns="0" rtlCol="0" anchor="t"/>
          <a:lstStyle/>
          <a:p>
            <a:pPr algn="l" indent="0" marL="0">
              <a:lnSpc>
                <a:spcPts val="1188"/>
              </a:lnSpc>
              <a:buNone/>
            </a:pPr>
            <a:r>
              <a:rPr lang="en-US" sz="700" b="1" dirty="0">
                <a:solidFill>
                  <a:srgbClr val="3D2F7A"/>
                </a:solidFill>
                <a:latin typeface="Inter" pitchFamily="34" charset="0"/>
                <a:ea typeface="Inter" pitchFamily="34" charset="-122"/>
                <a:cs typeface="Inter" pitchFamily="34" charset="-120"/>
              </a:rPr>
              <a:t>Summer 2</a:t>
            </a:r>
            <a:endParaRPr lang="en-US" sz="700" dirty="0"/>
          </a:p>
        </p:txBody>
      </p:sp>
      <p:sp>
        <p:nvSpPr>
          <p:cNvPr id="44" name="Text 42"/>
          <p:cNvSpPr/>
          <p:nvPr/>
        </p:nvSpPr>
        <p:spPr>
          <a:xfrm>
            <a:off x="7098060" y="2846859"/>
            <a:ext cx="1076325" cy="114300"/>
          </a:xfrm>
          <a:prstGeom prst="rect">
            <a:avLst/>
          </a:prstGeom>
          <a:ln/>
        </p:spPr>
        <p:txBody>
          <a:bodyPr wrap="square" lIns="0" tIns="0" rIns="0" bIns="0" rtlCol="0" anchor="t"/>
          <a:lstStyle/>
          <a:p>
            <a:pPr algn="l" indent="0" marL="0">
              <a:lnSpc>
                <a:spcPts val="918"/>
              </a:lnSpc>
              <a:spcBef>
                <a:spcPts val="162"/>
              </a:spcBef>
              <a:buNone/>
            </a:pPr>
            <a:r>
              <a:rPr lang="en-US" sz="600" dirty="0">
                <a:solidFill>
                  <a:srgbClr val="3D2F7A"/>
                </a:solidFill>
                <a:latin typeface="Inter" pitchFamily="34" charset="0"/>
                <a:ea typeface="Inter" pitchFamily="34" charset="-122"/>
                <a:cs typeface="Inter" pitchFamily="34" charset="-120"/>
              </a:rPr>
              <a:t>Jun–Jul</a:t>
            </a:r>
            <a:endParaRPr lang="en-US" sz="600" dirty="0"/>
          </a:p>
        </p:txBody>
      </p:sp>
      <p:sp>
        <p:nvSpPr>
          <p:cNvPr id="45" name="Text 43"/>
          <p:cNvSpPr/>
          <p:nvPr/>
        </p:nvSpPr>
        <p:spPr>
          <a:xfrm>
            <a:off x="7098060" y="3014253"/>
            <a:ext cx="1076325" cy="200025"/>
          </a:xfrm>
          <a:prstGeom prst="rect">
            <a:avLst/>
          </a:prstGeom>
          <a:ln/>
        </p:spPr>
        <p:txBody>
          <a:bodyPr wrap="square" lIns="0" tIns="0" rIns="0" bIns="0" rtlCol="0" anchor="t"/>
          <a:lstStyle/>
          <a:p>
            <a:pPr algn="l" indent="0" marL="0">
              <a:lnSpc>
                <a:spcPts val="1584"/>
              </a:lnSpc>
              <a:spcBef>
                <a:spcPts val="405"/>
              </a:spcBef>
              <a:buNone/>
            </a:pPr>
            <a:r>
              <a:rPr lang="en-US" sz="1500" b="1" dirty="0">
                <a:solidFill>
                  <a:srgbClr val="3D2F7A"/>
                </a:solidFill>
                <a:latin typeface="Inter" pitchFamily="34" charset="0"/>
                <a:ea typeface="Inter" pitchFamily="34" charset="-122"/>
                <a:cs typeface="Inter" pitchFamily="34" charset="-120"/>
              </a:rPr>
              <a:t>3</a:t>
            </a:r>
            <a:endParaRPr lang="en-US" sz="1500" dirty="0"/>
          </a:p>
        </p:txBody>
      </p:sp>
      <p:sp>
        <p:nvSpPr>
          <p:cNvPr id="46" name="Text 44"/>
          <p:cNvSpPr/>
          <p:nvPr/>
        </p:nvSpPr>
        <p:spPr>
          <a:xfrm>
            <a:off x="7098060" y="3231356"/>
            <a:ext cx="1076325" cy="114300"/>
          </a:xfrm>
          <a:prstGeom prst="rect">
            <a:avLst/>
          </a:prstGeom>
          <a:ln/>
        </p:spPr>
        <p:txBody>
          <a:bodyPr wrap="square" lIns="0" tIns="0" rIns="0" bIns="0" rtlCol="0" anchor="t"/>
          <a:lstStyle/>
          <a:p>
            <a:pPr algn="l" indent="0" marL="0">
              <a:lnSpc>
                <a:spcPts val="918"/>
              </a:lnSpc>
              <a:spcBef>
                <a:spcPts val="122"/>
              </a:spcBef>
              <a:buNone/>
            </a:pPr>
            <a:r>
              <a:rPr lang="en-US" sz="600" dirty="0">
                <a:solidFill>
                  <a:srgbClr val="3D2F7A"/>
                </a:solidFill>
                <a:latin typeface="Inter" pitchFamily="34" charset="0"/>
                <a:ea typeface="Inter" pitchFamily="34" charset="-122"/>
                <a:cs typeface="Inter" pitchFamily="34" charset="-120"/>
              </a:rPr>
              <a:t>in draft</a:t>
            </a:r>
            <a:endParaRPr lang="en-US" sz="600" dirty="0"/>
          </a:p>
        </p:txBody>
      </p:sp>
      <p:sp>
        <p:nvSpPr>
          <p:cNvPr id="47" name="Text 45"/>
          <p:cNvSpPr/>
          <p:nvPr/>
        </p:nvSpPr>
        <p:spPr>
          <a:xfrm>
            <a:off x="4245769" y="3563280"/>
            <a:ext cx="4024312" cy="242888"/>
          </a:xfrm>
          <a:prstGeom prst="rect">
            <a:avLst/>
          </a:prstGeom>
          <a:ln/>
        </p:spPr>
        <p:txBody>
          <a:bodyPr wrap="square" lIns="0" tIns="0" rIns="0" bIns="0" rtlCol="0" anchor="ctr"/>
          <a:lstStyle/>
          <a:p>
            <a:pPr algn="l" indent="0" marL="0">
              <a:lnSpc>
                <a:spcPts val="1080"/>
              </a:lnSpc>
              <a:buNone/>
            </a:pPr>
            <a:r>
              <a:rPr lang="en-US" sz="700" dirty="0">
                <a:solidFill>
                  <a:srgbClr val="6B7D80"/>
                </a:solidFill>
                <a:latin typeface="Inter" pitchFamily="34" charset="0"/>
                <a:ea typeface="Inter" pitchFamily="34" charset="-122"/>
                <a:cs typeface="Inter" pitchFamily="34" charset="-120"/>
              </a:rPr>
              <a:t>31 lessons across the year</a:t>
            </a:r>
            <a:pPr algn="l" indent="0" marL="0">
              <a:lnSpc>
                <a:spcPts val="1080"/>
              </a:lnSpc>
              <a:buNone/>
            </a:pPr>
            <a:r>
              <a:rPr lang="en-US" sz="700" b="1" dirty="0">
                <a:solidFill>
                  <a:srgbClr val="008272"/>
                </a:solidFill>
                <a:latin typeface="Inter" pitchFamily="34" charset="0"/>
                <a:ea typeface="Inter" pitchFamily="34" charset="-122"/>
                <a:cs typeface="Inter" pitchFamily="34" charset="-120"/>
              </a:rPr>
              <a:t>86% complete</a:t>
            </a:r>
            <a:endParaRPr lang="en-US" sz="700" dirty="0"/>
          </a:p>
        </p:txBody>
      </p:sp>
      <p:pic>
        <p:nvPicPr>
          <p:cNvPr id="4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45769" y="3563280"/>
            <a:ext cx="4024312" cy="242888"/>
          </a:xfrm>
          <a:prstGeom prst="rect">
            <a:avLst/>
          </a:prstGeom>
        </p:spPr>
      </p:pic>
      <p:pic>
        <p:nvPicPr>
          <p:cNvPr id="49"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1288293"/>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02</a:t>
            </a:r>
            <a:endParaRPr lang="en-US" sz="700" dirty="0"/>
          </a:p>
        </p:txBody>
      </p:sp>
      <p:sp>
        <p:nvSpPr>
          <p:cNvPr id="4" name="Text 2"/>
          <p:cNvSpPr/>
          <p:nvPr/>
        </p:nvSpPr>
        <p:spPr>
          <a:xfrm>
            <a:off x="640035" y="1527572"/>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Your week, slotted in.</a:t>
            </a:r>
            <a:endParaRPr lang="en-US" sz="3000" dirty="0"/>
          </a:p>
        </p:txBody>
      </p:sp>
      <p:sp>
        <p:nvSpPr>
          <p:cNvPr id="5" name="Text 3"/>
          <p:cNvSpPr/>
          <p:nvPr/>
        </p:nvSpPr>
        <p:spPr>
          <a:xfrm>
            <a:off x="640035" y="2466491"/>
            <a:ext cx="3143250" cy="623888"/>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Drag any lesson onto the timetable. The planner respects your school's slot lengths, year groups, and free periods — and shows the day at a glance.</a:t>
            </a:r>
            <a:endParaRPr lang="en-US" sz="1000" dirty="0"/>
          </a:p>
        </p:txBody>
      </p:sp>
      <p:sp>
        <p:nvSpPr>
          <p:cNvPr id="6" name="Shape 4"/>
          <p:cNvSpPr/>
          <p:nvPr/>
        </p:nvSpPr>
        <p:spPr>
          <a:xfrm>
            <a:off x="641003" y="3296803"/>
            <a:ext cx="1524000" cy="557213"/>
          </a:xfrm>
          <a:prstGeom prst="roundRect">
            <a:avLst>
              <a:gd name="adj" fmla="val 22441"/>
            </a:avLst>
          </a:prstGeom>
          <a:solidFill>
            <a:srgbClr val="FFFFFF"/>
          </a:solidFill>
          <a:ln w="4763">
            <a:solidFill>
              <a:srgbClr val="142731">
                <a:alpha val="10196"/>
              </a:srgbClr>
            </a:solidFill>
            <a:prstDash val="solid"/>
          </a:ln>
        </p:spPr>
      </p:sp>
      <p:sp>
        <p:nvSpPr>
          <p:cNvPr id="7" name="Text 5"/>
          <p:cNvSpPr/>
          <p:nvPr/>
        </p:nvSpPr>
        <p:spPr>
          <a:xfrm>
            <a:off x="755303" y="3393988"/>
            <a:ext cx="1295400" cy="200025"/>
          </a:xfrm>
          <a:prstGeom prst="rect">
            <a:avLst/>
          </a:prstGeom>
          <a:ln/>
        </p:spPr>
        <p:txBody>
          <a:bodyPr wrap="square" lIns="0" tIns="0" rIns="0" bIns="0" rtlCol="0" anchor="t"/>
          <a:lstStyle/>
          <a:p>
            <a:pPr algn="l" indent="0" marL="0">
              <a:lnSpc>
                <a:spcPts val="1584"/>
              </a:lnSpc>
              <a:buNone/>
            </a:pPr>
            <a:r>
              <a:rPr lang="en-US" sz="1500" b="1" dirty="0">
                <a:solidFill>
                  <a:srgbClr val="008272"/>
                </a:solidFill>
                <a:latin typeface="Inter" pitchFamily="34" charset="0"/>
                <a:ea typeface="Inter" pitchFamily="34" charset="-122"/>
                <a:cs typeface="Inter" pitchFamily="34" charset="-120"/>
              </a:rPr>
              <a:t>Drag</a:t>
            </a:r>
            <a:endParaRPr lang="en-US" sz="1500" dirty="0"/>
          </a:p>
        </p:txBody>
      </p:sp>
      <p:sp>
        <p:nvSpPr>
          <p:cNvPr id="8" name="Text 6"/>
          <p:cNvSpPr/>
          <p:nvPr/>
        </p:nvSpPr>
        <p:spPr>
          <a:xfrm>
            <a:off x="755303" y="3619760"/>
            <a:ext cx="1295400" cy="138113"/>
          </a:xfrm>
          <a:prstGeom prst="rect">
            <a:avLst/>
          </a:prstGeom>
          <a:ln/>
        </p:spPr>
        <p:txBody>
          <a:bodyPr wrap="square" lIns="0" tIns="0" rIns="0" bIns="0" rtlCol="0" anchor="t"/>
          <a:lstStyle/>
          <a:p>
            <a:pPr algn="l" indent="0" marL="0">
              <a:lnSpc>
                <a:spcPts val="1080"/>
              </a:lnSpc>
              <a:spcBef>
                <a:spcPts val="203"/>
              </a:spcBef>
              <a:buNone/>
            </a:pPr>
            <a:r>
              <a:rPr lang="en-US" sz="700" dirty="0">
                <a:solidFill>
                  <a:srgbClr val="6B7D80"/>
                </a:solidFill>
                <a:latin typeface="Inter" pitchFamily="34" charset="0"/>
                <a:ea typeface="Inter" pitchFamily="34" charset="-122"/>
                <a:cs typeface="Inter" pitchFamily="34" charset="-120"/>
              </a:rPr>
              <a:t>a lesson into any slot</a:t>
            </a:r>
            <a:endParaRPr lang="en-US" sz="700" dirty="0"/>
          </a:p>
        </p:txBody>
      </p:sp>
      <p:sp>
        <p:nvSpPr>
          <p:cNvPr id="9" name="Shape 7"/>
          <p:cNvSpPr/>
          <p:nvPr/>
        </p:nvSpPr>
        <p:spPr>
          <a:xfrm>
            <a:off x="2258318" y="3296803"/>
            <a:ext cx="1524000" cy="557213"/>
          </a:xfrm>
          <a:prstGeom prst="roundRect">
            <a:avLst>
              <a:gd name="adj" fmla="val 22441"/>
            </a:avLst>
          </a:prstGeom>
          <a:solidFill>
            <a:srgbClr val="FFFFFF"/>
          </a:solidFill>
          <a:ln w="4763">
            <a:solidFill>
              <a:srgbClr val="142731">
                <a:alpha val="10196"/>
              </a:srgbClr>
            </a:solidFill>
            <a:prstDash val="solid"/>
          </a:ln>
        </p:spPr>
      </p:sp>
      <p:sp>
        <p:nvSpPr>
          <p:cNvPr id="10" name="Text 8"/>
          <p:cNvSpPr/>
          <p:nvPr/>
        </p:nvSpPr>
        <p:spPr>
          <a:xfrm>
            <a:off x="2372618" y="3393988"/>
            <a:ext cx="1295400" cy="200025"/>
          </a:xfrm>
          <a:prstGeom prst="rect">
            <a:avLst/>
          </a:prstGeom>
          <a:ln/>
        </p:spPr>
        <p:txBody>
          <a:bodyPr wrap="square" lIns="0" tIns="0" rIns="0" bIns="0" rtlCol="0" anchor="t"/>
          <a:lstStyle/>
          <a:p>
            <a:pPr algn="l" indent="0" marL="0">
              <a:lnSpc>
                <a:spcPts val="1584"/>
              </a:lnSpc>
              <a:buNone/>
            </a:pPr>
            <a:r>
              <a:rPr lang="en-US" sz="1500" b="1" dirty="0">
                <a:solidFill>
                  <a:srgbClr val="FF6B6B"/>
                </a:solidFill>
                <a:latin typeface="Inter" pitchFamily="34" charset="0"/>
                <a:ea typeface="Inter" pitchFamily="34" charset="-122"/>
                <a:cs typeface="Inter" pitchFamily="34" charset="-120"/>
              </a:rPr>
              <a:t>Snap</a:t>
            </a:r>
            <a:endParaRPr lang="en-US" sz="1500" dirty="0"/>
          </a:p>
        </p:txBody>
      </p:sp>
      <p:sp>
        <p:nvSpPr>
          <p:cNvPr id="11" name="Text 9"/>
          <p:cNvSpPr/>
          <p:nvPr/>
        </p:nvSpPr>
        <p:spPr>
          <a:xfrm>
            <a:off x="2372618" y="3619760"/>
            <a:ext cx="1295400" cy="138113"/>
          </a:xfrm>
          <a:prstGeom prst="rect">
            <a:avLst/>
          </a:prstGeom>
          <a:ln/>
        </p:spPr>
        <p:txBody>
          <a:bodyPr wrap="square" lIns="0" tIns="0" rIns="0" bIns="0" rtlCol="0" anchor="t"/>
          <a:lstStyle/>
          <a:p>
            <a:pPr algn="l" indent="0" marL="0">
              <a:lnSpc>
                <a:spcPts val="1080"/>
              </a:lnSpc>
              <a:spcBef>
                <a:spcPts val="203"/>
              </a:spcBef>
              <a:buNone/>
            </a:pPr>
            <a:r>
              <a:rPr lang="en-US" sz="700" dirty="0">
                <a:solidFill>
                  <a:srgbClr val="6B7D80"/>
                </a:solidFill>
                <a:latin typeface="Inter" pitchFamily="34" charset="0"/>
                <a:ea typeface="Inter" pitchFamily="34" charset="-122"/>
                <a:cs typeface="Inter" pitchFamily="34" charset="-120"/>
              </a:rPr>
              <a:t>to your timetable rules</a:t>
            </a:r>
            <a:endParaRPr lang="en-US" sz="700" dirty="0"/>
          </a:p>
        </p:txBody>
      </p:sp>
      <p:sp>
        <p:nvSpPr>
          <p:cNvPr id="12" name="Shape 10"/>
          <p:cNvSpPr/>
          <p:nvPr/>
        </p:nvSpPr>
        <p:spPr>
          <a:xfrm>
            <a:off x="4012406" y="1397794"/>
            <a:ext cx="4491038" cy="2347912"/>
          </a:xfrm>
          <a:prstGeom prst="roundRect">
            <a:avLst>
              <a:gd name="adj" fmla="val 1896"/>
            </a:avLst>
          </a:prstGeom>
          <a:solidFill>
            <a:srgbClr val="FFFFFF"/>
          </a:solidFill>
          <a:ln w="4763">
            <a:solidFill>
              <a:srgbClr val="142727">
                <a:alpha val="5098"/>
              </a:srgbClr>
            </a:solidFill>
            <a:prstDash val="solid"/>
          </a:ln>
          <a:effectLst>
            <a:outerShdw sx="100000" sy="100000" kx="0" ky="0" algn="bl" rotWithShape="0" blurRad="285750" dist="95250" dir="5400000">
              <a:srgbClr val="004C45">
                <a:alpha val="12000"/>
              </a:srgbClr>
            </a:outerShdw>
          </a:effectLst>
        </p:spPr>
      </p:sp>
      <p:sp>
        <p:nvSpPr>
          <p:cNvPr id="13" name="Text 11"/>
          <p:cNvSpPr/>
          <p:nvPr/>
        </p:nvSpPr>
        <p:spPr>
          <a:xfrm>
            <a:off x="4200525" y="1586173"/>
            <a:ext cx="4114800" cy="176212"/>
          </a:xfrm>
          <a:prstGeom prst="rect">
            <a:avLst/>
          </a:prstGeom>
          <a:ln/>
        </p:spPr>
        <p:txBody>
          <a:bodyPr wrap="square" lIns="0" tIns="0" rIns="0" bIns="0" rtlCol="0" anchor="ctr"/>
          <a:lstStyle/>
          <a:p>
            <a:pPr algn="l" indent="0" marL="0">
              <a:lnSpc>
                <a:spcPts val="1404"/>
              </a:lnSpc>
              <a:buNone/>
            </a:pPr>
            <a:r>
              <a:rPr lang="en-US" sz="900" b="1" dirty="0">
                <a:solidFill>
                  <a:srgbClr val="0F2A2E"/>
                </a:solidFill>
                <a:latin typeface="Inter" pitchFamily="34" charset="0"/>
                <a:ea typeface="Inter" pitchFamily="34" charset="-122"/>
                <a:cs typeface="Inter" pitchFamily="34" charset="-120"/>
              </a:rPr>
              <a:t>Week of 13 Oct · Year 4</a:t>
            </a:r>
            <a:pPr algn="l" indent="0" marL="0">
              <a:lnSpc>
                <a:spcPts val="1026"/>
              </a:lnSpc>
              <a:buNone/>
            </a:pPr>
            <a:r>
              <a:rPr lang="en-US" sz="600" dirty="0">
                <a:solidFill>
                  <a:srgbClr val="6B7D80"/>
                </a:solidFill>
                <a:latin typeface="Inter" pitchFamily="34" charset="0"/>
                <a:ea typeface="Inter" pitchFamily="34" charset="-122"/>
                <a:cs typeface="Inter" pitchFamily="34" charset="-120"/>
              </a:rPr>
              <a:t>Autumn 1 · Week 6</a:t>
            </a:r>
            <a:endParaRPr lang="en-US" sz="900" dirty="0"/>
          </a:p>
        </p:txBody>
      </p:sp>
      <p:sp>
        <p:nvSpPr>
          <p:cNvPr id="14" name="Text 12"/>
          <p:cNvSpPr/>
          <p:nvPr/>
        </p:nvSpPr>
        <p:spPr>
          <a:xfrm>
            <a:off x="4893432" y="1856036"/>
            <a:ext cx="647700" cy="109537"/>
          </a:xfrm>
          <a:prstGeom prst="rect">
            <a:avLst/>
          </a:prstGeom>
          <a:ln/>
        </p:spPr>
        <p:txBody>
          <a:bodyPr wrap="square" lIns="0" tIns="0" rIns="0" bIns="0" rtlCol="0" anchor="t"/>
          <a:lstStyle/>
          <a:p>
            <a:pPr algn="ctr" indent="0" marL="0">
              <a:lnSpc>
                <a:spcPts val="864"/>
              </a:lnSpc>
              <a:buNone/>
            </a:pPr>
            <a:r>
              <a:rPr lang="en-US" sz="500" b="1" dirty="0">
                <a:solidFill>
                  <a:srgbClr val="6B7D80"/>
                </a:solidFill>
                <a:latin typeface="Inter" pitchFamily="34" charset="0"/>
                <a:ea typeface="Inter" pitchFamily="34" charset="-122"/>
                <a:cs typeface="Inter" pitchFamily="34" charset="-120"/>
              </a:rPr>
              <a:t>MON</a:t>
            </a:r>
            <a:endParaRPr lang="en-US" sz="500" dirty="0"/>
          </a:p>
        </p:txBody>
      </p:sp>
      <p:sp>
        <p:nvSpPr>
          <p:cNvPr id="15" name="Text 13"/>
          <p:cNvSpPr/>
          <p:nvPr/>
        </p:nvSpPr>
        <p:spPr>
          <a:xfrm>
            <a:off x="5587194" y="1856036"/>
            <a:ext cx="647700" cy="109537"/>
          </a:xfrm>
          <a:prstGeom prst="rect">
            <a:avLst/>
          </a:prstGeom>
          <a:ln/>
        </p:spPr>
        <p:txBody>
          <a:bodyPr wrap="square" lIns="0" tIns="0" rIns="0" bIns="0" rtlCol="0" anchor="t"/>
          <a:lstStyle/>
          <a:p>
            <a:pPr algn="ctr" indent="0" marL="0">
              <a:lnSpc>
                <a:spcPts val="864"/>
              </a:lnSpc>
              <a:buNone/>
            </a:pPr>
            <a:r>
              <a:rPr lang="en-US" sz="500" b="1" dirty="0">
                <a:solidFill>
                  <a:srgbClr val="6B7D80"/>
                </a:solidFill>
                <a:latin typeface="Inter" pitchFamily="34" charset="0"/>
                <a:ea typeface="Inter" pitchFamily="34" charset="-122"/>
                <a:cs typeface="Inter" pitchFamily="34" charset="-120"/>
              </a:rPr>
              <a:t>TUE</a:t>
            </a:r>
            <a:endParaRPr lang="en-US" sz="500" dirty="0"/>
          </a:p>
        </p:txBody>
      </p:sp>
      <p:sp>
        <p:nvSpPr>
          <p:cNvPr id="16" name="Text 14"/>
          <p:cNvSpPr/>
          <p:nvPr/>
        </p:nvSpPr>
        <p:spPr>
          <a:xfrm>
            <a:off x="6280956" y="1856036"/>
            <a:ext cx="647700" cy="109537"/>
          </a:xfrm>
          <a:prstGeom prst="rect">
            <a:avLst/>
          </a:prstGeom>
          <a:ln/>
        </p:spPr>
        <p:txBody>
          <a:bodyPr wrap="square" lIns="0" tIns="0" rIns="0" bIns="0" rtlCol="0" anchor="t"/>
          <a:lstStyle/>
          <a:p>
            <a:pPr algn="ctr" indent="0" marL="0">
              <a:lnSpc>
                <a:spcPts val="864"/>
              </a:lnSpc>
              <a:buNone/>
            </a:pPr>
            <a:r>
              <a:rPr lang="en-US" sz="500" b="1" dirty="0">
                <a:solidFill>
                  <a:srgbClr val="6B7D80"/>
                </a:solidFill>
                <a:latin typeface="Inter" pitchFamily="34" charset="0"/>
                <a:ea typeface="Inter" pitchFamily="34" charset="-122"/>
                <a:cs typeface="Inter" pitchFamily="34" charset="-120"/>
              </a:rPr>
              <a:t>WED</a:t>
            </a:r>
            <a:endParaRPr lang="en-US" sz="500" dirty="0"/>
          </a:p>
        </p:txBody>
      </p:sp>
      <p:sp>
        <p:nvSpPr>
          <p:cNvPr id="17" name="Text 15"/>
          <p:cNvSpPr/>
          <p:nvPr/>
        </p:nvSpPr>
        <p:spPr>
          <a:xfrm>
            <a:off x="6974718" y="1856036"/>
            <a:ext cx="647700" cy="109537"/>
          </a:xfrm>
          <a:prstGeom prst="rect">
            <a:avLst/>
          </a:prstGeom>
          <a:ln/>
        </p:spPr>
        <p:txBody>
          <a:bodyPr wrap="square" lIns="0" tIns="0" rIns="0" bIns="0" rtlCol="0" anchor="t"/>
          <a:lstStyle/>
          <a:p>
            <a:pPr algn="ctr" indent="0" marL="0">
              <a:lnSpc>
                <a:spcPts val="864"/>
              </a:lnSpc>
              <a:buNone/>
            </a:pPr>
            <a:r>
              <a:rPr lang="en-US" sz="500" b="1" dirty="0">
                <a:solidFill>
                  <a:srgbClr val="6B7D80"/>
                </a:solidFill>
                <a:latin typeface="Inter" pitchFamily="34" charset="0"/>
                <a:ea typeface="Inter" pitchFamily="34" charset="-122"/>
                <a:cs typeface="Inter" pitchFamily="34" charset="-120"/>
              </a:rPr>
              <a:t>THU</a:t>
            </a:r>
            <a:endParaRPr lang="en-US" sz="500" dirty="0"/>
          </a:p>
        </p:txBody>
      </p:sp>
      <p:sp>
        <p:nvSpPr>
          <p:cNvPr id="18" name="Text 16"/>
          <p:cNvSpPr/>
          <p:nvPr/>
        </p:nvSpPr>
        <p:spPr>
          <a:xfrm>
            <a:off x="7668481" y="1856036"/>
            <a:ext cx="647700" cy="109537"/>
          </a:xfrm>
          <a:prstGeom prst="rect">
            <a:avLst/>
          </a:prstGeom>
          <a:ln/>
        </p:spPr>
        <p:txBody>
          <a:bodyPr wrap="square" lIns="0" tIns="0" rIns="0" bIns="0" rtlCol="0" anchor="t"/>
          <a:lstStyle/>
          <a:p>
            <a:pPr algn="ctr" indent="0" marL="0">
              <a:lnSpc>
                <a:spcPts val="864"/>
              </a:lnSpc>
              <a:buNone/>
            </a:pPr>
            <a:r>
              <a:rPr lang="en-US" sz="500" b="1" dirty="0">
                <a:solidFill>
                  <a:srgbClr val="6B7D80"/>
                </a:solidFill>
                <a:latin typeface="Inter" pitchFamily="34" charset="0"/>
                <a:ea typeface="Inter" pitchFamily="34" charset="-122"/>
                <a:cs typeface="Inter" pitchFamily="34" charset="-120"/>
              </a:rPr>
              <a:t>FRI</a:t>
            </a:r>
            <a:endParaRPr lang="en-US" sz="500" dirty="0"/>
          </a:p>
        </p:txBody>
      </p:sp>
      <p:sp>
        <p:nvSpPr>
          <p:cNvPr id="19" name="Text 17"/>
          <p:cNvSpPr/>
          <p:nvPr/>
        </p:nvSpPr>
        <p:spPr>
          <a:xfrm>
            <a:off x="4199669" y="2006240"/>
            <a:ext cx="647700" cy="285750"/>
          </a:xfrm>
          <a:prstGeom prst="rect">
            <a:avLst/>
          </a:prstGeom>
          <a:ln/>
        </p:spPr>
        <p:txBody>
          <a:bodyPr wrap="square" lIns="0" tIns="0" rIns="0" bIns="0" rtlCol="0" anchor="ctr"/>
          <a:lstStyle/>
          <a:p>
            <a:pPr algn="l" indent="0" marL="0">
              <a:lnSpc>
                <a:spcPts val="918"/>
              </a:lnSpc>
              <a:buNone/>
            </a:pPr>
            <a:r>
              <a:rPr lang="en-US" sz="600" dirty="0">
                <a:solidFill>
                  <a:srgbClr val="6B7D80"/>
                </a:solidFill>
                <a:latin typeface="Inter" pitchFamily="34" charset="0"/>
                <a:ea typeface="Inter" pitchFamily="34" charset="-122"/>
                <a:cs typeface="Inter" pitchFamily="34" charset="-120"/>
              </a:rPr>
              <a:t>09:00</a:t>
            </a:r>
            <a:endParaRPr lang="en-US" sz="600" dirty="0"/>
          </a:p>
        </p:txBody>
      </p:sp>
      <p:sp>
        <p:nvSpPr>
          <p:cNvPr id="20" name="Shape 18"/>
          <p:cNvSpPr/>
          <p:nvPr/>
        </p:nvSpPr>
        <p:spPr>
          <a:xfrm>
            <a:off x="4893432" y="2006240"/>
            <a:ext cx="647700" cy="285750"/>
          </a:xfrm>
          <a:prstGeom prst="roundRect">
            <a:avLst>
              <a:gd name="adj" fmla="val 12800"/>
            </a:avLst>
          </a:prstGeom>
          <a:solidFill>
            <a:srgbClr val="FFE5D6"/>
          </a:solidFill>
          <a:ln w="4763">
            <a:solidFill>
              <a:srgbClr val="FFAF7A">
                <a:alpha val="50196"/>
              </a:srgbClr>
            </a:solidFill>
            <a:prstDash val="solid"/>
          </a:ln>
        </p:spPr>
      </p:sp>
      <p:sp>
        <p:nvSpPr>
          <p:cNvPr id="21" name="Text 19"/>
          <p:cNvSpPr/>
          <p:nvPr/>
        </p:nvSpPr>
        <p:spPr>
          <a:xfrm>
            <a:off x="4943438" y="2053493"/>
            <a:ext cx="547687" cy="95250"/>
          </a:xfrm>
          <a:prstGeom prst="rect">
            <a:avLst/>
          </a:prstGeom>
          <a:ln/>
        </p:spPr>
        <p:txBody>
          <a:bodyPr wrap="square" lIns="0" tIns="0" rIns="0" bIns="0" rtlCol="0" anchor="t"/>
          <a:lstStyle/>
          <a:p>
            <a:pPr algn="l" indent="0" marL="0">
              <a:lnSpc>
                <a:spcPts val="765"/>
              </a:lnSpc>
              <a:buNone/>
            </a:pPr>
            <a:r>
              <a:rPr lang="en-US" sz="600" b="1" dirty="0">
                <a:solidFill>
                  <a:srgbClr val="A24A1A"/>
                </a:solidFill>
                <a:latin typeface="Inter" pitchFamily="34" charset="0"/>
                <a:ea typeface="Inter" pitchFamily="34" charset="-122"/>
                <a:cs typeface="Inter" pitchFamily="34" charset="-120"/>
              </a:rPr>
              <a:t>Drama</a:t>
            </a:r>
            <a:endParaRPr lang="en-US" sz="600" dirty="0"/>
          </a:p>
        </p:txBody>
      </p:sp>
      <p:sp>
        <p:nvSpPr>
          <p:cNvPr id="22" name="Text 20"/>
          <p:cNvSpPr/>
          <p:nvPr/>
        </p:nvSpPr>
        <p:spPr>
          <a:xfrm>
            <a:off x="4943438" y="2150046"/>
            <a:ext cx="547687" cy="95250"/>
          </a:xfrm>
          <a:prstGeom prst="rect">
            <a:avLst/>
          </a:prstGeom>
          <a:ln/>
        </p:spPr>
        <p:txBody>
          <a:bodyPr wrap="square" lIns="0" tIns="0" rIns="0" bIns="0" rtlCol="0" anchor="t"/>
          <a:lstStyle/>
          <a:p>
            <a:pPr algn="l" indent="0" marL="0">
              <a:lnSpc>
                <a:spcPts val="756"/>
              </a:lnSpc>
              <a:buNone/>
            </a:pPr>
            <a:r>
              <a:rPr lang="en-US" sz="500" dirty="0">
                <a:solidFill>
                  <a:srgbClr val="A24A1A"/>
                </a:solidFill>
                <a:latin typeface="Inter" pitchFamily="34" charset="0"/>
                <a:ea typeface="Inter" pitchFamily="34" charset="-122"/>
                <a:cs typeface="Inter" pitchFamily="34" charset="-120"/>
              </a:rPr>
              <a:t>Freeze-frames</a:t>
            </a:r>
            <a:endParaRPr lang="en-US" sz="500" dirty="0"/>
          </a:p>
        </p:txBody>
      </p:sp>
      <p:sp>
        <p:nvSpPr>
          <p:cNvPr id="23" name="Shape 21"/>
          <p:cNvSpPr/>
          <p:nvPr/>
        </p:nvSpPr>
        <p:spPr>
          <a:xfrm>
            <a:off x="5587194" y="2006240"/>
            <a:ext cx="647700" cy="285750"/>
          </a:xfrm>
          <a:prstGeom prst="roundRect">
            <a:avLst>
              <a:gd name="adj" fmla="val 12800"/>
            </a:avLst>
          </a:prstGeom>
          <a:solidFill>
            <a:srgbClr val="FFFAF7"/>
          </a:solidFill>
          <a:ln w="4763">
            <a:solidFill>
              <a:srgbClr val="142731">
                <a:alpha val="10196"/>
              </a:srgbClr>
            </a:solidFill>
            <a:prstDash val="solid"/>
          </a:ln>
        </p:spPr>
      </p:sp>
      <p:sp>
        <p:nvSpPr>
          <p:cNvPr id="24" name="Shape 22"/>
          <p:cNvSpPr/>
          <p:nvPr/>
        </p:nvSpPr>
        <p:spPr>
          <a:xfrm>
            <a:off x="6280956" y="2006240"/>
            <a:ext cx="647700" cy="285750"/>
          </a:xfrm>
          <a:prstGeom prst="roundRect">
            <a:avLst>
              <a:gd name="adj" fmla="val 12800"/>
            </a:avLst>
          </a:prstGeom>
          <a:solidFill>
            <a:srgbClr val="D6E8F2"/>
          </a:solidFill>
          <a:ln w="4763">
            <a:solidFill>
              <a:srgbClr val="0FA5D4">
                <a:alpha val="40000"/>
              </a:srgbClr>
            </a:solidFill>
            <a:prstDash val="solid"/>
          </a:ln>
        </p:spPr>
      </p:sp>
      <p:sp>
        <p:nvSpPr>
          <p:cNvPr id="25" name="Text 23"/>
          <p:cNvSpPr/>
          <p:nvPr/>
        </p:nvSpPr>
        <p:spPr>
          <a:xfrm>
            <a:off x="6330962" y="2053493"/>
            <a:ext cx="547687" cy="95250"/>
          </a:xfrm>
          <a:prstGeom prst="rect">
            <a:avLst/>
          </a:prstGeom>
          <a:ln/>
        </p:spPr>
        <p:txBody>
          <a:bodyPr wrap="square" lIns="0" tIns="0" rIns="0" bIns="0" rtlCol="0" anchor="t"/>
          <a:lstStyle/>
          <a:p>
            <a:pPr algn="l" indent="0" marL="0">
              <a:lnSpc>
                <a:spcPts val="765"/>
              </a:lnSpc>
              <a:buNone/>
            </a:pPr>
            <a:r>
              <a:rPr lang="en-US" sz="600" b="1" dirty="0">
                <a:solidFill>
                  <a:srgbClr val="0A4A66"/>
                </a:solidFill>
                <a:latin typeface="Inter" pitchFamily="34" charset="0"/>
                <a:ea typeface="Inter" pitchFamily="34" charset="-122"/>
                <a:cs typeface="Inter" pitchFamily="34" charset="-120"/>
              </a:rPr>
              <a:t>Music</a:t>
            </a:r>
            <a:endParaRPr lang="en-US" sz="600" dirty="0"/>
          </a:p>
        </p:txBody>
      </p:sp>
      <p:sp>
        <p:nvSpPr>
          <p:cNvPr id="26" name="Text 24"/>
          <p:cNvSpPr/>
          <p:nvPr/>
        </p:nvSpPr>
        <p:spPr>
          <a:xfrm>
            <a:off x="6330962" y="2150046"/>
            <a:ext cx="547687" cy="95250"/>
          </a:xfrm>
          <a:prstGeom prst="rect">
            <a:avLst/>
          </a:prstGeom>
          <a:ln/>
        </p:spPr>
        <p:txBody>
          <a:bodyPr wrap="square" lIns="0" tIns="0" rIns="0" bIns="0" rtlCol="0" anchor="t"/>
          <a:lstStyle/>
          <a:p>
            <a:pPr algn="l" indent="0" marL="0">
              <a:lnSpc>
                <a:spcPts val="756"/>
              </a:lnSpc>
              <a:buNone/>
            </a:pPr>
            <a:r>
              <a:rPr lang="en-US" sz="500" dirty="0">
                <a:solidFill>
                  <a:srgbClr val="0A4A66"/>
                </a:solidFill>
                <a:latin typeface="Inter" pitchFamily="34" charset="0"/>
                <a:ea typeface="Inter" pitchFamily="34" charset="-122"/>
                <a:cs typeface="Inter" pitchFamily="34" charset="-120"/>
              </a:rPr>
              <a:t>Body percussion</a:t>
            </a:r>
            <a:endParaRPr lang="en-US" sz="500" dirty="0"/>
          </a:p>
        </p:txBody>
      </p:sp>
      <p:sp>
        <p:nvSpPr>
          <p:cNvPr id="27" name="Shape 25"/>
          <p:cNvSpPr/>
          <p:nvPr/>
        </p:nvSpPr>
        <p:spPr>
          <a:xfrm>
            <a:off x="6974718" y="2006240"/>
            <a:ext cx="647700" cy="285750"/>
          </a:xfrm>
          <a:prstGeom prst="roundRect">
            <a:avLst>
              <a:gd name="adj" fmla="val 12800"/>
            </a:avLst>
          </a:prstGeom>
          <a:solidFill>
            <a:srgbClr val="FFFAF7"/>
          </a:solidFill>
          <a:ln w="4763">
            <a:solidFill>
              <a:srgbClr val="142731">
                <a:alpha val="10196"/>
              </a:srgbClr>
            </a:solidFill>
            <a:prstDash val="solid"/>
          </a:ln>
        </p:spPr>
      </p:sp>
      <p:sp>
        <p:nvSpPr>
          <p:cNvPr id="28" name="Shape 26"/>
          <p:cNvSpPr/>
          <p:nvPr/>
        </p:nvSpPr>
        <p:spPr>
          <a:xfrm>
            <a:off x="7668481" y="2006240"/>
            <a:ext cx="647700" cy="285750"/>
          </a:xfrm>
          <a:prstGeom prst="roundRect">
            <a:avLst>
              <a:gd name="adj" fmla="val 12800"/>
            </a:avLst>
          </a:prstGeom>
          <a:solidFill>
            <a:srgbClr val="E8E2F2"/>
          </a:solidFill>
          <a:ln w="4763">
            <a:solidFill>
              <a:srgbClr val="7D6BF0">
                <a:alpha val="40000"/>
              </a:srgbClr>
            </a:solidFill>
            <a:prstDash val="solid"/>
          </a:ln>
        </p:spPr>
      </p:sp>
      <p:sp>
        <p:nvSpPr>
          <p:cNvPr id="29" name="Text 27"/>
          <p:cNvSpPr/>
          <p:nvPr/>
        </p:nvSpPr>
        <p:spPr>
          <a:xfrm>
            <a:off x="7718487" y="2053493"/>
            <a:ext cx="547687" cy="95250"/>
          </a:xfrm>
          <a:prstGeom prst="rect">
            <a:avLst/>
          </a:prstGeom>
          <a:ln/>
        </p:spPr>
        <p:txBody>
          <a:bodyPr wrap="square" lIns="0" tIns="0" rIns="0" bIns="0" rtlCol="0" anchor="t"/>
          <a:lstStyle/>
          <a:p>
            <a:pPr algn="l" indent="0" marL="0">
              <a:lnSpc>
                <a:spcPts val="765"/>
              </a:lnSpc>
              <a:buNone/>
            </a:pPr>
            <a:r>
              <a:rPr lang="en-US" sz="600" b="1" dirty="0">
                <a:solidFill>
                  <a:srgbClr val="3D2F7A"/>
                </a:solidFill>
                <a:latin typeface="Inter" pitchFamily="34" charset="0"/>
                <a:ea typeface="Inter" pitchFamily="34" charset="-122"/>
                <a:cs typeface="Inter" pitchFamily="34" charset="-120"/>
              </a:rPr>
              <a:t>Dance</a:t>
            </a:r>
            <a:endParaRPr lang="en-US" sz="600" dirty="0"/>
          </a:p>
        </p:txBody>
      </p:sp>
      <p:sp>
        <p:nvSpPr>
          <p:cNvPr id="30" name="Text 28"/>
          <p:cNvSpPr/>
          <p:nvPr/>
        </p:nvSpPr>
        <p:spPr>
          <a:xfrm>
            <a:off x="7718487" y="2150046"/>
            <a:ext cx="547687" cy="95250"/>
          </a:xfrm>
          <a:prstGeom prst="rect">
            <a:avLst/>
          </a:prstGeom>
          <a:ln/>
        </p:spPr>
        <p:txBody>
          <a:bodyPr wrap="square" lIns="0" tIns="0" rIns="0" bIns="0" rtlCol="0" anchor="t"/>
          <a:lstStyle/>
          <a:p>
            <a:pPr algn="l" indent="0" marL="0">
              <a:lnSpc>
                <a:spcPts val="756"/>
              </a:lnSpc>
              <a:buNone/>
            </a:pPr>
            <a:r>
              <a:rPr lang="en-US" sz="500" dirty="0">
                <a:solidFill>
                  <a:srgbClr val="3D2F7A"/>
                </a:solidFill>
                <a:latin typeface="Inter" pitchFamily="34" charset="0"/>
                <a:ea typeface="Inter" pitchFamily="34" charset="-122"/>
                <a:cs typeface="Inter" pitchFamily="34" charset="-120"/>
              </a:rPr>
              <a:t>Motif build</a:t>
            </a:r>
            <a:endParaRPr lang="en-US" sz="500" dirty="0"/>
          </a:p>
        </p:txBody>
      </p:sp>
      <p:sp>
        <p:nvSpPr>
          <p:cNvPr id="31" name="Text 29"/>
          <p:cNvSpPr/>
          <p:nvPr/>
        </p:nvSpPr>
        <p:spPr>
          <a:xfrm>
            <a:off x="4199669" y="2321830"/>
            <a:ext cx="647700" cy="285750"/>
          </a:xfrm>
          <a:prstGeom prst="rect">
            <a:avLst/>
          </a:prstGeom>
          <a:ln/>
        </p:spPr>
        <p:txBody>
          <a:bodyPr wrap="square" lIns="0" tIns="0" rIns="0" bIns="0" rtlCol="0" anchor="ctr"/>
          <a:lstStyle/>
          <a:p>
            <a:pPr algn="l" indent="0" marL="0">
              <a:lnSpc>
                <a:spcPts val="918"/>
              </a:lnSpc>
              <a:buNone/>
            </a:pPr>
            <a:r>
              <a:rPr lang="en-US" sz="600" dirty="0">
                <a:solidFill>
                  <a:srgbClr val="6B7D80"/>
                </a:solidFill>
                <a:latin typeface="Inter" pitchFamily="34" charset="0"/>
                <a:ea typeface="Inter" pitchFamily="34" charset="-122"/>
                <a:cs typeface="Inter" pitchFamily="34" charset="-120"/>
              </a:rPr>
              <a:t>10:30</a:t>
            </a:r>
            <a:endParaRPr lang="en-US" sz="600" dirty="0"/>
          </a:p>
        </p:txBody>
      </p:sp>
      <p:sp>
        <p:nvSpPr>
          <p:cNvPr id="32" name="Shape 30"/>
          <p:cNvSpPr/>
          <p:nvPr/>
        </p:nvSpPr>
        <p:spPr>
          <a:xfrm>
            <a:off x="4893432" y="2321830"/>
            <a:ext cx="647700" cy="285750"/>
          </a:xfrm>
          <a:prstGeom prst="roundRect">
            <a:avLst>
              <a:gd name="adj" fmla="val 12800"/>
            </a:avLst>
          </a:prstGeom>
          <a:solidFill>
            <a:srgbClr val="FFFAF7"/>
          </a:solidFill>
          <a:ln w="4763">
            <a:solidFill>
              <a:srgbClr val="142731">
                <a:alpha val="10196"/>
              </a:srgbClr>
            </a:solidFill>
            <a:prstDash val="solid"/>
          </a:ln>
        </p:spPr>
      </p:sp>
      <p:sp>
        <p:nvSpPr>
          <p:cNvPr id="33" name="Shape 31"/>
          <p:cNvSpPr/>
          <p:nvPr/>
        </p:nvSpPr>
        <p:spPr>
          <a:xfrm>
            <a:off x="5587194" y="2321830"/>
            <a:ext cx="647700" cy="285750"/>
          </a:xfrm>
          <a:prstGeom prst="roundRect">
            <a:avLst>
              <a:gd name="adj" fmla="val 12800"/>
            </a:avLst>
          </a:prstGeom>
          <a:solidFill>
            <a:srgbClr val="FFE5D6"/>
          </a:solidFill>
          <a:ln w="4763">
            <a:solidFill>
              <a:srgbClr val="FFAF7A">
                <a:alpha val="50196"/>
              </a:srgbClr>
            </a:solidFill>
            <a:prstDash val="solid"/>
          </a:ln>
        </p:spPr>
      </p:sp>
      <p:sp>
        <p:nvSpPr>
          <p:cNvPr id="34" name="Text 32"/>
          <p:cNvSpPr/>
          <p:nvPr/>
        </p:nvSpPr>
        <p:spPr>
          <a:xfrm>
            <a:off x="5637200" y="2369083"/>
            <a:ext cx="547687" cy="95250"/>
          </a:xfrm>
          <a:prstGeom prst="rect">
            <a:avLst/>
          </a:prstGeom>
          <a:ln/>
        </p:spPr>
        <p:txBody>
          <a:bodyPr wrap="square" lIns="0" tIns="0" rIns="0" bIns="0" rtlCol="0" anchor="t"/>
          <a:lstStyle/>
          <a:p>
            <a:pPr algn="l" indent="0" marL="0">
              <a:lnSpc>
                <a:spcPts val="765"/>
              </a:lnSpc>
              <a:buNone/>
            </a:pPr>
            <a:r>
              <a:rPr lang="en-US" sz="600" b="1" dirty="0">
                <a:solidFill>
                  <a:srgbClr val="A24A1A"/>
                </a:solidFill>
                <a:latin typeface="Inter" pitchFamily="34" charset="0"/>
                <a:ea typeface="Inter" pitchFamily="34" charset="-122"/>
                <a:cs typeface="Inter" pitchFamily="34" charset="-120"/>
              </a:rPr>
              <a:t>Drama</a:t>
            </a:r>
            <a:endParaRPr lang="en-US" sz="600" dirty="0"/>
          </a:p>
        </p:txBody>
      </p:sp>
      <p:sp>
        <p:nvSpPr>
          <p:cNvPr id="35" name="Text 33"/>
          <p:cNvSpPr/>
          <p:nvPr/>
        </p:nvSpPr>
        <p:spPr>
          <a:xfrm>
            <a:off x="5637200" y="2465636"/>
            <a:ext cx="547687" cy="95250"/>
          </a:xfrm>
          <a:prstGeom prst="rect">
            <a:avLst/>
          </a:prstGeom>
          <a:ln/>
        </p:spPr>
        <p:txBody>
          <a:bodyPr wrap="square" lIns="0" tIns="0" rIns="0" bIns="0" rtlCol="0" anchor="t"/>
          <a:lstStyle/>
          <a:p>
            <a:pPr algn="l" indent="0" marL="0">
              <a:lnSpc>
                <a:spcPts val="756"/>
              </a:lnSpc>
              <a:buNone/>
            </a:pPr>
            <a:r>
              <a:rPr lang="en-US" sz="500" dirty="0">
                <a:solidFill>
                  <a:srgbClr val="A24A1A"/>
                </a:solidFill>
                <a:latin typeface="Inter" pitchFamily="34" charset="0"/>
                <a:ea typeface="Inter" pitchFamily="34" charset="-122"/>
                <a:cs typeface="Inter" pitchFamily="34" charset="-120"/>
              </a:rPr>
              <a:t>Hot-seating</a:t>
            </a:r>
            <a:endParaRPr lang="en-US" sz="500" dirty="0"/>
          </a:p>
        </p:txBody>
      </p:sp>
      <p:sp>
        <p:nvSpPr>
          <p:cNvPr id="36" name="Shape 34"/>
          <p:cNvSpPr/>
          <p:nvPr/>
        </p:nvSpPr>
        <p:spPr>
          <a:xfrm>
            <a:off x="6280956" y="2321830"/>
            <a:ext cx="647700" cy="285750"/>
          </a:xfrm>
          <a:prstGeom prst="roundRect">
            <a:avLst>
              <a:gd name="adj" fmla="val 12800"/>
            </a:avLst>
          </a:prstGeom>
          <a:solidFill>
            <a:srgbClr val="FFFAF7"/>
          </a:solidFill>
          <a:ln w="4763">
            <a:solidFill>
              <a:srgbClr val="142731">
                <a:alpha val="10196"/>
              </a:srgbClr>
            </a:solidFill>
            <a:prstDash val="solid"/>
          </a:ln>
        </p:spPr>
      </p:sp>
      <p:sp>
        <p:nvSpPr>
          <p:cNvPr id="37" name="Shape 35"/>
          <p:cNvSpPr/>
          <p:nvPr/>
        </p:nvSpPr>
        <p:spPr>
          <a:xfrm>
            <a:off x="6974718" y="2321830"/>
            <a:ext cx="647700" cy="285750"/>
          </a:xfrm>
          <a:prstGeom prst="roundRect">
            <a:avLst>
              <a:gd name="adj" fmla="val 12800"/>
            </a:avLst>
          </a:prstGeom>
          <a:solidFill>
            <a:srgbClr val="D6E8F2"/>
          </a:solidFill>
          <a:ln w="4763">
            <a:solidFill>
              <a:srgbClr val="0FA5D4">
                <a:alpha val="40000"/>
              </a:srgbClr>
            </a:solidFill>
            <a:prstDash val="solid"/>
          </a:ln>
        </p:spPr>
      </p:sp>
      <p:sp>
        <p:nvSpPr>
          <p:cNvPr id="38" name="Text 36"/>
          <p:cNvSpPr/>
          <p:nvPr/>
        </p:nvSpPr>
        <p:spPr>
          <a:xfrm>
            <a:off x="7024725" y="2369083"/>
            <a:ext cx="547687" cy="95250"/>
          </a:xfrm>
          <a:prstGeom prst="rect">
            <a:avLst/>
          </a:prstGeom>
          <a:ln/>
        </p:spPr>
        <p:txBody>
          <a:bodyPr wrap="square" lIns="0" tIns="0" rIns="0" bIns="0" rtlCol="0" anchor="t"/>
          <a:lstStyle/>
          <a:p>
            <a:pPr algn="l" indent="0" marL="0">
              <a:lnSpc>
                <a:spcPts val="765"/>
              </a:lnSpc>
              <a:buNone/>
            </a:pPr>
            <a:r>
              <a:rPr lang="en-US" sz="600" b="1" dirty="0">
                <a:solidFill>
                  <a:srgbClr val="0A4A66"/>
                </a:solidFill>
                <a:latin typeface="Inter" pitchFamily="34" charset="0"/>
                <a:ea typeface="Inter" pitchFamily="34" charset="-122"/>
                <a:cs typeface="Inter" pitchFamily="34" charset="-120"/>
              </a:rPr>
              <a:t>Music</a:t>
            </a:r>
            <a:endParaRPr lang="en-US" sz="600" dirty="0"/>
          </a:p>
        </p:txBody>
      </p:sp>
      <p:sp>
        <p:nvSpPr>
          <p:cNvPr id="39" name="Text 37"/>
          <p:cNvSpPr/>
          <p:nvPr/>
        </p:nvSpPr>
        <p:spPr>
          <a:xfrm>
            <a:off x="7024725" y="2465636"/>
            <a:ext cx="547687" cy="95250"/>
          </a:xfrm>
          <a:prstGeom prst="rect">
            <a:avLst/>
          </a:prstGeom>
          <a:ln/>
        </p:spPr>
        <p:txBody>
          <a:bodyPr wrap="square" lIns="0" tIns="0" rIns="0" bIns="0" rtlCol="0" anchor="t"/>
          <a:lstStyle/>
          <a:p>
            <a:pPr algn="l" indent="0" marL="0">
              <a:lnSpc>
                <a:spcPts val="756"/>
              </a:lnSpc>
              <a:buNone/>
            </a:pPr>
            <a:r>
              <a:rPr lang="en-US" sz="500" dirty="0">
                <a:solidFill>
                  <a:srgbClr val="0A4A66"/>
                </a:solidFill>
                <a:latin typeface="Inter" pitchFamily="34" charset="0"/>
                <a:ea typeface="Inter" pitchFamily="34" charset="-122"/>
                <a:cs typeface="Inter" pitchFamily="34" charset="-120"/>
              </a:rPr>
              <a:t>West Africa</a:t>
            </a:r>
            <a:endParaRPr lang="en-US" sz="500" dirty="0"/>
          </a:p>
        </p:txBody>
      </p:sp>
      <p:sp>
        <p:nvSpPr>
          <p:cNvPr id="40" name="Shape 38"/>
          <p:cNvSpPr/>
          <p:nvPr/>
        </p:nvSpPr>
        <p:spPr>
          <a:xfrm>
            <a:off x="7668481" y="2321830"/>
            <a:ext cx="647700" cy="285750"/>
          </a:xfrm>
          <a:prstGeom prst="roundRect">
            <a:avLst>
              <a:gd name="adj" fmla="val 12800"/>
            </a:avLst>
          </a:prstGeom>
          <a:solidFill>
            <a:srgbClr val="FFFAF7"/>
          </a:solidFill>
          <a:ln w="4763">
            <a:solidFill>
              <a:srgbClr val="142731">
                <a:alpha val="10196"/>
              </a:srgbClr>
            </a:solidFill>
            <a:prstDash val="solid"/>
          </a:ln>
        </p:spPr>
      </p:sp>
      <p:sp>
        <p:nvSpPr>
          <p:cNvPr id="41" name="Text 39"/>
          <p:cNvSpPr/>
          <p:nvPr/>
        </p:nvSpPr>
        <p:spPr>
          <a:xfrm>
            <a:off x="4199669" y="2637420"/>
            <a:ext cx="647700" cy="285750"/>
          </a:xfrm>
          <a:prstGeom prst="rect">
            <a:avLst/>
          </a:prstGeom>
          <a:ln/>
        </p:spPr>
        <p:txBody>
          <a:bodyPr wrap="square" lIns="0" tIns="0" rIns="0" bIns="0" rtlCol="0" anchor="ctr"/>
          <a:lstStyle/>
          <a:p>
            <a:pPr algn="l" indent="0" marL="0">
              <a:lnSpc>
                <a:spcPts val="918"/>
              </a:lnSpc>
              <a:buNone/>
            </a:pPr>
            <a:r>
              <a:rPr lang="en-US" sz="600" dirty="0">
                <a:solidFill>
                  <a:srgbClr val="6B7D80"/>
                </a:solidFill>
                <a:latin typeface="Inter" pitchFamily="34" charset="0"/>
                <a:ea typeface="Inter" pitchFamily="34" charset="-122"/>
                <a:cs typeface="Inter" pitchFamily="34" charset="-120"/>
              </a:rPr>
              <a:t>13:15</a:t>
            </a:r>
            <a:endParaRPr lang="en-US" sz="600" dirty="0"/>
          </a:p>
        </p:txBody>
      </p:sp>
      <p:sp>
        <p:nvSpPr>
          <p:cNvPr id="42" name="Shape 40"/>
          <p:cNvSpPr/>
          <p:nvPr/>
        </p:nvSpPr>
        <p:spPr>
          <a:xfrm>
            <a:off x="4893432" y="2637420"/>
            <a:ext cx="647700" cy="285750"/>
          </a:xfrm>
          <a:prstGeom prst="roundRect">
            <a:avLst>
              <a:gd name="adj" fmla="val 12800"/>
            </a:avLst>
          </a:prstGeom>
          <a:solidFill>
            <a:srgbClr val="E8E2F2"/>
          </a:solidFill>
          <a:ln w="4763">
            <a:solidFill>
              <a:srgbClr val="7D6BF0">
                <a:alpha val="40000"/>
              </a:srgbClr>
            </a:solidFill>
            <a:prstDash val="solid"/>
          </a:ln>
        </p:spPr>
      </p:sp>
      <p:sp>
        <p:nvSpPr>
          <p:cNvPr id="43" name="Text 41"/>
          <p:cNvSpPr/>
          <p:nvPr/>
        </p:nvSpPr>
        <p:spPr>
          <a:xfrm>
            <a:off x="4943438" y="2684673"/>
            <a:ext cx="547687" cy="95250"/>
          </a:xfrm>
          <a:prstGeom prst="rect">
            <a:avLst/>
          </a:prstGeom>
          <a:ln/>
        </p:spPr>
        <p:txBody>
          <a:bodyPr wrap="square" lIns="0" tIns="0" rIns="0" bIns="0" rtlCol="0" anchor="t"/>
          <a:lstStyle/>
          <a:p>
            <a:pPr algn="l" indent="0" marL="0">
              <a:lnSpc>
                <a:spcPts val="765"/>
              </a:lnSpc>
              <a:buNone/>
            </a:pPr>
            <a:r>
              <a:rPr lang="en-US" sz="600" b="1" dirty="0">
                <a:solidFill>
                  <a:srgbClr val="3D2F7A"/>
                </a:solidFill>
                <a:latin typeface="Inter" pitchFamily="34" charset="0"/>
                <a:ea typeface="Inter" pitchFamily="34" charset="-122"/>
                <a:cs typeface="Inter" pitchFamily="34" charset="-120"/>
              </a:rPr>
              <a:t>Dance</a:t>
            </a:r>
            <a:endParaRPr lang="en-US" sz="600" dirty="0"/>
          </a:p>
        </p:txBody>
      </p:sp>
      <p:sp>
        <p:nvSpPr>
          <p:cNvPr id="44" name="Text 42"/>
          <p:cNvSpPr/>
          <p:nvPr/>
        </p:nvSpPr>
        <p:spPr>
          <a:xfrm>
            <a:off x="4943438" y="2781226"/>
            <a:ext cx="547687" cy="95250"/>
          </a:xfrm>
          <a:prstGeom prst="rect">
            <a:avLst/>
          </a:prstGeom>
          <a:ln/>
        </p:spPr>
        <p:txBody>
          <a:bodyPr wrap="square" lIns="0" tIns="0" rIns="0" bIns="0" rtlCol="0" anchor="t"/>
          <a:lstStyle/>
          <a:p>
            <a:pPr algn="l" indent="0" marL="0">
              <a:lnSpc>
                <a:spcPts val="756"/>
              </a:lnSpc>
              <a:buNone/>
            </a:pPr>
            <a:r>
              <a:rPr lang="en-US" sz="500" dirty="0">
                <a:solidFill>
                  <a:srgbClr val="3D2F7A"/>
                </a:solidFill>
                <a:latin typeface="Inter" pitchFamily="34" charset="0"/>
                <a:ea typeface="Inter" pitchFamily="34" charset="-122"/>
                <a:cs typeface="Inter" pitchFamily="34" charset="-120"/>
              </a:rPr>
              <a:t>Canon &amp; share</a:t>
            </a:r>
            <a:endParaRPr lang="en-US" sz="500" dirty="0"/>
          </a:p>
        </p:txBody>
      </p:sp>
      <p:sp>
        <p:nvSpPr>
          <p:cNvPr id="45" name="Shape 43"/>
          <p:cNvSpPr/>
          <p:nvPr/>
        </p:nvSpPr>
        <p:spPr>
          <a:xfrm>
            <a:off x="5587194" y="2637420"/>
            <a:ext cx="647700" cy="285750"/>
          </a:xfrm>
          <a:prstGeom prst="roundRect">
            <a:avLst>
              <a:gd name="adj" fmla="val 12800"/>
            </a:avLst>
          </a:prstGeom>
          <a:solidFill>
            <a:srgbClr val="FFFAF7"/>
          </a:solidFill>
          <a:ln w="4763">
            <a:solidFill>
              <a:srgbClr val="142731">
                <a:alpha val="10196"/>
              </a:srgbClr>
            </a:solidFill>
            <a:prstDash val="solid"/>
          </a:ln>
        </p:spPr>
      </p:sp>
      <p:sp>
        <p:nvSpPr>
          <p:cNvPr id="46" name="Shape 44"/>
          <p:cNvSpPr/>
          <p:nvPr/>
        </p:nvSpPr>
        <p:spPr>
          <a:xfrm>
            <a:off x="6280956" y="2637420"/>
            <a:ext cx="647700" cy="285750"/>
          </a:xfrm>
          <a:prstGeom prst="roundRect">
            <a:avLst>
              <a:gd name="adj" fmla="val 12800"/>
            </a:avLst>
          </a:prstGeom>
          <a:solidFill>
            <a:srgbClr val="FFE5D6"/>
          </a:solidFill>
          <a:ln w="4763">
            <a:solidFill>
              <a:srgbClr val="FFAF7A">
                <a:alpha val="50196"/>
              </a:srgbClr>
            </a:solidFill>
            <a:prstDash val="solid"/>
          </a:ln>
        </p:spPr>
      </p:sp>
      <p:sp>
        <p:nvSpPr>
          <p:cNvPr id="47" name="Text 45"/>
          <p:cNvSpPr/>
          <p:nvPr/>
        </p:nvSpPr>
        <p:spPr>
          <a:xfrm>
            <a:off x="6330962" y="2684673"/>
            <a:ext cx="547687" cy="95250"/>
          </a:xfrm>
          <a:prstGeom prst="rect">
            <a:avLst/>
          </a:prstGeom>
          <a:ln/>
        </p:spPr>
        <p:txBody>
          <a:bodyPr wrap="square" lIns="0" tIns="0" rIns="0" bIns="0" rtlCol="0" anchor="t"/>
          <a:lstStyle/>
          <a:p>
            <a:pPr algn="l" indent="0" marL="0">
              <a:lnSpc>
                <a:spcPts val="765"/>
              </a:lnSpc>
              <a:buNone/>
            </a:pPr>
            <a:r>
              <a:rPr lang="en-US" sz="600" b="1" dirty="0">
                <a:solidFill>
                  <a:srgbClr val="A24A1A"/>
                </a:solidFill>
                <a:latin typeface="Inter" pitchFamily="34" charset="0"/>
                <a:ea typeface="Inter" pitchFamily="34" charset="-122"/>
                <a:cs typeface="Inter" pitchFamily="34" charset="-120"/>
              </a:rPr>
              <a:t>Drama</a:t>
            </a:r>
            <a:endParaRPr lang="en-US" sz="600" dirty="0"/>
          </a:p>
        </p:txBody>
      </p:sp>
      <p:sp>
        <p:nvSpPr>
          <p:cNvPr id="48" name="Text 46"/>
          <p:cNvSpPr/>
          <p:nvPr/>
        </p:nvSpPr>
        <p:spPr>
          <a:xfrm>
            <a:off x="6330962" y="2781226"/>
            <a:ext cx="547687" cy="95250"/>
          </a:xfrm>
          <a:prstGeom prst="rect">
            <a:avLst/>
          </a:prstGeom>
          <a:ln/>
        </p:spPr>
        <p:txBody>
          <a:bodyPr wrap="square" lIns="0" tIns="0" rIns="0" bIns="0" rtlCol="0" anchor="t"/>
          <a:lstStyle/>
          <a:p>
            <a:pPr algn="l" indent="0" marL="0">
              <a:lnSpc>
                <a:spcPts val="756"/>
              </a:lnSpc>
              <a:buNone/>
            </a:pPr>
            <a:r>
              <a:rPr lang="en-US" sz="500" dirty="0">
                <a:solidFill>
                  <a:srgbClr val="A24A1A"/>
                </a:solidFill>
                <a:latin typeface="Inter" pitchFamily="34" charset="0"/>
                <a:ea typeface="Inter" pitchFamily="34" charset="-122"/>
                <a:cs typeface="Inter" pitchFamily="34" charset="-120"/>
              </a:rPr>
              <a:t>Devising</a:t>
            </a:r>
            <a:endParaRPr lang="en-US" sz="500" dirty="0"/>
          </a:p>
        </p:txBody>
      </p:sp>
      <p:sp>
        <p:nvSpPr>
          <p:cNvPr id="49" name="Shape 47"/>
          <p:cNvSpPr/>
          <p:nvPr/>
        </p:nvSpPr>
        <p:spPr>
          <a:xfrm>
            <a:off x="6974718" y="2637420"/>
            <a:ext cx="647700" cy="285750"/>
          </a:xfrm>
          <a:prstGeom prst="roundRect">
            <a:avLst>
              <a:gd name="adj" fmla="val 12800"/>
            </a:avLst>
          </a:prstGeom>
          <a:solidFill>
            <a:srgbClr val="FFFAF7"/>
          </a:solidFill>
          <a:ln w="4763">
            <a:solidFill>
              <a:srgbClr val="142731">
                <a:alpha val="10196"/>
              </a:srgbClr>
            </a:solidFill>
            <a:prstDash val="solid"/>
          </a:ln>
        </p:spPr>
      </p:sp>
      <p:sp>
        <p:nvSpPr>
          <p:cNvPr id="50" name="Text 48"/>
          <p:cNvSpPr/>
          <p:nvPr/>
        </p:nvSpPr>
        <p:spPr>
          <a:xfrm>
            <a:off x="7668481" y="2637420"/>
            <a:ext cx="647700" cy="285750"/>
          </a:xfrm>
          <a:prstGeom prst="roundRect">
            <a:avLst>
              <a:gd name="adj" fmla="val 12800"/>
            </a:avLst>
          </a:prstGeom>
          <a:solidFill>
            <a:srgbClr val="14B19D">
              <a:alpha val="5098"/>
            </a:srgbClr>
          </a:solidFill>
          <a:ln w="9525">
            <a:solidFill>
              <a:srgbClr val="14B9A5">
                <a:alpha val="40000"/>
              </a:srgbClr>
            </a:solidFill>
            <a:prstDash val="dash"/>
          </a:ln>
        </p:spPr>
        <p:txBody>
          <a:bodyPr wrap="square" lIns="0" tIns="0" rIns="0" bIns="0" rtlCol="0" anchor="ctr"/>
          <a:lstStyle/>
          <a:p>
            <a:pPr algn="ctr" indent="0" marL="0">
              <a:lnSpc>
                <a:spcPts val="810"/>
              </a:lnSpc>
              <a:buNone/>
            </a:pPr>
            <a:r>
              <a:rPr lang="en-US" sz="500" b="1" dirty="0">
                <a:solidFill>
                  <a:srgbClr val="008272"/>
                </a:solidFill>
                <a:latin typeface="Inter" pitchFamily="34" charset="0"/>
                <a:ea typeface="Inter" pitchFamily="34" charset="-122"/>
                <a:cs typeface="Inter" pitchFamily="34" charset="-120"/>
              </a:rPr>
              <a:t>Drop here</a:t>
            </a:r>
            <a:endParaRPr lang="en-US" sz="500" dirty="0"/>
          </a:p>
        </p:txBody>
      </p:sp>
      <p:sp>
        <p:nvSpPr>
          <p:cNvPr id="51" name="Text 49"/>
          <p:cNvSpPr/>
          <p:nvPr/>
        </p:nvSpPr>
        <p:spPr>
          <a:xfrm>
            <a:off x="4199669" y="2953010"/>
            <a:ext cx="647700" cy="285750"/>
          </a:xfrm>
          <a:prstGeom prst="rect">
            <a:avLst/>
          </a:prstGeom>
          <a:ln/>
        </p:spPr>
        <p:txBody>
          <a:bodyPr wrap="square" lIns="0" tIns="0" rIns="0" bIns="0" rtlCol="0" anchor="ctr"/>
          <a:lstStyle/>
          <a:p>
            <a:pPr algn="l" indent="0" marL="0">
              <a:lnSpc>
                <a:spcPts val="918"/>
              </a:lnSpc>
              <a:buNone/>
            </a:pPr>
            <a:r>
              <a:rPr lang="en-US" sz="600" dirty="0">
                <a:solidFill>
                  <a:srgbClr val="6B7D80"/>
                </a:solidFill>
                <a:latin typeface="Inter" pitchFamily="34" charset="0"/>
                <a:ea typeface="Inter" pitchFamily="34" charset="-122"/>
                <a:cs typeface="Inter" pitchFamily="34" charset="-120"/>
              </a:rPr>
              <a:t>14:45</a:t>
            </a:r>
            <a:endParaRPr lang="en-US" sz="600" dirty="0"/>
          </a:p>
        </p:txBody>
      </p:sp>
      <p:sp>
        <p:nvSpPr>
          <p:cNvPr id="52" name="Shape 50"/>
          <p:cNvSpPr/>
          <p:nvPr/>
        </p:nvSpPr>
        <p:spPr>
          <a:xfrm>
            <a:off x="4893432" y="2953010"/>
            <a:ext cx="647700" cy="285750"/>
          </a:xfrm>
          <a:prstGeom prst="roundRect">
            <a:avLst>
              <a:gd name="adj" fmla="val 12800"/>
            </a:avLst>
          </a:prstGeom>
          <a:solidFill>
            <a:srgbClr val="FFFAF7"/>
          </a:solidFill>
          <a:ln w="4763">
            <a:solidFill>
              <a:srgbClr val="142731">
                <a:alpha val="10196"/>
              </a:srgbClr>
            </a:solidFill>
            <a:prstDash val="solid"/>
          </a:ln>
        </p:spPr>
      </p:sp>
      <p:sp>
        <p:nvSpPr>
          <p:cNvPr id="53" name="Shape 51"/>
          <p:cNvSpPr/>
          <p:nvPr/>
        </p:nvSpPr>
        <p:spPr>
          <a:xfrm>
            <a:off x="5587194" y="2953010"/>
            <a:ext cx="647700" cy="285750"/>
          </a:xfrm>
          <a:prstGeom prst="roundRect">
            <a:avLst>
              <a:gd name="adj" fmla="val 12800"/>
            </a:avLst>
          </a:prstGeom>
          <a:solidFill>
            <a:srgbClr val="D6E8F2"/>
          </a:solidFill>
          <a:ln w="4763">
            <a:solidFill>
              <a:srgbClr val="0FA5D4">
                <a:alpha val="40000"/>
              </a:srgbClr>
            </a:solidFill>
            <a:prstDash val="solid"/>
          </a:ln>
        </p:spPr>
      </p:sp>
      <p:sp>
        <p:nvSpPr>
          <p:cNvPr id="54" name="Text 52"/>
          <p:cNvSpPr/>
          <p:nvPr/>
        </p:nvSpPr>
        <p:spPr>
          <a:xfrm>
            <a:off x="5637200" y="3000263"/>
            <a:ext cx="547687" cy="95250"/>
          </a:xfrm>
          <a:prstGeom prst="rect">
            <a:avLst/>
          </a:prstGeom>
          <a:ln/>
        </p:spPr>
        <p:txBody>
          <a:bodyPr wrap="square" lIns="0" tIns="0" rIns="0" bIns="0" rtlCol="0" anchor="t"/>
          <a:lstStyle/>
          <a:p>
            <a:pPr algn="l" indent="0" marL="0">
              <a:lnSpc>
                <a:spcPts val="765"/>
              </a:lnSpc>
              <a:buNone/>
            </a:pPr>
            <a:r>
              <a:rPr lang="en-US" sz="600" b="1" dirty="0">
                <a:solidFill>
                  <a:srgbClr val="0A4A66"/>
                </a:solidFill>
                <a:latin typeface="Inter" pitchFamily="34" charset="0"/>
                <a:ea typeface="Inter" pitchFamily="34" charset="-122"/>
                <a:cs typeface="Inter" pitchFamily="34" charset="-120"/>
              </a:rPr>
              <a:t>Music</a:t>
            </a:r>
            <a:endParaRPr lang="en-US" sz="600" dirty="0"/>
          </a:p>
        </p:txBody>
      </p:sp>
      <p:sp>
        <p:nvSpPr>
          <p:cNvPr id="55" name="Text 53"/>
          <p:cNvSpPr/>
          <p:nvPr/>
        </p:nvSpPr>
        <p:spPr>
          <a:xfrm>
            <a:off x="5637200" y="3096816"/>
            <a:ext cx="547687" cy="95250"/>
          </a:xfrm>
          <a:prstGeom prst="rect">
            <a:avLst/>
          </a:prstGeom>
          <a:ln/>
        </p:spPr>
        <p:txBody>
          <a:bodyPr wrap="square" lIns="0" tIns="0" rIns="0" bIns="0" rtlCol="0" anchor="t"/>
          <a:lstStyle/>
          <a:p>
            <a:pPr algn="l" indent="0" marL="0">
              <a:lnSpc>
                <a:spcPts val="756"/>
              </a:lnSpc>
              <a:buNone/>
            </a:pPr>
            <a:r>
              <a:rPr lang="en-US" sz="500" dirty="0">
                <a:solidFill>
                  <a:srgbClr val="0A4A66"/>
                </a:solidFill>
                <a:latin typeface="Inter" pitchFamily="34" charset="0"/>
                <a:ea typeface="Inter" pitchFamily="34" charset="-122"/>
                <a:cs typeface="Inter" pitchFamily="34" charset="-120"/>
              </a:rPr>
              <a:t>Composing loops</a:t>
            </a:r>
            <a:endParaRPr lang="en-US" sz="500" dirty="0"/>
          </a:p>
        </p:txBody>
      </p:sp>
      <p:sp>
        <p:nvSpPr>
          <p:cNvPr id="56" name="Shape 54"/>
          <p:cNvSpPr/>
          <p:nvPr/>
        </p:nvSpPr>
        <p:spPr>
          <a:xfrm>
            <a:off x="6280956" y="2953010"/>
            <a:ext cx="647700" cy="285750"/>
          </a:xfrm>
          <a:prstGeom prst="roundRect">
            <a:avLst>
              <a:gd name="adj" fmla="val 12800"/>
            </a:avLst>
          </a:prstGeom>
          <a:solidFill>
            <a:srgbClr val="FFFAF7"/>
          </a:solidFill>
          <a:ln w="4763">
            <a:solidFill>
              <a:srgbClr val="142731">
                <a:alpha val="10196"/>
              </a:srgbClr>
            </a:solidFill>
            <a:prstDash val="solid"/>
          </a:ln>
        </p:spPr>
      </p:sp>
      <p:sp>
        <p:nvSpPr>
          <p:cNvPr id="57" name="Shape 55"/>
          <p:cNvSpPr/>
          <p:nvPr/>
        </p:nvSpPr>
        <p:spPr>
          <a:xfrm>
            <a:off x="6974718" y="2953010"/>
            <a:ext cx="647700" cy="285750"/>
          </a:xfrm>
          <a:prstGeom prst="roundRect">
            <a:avLst>
              <a:gd name="adj" fmla="val 12800"/>
            </a:avLst>
          </a:prstGeom>
          <a:solidFill>
            <a:srgbClr val="E8E2F2"/>
          </a:solidFill>
          <a:ln w="4763">
            <a:solidFill>
              <a:srgbClr val="7D6BF0">
                <a:alpha val="40000"/>
              </a:srgbClr>
            </a:solidFill>
            <a:prstDash val="solid"/>
          </a:ln>
        </p:spPr>
      </p:sp>
      <p:sp>
        <p:nvSpPr>
          <p:cNvPr id="58" name="Text 56"/>
          <p:cNvSpPr/>
          <p:nvPr/>
        </p:nvSpPr>
        <p:spPr>
          <a:xfrm>
            <a:off x="7024725" y="3000263"/>
            <a:ext cx="547687" cy="95250"/>
          </a:xfrm>
          <a:prstGeom prst="rect">
            <a:avLst/>
          </a:prstGeom>
          <a:ln/>
        </p:spPr>
        <p:txBody>
          <a:bodyPr wrap="square" lIns="0" tIns="0" rIns="0" bIns="0" rtlCol="0" anchor="t"/>
          <a:lstStyle/>
          <a:p>
            <a:pPr algn="l" indent="0" marL="0">
              <a:lnSpc>
                <a:spcPts val="765"/>
              </a:lnSpc>
              <a:buNone/>
            </a:pPr>
            <a:r>
              <a:rPr lang="en-US" sz="600" b="1" dirty="0">
                <a:solidFill>
                  <a:srgbClr val="3D2F7A"/>
                </a:solidFill>
                <a:latin typeface="Inter" pitchFamily="34" charset="0"/>
                <a:ea typeface="Inter" pitchFamily="34" charset="-122"/>
                <a:cs typeface="Inter" pitchFamily="34" charset="-120"/>
              </a:rPr>
              <a:t>Dance</a:t>
            </a:r>
            <a:endParaRPr lang="en-US" sz="600" dirty="0"/>
          </a:p>
        </p:txBody>
      </p:sp>
      <p:sp>
        <p:nvSpPr>
          <p:cNvPr id="59" name="Text 57"/>
          <p:cNvSpPr/>
          <p:nvPr/>
        </p:nvSpPr>
        <p:spPr>
          <a:xfrm>
            <a:off x="7024725" y="3096816"/>
            <a:ext cx="547687" cy="95250"/>
          </a:xfrm>
          <a:prstGeom prst="rect">
            <a:avLst/>
          </a:prstGeom>
          <a:ln/>
        </p:spPr>
        <p:txBody>
          <a:bodyPr wrap="square" lIns="0" tIns="0" rIns="0" bIns="0" rtlCol="0" anchor="t"/>
          <a:lstStyle/>
          <a:p>
            <a:pPr algn="l" indent="0" marL="0">
              <a:lnSpc>
                <a:spcPts val="756"/>
              </a:lnSpc>
              <a:buNone/>
            </a:pPr>
            <a:r>
              <a:rPr lang="en-US" sz="500" dirty="0">
                <a:solidFill>
                  <a:srgbClr val="3D2F7A"/>
                </a:solidFill>
                <a:latin typeface="Inter" pitchFamily="34" charset="0"/>
                <a:ea typeface="Inter" pitchFamily="34" charset="-122"/>
                <a:cs typeface="Inter" pitchFamily="34" charset="-120"/>
              </a:rPr>
              <a:t>Refine motif</a:t>
            </a:r>
            <a:endParaRPr lang="en-US" sz="500" dirty="0"/>
          </a:p>
        </p:txBody>
      </p:sp>
      <p:sp>
        <p:nvSpPr>
          <p:cNvPr id="60" name="Shape 58"/>
          <p:cNvSpPr/>
          <p:nvPr/>
        </p:nvSpPr>
        <p:spPr>
          <a:xfrm>
            <a:off x="7668481" y="2953010"/>
            <a:ext cx="647700" cy="285750"/>
          </a:xfrm>
          <a:prstGeom prst="roundRect">
            <a:avLst>
              <a:gd name="adj" fmla="val 12800"/>
            </a:avLst>
          </a:prstGeom>
          <a:solidFill>
            <a:srgbClr val="FFFAF7"/>
          </a:solidFill>
          <a:ln w="4763">
            <a:solidFill>
              <a:srgbClr val="142731">
                <a:alpha val="10196"/>
              </a:srgbClr>
            </a:solidFill>
            <a:prstDash val="solid"/>
          </a:ln>
        </p:spPr>
      </p:sp>
      <p:sp>
        <p:nvSpPr>
          <p:cNvPr id="61" name="Text 59"/>
          <p:cNvSpPr/>
          <p:nvPr/>
        </p:nvSpPr>
        <p:spPr>
          <a:xfrm>
            <a:off x="4200525" y="3340187"/>
            <a:ext cx="4114800" cy="219075"/>
          </a:xfrm>
          <a:prstGeom prst="rect">
            <a:avLst/>
          </a:prstGeom>
          <a:ln/>
        </p:spPr>
        <p:txBody>
          <a:bodyPr wrap="square" lIns="0" tIns="0" rIns="0" bIns="0" rtlCol="0" anchor="ctr"/>
          <a:lstStyle/>
          <a:p>
            <a:pPr algn="l" indent="0" marL="0">
              <a:lnSpc>
                <a:spcPts val="1026"/>
              </a:lnSpc>
              <a:buNone/>
            </a:pPr>
            <a:r>
              <a:rPr lang="en-US" sz="600" dirty="0">
                <a:solidFill>
                  <a:srgbClr val="6B7D80"/>
                </a:solidFill>
                <a:latin typeface="Inter" pitchFamily="34" charset="0"/>
                <a:ea typeface="Inter" pitchFamily="34" charset="-122"/>
                <a:cs typeface="Inter" pitchFamily="34" charset="-120"/>
              </a:rPr>
              <a:t>11 lessons scheduled this week</a:t>
            </a:r>
            <a:pPr algn="l" indent="0" marL="0">
              <a:lnSpc>
                <a:spcPts val="1026"/>
              </a:lnSpc>
              <a:buNone/>
            </a:pPr>
            <a:r>
              <a:rPr lang="en-US" sz="600" b="1" dirty="0">
                <a:solidFill>
                  <a:srgbClr val="008272"/>
                </a:solidFill>
                <a:latin typeface="Inter" pitchFamily="34" charset="0"/>
                <a:ea typeface="Inter" pitchFamily="34" charset="-122"/>
                <a:cs typeface="Inter" pitchFamily="34" charset="-120"/>
              </a:rPr>
              <a:t>Drag from the library →</a:t>
            </a:r>
            <a:endParaRPr lang="en-US" sz="600" dirty="0"/>
          </a:p>
        </p:txBody>
      </p:sp>
      <p:pic>
        <p:nvPicPr>
          <p:cNvPr id="6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00525" y="3340187"/>
            <a:ext cx="4114800" cy="219075"/>
          </a:xfrm>
          <a:prstGeom prst="rect">
            <a:avLst/>
          </a:prstGeom>
        </p:spPr>
      </p:pic>
      <p:pic>
        <p:nvPicPr>
          <p:cNvPr id="63"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Shape 1"/>
          <p:cNvSpPr/>
          <p:nvPr/>
        </p:nvSpPr>
        <p:spPr>
          <a:xfrm>
            <a:off x="640519" y="1185863"/>
            <a:ext cx="4491038" cy="2771775"/>
          </a:xfrm>
          <a:prstGeom prst="roundRect">
            <a:avLst>
              <a:gd name="adj" fmla="val 1360"/>
            </a:avLst>
          </a:prstGeom>
          <a:solidFill>
            <a:srgbClr val="FFFFFF"/>
          </a:solidFill>
          <a:ln w="4763">
            <a:solidFill>
              <a:srgbClr val="142727">
                <a:alpha val="5098"/>
              </a:srgbClr>
            </a:solidFill>
            <a:prstDash val="solid"/>
          </a:ln>
          <a:effectLst>
            <a:outerShdw sx="100000" sy="100000" kx="0" ky="0" algn="bl" rotWithShape="0" blurRad="285750" dist="95250" dir="5400000">
              <a:srgbClr val="004C45">
                <a:alpha val="12000"/>
              </a:srgbClr>
            </a:outerShdw>
          </a:effectLst>
        </p:spPr>
      </p:sp>
      <p:sp>
        <p:nvSpPr>
          <p:cNvPr id="4" name="Text 2"/>
          <p:cNvSpPr/>
          <p:nvPr/>
        </p:nvSpPr>
        <p:spPr>
          <a:xfrm>
            <a:off x="845307" y="1391617"/>
            <a:ext cx="4081462" cy="190500"/>
          </a:xfrm>
          <a:prstGeom prst="rect">
            <a:avLst/>
          </a:prstGeom>
          <a:ln/>
        </p:spPr>
        <p:txBody>
          <a:bodyPr wrap="square" lIns="0" tIns="0" rIns="0" bIns="0" rtlCol="0" anchor="ctr"/>
          <a:lstStyle/>
          <a:p>
            <a:pPr algn="l" indent="0" marL="0">
              <a:lnSpc>
                <a:spcPts val="1512"/>
              </a:lnSpc>
              <a:buNone/>
            </a:pPr>
            <a:r>
              <a:rPr lang="en-US" sz="1000" b="1" dirty="0">
                <a:solidFill>
                  <a:srgbClr val="0F2A2E"/>
                </a:solidFill>
                <a:latin typeface="Inter" pitchFamily="34" charset="0"/>
                <a:ea typeface="Inter" pitchFamily="34" charset="-122"/>
                <a:cs typeface="Inter" pitchFamily="34" charset="-120"/>
              </a:rPr>
              <a:t>Lesson library</a:t>
            </a:r>
            <a:pPr algn="l" indent="0" marL="0">
              <a:lnSpc>
                <a:spcPts val="1080"/>
              </a:lnSpc>
              <a:buNone/>
            </a:pPr>
            <a:r>
              <a:rPr lang="en-US" sz="700" dirty="0">
                <a:solidFill>
                  <a:srgbClr val="6B7D80"/>
                </a:solidFill>
                <a:latin typeface="Inter" pitchFamily="34" charset="0"/>
                <a:ea typeface="Inter" pitchFamily="34" charset="-122"/>
                <a:cs typeface="Inter" pitchFamily="34" charset="-120"/>
              </a:rPr>
              <a:t>214 lessons</a:t>
            </a:r>
            <a:endParaRPr lang="en-US" sz="1000" dirty="0"/>
          </a:p>
        </p:txBody>
      </p:sp>
      <p:sp>
        <p:nvSpPr>
          <p:cNvPr id="5" name="Shape 3"/>
          <p:cNvSpPr/>
          <p:nvPr/>
        </p:nvSpPr>
        <p:spPr>
          <a:xfrm>
            <a:off x="845307" y="1686371"/>
            <a:ext cx="4081462" cy="261937"/>
          </a:xfrm>
          <a:prstGeom prst="roundRect">
            <a:avLst>
              <a:gd name="adj" fmla="val 20311"/>
            </a:avLst>
          </a:prstGeom>
          <a:solidFill>
            <a:srgbClr val="FFFAF7"/>
          </a:solidFill>
          <a:ln w="4763">
            <a:solidFill>
              <a:srgbClr val="142731">
                <a:alpha val="10196"/>
              </a:srgbClr>
            </a:solidFill>
            <a:prstDash val="solid"/>
          </a:ln>
        </p:spPr>
      </p:sp>
      <p:sp>
        <p:nvSpPr>
          <p:cNvPr id="6" name="Shape 4"/>
          <p:cNvSpPr/>
          <p:nvPr/>
        </p:nvSpPr>
        <p:spPr>
          <a:xfrm>
            <a:off x="941784" y="1753046"/>
            <a:ext cx="128588" cy="128588"/>
          </a:xfrm>
          <a:prstGeom prst="ellipse">
            <a:avLst/>
          </a:prstGeom>
          <a:ln w="9525">
            <a:solidFill>
              <a:srgbClr val="6B7D80"/>
            </a:solidFill>
            <a:prstDash val="solid"/>
          </a:ln>
        </p:spPr>
      </p:sp>
      <p:sp>
        <p:nvSpPr>
          <p:cNvPr id="7" name="Text 5"/>
          <p:cNvSpPr/>
          <p:nvPr/>
        </p:nvSpPr>
        <p:spPr>
          <a:xfrm>
            <a:off x="1142963" y="1741140"/>
            <a:ext cx="1385888" cy="152400"/>
          </a:xfrm>
          <a:prstGeom prst="rect">
            <a:avLst/>
          </a:prstGeom>
          <a:ln/>
        </p:spPr>
        <p:txBody>
          <a:bodyPr wrap="square" lIns="0" tIns="0" rIns="0" bIns="0" rtlCol="0" anchor="t"/>
          <a:lstStyle/>
          <a:p>
            <a:pPr algn="l" indent="0" marL="0">
              <a:lnSpc>
                <a:spcPts val="1188"/>
              </a:lnSpc>
              <a:buNone/>
            </a:pPr>
            <a:r>
              <a:rPr lang="en-US" sz="700" dirty="0">
                <a:solidFill>
                  <a:srgbClr val="6B7D80"/>
                </a:solidFill>
                <a:latin typeface="Inter" pitchFamily="34" charset="0"/>
                <a:ea typeface="Inter" pitchFamily="34" charset="-122"/>
                <a:cs typeface="Inter" pitchFamily="34" charset="-120"/>
              </a:rPr>
              <a:t>Search by title, year, or unit…</a:t>
            </a:r>
            <a:endParaRPr lang="en-US" sz="700" dirty="0"/>
          </a:p>
        </p:txBody>
      </p:sp>
      <p:sp>
        <p:nvSpPr>
          <p:cNvPr id="8" name="Shape 6"/>
          <p:cNvSpPr/>
          <p:nvPr/>
        </p:nvSpPr>
        <p:spPr>
          <a:xfrm>
            <a:off x="845567" y="2051931"/>
            <a:ext cx="1985963" cy="795338"/>
          </a:xfrm>
          <a:prstGeom prst="roundRect">
            <a:avLst>
              <a:gd name="adj" fmla="val 11015"/>
            </a:avLst>
          </a:prstGeom>
          <a:solidFill>
            <a:srgbClr val="FFFFFF"/>
          </a:solidFill>
          <a:ln w="4763">
            <a:solidFill>
              <a:srgbClr val="142731">
                <a:alpha val="10196"/>
              </a:srgbClr>
            </a:solidFill>
            <a:prstDash val="solid"/>
          </a:ln>
        </p:spPr>
      </p:sp>
      <p:sp>
        <p:nvSpPr>
          <p:cNvPr id="9" name="Text 7"/>
          <p:cNvSpPr/>
          <p:nvPr/>
        </p:nvSpPr>
        <p:spPr>
          <a:xfrm>
            <a:off x="959867" y="2148632"/>
            <a:ext cx="1757363" cy="138113"/>
          </a:xfrm>
          <a:prstGeom prst="rect">
            <a:avLst/>
          </a:prstGeom>
          <a:ln/>
        </p:spPr>
        <p:txBody>
          <a:bodyPr wrap="square" lIns="0" tIns="0" rIns="0" bIns="0" rtlCol="0" anchor="ctr"/>
          <a:lstStyle/>
          <a:p>
            <a:pPr algn="l" indent="0" marL="0">
              <a:lnSpc>
                <a:spcPts val="918"/>
              </a:lnSpc>
              <a:buNone/>
            </a:pPr>
            <a:r>
              <a:rPr lang="en-US" sz="600" b="1" dirty="0">
                <a:solidFill>
                  <a:srgbClr val="A24A1A"/>
                </a:solidFill>
                <a:highlight>
                  <a:srgbClr val="FFE5D6"/>
                </a:highlight>
                <a:latin typeface="Inter" pitchFamily="34" charset="0"/>
                <a:ea typeface="Inter" pitchFamily="34" charset="-122"/>
                <a:cs typeface="Inter" pitchFamily="34" charset="-120"/>
              </a:rPr>
              <a:t>Drama · Y4</a:t>
            </a:r>
            <a:pPr algn="l" indent="0" marL="0">
              <a:lnSpc>
                <a:spcPts val="918"/>
              </a:lnSpc>
              <a:buNone/>
            </a:pPr>
            <a:r>
              <a:rPr lang="en-US" sz="600" dirty="0">
                <a:solidFill>
                  <a:srgbClr val="6B7D80"/>
                </a:solidFill>
                <a:latin typeface="Inter" pitchFamily="34" charset="0"/>
                <a:ea typeface="Inter" pitchFamily="34" charset="-122"/>
                <a:cs typeface="Inter" pitchFamily="34" charset="-120"/>
              </a:rPr>
              <a:t>45 min</a:t>
            </a:r>
            <a:endParaRPr lang="en-US" sz="600" dirty="0"/>
          </a:p>
        </p:txBody>
      </p:sp>
      <p:sp>
        <p:nvSpPr>
          <p:cNvPr id="10" name="Text 8"/>
          <p:cNvSpPr/>
          <p:nvPr/>
        </p:nvSpPr>
        <p:spPr>
          <a:xfrm>
            <a:off x="959867" y="2337643"/>
            <a:ext cx="1757363" cy="142875"/>
          </a:xfrm>
          <a:prstGeom prst="rect">
            <a:avLst/>
          </a:prstGeom>
          <a:ln/>
        </p:spPr>
        <p:txBody>
          <a:bodyPr wrap="square" lIns="0" tIns="0" rIns="0" bIns="0" rtlCol="0" anchor="t"/>
          <a:lstStyle/>
          <a:p>
            <a:pPr algn="l" indent="0" marL="0">
              <a:lnSpc>
                <a:spcPts val="1125"/>
              </a:lnSpc>
              <a:buNone/>
            </a:pPr>
            <a:r>
              <a:rPr lang="en-US" sz="900" b="1" dirty="0">
                <a:solidFill>
                  <a:srgbClr val="0F2A2E"/>
                </a:solidFill>
                <a:latin typeface="Inter" pitchFamily="34" charset="0"/>
                <a:ea typeface="Inter" pitchFamily="34" charset="-122"/>
                <a:cs typeface="Inter" pitchFamily="34" charset="-120"/>
              </a:rPr>
              <a:t>Freeze-frame storytelling</a:t>
            </a:r>
            <a:endParaRPr lang="en-US" sz="900" dirty="0"/>
          </a:p>
        </p:txBody>
      </p:sp>
      <p:sp>
        <p:nvSpPr>
          <p:cNvPr id="11" name="Text 9"/>
          <p:cNvSpPr/>
          <p:nvPr/>
        </p:nvSpPr>
        <p:spPr>
          <a:xfrm>
            <a:off x="959867" y="2511623"/>
            <a:ext cx="1757363" cy="238125"/>
          </a:xfrm>
          <a:prstGeom prst="rect">
            <a:avLst/>
          </a:prstGeom>
          <a:ln/>
        </p:spPr>
        <p:txBody>
          <a:bodyPr wrap="square" lIns="0" tIns="0" rIns="0" bIns="0" rtlCol="0" anchor="t"/>
          <a:lstStyle/>
          <a:p>
            <a:pPr algn="l" indent="0" marL="0">
              <a:lnSpc>
                <a:spcPts val="940"/>
              </a:lnSpc>
              <a:spcBef>
                <a:spcPts val="243"/>
              </a:spcBef>
              <a:buNone/>
            </a:pPr>
            <a:r>
              <a:rPr lang="en-US" sz="600" dirty="0">
                <a:solidFill>
                  <a:srgbClr val="6B7D80"/>
                </a:solidFill>
                <a:latin typeface="Inter" pitchFamily="34" charset="0"/>
                <a:ea typeface="Inter" pitchFamily="34" charset="-122"/>
                <a:cs typeface="Inter" pitchFamily="34" charset="-120"/>
              </a:rPr>
              <a:t>Three still images that retell a fable using levels, gesture and gaze.</a:t>
            </a:r>
            <a:endParaRPr lang="en-US" sz="600" dirty="0"/>
          </a:p>
        </p:txBody>
      </p:sp>
      <p:sp>
        <p:nvSpPr>
          <p:cNvPr id="12" name="Shape 10"/>
          <p:cNvSpPr/>
          <p:nvPr/>
        </p:nvSpPr>
        <p:spPr>
          <a:xfrm>
            <a:off x="2940509" y="2051931"/>
            <a:ext cx="1985963" cy="795338"/>
          </a:xfrm>
          <a:prstGeom prst="roundRect">
            <a:avLst>
              <a:gd name="adj" fmla="val 11015"/>
            </a:avLst>
          </a:prstGeom>
          <a:solidFill>
            <a:srgbClr val="FFFFFF"/>
          </a:solidFill>
          <a:ln w="4763">
            <a:solidFill>
              <a:srgbClr val="142731">
                <a:alpha val="10196"/>
              </a:srgbClr>
            </a:solidFill>
            <a:prstDash val="solid"/>
          </a:ln>
        </p:spPr>
      </p:sp>
      <p:sp>
        <p:nvSpPr>
          <p:cNvPr id="13" name="Text 11"/>
          <p:cNvSpPr/>
          <p:nvPr/>
        </p:nvSpPr>
        <p:spPr>
          <a:xfrm>
            <a:off x="3054809" y="2148632"/>
            <a:ext cx="1757363" cy="138113"/>
          </a:xfrm>
          <a:prstGeom prst="rect">
            <a:avLst/>
          </a:prstGeom>
          <a:ln/>
        </p:spPr>
        <p:txBody>
          <a:bodyPr wrap="square" lIns="0" tIns="0" rIns="0" bIns="0" rtlCol="0" anchor="ctr"/>
          <a:lstStyle/>
          <a:p>
            <a:pPr algn="l" indent="0" marL="0">
              <a:lnSpc>
                <a:spcPts val="918"/>
              </a:lnSpc>
              <a:buNone/>
            </a:pPr>
            <a:r>
              <a:rPr lang="en-US" sz="600" b="1" dirty="0">
                <a:solidFill>
                  <a:srgbClr val="0A4A66"/>
                </a:solidFill>
                <a:highlight>
                  <a:srgbClr val="D6E8F2"/>
                </a:highlight>
                <a:latin typeface="Inter" pitchFamily="34" charset="0"/>
                <a:ea typeface="Inter" pitchFamily="34" charset="-122"/>
                <a:cs typeface="Inter" pitchFamily="34" charset="-120"/>
              </a:rPr>
              <a:t>Music · Y3</a:t>
            </a:r>
            <a:pPr algn="l" indent="0" marL="0">
              <a:lnSpc>
                <a:spcPts val="918"/>
              </a:lnSpc>
              <a:buNone/>
            </a:pPr>
            <a:r>
              <a:rPr lang="en-US" sz="600" dirty="0">
                <a:solidFill>
                  <a:srgbClr val="6B7D80"/>
                </a:solidFill>
                <a:latin typeface="Inter" pitchFamily="34" charset="0"/>
                <a:ea typeface="Inter" pitchFamily="34" charset="-122"/>
                <a:cs typeface="Inter" pitchFamily="34" charset="-120"/>
              </a:rPr>
              <a:t>40 min</a:t>
            </a:r>
            <a:endParaRPr lang="en-US" sz="600" dirty="0"/>
          </a:p>
        </p:txBody>
      </p:sp>
      <p:sp>
        <p:nvSpPr>
          <p:cNvPr id="14" name="Text 12"/>
          <p:cNvSpPr/>
          <p:nvPr/>
        </p:nvSpPr>
        <p:spPr>
          <a:xfrm>
            <a:off x="3054809" y="2337643"/>
            <a:ext cx="1757363" cy="142875"/>
          </a:xfrm>
          <a:prstGeom prst="rect">
            <a:avLst/>
          </a:prstGeom>
          <a:ln/>
        </p:spPr>
        <p:txBody>
          <a:bodyPr wrap="square" lIns="0" tIns="0" rIns="0" bIns="0" rtlCol="0" anchor="t"/>
          <a:lstStyle/>
          <a:p>
            <a:pPr algn="l" indent="0" marL="0">
              <a:lnSpc>
                <a:spcPts val="1125"/>
              </a:lnSpc>
              <a:buNone/>
            </a:pPr>
            <a:r>
              <a:rPr lang="en-US" sz="900" b="1" dirty="0">
                <a:solidFill>
                  <a:srgbClr val="0F2A2E"/>
                </a:solidFill>
                <a:latin typeface="Inter" pitchFamily="34" charset="0"/>
                <a:ea typeface="Inter" pitchFamily="34" charset="-122"/>
                <a:cs typeface="Inter" pitchFamily="34" charset="-120"/>
              </a:rPr>
              <a:t>Rhythms of West Africa</a:t>
            </a:r>
            <a:endParaRPr lang="en-US" sz="900" dirty="0"/>
          </a:p>
        </p:txBody>
      </p:sp>
      <p:sp>
        <p:nvSpPr>
          <p:cNvPr id="15" name="Text 13"/>
          <p:cNvSpPr/>
          <p:nvPr/>
        </p:nvSpPr>
        <p:spPr>
          <a:xfrm>
            <a:off x="3054809" y="2511623"/>
            <a:ext cx="1757363" cy="238125"/>
          </a:xfrm>
          <a:prstGeom prst="rect">
            <a:avLst/>
          </a:prstGeom>
          <a:ln/>
        </p:spPr>
        <p:txBody>
          <a:bodyPr wrap="square" lIns="0" tIns="0" rIns="0" bIns="0" rtlCol="0" anchor="t"/>
          <a:lstStyle/>
          <a:p>
            <a:pPr algn="l" indent="0" marL="0">
              <a:lnSpc>
                <a:spcPts val="940"/>
              </a:lnSpc>
              <a:spcBef>
                <a:spcPts val="243"/>
              </a:spcBef>
              <a:buNone/>
            </a:pPr>
            <a:r>
              <a:rPr lang="en-US" sz="600" dirty="0">
                <a:solidFill>
                  <a:srgbClr val="6B7D80"/>
                </a:solidFill>
                <a:latin typeface="Inter" pitchFamily="34" charset="0"/>
                <a:ea typeface="Inter" pitchFamily="34" charset="-122"/>
                <a:cs typeface="Inter" pitchFamily="34" charset="-120"/>
              </a:rPr>
              <a:t>Active listening, body percussion, then a class call-and-response.</a:t>
            </a:r>
            <a:endParaRPr lang="en-US" sz="600" dirty="0"/>
          </a:p>
        </p:txBody>
      </p:sp>
      <p:sp>
        <p:nvSpPr>
          <p:cNvPr id="16" name="Shape 14"/>
          <p:cNvSpPr/>
          <p:nvPr/>
        </p:nvSpPr>
        <p:spPr>
          <a:xfrm>
            <a:off x="845567" y="2957178"/>
            <a:ext cx="1985963" cy="795338"/>
          </a:xfrm>
          <a:prstGeom prst="roundRect">
            <a:avLst>
              <a:gd name="adj" fmla="val 11015"/>
            </a:avLst>
          </a:prstGeom>
          <a:solidFill>
            <a:srgbClr val="FFFFFF"/>
          </a:solidFill>
          <a:ln w="4763">
            <a:solidFill>
              <a:srgbClr val="142731">
                <a:alpha val="10196"/>
              </a:srgbClr>
            </a:solidFill>
            <a:prstDash val="solid"/>
          </a:ln>
        </p:spPr>
      </p:sp>
      <p:sp>
        <p:nvSpPr>
          <p:cNvPr id="17" name="Text 15"/>
          <p:cNvSpPr/>
          <p:nvPr/>
        </p:nvSpPr>
        <p:spPr>
          <a:xfrm>
            <a:off x="959867" y="3053879"/>
            <a:ext cx="1757363" cy="138113"/>
          </a:xfrm>
          <a:prstGeom prst="rect">
            <a:avLst/>
          </a:prstGeom>
          <a:ln/>
        </p:spPr>
        <p:txBody>
          <a:bodyPr wrap="square" lIns="0" tIns="0" rIns="0" bIns="0" rtlCol="0" anchor="ctr"/>
          <a:lstStyle/>
          <a:p>
            <a:pPr algn="l" indent="0" marL="0">
              <a:lnSpc>
                <a:spcPts val="918"/>
              </a:lnSpc>
              <a:buNone/>
            </a:pPr>
            <a:r>
              <a:rPr lang="en-US" sz="600" b="1" dirty="0">
                <a:solidFill>
                  <a:srgbClr val="3D2F7A"/>
                </a:solidFill>
                <a:highlight>
                  <a:srgbClr val="E8E2F2"/>
                </a:highlight>
                <a:latin typeface="Inter" pitchFamily="34" charset="0"/>
                <a:ea typeface="Inter" pitchFamily="34" charset="-122"/>
                <a:cs typeface="Inter" pitchFamily="34" charset="-120"/>
              </a:rPr>
              <a:t>Dance · Y5</a:t>
            </a:r>
            <a:pPr algn="l" indent="0" marL="0">
              <a:lnSpc>
                <a:spcPts val="918"/>
              </a:lnSpc>
              <a:buNone/>
            </a:pPr>
            <a:r>
              <a:rPr lang="en-US" sz="600" dirty="0">
                <a:solidFill>
                  <a:srgbClr val="6B7D80"/>
                </a:solidFill>
                <a:latin typeface="Inter" pitchFamily="34" charset="0"/>
                <a:ea typeface="Inter" pitchFamily="34" charset="-122"/>
                <a:cs typeface="Inter" pitchFamily="34" charset="-120"/>
              </a:rPr>
              <a:t>50 min</a:t>
            </a:r>
            <a:endParaRPr lang="en-US" sz="600" dirty="0"/>
          </a:p>
        </p:txBody>
      </p:sp>
      <p:sp>
        <p:nvSpPr>
          <p:cNvPr id="18" name="Text 16"/>
          <p:cNvSpPr/>
          <p:nvPr/>
        </p:nvSpPr>
        <p:spPr>
          <a:xfrm>
            <a:off x="959867" y="3242890"/>
            <a:ext cx="1757363" cy="142875"/>
          </a:xfrm>
          <a:prstGeom prst="rect">
            <a:avLst/>
          </a:prstGeom>
          <a:ln/>
        </p:spPr>
        <p:txBody>
          <a:bodyPr wrap="square" lIns="0" tIns="0" rIns="0" bIns="0" rtlCol="0" anchor="t"/>
          <a:lstStyle/>
          <a:p>
            <a:pPr algn="l" indent="0" marL="0">
              <a:lnSpc>
                <a:spcPts val="1125"/>
              </a:lnSpc>
              <a:buNone/>
            </a:pPr>
            <a:r>
              <a:rPr lang="en-US" sz="900" b="1" dirty="0">
                <a:solidFill>
                  <a:srgbClr val="0F2A2E"/>
                </a:solidFill>
                <a:latin typeface="Inter" pitchFamily="34" charset="0"/>
                <a:ea typeface="Inter" pitchFamily="34" charset="-122"/>
                <a:cs typeface="Inter" pitchFamily="34" charset="-120"/>
              </a:rPr>
              <a:t>Storm motif &amp; canon</a:t>
            </a:r>
            <a:endParaRPr lang="en-US" sz="900" dirty="0"/>
          </a:p>
        </p:txBody>
      </p:sp>
      <p:sp>
        <p:nvSpPr>
          <p:cNvPr id="19" name="Text 17"/>
          <p:cNvSpPr/>
          <p:nvPr/>
        </p:nvSpPr>
        <p:spPr>
          <a:xfrm>
            <a:off x="959867" y="3416871"/>
            <a:ext cx="1757363" cy="238125"/>
          </a:xfrm>
          <a:prstGeom prst="rect">
            <a:avLst/>
          </a:prstGeom>
          <a:ln/>
        </p:spPr>
        <p:txBody>
          <a:bodyPr wrap="square" lIns="0" tIns="0" rIns="0" bIns="0" rtlCol="0" anchor="t"/>
          <a:lstStyle/>
          <a:p>
            <a:pPr algn="l" indent="0" marL="0">
              <a:lnSpc>
                <a:spcPts val="940"/>
              </a:lnSpc>
              <a:spcBef>
                <a:spcPts val="243"/>
              </a:spcBef>
              <a:buNone/>
            </a:pPr>
            <a:r>
              <a:rPr lang="en-US" sz="600" dirty="0">
                <a:solidFill>
                  <a:srgbClr val="6B7D80"/>
                </a:solidFill>
                <a:latin typeface="Inter" pitchFamily="34" charset="0"/>
                <a:ea typeface="Inter" pitchFamily="34" charset="-122"/>
                <a:cs typeface="Inter" pitchFamily="34" charset="-120"/>
              </a:rPr>
              <a:t>Build a 16-count motif, then layer it as a four-group canon.</a:t>
            </a:r>
            <a:endParaRPr lang="en-US" sz="600" dirty="0"/>
          </a:p>
        </p:txBody>
      </p:sp>
      <p:sp>
        <p:nvSpPr>
          <p:cNvPr id="20" name="Shape 18"/>
          <p:cNvSpPr/>
          <p:nvPr/>
        </p:nvSpPr>
        <p:spPr>
          <a:xfrm>
            <a:off x="2940509" y="2957178"/>
            <a:ext cx="1985963" cy="795338"/>
          </a:xfrm>
          <a:prstGeom prst="roundRect">
            <a:avLst>
              <a:gd name="adj" fmla="val 11015"/>
            </a:avLst>
          </a:prstGeom>
          <a:solidFill>
            <a:srgbClr val="FFFFFF"/>
          </a:solidFill>
          <a:ln w="4763">
            <a:solidFill>
              <a:srgbClr val="142731">
                <a:alpha val="10196"/>
              </a:srgbClr>
            </a:solidFill>
            <a:prstDash val="solid"/>
          </a:ln>
        </p:spPr>
      </p:sp>
      <p:sp>
        <p:nvSpPr>
          <p:cNvPr id="21" name="Text 19"/>
          <p:cNvSpPr/>
          <p:nvPr/>
        </p:nvSpPr>
        <p:spPr>
          <a:xfrm>
            <a:off x="3054809" y="3053879"/>
            <a:ext cx="1757363" cy="138113"/>
          </a:xfrm>
          <a:prstGeom prst="rect">
            <a:avLst/>
          </a:prstGeom>
          <a:ln/>
        </p:spPr>
        <p:txBody>
          <a:bodyPr wrap="square" lIns="0" tIns="0" rIns="0" bIns="0" rtlCol="0" anchor="ctr"/>
          <a:lstStyle/>
          <a:p>
            <a:pPr algn="l" indent="0" marL="0">
              <a:lnSpc>
                <a:spcPts val="918"/>
              </a:lnSpc>
              <a:buNone/>
            </a:pPr>
            <a:r>
              <a:rPr lang="en-US" sz="600" b="1" dirty="0">
                <a:solidFill>
                  <a:srgbClr val="A24A1A"/>
                </a:solidFill>
                <a:highlight>
                  <a:srgbClr val="FFE5D6"/>
                </a:highlight>
                <a:latin typeface="Inter" pitchFamily="34" charset="0"/>
                <a:ea typeface="Inter" pitchFamily="34" charset="-122"/>
                <a:cs typeface="Inter" pitchFamily="34" charset="-120"/>
              </a:rPr>
              <a:t>Drama · EYFS</a:t>
            </a:r>
            <a:pPr algn="l" indent="0" marL="0">
              <a:lnSpc>
                <a:spcPts val="918"/>
              </a:lnSpc>
              <a:buNone/>
            </a:pPr>
            <a:r>
              <a:rPr lang="en-US" sz="600" dirty="0">
                <a:solidFill>
                  <a:srgbClr val="6B7D80"/>
                </a:solidFill>
                <a:latin typeface="Inter" pitchFamily="34" charset="0"/>
                <a:ea typeface="Inter" pitchFamily="34" charset="-122"/>
                <a:cs typeface="Inter" pitchFamily="34" charset="-120"/>
              </a:rPr>
              <a:t>20 min</a:t>
            </a:r>
            <a:endParaRPr lang="en-US" sz="600" dirty="0"/>
          </a:p>
        </p:txBody>
      </p:sp>
      <p:sp>
        <p:nvSpPr>
          <p:cNvPr id="22" name="Text 20"/>
          <p:cNvSpPr/>
          <p:nvPr/>
        </p:nvSpPr>
        <p:spPr>
          <a:xfrm>
            <a:off x="3054809" y="3242890"/>
            <a:ext cx="1757363" cy="142875"/>
          </a:xfrm>
          <a:prstGeom prst="rect">
            <a:avLst/>
          </a:prstGeom>
          <a:ln/>
        </p:spPr>
        <p:txBody>
          <a:bodyPr wrap="square" lIns="0" tIns="0" rIns="0" bIns="0" rtlCol="0" anchor="t"/>
          <a:lstStyle/>
          <a:p>
            <a:pPr algn="l" indent="0" marL="0">
              <a:lnSpc>
                <a:spcPts val="1125"/>
              </a:lnSpc>
              <a:buNone/>
            </a:pPr>
            <a:r>
              <a:rPr lang="en-US" sz="900" b="1" dirty="0">
                <a:solidFill>
                  <a:srgbClr val="0F2A2E"/>
                </a:solidFill>
                <a:latin typeface="Inter" pitchFamily="34" charset="0"/>
                <a:ea typeface="Inter" pitchFamily="34" charset="-122"/>
                <a:cs typeface="Inter" pitchFamily="34" charset="-120"/>
              </a:rPr>
              <a:t>Animal walks circle game</a:t>
            </a:r>
            <a:endParaRPr lang="en-US" sz="900" dirty="0"/>
          </a:p>
        </p:txBody>
      </p:sp>
      <p:sp>
        <p:nvSpPr>
          <p:cNvPr id="23" name="Text 21"/>
          <p:cNvSpPr/>
          <p:nvPr/>
        </p:nvSpPr>
        <p:spPr>
          <a:xfrm>
            <a:off x="3054809" y="3416871"/>
            <a:ext cx="1757363" cy="238125"/>
          </a:xfrm>
          <a:prstGeom prst="rect">
            <a:avLst/>
          </a:prstGeom>
          <a:ln/>
        </p:spPr>
        <p:txBody>
          <a:bodyPr wrap="square" lIns="0" tIns="0" rIns="0" bIns="0" rtlCol="0" anchor="t"/>
          <a:lstStyle/>
          <a:p>
            <a:pPr algn="l" indent="0" marL="0">
              <a:lnSpc>
                <a:spcPts val="940"/>
              </a:lnSpc>
              <a:spcBef>
                <a:spcPts val="243"/>
              </a:spcBef>
              <a:buNone/>
            </a:pPr>
            <a:r>
              <a:rPr lang="en-US" sz="600" dirty="0">
                <a:solidFill>
                  <a:srgbClr val="6B7D80"/>
                </a:solidFill>
                <a:latin typeface="Inter" pitchFamily="34" charset="0"/>
                <a:ea typeface="Inter" pitchFamily="34" charset="-122"/>
                <a:cs typeface="Inter" pitchFamily="34" charset="-120"/>
              </a:rPr>
              <a:t>Pretend movement and partner observation in a circle.</a:t>
            </a:r>
            <a:endParaRPr lang="en-US" sz="600" dirty="0"/>
          </a:p>
        </p:txBody>
      </p:sp>
      <p:sp>
        <p:nvSpPr>
          <p:cNvPr id="24" name="Text 22"/>
          <p:cNvSpPr/>
          <p:nvPr/>
        </p:nvSpPr>
        <p:spPr>
          <a:xfrm>
            <a:off x="5360677" y="967122"/>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02</a:t>
            </a:r>
            <a:endParaRPr lang="en-US" sz="700" dirty="0"/>
          </a:p>
        </p:txBody>
      </p:sp>
      <p:sp>
        <p:nvSpPr>
          <p:cNvPr id="25" name="Text 23"/>
          <p:cNvSpPr/>
          <p:nvPr/>
        </p:nvSpPr>
        <p:spPr>
          <a:xfrm>
            <a:off x="5360677" y="1206401"/>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Every good lesson, kept.</a:t>
            </a:r>
            <a:endParaRPr lang="en-US" sz="3000" dirty="0"/>
          </a:p>
        </p:txBody>
      </p:sp>
      <p:sp>
        <p:nvSpPr>
          <p:cNvPr id="26" name="Text 24"/>
          <p:cNvSpPr/>
          <p:nvPr/>
        </p:nvSpPr>
        <p:spPr>
          <a:xfrm>
            <a:off x="5360677" y="2145357"/>
            <a:ext cx="3143250" cy="1247775"/>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A searchable library of lessons your team builds together — and that grows beyond your team, with contributions from outreach teams, training providers and arts partners across the sector. Tag by year group, unit and objective. Open the right one when you need it.</a:t>
            </a:r>
            <a:endParaRPr lang="en-US" sz="1000" dirty="0"/>
          </a:p>
        </p:txBody>
      </p:sp>
      <p:sp>
        <p:nvSpPr>
          <p:cNvPr id="27" name="Shape 25"/>
          <p:cNvSpPr/>
          <p:nvPr/>
        </p:nvSpPr>
        <p:spPr>
          <a:xfrm>
            <a:off x="5361608" y="3599222"/>
            <a:ext cx="1524000" cy="576262"/>
          </a:xfrm>
          <a:prstGeom prst="roundRect">
            <a:avLst>
              <a:gd name="adj" fmla="val 20982"/>
            </a:avLst>
          </a:prstGeom>
          <a:solidFill>
            <a:srgbClr val="FFFFFF"/>
          </a:solidFill>
          <a:ln w="4763">
            <a:solidFill>
              <a:srgbClr val="142731">
                <a:alpha val="10196"/>
              </a:srgbClr>
            </a:solidFill>
            <a:prstDash val="solid"/>
          </a:ln>
        </p:spPr>
      </p:sp>
      <p:sp>
        <p:nvSpPr>
          <p:cNvPr id="28" name="Text 26"/>
          <p:cNvSpPr/>
          <p:nvPr/>
        </p:nvSpPr>
        <p:spPr>
          <a:xfrm>
            <a:off x="5475908" y="3696407"/>
            <a:ext cx="1295400" cy="219075"/>
          </a:xfrm>
          <a:prstGeom prst="rect">
            <a:avLst/>
          </a:prstGeom>
          <a:ln/>
        </p:spPr>
        <p:txBody>
          <a:bodyPr wrap="square" lIns="0" tIns="0" rIns="0" bIns="0" rtlCol="0" anchor="t"/>
          <a:lstStyle/>
          <a:p>
            <a:pPr algn="l" indent="0" marL="0">
              <a:lnSpc>
                <a:spcPts val="1728"/>
              </a:lnSpc>
              <a:buNone/>
            </a:pPr>
            <a:r>
              <a:rPr lang="en-US" sz="1700" b="1" dirty="0">
                <a:solidFill>
                  <a:srgbClr val="008272"/>
                </a:solidFill>
                <a:latin typeface="Inter" pitchFamily="34" charset="0"/>
                <a:ea typeface="Inter" pitchFamily="34" charset="-122"/>
                <a:cs typeface="Inter" pitchFamily="34" charset="-120"/>
              </a:rPr>
              <a:t>200+</a:t>
            </a:r>
            <a:endParaRPr lang="en-US" sz="1700" dirty="0"/>
          </a:p>
        </p:txBody>
      </p:sp>
      <p:sp>
        <p:nvSpPr>
          <p:cNvPr id="29" name="Text 27"/>
          <p:cNvSpPr/>
          <p:nvPr/>
        </p:nvSpPr>
        <p:spPr>
          <a:xfrm>
            <a:off x="5475908" y="3940857"/>
            <a:ext cx="1295400" cy="138113"/>
          </a:xfrm>
          <a:prstGeom prst="rect">
            <a:avLst/>
          </a:prstGeom>
          <a:ln/>
        </p:spPr>
        <p:txBody>
          <a:bodyPr wrap="square" lIns="0" tIns="0" rIns="0" bIns="0" rtlCol="0" anchor="t"/>
          <a:lstStyle/>
          <a:p>
            <a:pPr algn="l" indent="0" marL="0">
              <a:lnSpc>
                <a:spcPts val="1080"/>
              </a:lnSpc>
              <a:spcBef>
                <a:spcPts val="203"/>
              </a:spcBef>
              <a:buNone/>
            </a:pPr>
            <a:r>
              <a:rPr lang="en-US" sz="700" dirty="0">
                <a:solidFill>
                  <a:srgbClr val="6B7D80"/>
                </a:solidFill>
                <a:latin typeface="Inter" pitchFamily="34" charset="0"/>
                <a:ea typeface="Inter" pitchFamily="34" charset="-122"/>
                <a:cs typeface="Inter" pitchFamily="34" charset="-120"/>
              </a:rPr>
              <a:t>starter lessons included</a:t>
            </a:r>
            <a:endParaRPr lang="en-US" sz="700" dirty="0"/>
          </a:p>
        </p:txBody>
      </p:sp>
      <p:sp>
        <p:nvSpPr>
          <p:cNvPr id="30" name="Shape 28"/>
          <p:cNvSpPr/>
          <p:nvPr/>
        </p:nvSpPr>
        <p:spPr>
          <a:xfrm>
            <a:off x="6978960" y="3599222"/>
            <a:ext cx="1524000" cy="576262"/>
          </a:xfrm>
          <a:prstGeom prst="roundRect">
            <a:avLst>
              <a:gd name="adj" fmla="val 20982"/>
            </a:avLst>
          </a:prstGeom>
          <a:solidFill>
            <a:srgbClr val="FFFFFF"/>
          </a:solidFill>
          <a:ln w="4763">
            <a:solidFill>
              <a:srgbClr val="142731">
                <a:alpha val="10196"/>
              </a:srgbClr>
            </a:solidFill>
            <a:prstDash val="solid"/>
          </a:ln>
        </p:spPr>
      </p:sp>
      <p:sp>
        <p:nvSpPr>
          <p:cNvPr id="31" name="Text 29"/>
          <p:cNvSpPr/>
          <p:nvPr/>
        </p:nvSpPr>
        <p:spPr>
          <a:xfrm>
            <a:off x="7093260" y="3696407"/>
            <a:ext cx="1295400" cy="219075"/>
          </a:xfrm>
          <a:prstGeom prst="rect">
            <a:avLst/>
          </a:prstGeom>
          <a:ln/>
        </p:spPr>
        <p:txBody>
          <a:bodyPr wrap="square" lIns="0" tIns="0" rIns="0" bIns="0" rtlCol="0" anchor="t"/>
          <a:lstStyle/>
          <a:p>
            <a:pPr algn="l" indent="0" marL="0">
              <a:lnSpc>
                <a:spcPts val="1728"/>
              </a:lnSpc>
              <a:buNone/>
            </a:pPr>
            <a:r>
              <a:rPr lang="en-US" sz="1700" b="1" dirty="0">
                <a:solidFill>
                  <a:srgbClr val="FF6B6B"/>
                </a:solidFill>
                <a:latin typeface="Inter" pitchFamily="34" charset="0"/>
                <a:ea typeface="Inter" pitchFamily="34" charset="-122"/>
                <a:cs typeface="Inter" pitchFamily="34" charset="-120"/>
              </a:rPr>
              <a:t>1-click</a:t>
            </a:r>
            <a:endParaRPr lang="en-US" sz="1700" dirty="0"/>
          </a:p>
        </p:txBody>
      </p:sp>
      <p:sp>
        <p:nvSpPr>
          <p:cNvPr id="32" name="Text 30"/>
          <p:cNvSpPr/>
          <p:nvPr/>
        </p:nvSpPr>
        <p:spPr>
          <a:xfrm>
            <a:off x="7093260" y="3940857"/>
            <a:ext cx="1295400" cy="138113"/>
          </a:xfrm>
          <a:prstGeom prst="rect">
            <a:avLst/>
          </a:prstGeom>
          <a:ln/>
        </p:spPr>
        <p:txBody>
          <a:bodyPr wrap="square" lIns="0" tIns="0" rIns="0" bIns="0" rtlCol="0" anchor="t"/>
          <a:lstStyle/>
          <a:p>
            <a:pPr algn="l" indent="0" marL="0">
              <a:lnSpc>
                <a:spcPts val="1080"/>
              </a:lnSpc>
              <a:spcBef>
                <a:spcPts val="203"/>
              </a:spcBef>
              <a:buNone/>
            </a:pPr>
            <a:r>
              <a:rPr lang="en-US" sz="700" dirty="0">
                <a:solidFill>
                  <a:srgbClr val="6B7D80"/>
                </a:solidFill>
                <a:latin typeface="Inter" pitchFamily="34" charset="0"/>
                <a:ea typeface="Inter" pitchFamily="34" charset="-122"/>
                <a:cs typeface="Inter" pitchFamily="34" charset="-120"/>
              </a:rPr>
              <a:t>duplicate, edit, share</a:t>
            </a:r>
            <a:endParaRPr lang="en-US" sz="700" dirty="0"/>
          </a:p>
        </p:txBody>
      </p:sp>
      <p:pic>
        <p:nvPicPr>
          <p:cNvPr id="33"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925971"/>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03</a:t>
            </a:r>
            <a:endParaRPr lang="en-US" sz="700" dirty="0"/>
          </a:p>
        </p:txBody>
      </p:sp>
      <p:sp>
        <p:nvSpPr>
          <p:cNvPr id="4" name="Text 2"/>
          <p:cNvSpPr/>
          <p:nvPr/>
        </p:nvSpPr>
        <p:spPr>
          <a:xfrm>
            <a:off x="640035" y="1165250"/>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Stack activities like Lego.</a:t>
            </a:r>
            <a:endParaRPr lang="en-US" sz="3000" dirty="0"/>
          </a:p>
        </p:txBody>
      </p:sp>
      <p:sp>
        <p:nvSpPr>
          <p:cNvPr id="5" name="Text 3"/>
          <p:cNvSpPr/>
          <p:nvPr/>
        </p:nvSpPr>
        <p:spPr>
          <a:xfrm>
            <a:off x="640035" y="2104988"/>
            <a:ext cx="3143250" cy="1038225"/>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Group your favourite warm-ups, mains and plenaries into reusable stacks. Drop a whole stack into any lesson and adapt as you go — so brilliant practice survives the end of a project, a funding cycle, or a school year.</a:t>
            </a:r>
            <a:endParaRPr lang="en-US" sz="1000" dirty="0"/>
          </a:p>
        </p:txBody>
      </p:sp>
      <p:sp>
        <p:nvSpPr>
          <p:cNvPr id="6" name="Text 4"/>
          <p:cNvSpPr/>
          <p:nvPr/>
        </p:nvSpPr>
        <p:spPr>
          <a:xfrm>
            <a:off x="639812" y="3349526"/>
            <a:ext cx="238125" cy="238125"/>
          </a:xfrm>
          <a:prstGeom prst="roundRect">
            <a:avLst>
              <a:gd name="adj" fmla="val 23040"/>
            </a:avLst>
          </a:prstGeom>
          <a:solidFill>
            <a:srgbClr val="FF6B6B">
              <a:alpha val="14902"/>
            </a:srgbClr>
          </a:solidFill>
          <a:ln/>
        </p:spPr>
        <p:txBody>
          <a:bodyPr wrap="square" lIns="0" tIns="0" rIns="0" bIns="0" rtlCol="0" anchor="ctr"/>
          <a:lstStyle/>
          <a:p>
            <a:pPr algn="ctr" indent="0" marL="0">
              <a:lnSpc>
                <a:spcPts val="1404"/>
              </a:lnSpc>
              <a:buNone/>
            </a:pPr>
            <a:r>
              <a:rPr lang="en-US" sz="900" b="1" dirty="0">
                <a:solidFill>
                  <a:srgbClr val="FF5252"/>
                </a:solidFill>
                <a:latin typeface="Inter" pitchFamily="34" charset="0"/>
                <a:ea typeface="Inter" pitchFamily="34" charset="-122"/>
                <a:cs typeface="Inter" pitchFamily="34" charset="-120"/>
              </a:rPr>
              <a:t>A</a:t>
            </a:r>
            <a:endParaRPr lang="en-US" sz="900" dirty="0"/>
          </a:p>
        </p:txBody>
      </p:sp>
      <p:sp>
        <p:nvSpPr>
          <p:cNvPr id="7" name="Text 5"/>
          <p:cNvSpPr/>
          <p:nvPr/>
        </p:nvSpPr>
        <p:spPr>
          <a:xfrm>
            <a:off x="970173" y="3385245"/>
            <a:ext cx="1323975" cy="166688"/>
          </a:xfrm>
          <a:prstGeom prst="rect">
            <a:avLst/>
          </a:prstGeom>
          <a:ln/>
        </p:spPr>
        <p:txBody>
          <a:bodyPr wrap="square" lIns="0" tIns="0" rIns="0" bIns="0" rtlCol="0" anchor="t"/>
          <a:lstStyle/>
          <a:p>
            <a:pPr algn="l" indent="0" marL="0">
              <a:lnSpc>
                <a:spcPts val="1296"/>
              </a:lnSpc>
              <a:buNone/>
            </a:pPr>
            <a:r>
              <a:rPr lang="en-US" sz="800" dirty="0">
                <a:solidFill>
                  <a:srgbClr val="0F2A2E"/>
                </a:solidFill>
                <a:latin typeface="Inter" pitchFamily="34" charset="0"/>
                <a:ea typeface="Inter" pitchFamily="34" charset="-122"/>
                <a:cs typeface="Inter" pitchFamily="34" charset="-120"/>
              </a:rPr>
              <a:t>Build once, reuse all year.</a:t>
            </a:r>
            <a:endParaRPr lang="en-US" sz="800" dirty="0"/>
          </a:p>
        </p:txBody>
      </p:sp>
      <p:sp>
        <p:nvSpPr>
          <p:cNvPr id="8" name="Text 6"/>
          <p:cNvSpPr/>
          <p:nvPr/>
        </p:nvSpPr>
        <p:spPr>
          <a:xfrm>
            <a:off x="639812" y="3664297"/>
            <a:ext cx="238125" cy="238125"/>
          </a:xfrm>
          <a:prstGeom prst="roundRect">
            <a:avLst>
              <a:gd name="adj" fmla="val 23040"/>
            </a:avLst>
          </a:prstGeom>
          <a:solidFill>
            <a:srgbClr val="14B5A8">
              <a:alpha val="14902"/>
            </a:srgbClr>
          </a:solidFill>
          <a:ln/>
        </p:spPr>
        <p:txBody>
          <a:bodyPr wrap="square" lIns="0" tIns="0" rIns="0" bIns="0" rtlCol="0" anchor="ctr"/>
          <a:lstStyle/>
          <a:p>
            <a:pPr algn="ctr" indent="0" marL="0">
              <a:lnSpc>
                <a:spcPts val="1404"/>
              </a:lnSpc>
              <a:buNone/>
            </a:pPr>
            <a:r>
              <a:rPr lang="en-US" sz="900" b="1" dirty="0">
                <a:solidFill>
                  <a:srgbClr val="008272"/>
                </a:solidFill>
                <a:latin typeface="Inter" pitchFamily="34" charset="0"/>
                <a:ea typeface="Inter" pitchFamily="34" charset="-122"/>
                <a:cs typeface="Inter" pitchFamily="34" charset="-120"/>
              </a:rPr>
              <a:t>B</a:t>
            </a:r>
            <a:endParaRPr lang="en-US" sz="900" dirty="0"/>
          </a:p>
        </p:txBody>
      </p:sp>
      <p:sp>
        <p:nvSpPr>
          <p:cNvPr id="9" name="Text 7"/>
          <p:cNvSpPr/>
          <p:nvPr/>
        </p:nvSpPr>
        <p:spPr>
          <a:xfrm>
            <a:off x="970136" y="3700016"/>
            <a:ext cx="1557338" cy="166688"/>
          </a:xfrm>
          <a:prstGeom prst="rect">
            <a:avLst/>
          </a:prstGeom>
          <a:ln/>
        </p:spPr>
        <p:txBody>
          <a:bodyPr wrap="square" lIns="0" tIns="0" rIns="0" bIns="0" rtlCol="0" anchor="t"/>
          <a:lstStyle/>
          <a:p>
            <a:pPr algn="l" indent="0" marL="0">
              <a:lnSpc>
                <a:spcPts val="1296"/>
              </a:lnSpc>
              <a:buNone/>
            </a:pPr>
            <a:r>
              <a:rPr lang="en-US" sz="800" dirty="0">
                <a:solidFill>
                  <a:srgbClr val="0F2A2E"/>
                </a:solidFill>
                <a:latin typeface="Inter" pitchFamily="34" charset="0"/>
                <a:ea typeface="Inter" pitchFamily="34" charset="-122"/>
                <a:cs typeface="Inter" pitchFamily="34" charset="-120"/>
              </a:rPr>
              <a:t>Share stacks across the team.</a:t>
            </a:r>
            <a:endParaRPr lang="en-US" sz="800" dirty="0"/>
          </a:p>
        </p:txBody>
      </p:sp>
      <p:sp>
        <p:nvSpPr>
          <p:cNvPr id="10" name="Text 8"/>
          <p:cNvSpPr/>
          <p:nvPr/>
        </p:nvSpPr>
        <p:spPr>
          <a:xfrm>
            <a:off x="639812" y="3979069"/>
            <a:ext cx="238125" cy="238125"/>
          </a:xfrm>
          <a:prstGeom prst="roundRect">
            <a:avLst>
              <a:gd name="adj" fmla="val 23040"/>
            </a:avLst>
          </a:prstGeom>
          <a:solidFill>
            <a:srgbClr val="FF6B6B">
              <a:alpha val="14902"/>
            </a:srgbClr>
          </a:solidFill>
          <a:ln/>
        </p:spPr>
        <p:txBody>
          <a:bodyPr wrap="square" lIns="0" tIns="0" rIns="0" bIns="0" rtlCol="0" anchor="ctr"/>
          <a:lstStyle/>
          <a:p>
            <a:pPr algn="ctr" indent="0" marL="0">
              <a:lnSpc>
                <a:spcPts val="1404"/>
              </a:lnSpc>
              <a:buNone/>
            </a:pPr>
            <a:r>
              <a:rPr lang="en-US" sz="900" b="1" dirty="0">
                <a:solidFill>
                  <a:srgbClr val="FF5252"/>
                </a:solidFill>
                <a:latin typeface="Inter" pitchFamily="34" charset="0"/>
                <a:ea typeface="Inter" pitchFamily="34" charset="-122"/>
                <a:cs typeface="Inter" pitchFamily="34" charset="-120"/>
              </a:rPr>
              <a:t>C</a:t>
            </a:r>
            <a:endParaRPr lang="en-US" sz="900" dirty="0"/>
          </a:p>
        </p:txBody>
      </p:sp>
      <p:sp>
        <p:nvSpPr>
          <p:cNvPr id="11" name="Text 9"/>
          <p:cNvSpPr/>
          <p:nvPr/>
        </p:nvSpPr>
        <p:spPr>
          <a:xfrm>
            <a:off x="970211" y="4014788"/>
            <a:ext cx="1600200" cy="166688"/>
          </a:xfrm>
          <a:prstGeom prst="rect">
            <a:avLst/>
          </a:prstGeom>
          <a:ln/>
        </p:spPr>
        <p:txBody>
          <a:bodyPr wrap="square" lIns="0" tIns="0" rIns="0" bIns="0" rtlCol="0" anchor="t"/>
          <a:lstStyle/>
          <a:p>
            <a:pPr algn="l" indent="0" marL="0">
              <a:lnSpc>
                <a:spcPts val="1296"/>
              </a:lnSpc>
              <a:buNone/>
            </a:pPr>
            <a:r>
              <a:rPr lang="en-US" sz="800" dirty="0">
                <a:solidFill>
                  <a:srgbClr val="0F2A2E"/>
                </a:solidFill>
                <a:latin typeface="Inter" pitchFamily="34" charset="0"/>
                <a:ea typeface="Inter" pitchFamily="34" charset="-122"/>
                <a:cs typeface="Inter" pitchFamily="34" charset="-120"/>
              </a:rPr>
              <a:t>Drag straight into lesson plans.</a:t>
            </a:r>
            <a:endParaRPr lang="en-US" sz="800" dirty="0"/>
          </a:p>
        </p:txBody>
      </p:sp>
      <p:sp>
        <p:nvSpPr>
          <p:cNvPr id="12" name="Shape 10"/>
          <p:cNvSpPr/>
          <p:nvPr/>
        </p:nvSpPr>
        <p:spPr>
          <a:xfrm>
            <a:off x="4012369" y="1562100"/>
            <a:ext cx="2176462" cy="2019300"/>
          </a:xfrm>
          <a:prstGeom prst="roundRect">
            <a:avLst>
              <a:gd name="adj" fmla="val 2563"/>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13" name="Text 11"/>
          <p:cNvSpPr/>
          <p:nvPr/>
        </p:nvSpPr>
        <p:spPr>
          <a:xfrm>
            <a:off x="4162388" y="1696603"/>
            <a:ext cx="1876425" cy="176212"/>
          </a:xfrm>
          <a:prstGeom prst="rect">
            <a:avLst/>
          </a:prstGeom>
          <a:ln/>
        </p:spPr>
        <p:txBody>
          <a:bodyPr wrap="square" lIns="0" tIns="0" rIns="0" bIns="0" rtlCol="0" anchor="ctr"/>
          <a:lstStyle/>
          <a:p>
            <a:pPr algn="l" indent="0" marL="0">
              <a:lnSpc>
                <a:spcPts val="1404"/>
              </a:lnSpc>
              <a:buNone/>
            </a:pPr>
            <a:r>
              <a:rPr lang="en-US" sz="900" b="1" dirty="0">
                <a:solidFill>
                  <a:srgbClr val="0F2A2E"/>
                </a:solidFill>
                <a:latin typeface="Inter" pitchFamily="34" charset="0"/>
                <a:ea typeface="Inter" pitchFamily="34" charset="-122"/>
                <a:cs typeface="Inter" pitchFamily="34" charset="-120"/>
              </a:rPr>
              <a:t>Drama · Storytelling</a:t>
            </a:r>
            <a:pPr algn="l" indent="0" marL="0">
              <a:lnSpc>
                <a:spcPts val="918"/>
              </a:lnSpc>
              <a:buNone/>
            </a:pPr>
            <a:r>
              <a:rPr lang="en-US" sz="600" b="1" dirty="0">
                <a:solidFill>
                  <a:srgbClr val="A24A1A"/>
                </a:solidFill>
                <a:highlight>
                  <a:srgbClr val="FFE5D6"/>
                </a:highlight>
                <a:latin typeface="Inter" pitchFamily="34" charset="0"/>
                <a:ea typeface="Inter" pitchFamily="34" charset="-122"/>
                <a:cs typeface="Inter" pitchFamily="34" charset="-120"/>
              </a:rPr>
              <a:t>5 items</a:t>
            </a:r>
            <a:endParaRPr lang="en-US" sz="900" dirty="0"/>
          </a:p>
        </p:txBody>
      </p:sp>
      <p:sp>
        <p:nvSpPr>
          <p:cNvPr id="14" name="Text 12"/>
          <p:cNvSpPr/>
          <p:nvPr/>
        </p:nvSpPr>
        <p:spPr>
          <a:xfrm>
            <a:off x="4162388" y="1950504"/>
            <a:ext cx="1876425" cy="257175"/>
          </a:xfrm>
          <a:prstGeom prst="roundRect">
            <a:avLst>
              <a:gd name="adj" fmla="val 21070"/>
            </a:avLst>
          </a:prstGeom>
          <a:solidFill>
            <a:srgbClr val="FFE4D5">
              <a:alpha val="60000"/>
            </a:srgbClr>
          </a:solidFill>
          <a:ln w="4763">
            <a:solidFill>
              <a:srgbClr val="FFAF7A">
                <a:alpha val="40000"/>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Mirror game warm-up</a:t>
            </a:r>
            <a:endParaRPr lang="en-US" sz="700" dirty="0"/>
          </a:p>
        </p:txBody>
      </p:sp>
      <p:sp>
        <p:nvSpPr>
          <p:cNvPr id="15" name="Text 13"/>
          <p:cNvSpPr/>
          <p:nvPr/>
        </p:nvSpPr>
        <p:spPr>
          <a:xfrm>
            <a:off x="4162388" y="2258281"/>
            <a:ext cx="1876425" cy="257175"/>
          </a:xfrm>
          <a:prstGeom prst="roundRect">
            <a:avLst>
              <a:gd name="adj" fmla="val 21070"/>
            </a:avLst>
          </a:prstGeom>
          <a:solidFill>
            <a:srgbClr val="FFE4D5">
              <a:alpha val="60000"/>
            </a:srgbClr>
          </a:solidFill>
          <a:ln w="4763">
            <a:solidFill>
              <a:srgbClr val="FFAF7A">
                <a:alpha val="40000"/>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Story circle &amp; offers</a:t>
            </a:r>
            <a:endParaRPr lang="en-US" sz="700" dirty="0"/>
          </a:p>
        </p:txBody>
      </p:sp>
      <p:sp>
        <p:nvSpPr>
          <p:cNvPr id="16" name="Text 14"/>
          <p:cNvSpPr/>
          <p:nvPr/>
        </p:nvSpPr>
        <p:spPr>
          <a:xfrm>
            <a:off x="4162388" y="2566057"/>
            <a:ext cx="1876425" cy="257175"/>
          </a:xfrm>
          <a:prstGeom prst="roundRect">
            <a:avLst>
              <a:gd name="adj" fmla="val 21070"/>
            </a:avLst>
          </a:prstGeom>
          <a:solidFill>
            <a:srgbClr val="FFE4D5">
              <a:alpha val="60000"/>
            </a:srgbClr>
          </a:solidFill>
          <a:ln w="4763">
            <a:solidFill>
              <a:srgbClr val="FFAF7A">
                <a:alpha val="40000"/>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Character hot-seating</a:t>
            </a:r>
            <a:endParaRPr lang="en-US" sz="700" dirty="0"/>
          </a:p>
        </p:txBody>
      </p:sp>
      <p:sp>
        <p:nvSpPr>
          <p:cNvPr id="17" name="Text 15"/>
          <p:cNvSpPr/>
          <p:nvPr/>
        </p:nvSpPr>
        <p:spPr>
          <a:xfrm>
            <a:off x="4162388" y="2873834"/>
            <a:ext cx="1876425" cy="257175"/>
          </a:xfrm>
          <a:prstGeom prst="roundRect">
            <a:avLst>
              <a:gd name="adj" fmla="val 21070"/>
            </a:avLst>
          </a:prstGeom>
          <a:solidFill>
            <a:srgbClr val="FFE4D5">
              <a:alpha val="60000"/>
            </a:srgbClr>
          </a:solidFill>
          <a:ln w="4763">
            <a:solidFill>
              <a:srgbClr val="FFAF7A">
                <a:alpha val="40000"/>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Freeze-frame moments</a:t>
            </a:r>
            <a:endParaRPr lang="en-US" sz="700" dirty="0"/>
          </a:p>
        </p:txBody>
      </p:sp>
      <p:sp>
        <p:nvSpPr>
          <p:cNvPr id="18" name="Text 16"/>
          <p:cNvSpPr/>
          <p:nvPr/>
        </p:nvSpPr>
        <p:spPr>
          <a:xfrm>
            <a:off x="4162388" y="3181610"/>
            <a:ext cx="1876425" cy="257175"/>
          </a:xfrm>
          <a:prstGeom prst="roundRect">
            <a:avLst>
              <a:gd name="adj" fmla="val 21070"/>
            </a:avLst>
          </a:prstGeom>
          <a:solidFill>
            <a:srgbClr val="FFE4D5">
              <a:alpha val="60000"/>
            </a:srgbClr>
          </a:solidFill>
          <a:ln w="4763">
            <a:solidFill>
              <a:srgbClr val="FFAF7A">
                <a:alpha val="40000"/>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Audience feedback circle</a:t>
            </a:r>
            <a:endParaRPr lang="en-US" sz="700" dirty="0"/>
          </a:p>
        </p:txBody>
      </p:sp>
      <p:sp>
        <p:nvSpPr>
          <p:cNvPr id="19" name="Shape 17"/>
          <p:cNvSpPr/>
          <p:nvPr/>
        </p:nvSpPr>
        <p:spPr>
          <a:xfrm>
            <a:off x="6326981" y="1562100"/>
            <a:ext cx="2176462" cy="2019300"/>
          </a:xfrm>
          <a:prstGeom prst="roundRect">
            <a:avLst>
              <a:gd name="adj" fmla="val 2563"/>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20" name="Text 18"/>
          <p:cNvSpPr/>
          <p:nvPr/>
        </p:nvSpPr>
        <p:spPr>
          <a:xfrm>
            <a:off x="6477000" y="1696603"/>
            <a:ext cx="1876425" cy="176212"/>
          </a:xfrm>
          <a:prstGeom prst="rect">
            <a:avLst/>
          </a:prstGeom>
          <a:ln/>
        </p:spPr>
        <p:txBody>
          <a:bodyPr wrap="square" lIns="0" tIns="0" rIns="0" bIns="0" rtlCol="0" anchor="ctr"/>
          <a:lstStyle/>
          <a:p>
            <a:pPr algn="l" indent="0" marL="0">
              <a:lnSpc>
                <a:spcPts val="1404"/>
              </a:lnSpc>
              <a:buNone/>
            </a:pPr>
            <a:r>
              <a:rPr lang="en-US" sz="900" b="1" dirty="0">
                <a:solidFill>
                  <a:srgbClr val="0F2A2E"/>
                </a:solidFill>
                <a:latin typeface="Inter" pitchFamily="34" charset="0"/>
                <a:ea typeface="Inter" pitchFamily="34" charset="-122"/>
                <a:cs typeface="Inter" pitchFamily="34" charset="-120"/>
              </a:rPr>
              <a:t>Music · Rhythm &amp; voice</a:t>
            </a:r>
            <a:pPr algn="l" indent="0" marL="0">
              <a:lnSpc>
                <a:spcPts val="918"/>
              </a:lnSpc>
              <a:buNone/>
            </a:pPr>
            <a:r>
              <a:rPr lang="en-US" sz="600" b="1" dirty="0">
                <a:solidFill>
                  <a:srgbClr val="0A4A66"/>
                </a:solidFill>
                <a:highlight>
                  <a:srgbClr val="D6E8F2"/>
                </a:highlight>
                <a:latin typeface="Inter" pitchFamily="34" charset="0"/>
                <a:ea typeface="Inter" pitchFamily="34" charset="-122"/>
                <a:cs typeface="Inter" pitchFamily="34" charset="-120"/>
              </a:rPr>
              <a:t>4 items</a:t>
            </a:r>
            <a:endParaRPr lang="en-US" sz="900" dirty="0"/>
          </a:p>
        </p:txBody>
      </p:sp>
      <p:sp>
        <p:nvSpPr>
          <p:cNvPr id="21" name="Text 19"/>
          <p:cNvSpPr/>
          <p:nvPr/>
        </p:nvSpPr>
        <p:spPr>
          <a:xfrm>
            <a:off x="6477000" y="1950504"/>
            <a:ext cx="1876425" cy="257175"/>
          </a:xfrm>
          <a:prstGeom prst="roundRect">
            <a:avLst>
              <a:gd name="adj" fmla="val 21070"/>
            </a:avLst>
          </a:prstGeom>
          <a:solidFill>
            <a:srgbClr val="D5E8F2">
              <a:alpha val="60000"/>
            </a:srgbClr>
          </a:solidFill>
          <a:ln w="4763">
            <a:solidFill>
              <a:srgbClr val="0DA6D4">
                <a:alpha val="30196"/>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Body-percussion warm-up</a:t>
            </a:r>
            <a:endParaRPr lang="en-US" sz="700" dirty="0"/>
          </a:p>
        </p:txBody>
      </p:sp>
      <p:sp>
        <p:nvSpPr>
          <p:cNvPr id="22" name="Text 20"/>
          <p:cNvSpPr/>
          <p:nvPr/>
        </p:nvSpPr>
        <p:spPr>
          <a:xfrm>
            <a:off x="6477000" y="2258281"/>
            <a:ext cx="1876425" cy="257175"/>
          </a:xfrm>
          <a:prstGeom prst="roundRect">
            <a:avLst>
              <a:gd name="adj" fmla="val 21070"/>
            </a:avLst>
          </a:prstGeom>
          <a:solidFill>
            <a:srgbClr val="D5E8F2">
              <a:alpha val="60000"/>
            </a:srgbClr>
          </a:solidFill>
          <a:ln w="4763">
            <a:solidFill>
              <a:srgbClr val="0DA6D4">
                <a:alpha val="30196"/>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Active listening: West Africa</a:t>
            </a:r>
            <a:endParaRPr lang="en-US" sz="700" dirty="0"/>
          </a:p>
        </p:txBody>
      </p:sp>
      <p:sp>
        <p:nvSpPr>
          <p:cNvPr id="23" name="Text 21"/>
          <p:cNvSpPr/>
          <p:nvPr/>
        </p:nvSpPr>
        <p:spPr>
          <a:xfrm>
            <a:off x="6477000" y="2566057"/>
            <a:ext cx="1876425" cy="257175"/>
          </a:xfrm>
          <a:prstGeom prst="roundRect">
            <a:avLst>
              <a:gd name="adj" fmla="val 21070"/>
            </a:avLst>
          </a:prstGeom>
          <a:solidFill>
            <a:srgbClr val="D5E8F2">
              <a:alpha val="60000"/>
            </a:srgbClr>
          </a:solidFill>
          <a:ln w="4763">
            <a:solidFill>
              <a:srgbClr val="0DA6D4">
                <a:alpha val="30196"/>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Call-and-response clapping</a:t>
            </a:r>
            <a:endParaRPr lang="en-US" sz="700" dirty="0"/>
          </a:p>
        </p:txBody>
      </p:sp>
      <p:sp>
        <p:nvSpPr>
          <p:cNvPr id="24" name="Text 22"/>
          <p:cNvSpPr/>
          <p:nvPr/>
        </p:nvSpPr>
        <p:spPr>
          <a:xfrm>
            <a:off x="6477000" y="2873834"/>
            <a:ext cx="1876425" cy="257175"/>
          </a:xfrm>
          <a:prstGeom prst="roundRect">
            <a:avLst>
              <a:gd name="adj" fmla="val 21070"/>
            </a:avLst>
          </a:prstGeom>
          <a:solidFill>
            <a:srgbClr val="D5E8F2">
              <a:alpha val="60000"/>
            </a:srgbClr>
          </a:solidFill>
          <a:ln w="4763">
            <a:solidFill>
              <a:srgbClr val="0DA6D4">
                <a:alpha val="30196"/>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Sing &amp; sign reflection</a:t>
            </a:r>
            <a:endParaRPr lang="en-US" sz="700" dirty="0"/>
          </a:p>
        </p:txBody>
      </p:sp>
      <p:sp>
        <p:nvSpPr>
          <p:cNvPr id="25" name="Text 23"/>
          <p:cNvSpPr/>
          <p:nvPr/>
        </p:nvSpPr>
        <p:spPr>
          <a:xfrm>
            <a:off x="6477000" y="3181610"/>
            <a:ext cx="1876425" cy="266700"/>
          </a:xfrm>
          <a:prstGeom prst="roundRect">
            <a:avLst>
              <a:gd name="adj" fmla="val 19592"/>
            </a:avLst>
          </a:prstGeom>
          <a:ln w="9525">
            <a:solidFill>
              <a:srgbClr val="0F282D">
                <a:alpha val="20000"/>
              </a:srgbClr>
            </a:solidFill>
            <a:prstDash val="dash"/>
          </a:ln>
        </p:spPr>
        <p:txBody>
          <a:bodyPr wrap="square" lIns="0" tIns="0" rIns="0" bIns="0" rtlCol="0" anchor="t"/>
          <a:lstStyle/>
          <a:p>
            <a:pPr algn="ctr" indent="0" marL="0">
              <a:lnSpc>
                <a:spcPts val="1134"/>
              </a:lnSpc>
              <a:buNone/>
            </a:pPr>
            <a:r>
              <a:rPr lang="en-US" sz="700" dirty="0">
                <a:solidFill>
                  <a:srgbClr val="6B7D80"/>
                </a:solidFill>
                <a:latin typeface="Inter" pitchFamily="34" charset="0"/>
                <a:ea typeface="Inter" pitchFamily="34" charset="-122"/>
                <a:cs typeface="Inter" pitchFamily="34" charset="-120"/>
              </a:rPr>
              <a:t>Drop activity here</a:t>
            </a:r>
            <a:endParaRPr lang="en-US" sz="700" dirty="0"/>
          </a:p>
        </p:txBody>
      </p:sp>
      <p:pic>
        <p:nvPicPr>
          <p:cNvPr id="26"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1112379"/>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04</a:t>
            </a:r>
            <a:endParaRPr lang="en-US" sz="700" dirty="0"/>
          </a:p>
        </p:txBody>
      </p:sp>
      <p:sp>
        <p:nvSpPr>
          <p:cNvPr id="4" name="Text 2"/>
          <p:cNvSpPr/>
          <p:nvPr/>
        </p:nvSpPr>
        <p:spPr>
          <a:xfrm>
            <a:off x="640035" y="1351657"/>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Every resource, one tap away.</a:t>
            </a:r>
            <a:endParaRPr lang="en-US" sz="3000" dirty="0"/>
          </a:p>
        </p:txBody>
      </p:sp>
      <p:sp>
        <p:nvSpPr>
          <p:cNvPr id="5" name="Text 3"/>
          <p:cNvSpPr/>
          <p:nvPr/>
        </p:nvSpPr>
        <p:spPr>
          <a:xfrm>
            <a:off x="640035" y="2291581"/>
            <a:ext cx="3143250" cy="800100"/>
          </a:xfrm>
          <a:prstGeom prst="rect">
            <a:avLst/>
          </a:prstGeom>
          <a:ln/>
        </p:spPr>
        <p:txBody>
          <a:bodyPr wrap="square" lIns="0" tIns="0" rIns="0" bIns="0" rtlCol="0" anchor="t"/>
          <a:lstStyle/>
          <a:p>
            <a:pPr algn="l" indent="0" marL="0">
              <a:lnSpc>
                <a:spcPts val="1579"/>
              </a:lnSpc>
              <a:spcBef>
                <a:spcPts val="1215"/>
              </a:spcBef>
              <a:buNone/>
            </a:pPr>
            <a:r>
              <a:rPr lang="en-US" sz="900" dirty="0">
                <a:solidFill>
                  <a:srgbClr val="6B7D80"/>
                </a:solidFill>
                <a:latin typeface="Inter" pitchFamily="34" charset="0"/>
                <a:ea typeface="Inter" pitchFamily="34" charset="-122"/>
                <a:cs typeface="Inter" pitchFamily="34" charset="-120"/>
              </a:rPr>
              <a:t>Activity cards carry the things you actually need in the room: a video demo, a backing track, a vocal guide, a worksheet, a web link. Pupils can see them on the smartboard. Teachers click straight through.</a:t>
            </a:r>
            <a:endParaRPr lang="en-US" sz="900" dirty="0"/>
          </a:p>
        </p:txBody>
      </p:sp>
      <p:sp>
        <p:nvSpPr>
          <p:cNvPr id="6" name="Text 4"/>
          <p:cNvSpPr/>
          <p:nvPr/>
        </p:nvSpPr>
        <p:spPr>
          <a:xfrm>
            <a:off x="640035" y="3271986"/>
            <a:ext cx="3143250" cy="152400"/>
          </a:xfrm>
          <a:prstGeom prst="rect">
            <a:avLst/>
          </a:prstGeom>
          <a:ln/>
        </p:spPr>
        <p:txBody>
          <a:bodyPr wrap="square" lIns="0" tIns="0" rIns="0" bIns="0" rtlCol="0" anchor="ctr"/>
          <a:lstStyle/>
          <a:p>
            <a:pPr algn="l" indent="0" marL="0">
              <a:lnSpc>
                <a:spcPts val="972"/>
              </a:lnSpc>
              <a:buNone/>
            </a:pPr>
            <a:r>
              <a:rPr lang="en-US" sz="600" b="1" dirty="0">
                <a:solidFill>
                  <a:srgbClr val="A24A1A"/>
                </a:solidFill>
                <a:highlight>
                  <a:srgbClr val="FFE5D6"/>
                </a:highlight>
                <a:latin typeface="Inter" pitchFamily="34" charset="0"/>
                <a:ea typeface="Inter" pitchFamily="34" charset="-122"/>
                <a:cs typeface="Inter" pitchFamily="34" charset="-120"/>
              </a:rPr>
              <a:t>▶</a:t>
            </a:r>
            <a:pPr algn="l" indent="0" marL="0">
              <a:lnSpc>
                <a:spcPts val="1188"/>
              </a:lnSpc>
              <a:buNone/>
            </a:pPr>
            <a:r>
              <a:rPr lang="en-US" sz="700" dirty="0">
                <a:solidFill>
                  <a:srgbClr val="0F2A2E"/>
                </a:solidFill>
                <a:latin typeface="Inter" pitchFamily="34" charset="0"/>
                <a:ea typeface="Inter" pitchFamily="34" charset="-122"/>
                <a:cs typeface="Inter" pitchFamily="34" charset="-120"/>
              </a:rPr>
              <a:t>Video demos &amp; performance clips</a:t>
            </a:r>
            <a:endParaRPr lang="en-US" sz="600" dirty="0"/>
          </a:p>
        </p:txBody>
      </p:sp>
      <p:sp>
        <p:nvSpPr>
          <p:cNvPr id="7" name="Text 5"/>
          <p:cNvSpPr/>
          <p:nvPr/>
        </p:nvSpPr>
        <p:spPr>
          <a:xfrm>
            <a:off x="640035" y="3474318"/>
            <a:ext cx="3143250" cy="152400"/>
          </a:xfrm>
          <a:prstGeom prst="rect">
            <a:avLst/>
          </a:prstGeom>
          <a:ln/>
        </p:spPr>
        <p:txBody>
          <a:bodyPr wrap="square" lIns="0" tIns="0" rIns="0" bIns="0" rtlCol="0" anchor="ctr"/>
          <a:lstStyle/>
          <a:p>
            <a:pPr algn="l" indent="0" marL="0">
              <a:lnSpc>
                <a:spcPts val="972"/>
              </a:lnSpc>
              <a:buNone/>
            </a:pPr>
            <a:r>
              <a:rPr lang="en-US" sz="600" b="1" dirty="0">
                <a:solidFill>
                  <a:srgbClr val="0A4A66"/>
                </a:solidFill>
                <a:highlight>
                  <a:srgbClr val="D6E8F2"/>
                </a:highlight>
                <a:latin typeface="Inter" pitchFamily="34" charset="0"/>
                <a:ea typeface="Inter" pitchFamily="34" charset="-122"/>
                <a:cs typeface="Inter" pitchFamily="34" charset="-120"/>
              </a:rPr>
              <a:t>♪</a:t>
            </a:r>
            <a:pPr algn="l" indent="0" marL="0">
              <a:lnSpc>
                <a:spcPts val="1188"/>
              </a:lnSpc>
              <a:buNone/>
            </a:pPr>
            <a:r>
              <a:rPr lang="en-US" sz="700" dirty="0">
                <a:solidFill>
                  <a:srgbClr val="0F2A2E"/>
                </a:solidFill>
                <a:latin typeface="Inter" pitchFamily="34" charset="0"/>
                <a:ea typeface="Inter" pitchFamily="34" charset="-122"/>
                <a:cs typeface="Inter" pitchFamily="34" charset="-120"/>
              </a:rPr>
              <a:t>Backing tracks &amp; vocal guides</a:t>
            </a:r>
            <a:endParaRPr lang="en-US" sz="600" dirty="0"/>
          </a:p>
        </p:txBody>
      </p:sp>
      <p:sp>
        <p:nvSpPr>
          <p:cNvPr id="8" name="Text 6"/>
          <p:cNvSpPr/>
          <p:nvPr/>
        </p:nvSpPr>
        <p:spPr>
          <a:xfrm>
            <a:off x="640035" y="3676650"/>
            <a:ext cx="3143250" cy="152400"/>
          </a:xfrm>
          <a:prstGeom prst="rect">
            <a:avLst/>
          </a:prstGeom>
          <a:ln/>
        </p:spPr>
        <p:txBody>
          <a:bodyPr wrap="square" lIns="0" tIns="0" rIns="0" bIns="0" rtlCol="0" anchor="ctr"/>
          <a:lstStyle/>
          <a:p>
            <a:pPr algn="l" indent="0" marL="0">
              <a:lnSpc>
                <a:spcPts val="972"/>
              </a:lnSpc>
              <a:buNone/>
            </a:pPr>
            <a:r>
              <a:rPr lang="en-US" sz="600" b="1" dirty="0">
                <a:solidFill>
                  <a:srgbClr val="008272"/>
                </a:solidFill>
                <a:highlight>
                  <a:srgbClr val="14B9A5"/>
                </a:highlight>
                <a:latin typeface="Inter" pitchFamily="34" charset="0"/>
                <a:ea typeface="Inter" pitchFamily="34" charset="-122"/>
                <a:cs typeface="Inter" pitchFamily="34" charset="-120"/>
              </a:rPr>
              <a:t>↗</a:t>
            </a:r>
            <a:pPr algn="l" indent="0" marL="0">
              <a:lnSpc>
                <a:spcPts val="1188"/>
              </a:lnSpc>
              <a:buNone/>
            </a:pPr>
            <a:r>
              <a:rPr lang="en-US" sz="700" dirty="0">
                <a:solidFill>
                  <a:srgbClr val="0F2A2E"/>
                </a:solidFill>
                <a:latin typeface="Inter" pitchFamily="34" charset="0"/>
                <a:ea typeface="Inter" pitchFamily="34" charset="-122"/>
                <a:cs typeface="Inter" pitchFamily="34" charset="-120"/>
              </a:rPr>
              <a:t>Web links &amp; teaching ideas</a:t>
            </a:r>
            <a:endParaRPr lang="en-US" sz="600" dirty="0"/>
          </a:p>
        </p:txBody>
      </p:sp>
      <p:sp>
        <p:nvSpPr>
          <p:cNvPr id="9" name="Text 7"/>
          <p:cNvSpPr/>
          <p:nvPr/>
        </p:nvSpPr>
        <p:spPr>
          <a:xfrm>
            <a:off x="640035" y="3878982"/>
            <a:ext cx="3143250" cy="152400"/>
          </a:xfrm>
          <a:prstGeom prst="rect">
            <a:avLst/>
          </a:prstGeom>
          <a:ln/>
        </p:spPr>
        <p:txBody>
          <a:bodyPr wrap="square" lIns="0" tIns="0" rIns="0" bIns="0" rtlCol="0" anchor="ctr"/>
          <a:lstStyle/>
          <a:p>
            <a:pPr algn="l" indent="0" marL="0">
              <a:lnSpc>
                <a:spcPts val="972"/>
              </a:lnSpc>
              <a:buNone/>
            </a:pPr>
            <a:r>
              <a:rPr lang="en-US" sz="600" b="1" dirty="0">
                <a:solidFill>
                  <a:srgbClr val="FF5252"/>
                </a:solidFill>
                <a:highlight>
                  <a:srgbClr val="FF6969"/>
                </a:highlight>
                <a:latin typeface="Inter" pitchFamily="34" charset="0"/>
                <a:ea typeface="Inter" pitchFamily="34" charset="-122"/>
                <a:cs typeface="Inter" pitchFamily="34" charset="-120"/>
              </a:rPr>
              <a:t>≡</a:t>
            </a:r>
            <a:pPr algn="l" indent="0" marL="0">
              <a:lnSpc>
                <a:spcPts val="1188"/>
              </a:lnSpc>
              <a:buNone/>
            </a:pPr>
            <a:r>
              <a:rPr lang="en-US" sz="700" dirty="0">
                <a:solidFill>
                  <a:srgbClr val="0F2A2E"/>
                </a:solidFill>
                <a:latin typeface="Inter" pitchFamily="34" charset="0"/>
                <a:ea typeface="Inter" pitchFamily="34" charset="-122"/>
                <a:cs typeface="Inter" pitchFamily="34" charset="-120"/>
              </a:rPr>
              <a:t>Worksheets &amp; printable resources</a:t>
            </a:r>
            <a:endParaRPr lang="en-US" sz="600" dirty="0"/>
          </a:p>
        </p:txBody>
      </p:sp>
      <p:sp>
        <p:nvSpPr>
          <p:cNvPr id="10" name="Shape 8"/>
          <p:cNvSpPr/>
          <p:nvPr/>
        </p:nvSpPr>
        <p:spPr>
          <a:xfrm>
            <a:off x="4012406" y="866552"/>
            <a:ext cx="4491038" cy="1081087"/>
          </a:xfrm>
          <a:prstGeom prst="roundRect">
            <a:avLst>
              <a:gd name="adj" fmla="val 7154"/>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11" name="Text 9"/>
          <p:cNvSpPr/>
          <p:nvPr/>
        </p:nvSpPr>
        <p:spPr>
          <a:xfrm>
            <a:off x="4162016" y="972741"/>
            <a:ext cx="1628775" cy="142875"/>
          </a:xfrm>
          <a:prstGeom prst="rect">
            <a:avLst/>
          </a:prstGeom>
          <a:ln/>
        </p:spPr>
        <p:txBody>
          <a:bodyPr wrap="square" lIns="0" tIns="0" rIns="0" bIns="0" rtlCol="0" anchor="ctr"/>
          <a:lstStyle/>
          <a:p>
            <a:pPr algn="l" indent="0" marL="0">
              <a:lnSpc>
                <a:spcPts val="918"/>
              </a:lnSpc>
              <a:buNone/>
            </a:pPr>
            <a:r>
              <a:rPr lang="en-US" sz="600" b="1" dirty="0">
                <a:solidFill>
                  <a:srgbClr val="A24A1A"/>
                </a:solidFill>
                <a:highlight>
                  <a:srgbClr val="FFE5D6"/>
                </a:highlight>
                <a:latin typeface="Inter" pitchFamily="34" charset="0"/>
                <a:ea typeface="Inter" pitchFamily="34" charset="-122"/>
                <a:cs typeface="Inter" pitchFamily="34" charset="-120"/>
              </a:rPr>
              <a:t>Drama</a:t>
            </a:r>
            <a:pPr algn="l" indent="0" marL="0">
              <a:lnSpc>
                <a:spcPts val="918"/>
              </a:lnSpc>
              <a:buNone/>
            </a:pPr>
            <a:r>
              <a:rPr lang="en-US" sz="600" dirty="0">
                <a:solidFill>
                  <a:srgbClr val="6B7D80"/>
                </a:solidFill>
                <a:highlight>
                  <a:srgbClr val="FFFAF7"/>
                </a:highlight>
                <a:latin typeface="Inter" pitchFamily="34" charset="0"/>
                <a:ea typeface="Inter" pitchFamily="34" charset="-122"/>
                <a:cs typeface="Inter" pitchFamily="34" charset="-120"/>
              </a:rPr>
              <a:t>Y4 · 20 min</a:t>
            </a:r>
            <a:endParaRPr lang="en-US" sz="600" dirty="0"/>
          </a:p>
        </p:txBody>
      </p:sp>
      <p:sp>
        <p:nvSpPr>
          <p:cNvPr id="12" name="Text 10"/>
          <p:cNvSpPr/>
          <p:nvPr/>
        </p:nvSpPr>
        <p:spPr>
          <a:xfrm>
            <a:off x="4162016" y="1134442"/>
            <a:ext cx="1628775" cy="161925"/>
          </a:xfrm>
          <a:prstGeom prst="rect">
            <a:avLst/>
          </a:prstGeom>
          <a:ln/>
        </p:spPr>
        <p:txBody>
          <a:bodyPr wrap="square" lIns="0" tIns="0" rIns="0" bIns="0" rtlCol="0" anchor="t"/>
          <a:lstStyle/>
          <a:p>
            <a:pPr algn="l" indent="0" marL="0">
              <a:lnSpc>
                <a:spcPts val="1260"/>
              </a:lnSpc>
              <a:buNone/>
            </a:pPr>
            <a:r>
              <a:rPr lang="en-US" sz="1000" b="1" dirty="0">
                <a:solidFill>
                  <a:srgbClr val="0F2A2E"/>
                </a:solidFill>
                <a:latin typeface="Inter" pitchFamily="34" charset="0"/>
                <a:ea typeface="Inter" pitchFamily="34" charset="-122"/>
                <a:cs typeface="Inter" pitchFamily="34" charset="-120"/>
              </a:rPr>
              <a:t>Freeze-Frame Storytelling</a:t>
            </a:r>
            <a:endParaRPr lang="en-US" sz="1000" dirty="0"/>
          </a:p>
        </p:txBody>
      </p:sp>
      <p:sp>
        <p:nvSpPr>
          <p:cNvPr id="13" name="Text 11"/>
          <p:cNvSpPr/>
          <p:nvPr/>
        </p:nvSpPr>
        <p:spPr>
          <a:xfrm>
            <a:off x="7833047" y="994842"/>
            <a:ext cx="519112" cy="128588"/>
          </a:xfrm>
          <a:prstGeom prst="rect">
            <a:avLst/>
          </a:prstGeom>
          <a:ln/>
        </p:spPr>
        <p:txBody>
          <a:bodyPr wrap="square" lIns="0" tIns="0" rIns="0" bIns="0" rtlCol="0" anchor="t"/>
          <a:lstStyle/>
          <a:p>
            <a:pPr algn="l" indent="0" marL="0">
              <a:lnSpc>
                <a:spcPts val="1026"/>
              </a:lnSpc>
              <a:spcBef>
                <a:spcPts val="162"/>
              </a:spcBef>
              <a:buNone/>
            </a:pPr>
            <a:r>
              <a:rPr lang="en-US" sz="600" dirty="0">
                <a:solidFill>
                  <a:srgbClr val="6B7D80"/>
                </a:solidFill>
                <a:latin typeface="Inter" pitchFamily="34" charset="0"/>
                <a:ea typeface="Inter" pitchFamily="34" charset="-122"/>
                <a:cs typeface="Inter" pitchFamily="34" charset="-120"/>
              </a:rPr>
              <a:t>Main activity</a:t>
            </a:r>
            <a:endParaRPr lang="en-US" sz="600" dirty="0"/>
          </a:p>
        </p:txBody>
      </p:sp>
      <p:sp>
        <p:nvSpPr>
          <p:cNvPr id="14" name="Text 12"/>
          <p:cNvSpPr/>
          <p:nvPr/>
        </p:nvSpPr>
        <p:spPr>
          <a:xfrm>
            <a:off x="4162425" y="1346299"/>
            <a:ext cx="4191000" cy="252412"/>
          </a:xfrm>
          <a:prstGeom prst="rect">
            <a:avLst/>
          </a:prstGeom>
          <a:ln/>
        </p:spPr>
        <p:txBody>
          <a:bodyPr wrap="square" lIns="0" tIns="0" rIns="0" bIns="0" rtlCol="0" anchor="t"/>
          <a:lstStyle/>
          <a:p>
            <a:pPr algn="l" indent="0" marL="0">
              <a:lnSpc>
                <a:spcPts val="990"/>
              </a:lnSpc>
              <a:spcAft>
                <a:spcPts val="486"/>
              </a:spcAft>
              <a:buNone/>
            </a:pPr>
            <a:r>
              <a:rPr lang="en-US" sz="700" dirty="0">
                <a:solidFill>
                  <a:srgbClr val="6B7D80"/>
                </a:solidFill>
                <a:latin typeface="Inter" pitchFamily="34" charset="0"/>
                <a:ea typeface="Inter" pitchFamily="34" charset="-122"/>
                <a:cs typeface="Inter" pitchFamily="34" charset="-120"/>
              </a:rPr>
              <a:t>Groups of four create three still images that retell a familiar fable. Encourage clear use of levels, facial expression, and gesture.</a:t>
            </a:r>
            <a:endParaRPr lang="en-US" sz="700" dirty="0"/>
          </a:p>
        </p:txBody>
      </p:sp>
      <p:sp>
        <p:nvSpPr>
          <p:cNvPr id="15" name="Text 13"/>
          <p:cNvSpPr/>
          <p:nvPr/>
        </p:nvSpPr>
        <p:spPr>
          <a:xfrm>
            <a:off x="4162425" y="1659806"/>
            <a:ext cx="4191000" cy="180975"/>
          </a:xfrm>
          <a:prstGeom prst="rect">
            <a:avLst/>
          </a:prstGeom>
          <a:ln/>
        </p:spPr>
        <p:txBody>
          <a:bodyPr wrap="square" lIns="0" tIns="0" rIns="0" bIns="0" rtlCol="0" anchor="t"/>
          <a:lstStyle/>
          <a:p>
            <a:pPr algn="l" indent="0" marL="0">
              <a:lnSpc>
                <a:spcPts val="1026"/>
              </a:lnSpc>
              <a:buNone/>
            </a:pPr>
            <a:r>
              <a:rPr lang="en-US" sz="600" dirty="0">
                <a:solidFill>
                  <a:srgbClr val="008272"/>
                </a:solidFill>
                <a:highlight>
                  <a:srgbClr val="14BAA7"/>
                </a:highlight>
                <a:latin typeface="Inter" pitchFamily="34" charset="0"/>
                <a:ea typeface="Inter" pitchFamily="34" charset="-122"/>
                <a:cs typeface="Inter" pitchFamily="34" charset="-120"/>
              </a:rPr>
              <a:t>↗ BBC Bitesize: Drama warm-up games</a:t>
            </a:r>
            <a:pPr algn="l" indent="0" marL="0">
              <a:lnSpc>
                <a:spcPts val="1026"/>
              </a:lnSpc>
              <a:buNone/>
            </a:pPr>
            <a:r>
              <a:rPr lang="en-US" sz="600" dirty="0">
                <a:solidFill>
                  <a:srgbClr val="008272"/>
                </a:solidFill>
                <a:highlight>
                  <a:srgbClr val="14BAA7"/>
                </a:highlight>
                <a:latin typeface="Inter" pitchFamily="34" charset="0"/>
                <a:ea typeface="Inter" pitchFamily="34" charset="-122"/>
                <a:cs typeface="Inter" pitchFamily="34" charset="-120"/>
              </a:rPr>
              <a:t>↗ Teaching Ideas: Freeze-frames</a:t>
            </a:r>
            <a:endParaRPr lang="en-US" sz="600" dirty="0"/>
          </a:p>
        </p:txBody>
      </p:sp>
      <p:sp>
        <p:nvSpPr>
          <p:cNvPr id="16" name="Shape 14"/>
          <p:cNvSpPr/>
          <p:nvPr/>
        </p:nvSpPr>
        <p:spPr>
          <a:xfrm>
            <a:off x="4012406" y="2031206"/>
            <a:ext cx="4491038" cy="1081087"/>
          </a:xfrm>
          <a:prstGeom prst="roundRect">
            <a:avLst>
              <a:gd name="adj" fmla="val 7154"/>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17" name="Text 15"/>
          <p:cNvSpPr/>
          <p:nvPr/>
        </p:nvSpPr>
        <p:spPr>
          <a:xfrm>
            <a:off x="4162090" y="2137395"/>
            <a:ext cx="2562225" cy="142875"/>
          </a:xfrm>
          <a:prstGeom prst="rect">
            <a:avLst/>
          </a:prstGeom>
          <a:ln/>
        </p:spPr>
        <p:txBody>
          <a:bodyPr wrap="square" lIns="0" tIns="0" rIns="0" bIns="0" rtlCol="0" anchor="ctr"/>
          <a:lstStyle/>
          <a:p>
            <a:pPr algn="l" indent="0" marL="0">
              <a:lnSpc>
                <a:spcPts val="918"/>
              </a:lnSpc>
              <a:buNone/>
            </a:pPr>
            <a:r>
              <a:rPr lang="en-US" sz="600" b="1" dirty="0">
                <a:solidFill>
                  <a:srgbClr val="0A4A66"/>
                </a:solidFill>
                <a:highlight>
                  <a:srgbClr val="D6E8F2"/>
                </a:highlight>
                <a:latin typeface="Inter" pitchFamily="34" charset="0"/>
                <a:ea typeface="Inter" pitchFamily="34" charset="-122"/>
                <a:cs typeface="Inter" pitchFamily="34" charset="-120"/>
              </a:rPr>
              <a:t>Music</a:t>
            </a:r>
            <a:pPr algn="l" indent="0" marL="0">
              <a:lnSpc>
                <a:spcPts val="918"/>
              </a:lnSpc>
              <a:buNone/>
            </a:pPr>
            <a:r>
              <a:rPr lang="en-US" sz="600" dirty="0">
                <a:solidFill>
                  <a:srgbClr val="6B7D80"/>
                </a:solidFill>
                <a:highlight>
                  <a:srgbClr val="FFFAF7"/>
                </a:highlight>
                <a:latin typeface="Inter" pitchFamily="34" charset="0"/>
                <a:ea typeface="Inter" pitchFamily="34" charset="-122"/>
                <a:cs typeface="Inter" pitchFamily="34" charset="-120"/>
              </a:rPr>
              <a:t>Y3 · 15 min</a:t>
            </a:r>
            <a:endParaRPr lang="en-US" sz="600" dirty="0"/>
          </a:p>
        </p:txBody>
      </p:sp>
      <p:sp>
        <p:nvSpPr>
          <p:cNvPr id="18" name="Text 16"/>
          <p:cNvSpPr/>
          <p:nvPr/>
        </p:nvSpPr>
        <p:spPr>
          <a:xfrm>
            <a:off x="4162090" y="2299097"/>
            <a:ext cx="2562225" cy="161925"/>
          </a:xfrm>
          <a:prstGeom prst="rect">
            <a:avLst/>
          </a:prstGeom>
          <a:ln/>
        </p:spPr>
        <p:txBody>
          <a:bodyPr wrap="square" lIns="0" tIns="0" rIns="0" bIns="0" rtlCol="0" anchor="t"/>
          <a:lstStyle/>
          <a:p>
            <a:pPr algn="l" indent="0" marL="0">
              <a:lnSpc>
                <a:spcPts val="1260"/>
              </a:lnSpc>
              <a:buNone/>
            </a:pPr>
            <a:r>
              <a:rPr lang="en-US" sz="1000" b="1" dirty="0">
                <a:solidFill>
                  <a:srgbClr val="0F2A2E"/>
                </a:solidFill>
                <a:latin typeface="Inter" pitchFamily="34" charset="0"/>
                <a:ea typeface="Inter" pitchFamily="34" charset="-122"/>
                <a:cs typeface="Inter" pitchFamily="34" charset="-120"/>
              </a:rPr>
              <a:t>Active Listening: Rhythms of West Africa</a:t>
            </a:r>
            <a:endParaRPr lang="en-US" sz="1000" dirty="0"/>
          </a:p>
        </p:txBody>
      </p:sp>
      <p:sp>
        <p:nvSpPr>
          <p:cNvPr id="19" name="Text 17"/>
          <p:cNvSpPr/>
          <p:nvPr/>
        </p:nvSpPr>
        <p:spPr>
          <a:xfrm>
            <a:off x="7967737" y="2159496"/>
            <a:ext cx="385763" cy="128588"/>
          </a:xfrm>
          <a:prstGeom prst="rect">
            <a:avLst/>
          </a:prstGeom>
          <a:ln/>
        </p:spPr>
        <p:txBody>
          <a:bodyPr wrap="square" lIns="0" tIns="0" rIns="0" bIns="0" rtlCol="0" anchor="t"/>
          <a:lstStyle/>
          <a:p>
            <a:pPr algn="l" indent="0" marL="0">
              <a:lnSpc>
                <a:spcPts val="1026"/>
              </a:lnSpc>
              <a:spcBef>
                <a:spcPts val="162"/>
              </a:spcBef>
              <a:buNone/>
            </a:pPr>
            <a:r>
              <a:rPr lang="en-US" sz="600" dirty="0">
                <a:solidFill>
                  <a:srgbClr val="6B7D80"/>
                </a:solidFill>
                <a:latin typeface="Inter" pitchFamily="34" charset="0"/>
                <a:ea typeface="Inter" pitchFamily="34" charset="-122"/>
                <a:cs typeface="Inter" pitchFamily="34" charset="-120"/>
              </a:rPr>
              <a:t>Warm-up</a:t>
            </a:r>
            <a:endParaRPr lang="en-US" sz="600" dirty="0"/>
          </a:p>
        </p:txBody>
      </p:sp>
      <p:sp>
        <p:nvSpPr>
          <p:cNvPr id="20" name="Text 18"/>
          <p:cNvSpPr/>
          <p:nvPr/>
        </p:nvSpPr>
        <p:spPr>
          <a:xfrm>
            <a:off x="4162425" y="2510954"/>
            <a:ext cx="4191000" cy="252412"/>
          </a:xfrm>
          <a:prstGeom prst="rect">
            <a:avLst/>
          </a:prstGeom>
          <a:ln/>
        </p:spPr>
        <p:txBody>
          <a:bodyPr wrap="square" lIns="0" tIns="0" rIns="0" bIns="0" rtlCol="0" anchor="t"/>
          <a:lstStyle/>
          <a:p>
            <a:pPr algn="l" indent="0" marL="0">
              <a:lnSpc>
                <a:spcPts val="990"/>
              </a:lnSpc>
              <a:spcAft>
                <a:spcPts val="486"/>
              </a:spcAft>
              <a:buNone/>
            </a:pPr>
            <a:r>
              <a:rPr lang="en-US" sz="700" dirty="0">
                <a:solidFill>
                  <a:srgbClr val="6B7D80"/>
                </a:solidFill>
                <a:latin typeface="Inter" pitchFamily="34" charset="0"/>
                <a:ea typeface="Inter" pitchFamily="34" charset="-122"/>
                <a:cs typeface="Inter" pitchFamily="34" charset="-120"/>
              </a:rPr>
              <a:t>Play a short djembe ensemble recording. Pupils tap the underlying pulse, then identify the call-and-response pattern and shifting layers.</a:t>
            </a:r>
            <a:endParaRPr lang="en-US" sz="700" dirty="0"/>
          </a:p>
        </p:txBody>
      </p:sp>
      <p:sp>
        <p:nvSpPr>
          <p:cNvPr id="21" name="Text 19"/>
          <p:cNvSpPr/>
          <p:nvPr/>
        </p:nvSpPr>
        <p:spPr>
          <a:xfrm>
            <a:off x="4162425" y="2824460"/>
            <a:ext cx="4191000" cy="180975"/>
          </a:xfrm>
          <a:prstGeom prst="rect">
            <a:avLst/>
          </a:prstGeom>
          <a:ln/>
        </p:spPr>
        <p:txBody>
          <a:bodyPr wrap="square" lIns="0" tIns="0" rIns="0" bIns="0" rtlCol="0" anchor="t"/>
          <a:lstStyle/>
          <a:p>
            <a:pPr algn="l" indent="0" marL="0">
              <a:lnSpc>
                <a:spcPts val="1026"/>
              </a:lnSpc>
              <a:buNone/>
            </a:pPr>
            <a:r>
              <a:rPr lang="en-US" sz="600" dirty="0">
                <a:solidFill>
                  <a:srgbClr val="A24A1A"/>
                </a:solidFill>
                <a:highlight>
                  <a:srgbClr val="FFE5D6"/>
                </a:highlight>
                <a:latin typeface="Inter" pitchFamily="34" charset="0"/>
                <a:ea typeface="Inter" pitchFamily="34" charset="-122"/>
                <a:cs typeface="Inter" pitchFamily="34" charset="-120"/>
              </a:rPr>
              <a:t>▶ Video demo</a:t>
            </a:r>
            <a:pPr algn="l" indent="0" marL="0">
              <a:lnSpc>
                <a:spcPts val="1026"/>
              </a:lnSpc>
              <a:buNone/>
            </a:pPr>
            <a:r>
              <a:rPr lang="en-US" sz="600" dirty="0">
                <a:solidFill>
                  <a:srgbClr val="0A4A66"/>
                </a:solidFill>
                <a:highlight>
                  <a:srgbClr val="D6E8F2"/>
                </a:highlight>
                <a:latin typeface="Inter" pitchFamily="34" charset="0"/>
                <a:ea typeface="Inter" pitchFamily="34" charset="-122"/>
                <a:cs typeface="Inter" pitchFamily="34" charset="-120"/>
              </a:rPr>
              <a:t>♪ Backing track</a:t>
            </a:r>
            <a:pPr algn="l" indent="0" marL="0">
              <a:lnSpc>
                <a:spcPts val="1026"/>
              </a:lnSpc>
              <a:buNone/>
            </a:pPr>
            <a:r>
              <a:rPr lang="en-US" sz="600" dirty="0">
                <a:solidFill>
                  <a:srgbClr val="008272"/>
                </a:solidFill>
                <a:highlight>
                  <a:srgbClr val="14BAA7"/>
                </a:highlight>
                <a:latin typeface="Inter" pitchFamily="34" charset="0"/>
                <a:ea typeface="Inter" pitchFamily="34" charset="-122"/>
                <a:cs typeface="Inter" pitchFamily="34" charset="-120"/>
              </a:rPr>
              <a:t>↗ BBC Teach: Djembe ensemble</a:t>
            </a:r>
            <a:endParaRPr lang="en-US" sz="600" dirty="0"/>
          </a:p>
        </p:txBody>
      </p:sp>
      <p:sp>
        <p:nvSpPr>
          <p:cNvPr id="22" name="Shape 20"/>
          <p:cNvSpPr/>
          <p:nvPr/>
        </p:nvSpPr>
        <p:spPr>
          <a:xfrm>
            <a:off x="4012406" y="3195861"/>
            <a:ext cx="4491038" cy="1081087"/>
          </a:xfrm>
          <a:prstGeom prst="roundRect">
            <a:avLst>
              <a:gd name="adj" fmla="val 7154"/>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23" name="Text 21"/>
          <p:cNvSpPr/>
          <p:nvPr/>
        </p:nvSpPr>
        <p:spPr>
          <a:xfrm>
            <a:off x="4163541" y="3302050"/>
            <a:ext cx="1290638" cy="142875"/>
          </a:xfrm>
          <a:prstGeom prst="rect">
            <a:avLst/>
          </a:prstGeom>
          <a:ln/>
        </p:spPr>
        <p:txBody>
          <a:bodyPr wrap="square" lIns="0" tIns="0" rIns="0" bIns="0" rtlCol="0" anchor="ctr"/>
          <a:lstStyle/>
          <a:p>
            <a:pPr algn="l" indent="0" marL="0">
              <a:lnSpc>
                <a:spcPts val="918"/>
              </a:lnSpc>
              <a:buNone/>
            </a:pPr>
            <a:r>
              <a:rPr lang="en-US" sz="600" b="1" dirty="0">
                <a:solidFill>
                  <a:srgbClr val="3D2F7A"/>
                </a:solidFill>
                <a:highlight>
                  <a:srgbClr val="E8E2F2"/>
                </a:highlight>
                <a:latin typeface="Inter" pitchFamily="34" charset="0"/>
                <a:ea typeface="Inter" pitchFamily="34" charset="-122"/>
                <a:cs typeface="Inter" pitchFamily="34" charset="-120"/>
              </a:rPr>
              <a:t>Dance</a:t>
            </a:r>
            <a:pPr algn="l" indent="0" marL="0">
              <a:lnSpc>
                <a:spcPts val="918"/>
              </a:lnSpc>
              <a:buNone/>
            </a:pPr>
            <a:r>
              <a:rPr lang="en-US" sz="600" dirty="0">
                <a:solidFill>
                  <a:srgbClr val="6B7D80"/>
                </a:solidFill>
                <a:highlight>
                  <a:srgbClr val="FFFAF7"/>
                </a:highlight>
                <a:latin typeface="Inter" pitchFamily="34" charset="0"/>
                <a:ea typeface="Inter" pitchFamily="34" charset="-122"/>
                <a:cs typeface="Inter" pitchFamily="34" charset="-120"/>
              </a:rPr>
              <a:t>Y5 · 25 min</a:t>
            </a:r>
            <a:endParaRPr lang="en-US" sz="600" dirty="0"/>
          </a:p>
        </p:txBody>
      </p:sp>
      <p:sp>
        <p:nvSpPr>
          <p:cNvPr id="24" name="Text 22"/>
          <p:cNvSpPr/>
          <p:nvPr/>
        </p:nvSpPr>
        <p:spPr>
          <a:xfrm>
            <a:off x="4163541" y="3463751"/>
            <a:ext cx="1290638" cy="161925"/>
          </a:xfrm>
          <a:prstGeom prst="rect">
            <a:avLst/>
          </a:prstGeom>
          <a:ln/>
        </p:spPr>
        <p:txBody>
          <a:bodyPr wrap="square" lIns="0" tIns="0" rIns="0" bIns="0" rtlCol="0" anchor="t"/>
          <a:lstStyle/>
          <a:p>
            <a:pPr algn="l" indent="0" marL="0">
              <a:lnSpc>
                <a:spcPts val="1260"/>
              </a:lnSpc>
              <a:buNone/>
            </a:pPr>
            <a:r>
              <a:rPr lang="en-US" sz="1000" b="1" dirty="0">
                <a:solidFill>
                  <a:srgbClr val="0F2A2E"/>
                </a:solidFill>
                <a:latin typeface="Inter" pitchFamily="34" charset="0"/>
                <a:ea typeface="Inter" pitchFamily="34" charset="-122"/>
                <a:cs typeface="Inter" pitchFamily="34" charset="-120"/>
              </a:rPr>
              <a:t>Storm Motif &amp; Canon</a:t>
            </a:r>
            <a:endParaRPr lang="en-US" sz="1000" dirty="0"/>
          </a:p>
        </p:txBody>
      </p:sp>
      <p:sp>
        <p:nvSpPr>
          <p:cNvPr id="25" name="Text 23"/>
          <p:cNvSpPr/>
          <p:nvPr/>
        </p:nvSpPr>
        <p:spPr>
          <a:xfrm>
            <a:off x="7833047" y="3324151"/>
            <a:ext cx="519112" cy="128588"/>
          </a:xfrm>
          <a:prstGeom prst="rect">
            <a:avLst/>
          </a:prstGeom>
          <a:ln/>
        </p:spPr>
        <p:txBody>
          <a:bodyPr wrap="square" lIns="0" tIns="0" rIns="0" bIns="0" rtlCol="0" anchor="t"/>
          <a:lstStyle/>
          <a:p>
            <a:pPr algn="l" indent="0" marL="0">
              <a:lnSpc>
                <a:spcPts val="1026"/>
              </a:lnSpc>
              <a:spcBef>
                <a:spcPts val="162"/>
              </a:spcBef>
              <a:buNone/>
            </a:pPr>
            <a:r>
              <a:rPr lang="en-US" sz="600" dirty="0">
                <a:solidFill>
                  <a:srgbClr val="6B7D80"/>
                </a:solidFill>
                <a:latin typeface="Inter" pitchFamily="34" charset="0"/>
                <a:ea typeface="Inter" pitchFamily="34" charset="-122"/>
                <a:cs typeface="Inter" pitchFamily="34" charset="-120"/>
              </a:rPr>
              <a:t>Main activity</a:t>
            </a:r>
            <a:endParaRPr lang="en-US" sz="600" dirty="0"/>
          </a:p>
        </p:txBody>
      </p:sp>
      <p:sp>
        <p:nvSpPr>
          <p:cNvPr id="26" name="Text 24"/>
          <p:cNvSpPr/>
          <p:nvPr/>
        </p:nvSpPr>
        <p:spPr>
          <a:xfrm>
            <a:off x="4162425" y="3675608"/>
            <a:ext cx="4191000" cy="252412"/>
          </a:xfrm>
          <a:prstGeom prst="rect">
            <a:avLst/>
          </a:prstGeom>
          <a:ln/>
        </p:spPr>
        <p:txBody>
          <a:bodyPr wrap="square" lIns="0" tIns="0" rIns="0" bIns="0" rtlCol="0" anchor="t"/>
          <a:lstStyle/>
          <a:p>
            <a:pPr algn="l" indent="0" marL="0">
              <a:lnSpc>
                <a:spcPts val="990"/>
              </a:lnSpc>
              <a:spcAft>
                <a:spcPts val="486"/>
              </a:spcAft>
              <a:buNone/>
            </a:pPr>
            <a:r>
              <a:rPr lang="en-US" sz="700" dirty="0">
                <a:solidFill>
                  <a:srgbClr val="6B7D80"/>
                </a:solidFill>
                <a:latin typeface="Inter" pitchFamily="34" charset="0"/>
                <a:ea typeface="Inter" pitchFamily="34" charset="-122"/>
                <a:cs typeface="Inter" pitchFamily="34" charset="-120"/>
              </a:rPr>
              <a:t>Build a 16-count motif inspired by a storm. In four groups, layer the motif as a canon, two counts apart.</a:t>
            </a:r>
            <a:endParaRPr lang="en-US" sz="700" dirty="0"/>
          </a:p>
        </p:txBody>
      </p:sp>
      <p:sp>
        <p:nvSpPr>
          <p:cNvPr id="27" name="Text 25"/>
          <p:cNvSpPr/>
          <p:nvPr/>
        </p:nvSpPr>
        <p:spPr>
          <a:xfrm>
            <a:off x="4162425" y="3989115"/>
            <a:ext cx="4191000" cy="180975"/>
          </a:xfrm>
          <a:prstGeom prst="rect">
            <a:avLst/>
          </a:prstGeom>
          <a:ln/>
        </p:spPr>
        <p:txBody>
          <a:bodyPr wrap="square" lIns="0" tIns="0" rIns="0" bIns="0" rtlCol="0" anchor="t"/>
          <a:lstStyle/>
          <a:p>
            <a:pPr algn="l" indent="0" marL="0">
              <a:lnSpc>
                <a:spcPts val="1026"/>
              </a:lnSpc>
              <a:buNone/>
            </a:pPr>
            <a:r>
              <a:rPr lang="en-US" sz="600" dirty="0">
                <a:solidFill>
                  <a:srgbClr val="A24A1A"/>
                </a:solidFill>
                <a:highlight>
                  <a:srgbClr val="FFE5D6"/>
                </a:highlight>
                <a:latin typeface="Inter" pitchFamily="34" charset="0"/>
                <a:ea typeface="Inter" pitchFamily="34" charset="-122"/>
                <a:cs typeface="Inter" pitchFamily="34" charset="-120"/>
              </a:rPr>
              <a:t>▶ Choreography demo</a:t>
            </a:r>
            <a:pPr algn="l" indent="0" marL="0">
              <a:lnSpc>
                <a:spcPts val="1026"/>
              </a:lnSpc>
              <a:buNone/>
            </a:pPr>
            <a:r>
              <a:rPr lang="en-US" sz="600" dirty="0">
                <a:solidFill>
                  <a:srgbClr val="0A4A66"/>
                </a:solidFill>
                <a:highlight>
                  <a:srgbClr val="D6E8F2"/>
                </a:highlight>
                <a:latin typeface="Inter" pitchFamily="34" charset="0"/>
                <a:ea typeface="Inter" pitchFamily="34" charset="-122"/>
                <a:cs typeface="Inter" pitchFamily="34" charset="-120"/>
              </a:rPr>
              <a:t>♪ Storm music</a:t>
            </a:r>
            <a:pPr algn="l" indent="0" marL="0">
              <a:lnSpc>
                <a:spcPts val="1026"/>
              </a:lnSpc>
              <a:buNone/>
            </a:pPr>
            <a:r>
              <a:rPr lang="en-US" sz="600" dirty="0">
                <a:solidFill>
                  <a:srgbClr val="FF5252"/>
                </a:solidFill>
                <a:highlight>
                  <a:srgbClr val="FF6B6B"/>
                </a:highlight>
                <a:latin typeface="Inter" pitchFamily="34" charset="0"/>
                <a:ea typeface="Inter" pitchFamily="34" charset="-122"/>
                <a:cs typeface="Inter" pitchFamily="34" charset="-120"/>
              </a:rPr>
              <a:t>≡ Counting worksheet</a:t>
            </a:r>
            <a:endParaRPr lang="en-US" sz="600" dirty="0"/>
          </a:p>
        </p:txBody>
      </p:sp>
      <p:pic>
        <p:nvPicPr>
          <p:cNvPr id="28"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856841"/>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05</a:t>
            </a:r>
            <a:endParaRPr lang="en-US" sz="700" dirty="0"/>
          </a:p>
        </p:txBody>
      </p:sp>
      <p:sp>
        <p:nvSpPr>
          <p:cNvPr id="4" name="Text 2"/>
          <p:cNvSpPr/>
          <p:nvPr/>
        </p:nvSpPr>
        <p:spPr>
          <a:xfrm>
            <a:off x="640035" y="1096119"/>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Build an activity in two minutes.</a:t>
            </a:r>
            <a:endParaRPr lang="en-US" sz="3000" dirty="0"/>
          </a:p>
        </p:txBody>
      </p:sp>
      <p:sp>
        <p:nvSpPr>
          <p:cNvPr id="5" name="Text 3"/>
          <p:cNvSpPr/>
          <p:nvPr/>
        </p:nvSpPr>
        <p:spPr>
          <a:xfrm>
            <a:off x="640035" y="2033922"/>
            <a:ext cx="3143250" cy="1004887"/>
          </a:xfrm>
          <a:prstGeom prst="rect">
            <a:avLst/>
          </a:prstGeom>
          <a:ln/>
        </p:spPr>
        <p:txBody>
          <a:bodyPr wrap="square" lIns="0" tIns="0" rIns="0" bIns="0" rtlCol="0" anchor="t"/>
          <a:lstStyle/>
          <a:p>
            <a:pPr algn="l" indent="0" marL="0">
              <a:lnSpc>
                <a:spcPts val="1579"/>
              </a:lnSpc>
              <a:spcBef>
                <a:spcPts val="1215"/>
              </a:spcBef>
              <a:buNone/>
            </a:pPr>
            <a:r>
              <a:rPr lang="en-US" sz="900" dirty="0">
                <a:solidFill>
                  <a:srgbClr val="6B7D80"/>
                </a:solidFill>
                <a:latin typeface="Inter" pitchFamily="34" charset="0"/>
                <a:ea typeface="Inter" pitchFamily="34" charset="-122"/>
                <a:cs typeface="Inter" pitchFamily="34" charset="-120"/>
              </a:rPr>
              <a:t>A focused form for the things that matter — name, year groups, time, instructions — with dedicated fields for the YouTube clip, the backing track, the worksheet and the web link you'd otherwise lose in a folder.</a:t>
            </a:r>
            <a:endParaRPr lang="en-US" sz="900" dirty="0"/>
          </a:p>
        </p:txBody>
      </p:sp>
      <p:sp>
        <p:nvSpPr>
          <p:cNvPr id="6" name="Shape 4"/>
          <p:cNvSpPr/>
          <p:nvPr/>
        </p:nvSpPr>
        <p:spPr>
          <a:xfrm>
            <a:off x="639254" y="3238463"/>
            <a:ext cx="38100" cy="219075"/>
          </a:xfrm>
          <a:prstGeom prst="roundRect">
            <a:avLst>
              <a:gd name="adj" fmla="val 300000"/>
            </a:avLst>
          </a:prstGeom>
          <a:solidFill>
            <a:srgbClr val="FF6B6B"/>
          </a:solidFill>
          <a:ln/>
        </p:spPr>
      </p:sp>
      <p:sp>
        <p:nvSpPr>
          <p:cNvPr id="7" name="Text 5"/>
          <p:cNvSpPr/>
          <p:nvPr/>
        </p:nvSpPr>
        <p:spPr>
          <a:xfrm>
            <a:off x="767469" y="3217255"/>
            <a:ext cx="2200275" cy="138113"/>
          </a:xfrm>
          <a:prstGeom prst="rect">
            <a:avLst/>
          </a:prstGeom>
          <a:ln/>
        </p:spPr>
        <p:txBody>
          <a:bodyPr wrap="square" lIns="0" tIns="0" rIns="0" bIns="0" rtlCol="0" anchor="t"/>
          <a:lstStyle/>
          <a:p>
            <a:pPr algn="l" indent="0" marL="0">
              <a:lnSpc>
                <a:spcPts val="1080"/>
              </a:lnSpc>
              <a:buNone/>
            </a:pPr>
            <a:r>
              <a:rPr lang="en-US" sz="800" b="1" dirty="0">
                <a:solidFill>
                  <a:srgbClr val="0F2A2E"/>
                </a:solidFill>
                <a:latin typeface="Inter" pitchFamily="34" charset="0"/>
                <a:ea typeface="Inter" pitchFamily="34" charset="-122"/>
                <a:cs typeface="Inter" pitchFamily="34" charset="-120"/>
              </a:rPr>
              <a:t>Tag once, find forever</a:t>
            </a:r>
            <a:endParaRPr lang="en-US" sz="800" dirty="0"/>
          </a:p>
        </p:txBody>
      </p:sp>
      <p:sp>
        <p:nvSpPr>
          <p:cNvPr id="8" name="Text 6"/>
          <p:cNvSpPr/>
          <p:nvPr/>
        </p:nvSpPr>
        <p:spPr>
          <a:xfrm>
            <a:off x="767469" y="3355814"/>
            <a:ext cx="2200275" cy="123825"/>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Subject, year groups and category attach instantly.</a:t>
            </a:r>
            <a:endParaRPr lang="en-US" sz="700" dirty="0"/>
          </a:p>
        </p:txBody>
      </p:sp>
      <p:sp>
        <p:nvSpPr>
          <p:cNvPr id="9" name="Shape 7"/>
          <p:cNvSpPr/>
          <p:nvPr/>
        </p:nvSpPr>
        <p:spPr>
          <a:xfrm>
            <a:off x="639254" y="3578386"/>
            <a:ext cx="38100" cy="219075"/>
          </a:xfrm>
          <a:prstGeom prst="roundRect">
            <a:avLst>
              <a:gd name="adj" fmla="val 300000"/>
            </a:avLst>
          </a:prstGeom>
          <a:solidFill>
            <a:srgbClr val="14B8A6"/>
          </a:solidFill>
          <a:ln/>
        </p:spPr>
      </p:sp>
      <p:sp>
        <p:nvSpPr>
          <p:cNvPr id="10" name="Text 8"/>
          <p:cNvSpPr/>
          <p:nvPr/>
        </p:nvSpPr>
        <p:spPr>
          <a:xfrm>
            <a:off x="768288" y="3557178"/>
            <a:ext cx="3014663" cy="138113"/>
          </a:xfrm>
          <a:prstGeom prst="rect">
            <a:avLst/>
          </a:prstGeom>
          <a:ln/>
        </p:spPr>
        <p:txBody>
          <a:bodyPr wrap="square" lIns="0" tIns="0" rIns="0" bIns="0" rtlCol="0" anchor="t"/>
          <a:lstStyle/>
          <a:p>
            <a:pPr algn="l" indent="0" marL="0">
              <a:lnSpc>
                <a:spcPts val="1080"/>
              </a:lnSpc>
              <a:buNone/>
            </a:pPr>
            <a:r>
              <a:rPr lang="en-US" sz="800" b="1" dirty="0">
                <a:solidFill>
                  <a:srgbClr val="0F2A2E"/>
                </a:solidFill>
                <a:latin typeface="Inter" pitchFamily="34" charset="0"/>
                <a:ea typeface="Inter" pitchFamily="34" charset="-122"/>
                <a:cs typeface="Inter" pitchFamily="34" charset="-120"/>
              </a:rPr>
              <a:t>Web links built in</a:t>
            </a:r>
            <a:endParaRPr lang="en-US" sz="800" dirty="0"/>
          </a:p>
        </p:txBody>
      </p:sp>
      <p:sp>
        <p:nvSpPr>
          <p:cNvPr id="11" name="Text 9"/>
          <p:cNvSpPr/>
          <p:nvPr/>
        </p:nvSpPr>
        <p:spPr>
          <a:xfrm>
            <a:off x="768288" y="3694286"/>
            <a:ext cx="3014663" cy="252412"/>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Six labelled link slots — video, music, backing, vocals, worksheet, web.</a:t>
            </a:r>
            <a:endParaRPr lang="en-US" sz="700" dirty="0"/>
          </a:p>
        </p:txBody>
      </p:sp>
      <p:sp>
        <p:nvSpPr>
          <p:cNvPr id="12" name="Shape 10"/>
          <p:cNvSpPr/>
          <p:nvPr/>
        </p:nvSpPr>
        <p:spPr>
          <a:xfrm>
            <a:off x="639254" y="4043995"/>
            <a:ext cx="38100" cy="219075"/>
          </a:xfrm>
          <a:prstGeom prst="roundRect">
            <a:avLst>
              <a:gd name="adj" fmla="val 300000"/>
            </a:avLst>
          </a:prstGeom>
          <a:solidFill>
            <a:srgbClr val="FF6B6B"/>
          </a:solidFill>
          <a:ln/>
        </p:spPr>
      </p:sp>
      <p:sp>
        <p:nvSpPr>
          <p:cNvPr id="13" name="Text 11"/>
          <p:cNvSpPr/>
          <p:nvPr/>
        </p:nvSpPr>
        <p:spPr>
          <a:xfrm>
            <a:off x="768362" y="4022787"/>
            <a:ext cx="2152650" cy="138113"/>
          </a:xfrm>
          <a:prstGeom prst="rect">
            <a:avLst/>
          </a:prstGeom>
          <a:ln/>
        </p:spPr>
        <p:txBody>
          <a:bodyPr wrap="square" lIns="0" tIns="0" rIns="0" bIns="0" rtlCol="0" anchor="t"/>
          <a:lstStyle/>
          <a:p>
            <a:pPr algn="l" indent="0" marL="0">
              <a:lnSpc>
                <a:spcPts val="1080"/>
              </a:lnSpc>
              <a:buNone/>
            </a:pPr>
            <a:r>
              <a:rPr lang="en-US" sz="800" b="1" dirty="0">
                <a:solidFill>
                  <a:srgbClr val="0F2A2E"/>
                </a:solidFill>
                <a:latin typeface="Inter" pitchFamily="34" charset="0"/>
                <a:ea typeface="Inter" pitchFamily="34" charset="-122"/>
                <a:cs typeface="Inter" pitchFamily="34" charset="-120"/>
              </a:rPr>
              <a:t>Drag straight in</a:t>
            </a:r>
            <a:endParaRPr lang="en-US" sz="800" dirty="0"/>
          </a:p>
        </p:txBody>
      </p:sp>
      <p:sp>
        <p:nvSpPr>
          <p:cNvPr id="14" name="Text 12"/>
          <p:cNvSpPr/>
          <p:nvPr/>
        </p:nvSpPr>
        <p:spPr>
          <a:xfrm>
            <a:off x="768362" y="4161346"/>
            <a:ext cx="2152650" cy="123825"/>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New activity drops into the lesson you're building.</a:t>
            </a:r>
            <a:endParaRPr lang="en-US" sz="700" dirty="0"/>
          </a:p>
        </p:txBody>
      </p:sp>
      <p:sp>
        <p:nvSpPr>
          <p:cNvPr id="15" name="Shape 13"/>
          <p:cNvSpPr/>
          <p:nvPr/>
        </p:nvSpPr>
        <p:spPr>
          <a:xfrm>
            <a:off x="4012406" y="740532"/>
            <a:ext cx="4491038" cy="3662362"/>
          </a:xfrm>
          <a:prstGeom prst="roundRect">
            <a:avLst>
              <a:gd name="adj" fmla="val 779"/>
            </a:avLst>
          </a:prstGeom>
          <a:solidFill>
            <a:srgbClr val="FFFFFF"/>
          </a:solidFill>
          <a:ln w="4763">
            <a:solidFill>
              <a:srgbClr val="142727">
                <a:alpha val="5098"/>
              </a:srgbClr>
            </a:solidFill>
            <a:prstDash val="solid"/>
          </a:ln>
          <a:effectLst>
            <a:outerShdw sx="100000" sy="100000" kx="0" ky="0" algn="bl" rotWithShape="0" blurRad="285750" dist="95250" dir="5400000">
              <a:srgbClr val="004C45">
                <a:alpha val="12000"/>
              </a:srgbClr>
            </a:outerShdw>
          </a:effectLst>
        </p:spPr>
      </p:sp>
      <p:sp>
        <p:nvSpPr>
          <p:cNvPr id="16" name="Text 14"/>
          <p:cNvSpPr/>
          <p:nvPr/>
        </p:nvSpPr>
        <p:spPr>
          <a:xfrm>
            <a:off x="4017169" y="744438"/>
            <a:ext cx="4481512" cy="333375"/>
          </a:xfrm>
          <a:prstGeom prst="rect">
            <a:avLst/>
          </a:prstGeom>
          <a:solidFill>
            <a:srgbClr val="FFFAF7"/>
          </a:solidFill>
          <a:ln/>
        </p:spPr>
        <p:txBody>
          <a:bodyPr wrap="square" lIns="0" tIns="0" rIns="0" bIns="0" rtlCol="0" anchor="ctr"/>
          <a:lstStyle/>
          <a:p>
            <a:pPr algn="l" indent="0" marL="0">
              <a:lnSpc>
                <a:spcPts val="1296"/>
              </a:lnSpc>
              <a:buNone/>
            </a:pPr>
            <a:r>
              <a:rPr lang="en-US" sz="800" b="1" dirty="0">
                <a:solidFill>
                  <a:srgbClr val="0F2A2E"/>
                </a:solidFill>
                <a:latin typeface="Inter" pitchFamily="34" charset="0"/>
                <a:ea typeface="Inter" pitchFamily="34" charset="-122"/>
                <a:cs typeface="Inter" pitchFamily="34" charset="-120"/>
              </a:rPr>
              <a:t>New activity</a:t>
            </a:r>
            <a:pPr algn="l" indent="0" marL="0">
              <a:lnSpc>
                <a:spcPts val="1026"/>
              </a:lnSpc>
              <a:buNone/>
            </a:pPr>
            <a:r>
              <a:rPr lang="en-US" sz="600" dirty="0">
                <a:solidFill>
                  <a:srgbClr val="6B7D80"/>
                </a:solidFill>
                <a:latin typeface="Inter" pitchFamily="34" charset="0"/>
                <a:ea typeface="Inter" pitchFamily="34" charset="-122"/>
                <a:cs typeface="Inter" pitchFamily="34" charset="-120"/>
              </a:rPr>
              <a:t>Lesson 1 · Storytelling Through Drama</a:t>
            </a:r>
            <a:endParaRPr lang="en-US" sz="800" dirty="0"/>
          </a:p>
        </p:txBody>
      </p:sp>
      <p:sp>
        <p:nvSpPr>
          <p:cNvPr id="17" name="Text 15"/>
          <p:cNvSpPr/>
          <p:nvPr/>
        </p:nvSpPr>
        <p:spPr>
          <a:xfrm>
            <a:off x="4152900" y="1180691"/>
            <a:ext cx="42100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Activity name</a:t>
            </a:r>
            <a:endParaRPr lang="en-US" sz="600" dirty="0"/>
          </a:p>
        </p:txBody>
      </p:sp>
      <p:sp>
        <p:nvSpPr>
          <p:cNvPr id="18" name="Text 16"/>
          <p:cNvSpPr/>
          <p:nvPr/>
        </p:nvSpPr>
        <p:spPr>
          <a:xfrm>
            <a:off x="4152900" y="1324087"/>
            <a:ext cx="4210050" cy="247650"/>
          </a:xfrm>
          <a:prstGeom prst="roundRect">
            <a:avLst>
              <a:gd name="adj" fmla="val 17041"/>
            </a:avLst>
          </a:prstGeom>
          <a:solidFill>
            <a:srgbClr val="FFFFFF"/>
          </a:solidFill>
          <a:ln w="4763">
            <a:solidFill>
              <a:srgbClr val="0D282F">
                <a:alpha val="14902"/>
              </a:srgbClr>
            </a:solidFill>
            <a:prstDash val="solid"/>
          </a:ln>
        </p:spPr>
        <p:txBody>
          <a:bodyPr wrap="square" lIns="0" tIns="0" rIns="0" bIns="0" rtlCol="0" anchor="ctr"/>
          <a:lstStyle/>
          <a:p>
            <a:pPr algn="l" indent="0" marL="0">
              <a:lnSpc>
                <a:spcPts val="1134"/>
              </a:lnSpc>
              <a:buNone/>
            </a:pPr>
            <a:r>
              <a:rPr lang="en-US" sz="700" dirty="0">
                <a:solidFill>
                  <a:srgbClr val="0F2A2E"/>
                </a:solidFill>
                <a:latin typeface="Inter" pitchFamily="34" charset="0"/>
                <a:ea typeface="Inter" pitchFamily="34" charset="-122"/>
                <a:cs typeface="Inter" pitchFamily="34" charset="-120"/>
              </a:rPr>
              <a:t>Freeze-Frame Storytelling</a:t>
            </a:r>
            <a:endParaRPr lang="en-US" sz="700" dirty="0"/>
          </a:p>
        </p:txBody>
      </p:sp>
      <p:sp>
        <p:nvSpPr>
          <p:cNvPr id="19" name="Text 17"/>
          <p:cNvSpPr/>
          <p:nvPr/>
        </p:nvSpPr>
        <p:spPr>
          <a:xfrm>
            <a:off x="4154500" y="1632458"/>
            <a:ext cx="13525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Subject</a:t>
            </a:r>
            <a:endParaRPr lang="en-US" sz="600" dirty="0"/>
          </a:p>
        </p:txBody>
      </p:sp>
      <p:sp>
        <p:nvSpPr>
          <p:cNvPr id="20" name="Text 18"/>
          <p:cNvSpPr/>
          <p:nvPr/>
        </p:nvSpPr>
        <p:spPr>
          <a:xfrm>
            <a:off x="4154500" y="1777194"/>
            <a:ext cx="1352550" cy="238125"/>
          </a:xfrm>
          <a:prstGeom prst="roundRect">
            <a:avLst>
              <a:gd name="adj" fmla="val 18432"/>
            </a:avLst>
          </a:prstGeom>
          <a:solidFill>
            <a:srgbClr val="FFFFFF"/>
          </a:solidFill>
          <a:ln w="4763">
            <a:solidFill>
              <a:srgbClr val="0D282F">
                <a:alpha val="14902"/>
              </a:srgbClr>
            </a:solidFill>
            <a:prstDash val="solid"/>
          </a:ln>
        </p:spPr>
        <p:txBody>
          <a:bodyPr wrap="square" lIns="0" tIns="0" rIns="0" bIns="0" rtlCol="0" anchor="ctr"/>
          <a:lstStyle/>
          <a:p>
            <a:pPr algn="l" indent="0" marL="0">
              <a:lnSpc>
                <a:spcPts val="1080"/>
              </a:lnSpc>
              <a:buNone/>
            </a:pPr>
            <a:r>
              <a:rPr lang="en-US" sz="700" dirty="0">
                <a:solidFill>
                  <a:srgbClr val="0F2A2E"/>
                </a:solidFill>
                <a:latin typeface="Inter" pitchFamily="34" charset="0"/>
                <a:ea typeface="Inter" pitchFamily="34" charset="-122"/>
                <a:cs typeface="Inter" pitchFamily="34" charset="-120"/>
              </a:rPr>
              <a:t>Drama</a:t>
            </a:r>
            <a:endParaRPr lang="en-US" sz="700" dirty="0"/>
          </a:p>
        </p:txBody>
      </p:sp>
      <p:sp>
        <p:nvSpPr>
          <p:cNvPr id="21" name="Text 19"/>
          <p:cNvSpPr/>
          <p:nvPr/>
        </p:nvSpPr>
        <p:spPr>
          <a:xfrm>
            <a:off x="5581613" y="1632458"/>
            <a:ext cx="13525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Category</a:t>
            </a:r>
            <a:endParaRPr lang="en-US" sz="600" dirty="0"/>
          </a:p>
        </p:txBody>
      </p:sp>
      <p:sp>
        <p:nvSpPr>
          <p:cNvPr id="22" name="Text 20"/>
          <p:cNvSpPr/>
          <p:nvPr/>
        </p:nvSpPr>
        <p:spPr>
          <a:xfrm>
            <a:off x="5581613" y="1777194"/>
            <a:ext cx="1352550" cy="238125"/>
          </a:xfrm>
          <a:prstGeom prst="roundRect">
            <a:avLst>
              <a:gd name="adj" fmla="val 18432"/>
            </a:avLst>
          </a:prstGeom>
          <a:solidFill>
            <a:srgbClr val="FFFFFF"/>
          </a:solidFill>
          <a:ln w="4763">
            <a:solidFill>
              <a:srgbClr val="0D282F">
                <a:alpha val="14902"/>
              </a:srgbClr>
            </a:solidFill>
            <a:prstDash val="solid"/>
          </a:ln>
        </p:spPr>
        <p:txBody>
          <a:bodyPr wrap="square" lIns="0" tIns="0" rIns="0" bIns="0" rtlCol="0" anchor="ctr"/>
          <a:lstStyle/>
          <a:p>
            <a:pPr algn="l" indent="0" marL="0">
              <a:lnSpc>
                <a:spcPts val="1080"/>
              </a:lnSpc>
              <a:buNone/>
            </a:pPr>
            <a:r>
              <a:rPr lang="en-US" sz="700" dirty="0">
                <a:solidFill>
                  <a:srgbClr val="0F2A2E"/>
                </a:solidFill>
                <a:latin typeface="Inter" pitchFamily="34" charset="0"/>
                <a:ea typeface="Inter" pitchFamily="34" charset="-122"/>
                <a:cs typeface="Inter" pitchFamily="34" charset="-120"/>
              </a:rPr>
              <a:t>Main Activity</a:t>
            </a:r>
            <a:endParaRPr lang="en-US" sz="700" dirty="0"/>
          </a:p>
        </p:txBody>
      </p:sp>
      <p:sp>
        <p:nvSpPr>
          <p:cNvPr id="23" name="Text 21"/>
          <p:cNvSpPr/>
          <p:nvPr/>
        </p:nvSpPr>
        <p:spPr>
          <a:xfrm>
            <a:off x="7008763" y="1632458"/>
            <a:ext cx="13525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Time (min)</a:t>
            </a:r>
            <a:endParaRPr lang="en-US" sz="600" dirty="0"/>
          </a:p>
        </p:txBody>
      </p:sp>
      <p:sp>
        <p:nvSpPr>
          <p:cNvPr id="24" name="Text 22"/>
          <p:cNvSpPr/>
          <p:nvPr/>
        </p:nvSpPr>
        <p:spPr>
          <a:xfrm>
            <a:off x="7008763" y="1777194"/>
            <a:ext cx="1352550" cy="238125"/>
          </a:xfrm>
          <a:prstGeom prst="roundRect">
            <a:avLst>
              <a:gd name="adj" fmla="val 18432"/>
            </a:avLst>
          </a:prstGeom>
          <a:solidFill>
            <a:srgbClr val="FFFFFF"/>
          </a:solidFill>
          <a:ln w="4763">
            <a:solidFill>
              <a:srgbClr val="0D282F">
                <a:alpha val="14902"/>
              </a:srgbClr>
            </a:solidFill>
            <a:prstDash val="solid"/>
          </a:ln>
        </p:spPr>
        <p:txBody>
          <a:bodyPr wrap="square" lIns="0" tIns="0" rIns="0" bIns="0" rtlCol="0" anchor="ctr"/>
          <a:lstStyle/>
          <a:p>
            <a:pPr algn="l" indent="0" marL="0">
              <a:lnSpc>
                <a:spcPts val="1080"/>
              </a:lnSpc>
              <a:buNone/>
            </a:pPr>
            <a:r>
              <a:rPr lang="en-US" sz="700" dirty="0">
                <a:solidFill>
                  <a:srgbClr val="0F2A2E"/>
                </a:solidFill>
                <a:latin typeface="Inter" pitchFamily="34" charset="0"/>
                <a:ea typeface="Inter" pitchFamily="34" charset="-122"/>
                <a:cs typeface="Inter" pitchFamily="34" charset="-120"/>
              </a:rPr>
              <a:t>20</a:t>
            </a:r>
            <a:endParaRPr lang="en-US" sz="700" dirty="0"/>
          </a:p>
        </p:txBody>
      </p:sp>
      <p:sp>
        <p:nvSpPr>
          <p:cNvPr id="25" name="Text 23"/>
          <p:cNvSpPr/>
          <p:nvPr/>
        </p:nvSpPr>
        <p:spPr>
          <a:xfrm>
            <a:off x="4152900" y="2077380"/>
            <a:ext cx="42100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Year groups</a:t>
            </a:r>
            <a:endParaRPr lang="en-US" sz="600" dirty="0"/>
          </a:p>
        </p:txBody>
      </p:sp>
      <p:sp>
        <p:nvSpPr>
          <p:cNvPr id="26" name="Text 24"/>
          <p:cNvSpPr/>
          <p:nvPr/>
        </p:nvSpPr>
        <p:spPr>
          <a:xfrm>
            <a:off x="4152900" y="2222488"/>
            <a:ext cx="4210050" cy="161925"/>
          </a:xfrm>
          <a:prstGeom prst="rect">
            <a:avLst/>
          </a:prstGeom>
          <a:ln/>
        </p:spPr>
        <p:txBody>
          <a:bodyPr wrap="square" lIns="0" tIns="0" rIns="0" bIns="0" rtlCol="0" anchor="t"/>
          <a:lstStyle/>
          <a:p>
            <a:pPr algn="l" indent="0" marL="0">
              <a:lnSpc>
                <a:spcPts val="972"/>
              </a:lnSpc>
              <a:buNone/>
            </a:pPr>
            <a:r>
              <a:rPr lang="en-US" sz="600" dirty="0">
                <a:solidFill>
                  <a:srgbClr val="FFFFFF"/>
                </a:solidFill>
                <a:highlight>
                  <a:srgbClr val="14B8A6"/>
                </a:highlight>
                <a:latin typeface="Inter" pitchFamily="34" charset="0"/>
                <a:ea typeface="Inter" pitchFamily="34" charset="-122"/>
                <a:cs typeface="Inter" pitchFamily="34" charset="-120"/>
              </a:rPr>
              <a:t>Year 3</a:t>
            </a:r>
            <a:pPr algn="l" indent="0" marL="0">
              <a:lnSpc>
                <a:spcPts val="972"/>
              </a:lnSpc>
              <a:buNone/>
            </a:pPr>
            <a:r>
              <a:rPr lang="en-US" sz="600" dirty="0">
                <a:solidFill>
                  <a:srgbClr val="FFFFFF"/>
                </a:solidFill>
                <a:highlight>
                  <a:srgbClr val="14B8A6"/>
                </a:highlight>
                <a:latin typeface="Inter" pitchFamily="34" charset="0"/>
                <a:ea typeface="Inter" pitchFamily="34" charset="-122"/>
                <a:cs typeface="Inter" pitchFamily="34" charset="-120"/>
              </a:rPr>
              <a:t>Year 4</a:t>
            </a:r>
            <a:pPr algn="l" indent="0" marL="0">
              <a:lnSpc>
                <a:spcPts val="972"/>
              </a:lnSpc>
              <a:buNone/>
            </a:pPr>
            <a:r>
              <a:rPr lang="en-US" sz="600" dirty="0">
                <a:solidFill>
                  <a:srgbClr val="6B7D80"/>
                </a:solidFill>
                <a:highlight>
                  <a:srgbClr val="FFFAF7"/>
                </a:highlight>
                <a:latin typeface="Inter" pitchFamily="34" charset="0"/>
                <a:ea typeface="Inter" pitchFamily="34" charset="-122"/>
                <a:cs typeface="Inter" pitchFamily="34" charset="-120"/>
              </a:rPr>
              <a:t>Year 5</a:t>
            </a:r>
            <a:pPr algn="l" indent="0" marL="0">
              <a:lnSpc>
                <a:spcPts val="972"/>
              </a:lnSpc>
              <a:buNone/>
            </a:pPr>
            <a:r>
              <a:rPr lang="en-US" sz="600" dirty="0">
                <a:solidFill>
                  <a:srgbClr val="6B7D80"/>
                </a:solidFill>
                <a:highlight>
                  <a:srgbClr val="FFFAF7"/>
                </a:highlight>
                <a:latin typeface="Inter" pitchFamily="34" charset="0"/>
                <a:ea typeface="Inter" pitchFamily="34" charset="-122"/>
                <a:cs typeface="Inter" pitchFamily="34" charset="-120"/>
              </a:rPr>
              <a:t>Year 6</a:t>
            </a:r>
            <a:endParaRPr lang="en-US" sz="600" dirty="0"/>
          </a:p>
        </p:txBody>
      </p:sp>
      <p:sp>
        <p:nvSpPr>
          <p:cNvPr id="27" name="Text 25"/>
          <p:cNvSpPr/>
          <p:nvPr/>
        </p:nvSpPr>
        <p:spPr>
          <a:xfrm>
            <a:off x="4152900" y="2446846"/>
            <a:ext cx="4210050"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Instructions</a:t>
            </a:r>
            <a:endParaRPr lang="en-US" sz="600" dirty="0"/>
          </a:p>
        </p:txBody>
      </p:sp>
      <p:sp>
        <p:nvSpPr>
          <p:cNvPr id="28" name="Text 26"/>
          <p:cNvSpPr/>
          <p:nvPr/>
        </p:nvSpPr>
        <p:spPr>
          <a:xfrm>
            <a:off x="4152900" y="2589981"/>
            <a:ext cx="4210050" cy="342900"/>
          </a:xfrm>
          <a:prstGeom prst="roundRect">
            <a:avLst>
              <a:gd name="adj" fmla="val 8889"/>
            </a:avLst>
          </a:prstGeom>
          <a:solidFill>
            <a:srgbClr val="FFFFFF"/>
          </a:solidFill>
          <a:ln w="4763">
            <a:solidFill>
              <a:srgbClr val="0D282F">
                <a:alpha val="14902"/>
              </a:srgbClr>
            </a:solidFill>
            <a:prstDash val="solid"/>
          </a:ln>
        </p:spPr>
        <p:txBody>
          <a:bodyPr wrap="square" lIns="0" tIns="0" rIns="0" bIns="0" rtlCol="0" anchor="ctr"/>
          <a:lstStyle/>
          <a:p>
            <a:pPr algn="l" indent="0" marL="0">
              <a:lnSpc>
                <a:spcPts val="940"/>
              </a:lnSpc>
              <a:buNone/>
            </a:pPr>
            <a:r>
              <a:rPr lang="en-US" sz="600" dirty="0">
                <a:solidFill>
                  <a:srgbClr val="0F2A2E"/>
                </a:solidFill>
                <a:latin typeface="Inter" pitchFamily="34" charset="0"/>
                <a:ea typeface="Inter" pitchFamily="34" charset="-122"/>
                <a:cs typeface="Inter" pitchFamily="34" charset="-120"/>
              </a:rPr>
              <a:t>Groups of four create three still images that retell a familiar fable. Use levels, facial expression, and gesture.</a:t>
            </a:r>
            <a:endParaRPr lang="en-US" sz="600" dirty="0"/>
          </a:p>
        </p:txBody>
      </p:sp>
      <p:sp>
        <p:nvSpPr>
          <p:cNvPr id="29" name="Shape 27"/>
          <p:cNvSpPr/>
          <p:nvPr/>
        </p:nvSpPr>
        <p:spPr>
          <a:xfrm>
            <a:off x="4152900" y="2993752"/>
            <a:ext cx="4210050" cy="990600"/>
          </a:xfrm>
          <a:prstGeom prst="roundRect">
            <a:avLst>
              <a:gd name="adj" fmla="val 5680"/>
            </a:avLst>
          </a:prstGeom>
          <a:solidFill>
            <a:srgbClr val="FF7373">
              <a:alpha val="7843"/>
            </a:srgbClr>
          </a:solidFill>
          <a:ln w="9525">
            <a:solidFill>
              <a:srgbClr val="FF6B6B">
                <a:alpha val="29804"/>
              </a:srgbClr>
            </a:solidFill>
            <a:prstDash val="solid"/>
          </a:ln>
        </p:spPr>
      </p:sp>
      <p:sp>
        <p:nvSpPr>
          <p:cNvPr id="30" name="Text 28"/>
          <p:cNvSpPr/>
          <p:nvPr/>
        </p:nvSpPr>
        <p:spPr>
          <a:xfrm>
            <a:off x="4255294" y="3064259"/>
            <a:ext cx="4005262" cy="138113"/>
          </a:xfrm>
          <a:prstGeom prst="rect">
            <a:avLst/>
          </a:prstGeom>
          <a:ln/>
        </p:spPr>
        <p:txBody>
          <a:bodyPr wrap="square" lIns="0" tIns="0" rIns="0" bIns="0" rtlCol="0" anchor="ctr"/>
          <a:lstStyle/>
          <a:p>
            <a:pPr algn="l" indent="0" marL="0">
              <a:lnSpc>
                <a:spcPts val="1080"/>
              </a:lnSpc>
              <a:buNone/>
            </a:pPr>
            <a:r>
              <a:rPr lang="en-US" sz="700" b="1" dirty="0">
                <a:solidFill>
                  <a:srgbClr val="FF5252"/>
                </a:solidFill>
                <a:latin typeface="Inter" pitchFamily="34" charset="0"/>
                <a:ea typeface="Inter" pitchFamily="34" charset="-122"/>
                <a:cs typeface="Inter" pitchFamily="34" charset="-120"/>
              </a:rPr>
              <a:t>Web links &amp; resources</a:t>
            </a:r>
            <a:pPr algn="l" indent="0" marL="0">
              <a:lnSpc>
                <a:spcPts val="918"/>
              </a:lnSpc>
              <a:buNone/>
            </a:pPr>
            <a:r>
              <a:rPr lang="en-US" sz="600" dirty="0">
                <a:solidFill>
                  <a:srgbClr val="FF5252"/>
                </a:solidFill>
                <a:latin typeface="Inter" pitchFamily="34" charset="0"/>
                <a:ea typeface="Inter" pitchFamily="34" charset="-122"/>
                <a:cs typeface="Inter" pitchFamily="34" charset="-120"/>
              </a:rPr>
              <a:t>All optional</a:t>
            </a:r>
            <a:endParaRPr lang="en-US" sz="700" dirty="0"/>
          </a:p>
        </p:txBody>
      </p:sp>
      <p:sp>
        <p:nvSpPr>
          <p:cNvPr id="31" name="Text 29"/>
          <p:cNvSpPr/>
          <p:nvPr/>
        </p:nvSpPr>
        <p:spPr>
          <a:xfrm>
            <a:off x="4254364" y="3242072"/>
            <a:ext cx="1976437" cy="309562"/>
          </a:xfrm>
          <a:prstGeom prst="roundRect">
            <a:avLst>
              <a:gd name="adj" fmla="val 9089"/>
            </a:avLst>
          </a:prstGeom>
          <a:solidFill>
            <a:srgbClr val="FFFFFF"/>
          </a:solidFill>
          <a:ln w="4763">
            <a:solidFill>
              <a:srgbClr val="FF6969">
                <a:alpha val="20000"/>
              </a:srgbClr>
            </a:solidFill>
            <a:prstDash val="solid"/>
          </a:ln>
        </p:spPr>
        <p:txBody>
          <a:bodyPr wrap="square" lIns="0" tIns="0" rIns="0" bIns="0" rtlCol="0" anchor="ctr"/>
          <a:lstStyle/>
          <a:p>
            <a:pPr algn="l" indent="0" marL="0">
              <a:lnSpc>
                <a:spcPts val="810"/>
              </a:lnSpc>
              <a:buNone/>
            </a:pPr>
            <a:r>
              <a:rPr lang="en-US" sz="500" dirty="0">
                <a:solidFill>
                  <a:srgbClr val="6B7D80"/>
                </a:solidFill>
                <a:latin typeface="Inter" pitchFamily="34" charset="0"/>
                <a:ea typeface="Inter" pitchFamily="34" charset="-122"/>
                <a:cs typeface="Inter" pitchFamily="34" charset="-120"/>
              </a:rPr>
              <a:t>Video link</a:t>
            </a:r>
            <a:pPr algn="l" indent="0" marL="0">
              <a:lnSpc>
                <a:spcPts val="972"/>
              </a:lnSpc>
              <a:buNone/>
            </a:pPr>
            <a:r>
              <a:rPr lang="en-US" sz="600" dirty="0">
                <a:solidFill>
                  <a:srgbClr val="0F2A2E"/>
                </a:solidFill>
                <a:latin typeface="Inter" pitchFamily="34" charset="0"/>
                <a:ea typeface="Inter" pitchFamily="34" charset="-122"/>
                <a:cs typeface="Inter" pitchFamily="34" charset="-120"/>
              </a:rPr>
              <a:t>youtube.com/watch?v=bP-hnB</a:t>
            </a:r>
            <a:endParaRPr lang="en-US" sz="500" dirty="0"/>
          </a:p>
        </p:txBody>
      </p:sp>
      <p:sp>
        <p:nvSpPr>
          <p:cNvPr id="32" name="Text 30"/>
          <p:cNvSpPr/>
          <p:nvPr/>
        </p:nvSpPr>
        <p:spPr>
          <a:xfrm>
            <a:off x="6285012" y="3242072"/>
            <a:ext cx="1976437" cy="309562"/>
          </a:xfrm>
          <a:prstGeom prst="roundRect">
            <a:avLst>
              <a:gd name="adj" fmla="val 9089"/>
            </a:avLst>
          </a:prstGeom>
          <a:solidFill>
            <a:srgbClr val="FFFFFF"/>
          </a:solidFill>
          <a:ln w="4763">
            <a:solidFill>
              <a:srgbClr val="FF6969">
                <a:alpha val="20000"/>
              </a:srgbClr>
            </a:solidFill>
            <a:prstDash val="solid"/>
          </a:ln>
        </p:spPr>
        <p:txBody>
          <a:bodyPr wrap="square" lIns="0" tIns="0" rIns="0" bIns="0" rtlCol="0" anchor="ctr"/>
          <a:lstStyle/>
          <a:p>
            <a:pPr algn="l" indent="0" marL="0">
              <a:lnSpc>
                <a:spcPts val="810"/>
              </a:lnSpc>
              <a:buNone/>
            </a:pPr>
            <a:r>
              <a:rPr lang="en-US" sz="500" dirty="0">
                <a:solidFill>
                  <a:srgbClr val="6B7D80"/>
                </a:solidFill>
                <a:latin typeface="Inter" pitchFamily="34" charset="0"/>
                <a:ea typeface="Inter" pitchFamily="34" charset="-122"/>
                <a:cs typeface="Inter" pitchFamily="34" charset="-120"/>
              </a:rPr>
              <a:t>Web resource</a:t>
            </a:r>
            <a:pPr algn="l" indent="0" marL="0">
              <a:lnSpc>
                <a:spcPts val="972"/>
              </a:lnSpc>
              <a:buNone/>
            </a:pPr>
            <a:r>
              <a:rPr lang="en-US" sz="600" dirty="0">
                <a:solidFill>
                  <a:srgbClr val="0F2A2E"/>
                </a:solidFill>
                <a:latin typeface="Inter" pitchFamily="34" charset="0"/>
                <a:ea typeface="Inter" pitchFamily="34" charset="-122"/>
                <a:cs typeface="Inter" pitchFamily="34" charset="-120"/>
              </a:rPr>
              <a:t>teachingideas.co.uk/drama</a:t>
            </a:r>
            <a:endParaRPr lang="en-US" sz="500" dirty="0"/>
          </a:p>
        </p:txBody>
      </p:sp>
      <p:sp>
        <p:nvSpPr>
          <p:cNvPr id="33" name="Text 31"/>
          <p:cNvSpPr/>
          <p:nvPr/>
        </p:nvSpPr>
        <p:spPr>
          <a:xfrm>
            <a:off x="4254364" y="3604692"/>
            <a:ext cx="1976437" cy="309562"/>
          </a:xfrm>
          <a:prstGeom prst="roundRect">
            <a:avLst>
              <a:gd name="adj" fmla="val 9089"/>
            </a:avLst>
          </a:prstGeom>
          <a:solidFill>
            <a:srgbClr val="FFFFFF"/>
          </a:solidFill>
          <a:ln w="4763">
            <a:solidFill>
              <a:srgbClr val="FF6969">
                <a:alpha val="20000"/>
              </a:srgbClr>
            </a:solidFill>
            <a:prstDash val="solid"/>
          </a:ln>
        </p:spPr>
        <p:txBody>
          <a:bodyPr wrap="square" lIns="0" tIns="0" rIns="0" bIns="0" rtlCol="0" anchor="ctr"/>
          <a:lstStyle/>
          <a:p>
            <a:pPr algn="l" indent="0" marL="0">
              <a:lnSpc>
                <a:spcPts val="810"/>
              </a:lnSpc>
              <a:buNone/>
            </a:pPr>
            <a:r>
              <a:rPr lang="en-US" sz="500" dirty="0">
                <a:solidFill>
                  <a:srgbClr val="6B7D80"/>
                </a:solidFill>
                <a:latin typeface="Inter" pitchFamily="34" charset="0"/>
                <a:ea typeface="Inter" pitchFamily="34" charset="-122"/>
                <a:cs typeface="Inter" pitchFamily="34" charset="-120"/>
              </a:rPr>
              <a:t>Backing track</a:t>
            </a:r>
            <a:pPr algn="l" indent="0" marL="0">
              <a:lnSpc>
                <a:spcPts val="972"/>
              </a:lnSpc>
              <a:buNone/>
            </a:pPr>
            <a:r>
              <a:rPr lang="en-US" sz="600" dirty="0">
                <a:solidFill>
                  <a:srgbClr val="0F2A2E"/>
                </a:solidFill>
                <a:latin typeface="Inter" pitchFamily="34" charset="0"/>
                <a:ea typeface="Inter" pitchFamily="34" charset="-122"/>
                <a:cs typeface="Inter" pitchFamily="34" charset="-120"/>
              </a:rPr>
              <a:t>spotify.com/track/...</a:t>
            </a:r>
            <a:endParaRPr lang="en-US" sz="500" dirty="0"/>
          </a:p>
        </p:txBody>
      </p:sp>
      <p:sp>
        <p:nvSpPr>
          <p:cNvPr id="34" name="Text 32"/>
          <p:cNvSpPr/>
          <p:nvPr/>
        </p:nvSpPr>
        <p:spPr>
          <a:xfrm>
            <a:off x="6285012" y="3604692"/>
            <a:ext cx="1976437" cy="309562"/>
          </a:xfrm>
          <a:prstGeom prst="roundRect">
            <a:avLst>
              <a:gd name="adj" fmla="val 9089"/>
            </a:avLst>
          </a:prstGeom>
          <a:solidFill>
            <a:srgbClr val="FF6262">
              <a:alpha val="5098"/>
            </a:srgbClr>
          </a:solidFill>
          <a:ln w="4763">
            <a:solidFill>
              <a:srgbClr val="FF6B6B">
                <a:alpha val="29804"/>
              </a:srgbClr>
            </a:solidFill>
            <a:prstDash val="dash"/>
          </a:ln>
        </p:spPr>
        <p:txBody>
          <a:bodyPr wrap="square" lIns="0" tIns="0" rIns="0" bIns="0" rtlCol="0" anchor="ctr"/>
          <a:lstStyle/>
          <a:p>
            <a:pPr algn="l" indent="0" marL="0">
              <a:lnSpc>
                <a:spcPts val="810"/>
              </a:lnSpc>
              <a:buNone/>
            </a:pPr>
            <a:r>
              <a:rPr lang="en-US" sz="500" dirty="0">
                <a:solidFill>
                  <a:srgbClr val="6B7D80"/>
                </a:solidFill>
                <a:latin typeface="Inter" pitchFamily="34" charset="0"/>
                <a:ea typeface="Inter" pitchFamily="34" charset="-122"/>
                <a:cs typeface="Inter" pitchFamily="34" charset="-120"/>
              </a:rPr>
              <a:t>Worksheet</a:t>
            </a:r>
            <a:pPr algn="l" indent="0" marL="0">
              <a:lnSpc>
                <a:spcPts val="972"/>
              </a:lnSpc>
              <a:buNone/>
            </a:pPr>
            <a:r>
              <a:rPr lang="en-US" sz="600" dirty="0">
                <a:solidFill>
                  <a:srgbClr val="FF5252"/>
                </a:solidFill>
                <a:latin typeface="Inter" pitchFamily="34" charset="0"/>
                <a:ea typeface="Inter" pitchFamily="34" charset="-122"/>
                <a:cs typeface="Inter" pitchFamily="34" charset="-120"/>
              </a:rPr>
              <a:t>+ Add link</a:t>
            </a:r>
            <a:endParaRPr lang="en-US" sz="500" dirty="0"/>
          </a:p>
        </p:txBody>
      </p:sp>
      <p:sp>
        <p:nvSpPr>
          <p:cNvPr id="35" name="Text 33"/>
          <p:cNvSpPr/>
          <p:nvPr/>
        </p:nvSpPr>
        <p:spPr>
          <a:xfrm>
            <a:off x="4152900" y="4045111"/>
            <a:ext cx="4210050" cy="252412"/>
          </a:xfrm>
          <a:prstGeom prst="rect">
            <a:avLst/>
          </a:prstGeom>
          <a:ln/>
        </p:spPr>
        <p:txBody>
          <a:bodyPr wrap="square" lIns="0" tIns="0" rIns="0" bIns="0" rtlCol="0" anchor="ctr"/>
          <a:lstStyle/>
          <a:p>
            <a:pPr algn="l" indent="0" marL="0">
              <a:lnSpc>
                <a:spcPts val="1026"/>
              </a:lnSpc>
              <a:buNone/>
            </a:pPr>
            <a:r>
              <a:rPr lang="en-US" sz="600" dirty="0">
                <a:solidFill>
                  <a:srgbClr val="6B7D80"/>
                </a:solidFill>
                <a:latin typeface="Inter" pitchFamily="34" charset="0"/>
                <a:ea typeface="Inter" pitchFamily="34" charset="-122"/>
                <a:cs typeface="Inter" pitchFamily="34" charset="-120"/>
              </a:rPr>
              <a:t>Cancel</a:t>
            </a:r>
            <a:pPr algn="l" indent="0" marL="0">
              <a:lnSpc>
                <a:spcPts val="1080"/>
              </a:lnSpc>
              <a:buNone/>
            </a:pPr>
            <a:r>
              <a:rPr lang="en-US" sz="700" b="1" dirty="0">
                <a:solidFill>
                  <a:srgbClr val="FFFFFF"/>
                </a:solidFill>
                <a:highlight>
                  <a:srgbClr val="008272"/>
                </a:highlight>
                <a:latin typeface="Inter" pitchFamily="34" charset="0"/>
                <a:ea typeface="Inter" pitchFamily="34" charset="-122"/>
                <a:cs typeface="Inter" pitchFamily="34" charset="-120"/>
              </a:rPr>
              <a:t>Save activity</a:t>
            </a:r>
            <a:endParaRPr lang="en-US" sz="600" dirty="0"/>
          </a:p>
        </p:txBody>
      </p:sp>
      <p:pic>
        <p:nvPicPr>
          <p:cNvPr id="3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17169" y="744438"/>
            <a:ext cx="4481512" cy="333375"/>
          </a:xfrm>
          <a:prstGeom prst="rect">
            <a:avLst/>
          </a:prstGeom>
        </p:spPr>
      </p:pic>
      <p:pic>
        <p:nvPicPr>
          <p:cNvPr id="37"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8272"/>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4" name="Text 1"/>
          <p:cNvSpPr/>
          <p:nvPr/>
        </p:nvSpPr>
        <p:spPr>
          <a:xfrm>
            <a:off x="456195" y="206499"/>
            <a:ext cx="2176462" cy="128588"/>
          </a:xfrm>
          <a:prstGeom prst="rect">
            <a:avLst/>
          </a:prstGeom>
          <a:ln/>
        </p:spPr>
        <p:txBody>
          <a:bodyPr wrap="square" lIns="0" tIns="0" rIns="0" bIns="0" rtlCol="0" anchor="t"/>
          <a:lstStyle/>
          <a:p>
            <a:pPr algn="l" indent="0" marL="0">
              <a:lnSpc>
                <a:spcPts val="1026"/>
              </a:lnSpc>
              <a:spcAft>
                <a:spcPts val="324"/>
              </a:spcAft>
              <a:buNone/>
            </a:pPr>
            <a:r>
              <a:rPr lang="en-US" sz="600" b="1" dirty="0">
                <a:solidFill>
                  <a:srgbClr val="FF6B6B"/>
                </a:solidFill>
                <a:latin typeface="Inter" pitchFamily="34" charset="0"/>
                <a:ea typeface="Inter" pitchFamily="34" charset="-122"/>
                <a:cs typeface="Inter" pitchFamily="34" charset="-120"/>
              </a:rPr>
              <a:t>FEATURE 06 · PRINT, PROJECT, SHARE</a:t>
            </a:r>
            <a:endParaRPr lang="en-US" sz="600" dirty="0"/>
          </a:p>
        </p:txBody>
      </p:sp>
      <p:sp>
        <p:nvSpPr>
          <p:cNvPr id="5" name="Text 2"/>
          <p:cNvSpPr/>
          <p:nvPr/>
        </p:nvSpPr>
        <p:spPr>
          <a:xfrm>
            <a:off x="457200" y="376535"/>
            <a:ext cx="5486400" cy="495300"/>
          </a:xfrm>
          <a:prstGeom prst="rect">
            <a:avLst/>
          </a:prstGeom>
          <a:ln/>
        </p:spPr>
        <p:txBody>
          <a:bodyPr wrap="square" lIns="0" tIns="0" rIns="0" bIns="0" rtlCol="0" anchor="t"/>
          <a:lstStyle/>
          <a:p>
            <a:pPr algn="l" indent="0" marL="0">
              <a:lnSpc>
                <a:spcPts val="1947"/>
              </a:lnSpc>
              <a:buNone/>
            </a:pPr>
            <a:r>
              <a:rPr lang="en-US" sz="1800" b="1" dirty="0">
                <a:solidFill>
                  <a:srgbClr val="FFFFFF"/>
                </a:solidFill>
                <a:latin typeface="Inter" pitchFamily="34" charset="0"/>
                <a:ea typeface="Inter" pitchFamily="34" charset="-122"/>
                <a:cs typeface="Inter" pitchFamily="34" charset="-120"/>
              </a:rPr>
              <a:t>The same workspace — from</a:t>
            </a:r>
            <a:pPr algn="l" indent="0" marL="0">
              <a:lnSpc>
                <a:spcPts val="1947"/>
              </a:lnSpc>
              <a:buNone/>
            </a:pPr>
            <a:r>
              <a:rPr lang="en-US" sz="1800" b="1" dirty="0">
                <a:solidFill>
                  <a:srgbClr val="FFFFFF"/>
                </a:solidFill>
                <a:latin typeface="Inter" pitchFamily="34" charset="0"/>
                <a:ea typeface="Inter" pitchFamily="34" charset="-122"/>
                <a:cs typeface="Inter" pitchFamily="34" charset="-120"/>
              </a:rPr>
              <a:t> </a:t>
            </a:r>
            <a:pPr algn="l" indent="0" marL="0">
              <a:lnSpc>
                <a:spcPts val="1947"/>
              </a:lnSpc>
              <a:buNone/>
            </a:pPr>
            <a:r>
              <a:rPr lang="en-US" sz="1800" b="1" dirty="0">
                <a:solidFill>
                  <a:srgbClr val="FF6B6B"/>
                </a:solidFill>
                <a:latin typeface="Inter" pitchFamily="34" charset="0"/>
                <a:ea typeface="Inter" pitchFamily="34" charset="-122"/>
                <a:cs typeface="Inter" pitchFamily="34" charset="-120"/>
              </a:rPr>
              <a:t>A-Level Drama</a:t>
            </a:r>
            <a:pPr algn="l" indent="0" marL="0">
              <a:lnSpc>
                <a:spcPts val="1947"/>
              </a:lnSpc>
              <a:buNone/>
            </a:pPr>
            <a:r>
              <a:rPr lang="en-US" sz="1800" b="1" dirty="0">
                <a:solidFill>
                  <a:srgbClr val="FFFFFF"/>
                </a:solidFill>
                <a:latin typeface="Inter" pitchFamily="34" charset="0"/>
                <a:ea typeface="Inter" pitchFamily="34" charset="-122"/>
                <a:cs typeface="Inter" pitchFamily="34" charset="-120"/>
              </a:rPr>
              <a:t> to</a:t>
            </a:r>
            <a:pPr algn="l" indent="0" marL="0">
              <a:lnSpc>
                <a:spcPts val="1947"/>
              </a:lnSpc>
              <a:buNone/>
            </a:pPr>
            <a:r>
              <a:rPr lang="en-US" sz="1800" b="1" dirty="0">
                <a:solidFill>
                  <a:srgbClr val="FFFFFF"/>
                </a:solidFill>
                <a:latin typeface="Inter" pitchFamily="34" charset="0"/>
                <a:ea typeface="Inter" pitchFamily="34" charset="-122"/>
                <a:cs typeface="Inter" pitchFamily="34" charset="-120"/>
              </a:rPr>
              <a:t> </a:t>
            </a:r>
            <a:pPr algn="l" indent="0" marL="0">
              <a:lnSpc>
                <a:spcPts val="1947"/>
              </a:lnSpc>
              <a:buNone/>
            </a:pPr>
            <a:r>
              <a:rPr lang="en-US" sz="1800" b="1" dirty="0">
                <a:solidFill>
                  <a:srgbClr val="FF6B6B"/>
                </a:solidFill>
                <a:latin typeface="Inter" pitchFamily="34" charset="0"/>
                <a:ea typeface="Inter" pitchFamily="34" charset="-122"/>
                <a:cs typeface="Inter" pitchFamily="34" charset="-120"/>
              </a:rPr>
              <a:t>EYFS Reception</a:t>
            </a:r>
            <a:pPr algn="l" indent="0" marL="0">
              <a:lnSpc>
                <a:spcPts val="1947"/>
              </a:lnSpc>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3"/>
          <p:cNvSpPr/>
          <p:nvPr/>
        </p:nvSpPr>
        <p:spPr>
          <a:xfrm>
            <a:off x="6858186" y="624074"/>
            <a:ext cx="1828800" cy="138113"/>
          </a:xfrm>
          <a:prstGeom prst="rect">
            <a:avLst/>
          </a:prstGeom>
          <a:ln/>
        </p:spPr>
        <p:txBody>
          <a:bodyPr wrap="square" lIns="0" tIns="0" rIns="0" bIns="0" rtlCol="0" anchor="t"/>
          <a:lstStyle/>
          <a:p>
            <a:pPr algn="r" indent="0" marL="0">
              <a:lnSpc>
                <a:spcPts val="1080"/>
              </a:lnSpc>
              <a:buNone/>
            </a:pPr>
            <a:r>
              <a:rPr lang="en-US" sz="700" b="1" dirty="0">
                <a:solidFill>
                  <a:srgbClr val="FFFFFF"/>
                </a:solidFill>
                <a:latin typeface="Inter" pitchFamily="34" charset="0"/>
                <a:ea typeface="Inter" pitchFamily="34" charset="-122"/>
                <a:cs typeface="Inter" pitchFamily="34" charset="-120"/>
              </a:rPr>
              <a:t>PDF · A4 print-ready</a:t>
            </a:r>
            <a:endParaRPr lang="en-US" sz="700" dirty="0"/>
          </a:p>
        </p:txBody>
      </p:sp>
      <p:sp>
        <p:nvSpPr>
          <p:cNvPr id="7" name="Text 4"/>
          <p:cNvSpPr/>
          <p:nvPr/>
        </p:nvSpPr>
        <p:spPr>
          <a:xfrm>
            <a:off x="6858186" y="761777"/>
            <a:ext cx="1828800" cy="109537"/>
          </a:xfrm>
          <a:prstGeom prst="rect">
            <a:avLst/>
          </a:prstGeom>
          <a:ln/>
        </p:spPr>
        <p:txBody>
          <a:bodyPr wrap="square" lIns="0" tIns="0" rIns="0" bIns="0" rtlCol="0" anchor="t"/>
          <a:lstStyle/>
          <a:p>
            <a:pPr algn="r" indent="0" marL="0">
              <a:lnSpc>
                <a:spcPts val="864"/>
              </a:lnSpc>
              <a:buNone/>
            </a:pPr>
            <a:r>
              <a:rPr lang="en-US" sz="500" dirty="0">
                <a:solidFill>
                  <a:srgbClr val="FFFFFF"/>
                </a:solidFill>
                <a:latin typeface="Inter" pitchFamily="34" charset="0"/>
                <a:ea typeface="Inter" pitchFamily="34" charset="-122"/>
                <a:cs typeface="Inter" pitchFamily="34" charset="-120"/>
              </a:rPr>
              <a:t>I-can statements · clickable weblinks · school header</a:t>
            </a:r>
            <a:endParaRPr lang="en-US" sz="500" dirty="0"/>
          </a:p>
        </p:txBody>
      </p:sp>
      <p:sp>
        <p:nvSpPr>
          <p:cNvPr id="8" name="Shape 5"/>
          <p:cNvSpPr/>
          <p:nvPr/>
        </p:nvSpPr>
        <p:spPr>
          <a:xfrm>
            <a:off x="456716" y="994618"/>
            <a:ext cx="4024312" cy="3943350"/>
          </a:xfrm>
          <a:prstGeom prst="roundRect">
            <a:avLst>
              <a:gd name="adj" fmla="val 269"/>
            </a:avLst>
          </a:prstGeom>
          <a:solidFill>
            <a:srgbClr val="FFFFFF"/>
          </a:solidFill>
          <a:ln/>
          <a:effectLst>
            <a:outerShdw sx="100000" sy="100000" kx="0" ky="0" algn="bl" rotWithShape="0" blurRad="333375" dist="142875" dir="5400000">
              <a:srgbClr val="000000">
                <a:alpha val="45000"/>
              </a:srgbClr>
            </a:outerShdw>
          </a:effectLst>
        </p:spPr>
      </p:sp>
      <p:sp>
        <p:nvSpPr>
          <p:cNvPr id="9" name="Shape 6"/>
          <p:cNvSpPr/>
          <p:nvPr/>
        </p:nvSpPr>
        <p:spPr>
          <a:xfrm>
            <a:off x="585304" y="1077404"/>
            <a:ext cx="3767137" cy="404813"/>
          </a:xfrm>
          <a:prstGeom prst="rect">
            <a:avLst/>
          </a:prstGeom>
          <a:ln/>
        </p:spPr>
      </p:sp>
      <p:sp>
        <p:nvSpPr>
          <p:cNvPr id="10" name="Text 7"/>
          <p:cNvSpPr/>
          <p:nvPr/>
        </p:nvSpPr>
        <p:spPr>
          <a:xfrm>
            <a:off x="584002" y="1077069"/>
            <a:ext cx="2281238" cy="109537"/>
          </a:xfrm>
          <a:prstGeom prst="rect">
            <a:avLst/>
          </a:prstGeom>
          <a:ln/>
        </p:spPr>
        <p:txBody>
          <a:bodyPr wrap="square" lIns="0" tIns="0" rIns="0" bIns="0" rtlCol="0" anchor="t"/>
          <a:lstStyle/>
          <a:p>
            <a:pPr algn="l" indent="0" marL="0">
              <a:lnSpc>
                <a:spcPts val="864"/>
              </a:lnSpc>
              <a:buNone/>
            </a:pPr>
            <a:r>
              <a:rPr lang="en-US" sz="500" b="1" dirty="0">
                <a:solidFill>
                  <a:srgbClr val="7C6BF0"/>
                </a:solidFill>
                <a:latin typeface="Inter" pitchFamily="34" charset="0"/>
                <a:ea typeface="Inter" pitchFamily="34" charset="-122"/>
                <a:cs typeface="Inter" pitchFamily="34" charset="-120"/>
              </a:rPr>
              <a:t>COOPERSALE HALL SCHOOL</a:t>
            </a:r>
            <a:endParaRPr lang="en-US" sz="500" dirty="0"/>
          </a:p>
        </p:txBody>
      </p:sp>
      <p:sp>
        <p:nvSpPr>
          <p:cNvPr id="11" name="Text 8"/>
          <p:cNvSpPr/>
          <p:nvPr/>
        </p:nvSpPr>
        <p:spPr>
          <a:xfrm>
            <a:off x="584002" y="1195983"/>
            <a:ext cx="2281238" cy="133350"/>
          </a:xfrm>
          <a:prstGeom prst="rect">
            <a:avLst/>
          </a:prstGeom>
          <a:ln/>
        </p:spPr>
        <p:txBody>
          <a:bodyPr wrap="square" lIns="0" tIns="0" rIns="0" bIns="0" rtlCol="0" anchor="t"/>
          <a:lstStyle/>
          <a:p>
            <a:pPr algn="l" indent="0" marL="0">
              <a:lnSpc>
                <a:spcPts val="1035"/>
              </a:lnSpc>
              <a:spcBef>
                <a:spcPts val="81"/>
              </a:spcBef>
              <a:buNone/>
            </a:pPr>
            <a:r>
              <a:rPr lang="en-US" sz="800" b="1" dirty="0">
                <a:solidFill>
                  <a:srgbClr val="0F2A2E"/>
                </a:solidFill>
                <a:latin typeface="Inter" pitchFamily="34" charset="0"/>
                <a:ea typeface="Inter" pitchFamily="34" charset="-122"/>
                <a:cs typeface="Inter" pitchFamily="34" charset="-120"/>
              </a:rPr>
              <a:t>Brecht in Practice — Gestus &amp; Verfremdung</a:t>
            </a:r>
            <a:endParaRPr lang="en-US" sz="800" dirty="0"/>
          </a:p>
        </p:txBody>
      </p:sp>
      <p:sp>
        <p:nvSpPr>
          <p:cNvPr id="12" name="Text 9"/>
          <p:cNvSpPr/>
          <p:nvPr/>
        </p:nvSpPr>
        <p:spPr>
          <a:xfrm>
            <a:off x="584002" y="1336402"/>
            <a:ext cx="2281238" cy="95250"/>
          </a:xfrm>
          <a:prstGeom prst="rect">
            <a:avLst/>
          </a:prstGeom>
          <a:ln/>
        </p:spPr>
        <p:txBody>
          <a:bodyPr wrap="square" lIns="0" tIns="0" rIns="0" bIns="0" rtlCol="0" anchor="t"/>
          <a:lstStyle/>
          <a:p>
            <a:pPr algn="l" indent="0" marL="0">
              <a:lnSpc>
                <a:spcPts val="756"/>
              </a:lnSpc>
              <a:spcBef>
                <a:spcPts val="61"/>
              </a:spcBef>
              <a:buNone/>
            </a:pPr>
            <a:r>
              <a:rPr lang="en-US" sz="500" dirty="0">
                <a:solidFill>
                  <a:srgbClr val="6B7D80"/>
                </a:solidFill>
                <a:latin typeface="Inter" pitchFamily="34" charset="0"/>
                <a:ea typeface="Inter" pitchFamily="34" charset="-122"/>
                <a:cs typeface="Inter" pitchFamily="34" charset="-120"/>
              </a:rPr>
              <a:t>Year 13 · A-Level Drama (Eduqas) · Component 1 · Lesson 4 of 8</a:t>
            </a:r>
            <a:endParaRPr lang="en-US" sz="500" dirty="0"/>
          </a:p>
        </p:txBody>
      </p:sp>
      <p:sp>
        <p:nvSpPr>
          <p:cNvPr id="13" name="Text 10"/>
          <p:cNvSpPr/>
          <p:nvPr/>
        </p:nvSpPr>
        <p:spPr>
          <a:xfrm>
            <a:off x="3933416" y="1078074"/>
            <a:ext cx="419100" cy="104775"/>
          </a:xfrm>
          <a:prstGeom prst="rect">
            <a:avLst/>
          </a:prstGeom>
          <a:ln/>
        </p:spPr>
        <p:txBody>
          <a:bodyPr wrap="square" lIns="0" tIns="0" rIns="0" bIns="0" rtlCol="0" anchor="t"/>
          <a:lstStyle/>
          <a:p>
            <a:pPr algn="r" indent="0" marL="0">
              <a:lnSpc>
                <a:spcPts val="842"/>
              </a:lnSpc>
              <a:buNone/>
            </a:pPr>
            <a:r>
              <a:rPr lang="en-US" sz="500" b="1" dirty="0">
                <a:solidFill>
                  <a:srgbClr val="0F2A2E"/>
                </a:solidFill>
                <a:latin typeface="Inter" pitchFamily="34" charset="0"/>
                <a:ea typeface="Inter" pitchFamily="34" charset="-122"/>
                <a:cs typeface="Inter" pitchFamily="34" charset="-120"/>
              </a:rPr>
              <a:t>80 min</a:t>
            </a:r>
            <a:endParaRPr lang="en-US" sz="500" dirty="0"/>
          </a:p>
        </p:txBody>
      </p:sp>
      <p:sp>
        <p:nvSpPr>
          <p:cNvPr id="14" name="Text 11"/>
          <p:cNvSpPr/>
          <p:nvPr/>
        </p:nvSpPr>
        <p:spPr>
          <a:xfrm>
            <a:off x="3933416" y="1183258"/>
            <a:ext cx="419100" cy="90488"/>
          </a:xfrm>
          <a:prstGeom prst="rect">
            <a:avLst/>
          </a:prstGeom>
          <a:ln/>
        </p:spPr>
        <p:txBody>
          <a:bodyPr wrap="square" lIns="0" tIns="0" rIns="0" bIns="0" rtlCol="0" anchor="t"/>
          <a:lstStyle/>
          <a:p>
            <a:pPr algn="r" indent="0" marL="0">
              <a:lnSpc>
                <a:spcPts val="702"/>
              </a:lnSpc>
              <a:buNone/>
            </a:pPr>
            <a:r>
              <a:rPr lang="en-US" sz="400" dirty="0">
                <a:solidFill>
                  <a:srgbClr val="6B7D80"/>
                </a:solidFill>
                <a:latin typeface="Inter" pitchFamily="34" charset="0"/>
                <a:ea typeface="Inter" pitchFamily="34" charset="-122"/>
                <a:cs typeface="Inter" pitchFamily="34" charset="-120"/>
              </a:rPr>
              <a:t>Spring 1 · Wk 3</a:t>
            </a:r>
            <a:endParaRPr lang="en-US" sz="400" dirty="0"/>
          </a:p>
        </p:txBody>
      </p:sp>
      <p:sp>
        <p:nvSpPr>
          <p:cNvPr id="15" name="Text 12"/>
          <p:cNvSpPr/>
          <p:nvPr/>
        </p:nvSpPr>
        <p:spPr>
          <a:xfrm>
            <a:off x="585788" y="1534418"/>
            <a:ext cx="2233612" cy="95250"/>
          </a:xfrm>
          <a:prstGeom prst="rect">
            <a:avLst/>
          </a:prstGeom>
          <a:ln/>
        </p:spPr>
        <p:txBody>
          <a:bodyPr wrap="square" lIns="0" tIns="0" rIns="0" bIns="0" rtlCol="0" anchor="t"/>
          <a:lstStyle/>
          <a:p>
            <a:pPr algn="l" indent="0" marL="0">
              <a:lnSpc>
                <a:spcPts val="756"/>
              </a:lnSpc>
              <a:buNone/>
            </a:pPr>
            <a:r>
              <a:rPr lang="en-US" sz="500" b="1" dirty="0">
                <a:solidFill>
                  <a:srgbClr val="0F2A2E"/>
                </a:solidFill>
                <a:latin typeface="Inter" pitchFamily="34" charset="0"/>
                <a:ea typeface="Inter" pitchFamily="34" charset="-122"/>
                <a:cs typeface="Inter" pitchFamily="34" charset="-120"/>
              </a:rPr>
              <a:t>LESSON OBJECTIVE</a:t>
            </a:r>
            <a:endParaRPr lang="en-US" sz="500" dirty="0"/>
          </a:p>
        </p:txBody>
      </p:sp>
      <p:sp>
        <p:nvSpPr>
          <p:cNvPr id="16" name="Text 13"/>
          <p:cNvSpPr/>
          <p:nvPr/>
        </p:nvSpPr>
        <p:spPr>
          <a:xfrm>
            <a:off x="585788" y="1640309"/>
            <a:ext cx="2233612" cy="271463"/>
          </a:xfrm>
          <a:prstGeom prst="rect">
            <a:avLst/>
          </a:prstGeom>
          <a:ln/>
        </p:spPr>
        <p:txBody>
          <a:bodyPr wrap="square" lIns="0" tIns="0" rIns="0" bIns="0" rtlCol="0" anchor="t"/>
          <a:lstStyle/>
          <a:p>
            <a:pPr algn="l" indent="0" marL="0">
              <a:lnSpc>
                <a:spcPts val="713"/>
              </a:lnSpc>
              <a:spcBef>
                <a:spcPts val="81"/>
              </a:spcBef>
              <a:buNone/>
            </a:pPr>
            <a:r>
              <a:rPr lang="en-US" sz="500" dirty="0">
                <a:solidFill>
                  <a:srgbClr val="0F2A2E"/>
                </a:solidFill>
                <a:latin typeface="Inter" pitchFamily="34" charset="0"/>
                <a:ea typeface="Inter" pitchFamily="34" charset="-122"/>
                <a:cs typeface="Inter" pitchFamily="34" charset="-120"/>
              </a:rPr>
              <a:t>Apply Brechtian techniques (gestus, direct address, placard, song) to a 3-minute extract from Mother Courage and analyse how each device disrupts naturalistic empathy.</a:t>
            </a:r>
            <a:endParaRPr lang="en-US" sz="500" dirty="0"/>
          </a:p>
        </p:txBody>
      </p:sp>
      <p:sp>
        <p:nvSpPr>
          <p:cNvPr id="17" name="Shape 14"/>
          <p:cNvSpPr/>
          <p:nvPr/>
        </p:nvSpPr>
        <p:spPr>
          <a:xfrm>
            <a:off x="2884847" y="1533004"/>
            <a:ext cx="1466850" cy="676275"/>
          </a:xfrm>
          <a:prstGeom prst="roundRect">
            <a:avLst>
              <a:gd name="adj" fmla="val 6094"/>
            </a:avLst>
          </a:prstGeom>
          <a:solidFill>
            <a:srgbClr val="F4F1FB"/>
          </a:solidFill>
          <a:ln/>
        </p:spPr>
      </p:sp>
      <p:sp>
        <p:nvSpPr>
          <p:cNvPr id="18" name="Text 15"/>
          <p:cNvSpPr/>
          <p:nvPr/>
        </p:nvSpPr>
        <p:spPr>
          <a:xfrm>
            <a:off x="2934853" y="1564184"/>
            <a:ext cx="1366837" cy="90488"/>
          </a:xfrm>
          <a:prstGeom prst="rect">
            <a:avLst/>
          </a:prstGeom>
          <a:ln/>
        </p:spPr>
        <p:txBody>
          <a:bodyPr wrap="square" lIns="0" tIns="0" rIns="0" bIns="0" rtlCol="0" anchor="t"/>
          <a:lstStyle/>
          <a:p>
            <a:pPr algn="l" indent="0" marL="0">
              <a:lnSpc>
                <a:spcPts val="702"/>
              </a:lnSpc>
              <a:buNone/>
            </a:pPr>
            <a:r>
              <a:rPr lang="en-US" sz="400" b="1" dirty="0">
                <a:solidFill>
                  <a:srgbClr val="7C6BF0"/>
                </a:solidFill>
                <a:latin typeface="Inter" pitchFamily="34" charset="0"/>
                <a:ea typeface="Inter" pitchFamily="34" charset="-122"/>
                <a:cs typeface="Inter" pitchFamily="34" charset="-120"/>
              </a:rPr>
              <a:t>I CAN…</a:t>
            </a:r>
            <a:endParaRPr lang="en-US" sz="400" dirty="0"/>
          </a:p>
        </p:txBody>
      </p:sp>
      <p:sp>
        <p:nvSpPr>
          <p:cNvPr id="19" name="Text 16"/>
          <p:cNvSpPr/>
          <p:nvPr/>
        </p:nvSpPr>
        <p:spPr>
          <a:xfrm>
            <a:off x="2934853" y="1663898"/>
            <a:ext cx="1366837" cy="166688"/>
          </a:xfrm>
          <a:prstGeom prst="rect">
            <a:avLst/>
          </a:prstGeom>
          <a:ln/>
        </p:spPr>
        <p:txBody>
          <a:bodyPr wrap="square" lIns="0" tIns="0" rIns="0" bIns="0" rtlCol="0" anchor="t"/>
          <a:lstStyle/>
          <a:p>
            <a:pPr algn="l" indent="0" marL="0">
              <a:lnSpc>
                <a:spcPts val="653"/>
              </a:lnSpc>
              <a:buNone/>
            </a:pPr>
            <a:r>
              <a:rPr lang="en-US" sz="400" dirty="0">
                <a:solidFill>
                  <a:srgbClr val="7C6BF0"/>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define gestus and demonstrate it through a single, socially-loaded gesture.</a:t>
            </a:r>
            <a:endParaRPr lang="en-US" sz="400" dirty="0"/>
          </a:p>
        </p:txBody>
      </p:sp>
      <p:sp>
        <p:nvSpPr>
          <p:cNvPr id="20" name="Text 17"/>
          <p:cNvSpPr/>
          <p:nvPr/>
        </p:nvSpPr>
        <p:spPr>
          <a:xfrm>
            <a:off x="2934853" y="1837506"/>
            <a:ext cx="1366837" cy="166688"/>
          </a:xfrm>
          <a:prstGeom prst="rect">
            <a:avLst/>
          </a:prstGeom>
          <a:ln/>
        </p:spPr>
        <p:txBody>
          <a:bodyPr wrap="square" lIns="0" tIns="0" rIns="0" bIns="0" rtlCol="0" anchor="t"/>
          <a:lstStyle/>
          <a:p>
            <a:pPr algn="l" indent="0" marL="0">
              <a:lnSpc>
                <a:spcPts val="653"/>
              </a:lnSpc>
              <a:buNone/>
            </a:pPr>
            <a:r>
              <a:rPr lang="en-US" sz="400" dirty="0">
                <a:solidFill>
                  <a:srgbClr val="7C6BF0"/>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use Verfremdung (the 'V-effekt') to break the fourth wall in performance.</a:t>
            </a:r>
            <a:endParaRPr lang="en-US" sz="400" dirty="0"/>
          </a:p>
        </p:txBody>
      </p:sp>
      <p:sp>
        <p:nvSpPr>
          <p:cNvPr id="21" name="Text 18"/>
          <p:cNvSpPr/>
          <p:nvPr/>
        </p:nvSpPr>
        <p:spPr>
          <a:xfrm>
            <a:off x="2934853" y="2011114"/>
            <a:ext cx="1366837" cy="166688"/>
          </a:xfrm>
          <a:prstGeom prst="rect">
            <a:avLst/>
          </a:prstGeom>
          <a:ln/>
        </p:spPr>
        <p:txBody>
          <a:bodyPr wrap="square" lIns="0" tIns="0" rIns="0" bIns="0" rtlCol="0" anchor="t"/>
          <a:lstStyle/>
          <a:p>
            <a:pPr algn="l" indent="0" marL="0">
              <a:lnSpc>
                <a:spcPts val="653"/>
              </a:lnSpc>
              <a:buNone/>
            </a:pPr>
            <a:r>
              <a:rPr lang="en-US" sz="400" dirty="0">
                <a:solidFill>
                  <a:srgbClr val="7C6BF0"/>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justify a directorial choice in writing using Brecht's own terminology.</a:t>
            </a:r>
            <a:endParaRPr lang="en-US" sz="400" dirty="0"/>
          </a:p>
        </p:txBody>
      </p:sp>
      <p:sp>
        <p:nvSpPr>
          <p:cNvPr id="22" name="Shape 19"/>
          <p:cNvSpPr/>
          <p:nvPr/>
        </p:nvSpPr>
        <p:spPr>
          <a:xfrm>
            <a:off x="585304" y="2253555"/>
            <a:ext cx="3767137" cy="428625"/>
          </a:xfrm>
          <a:prstGeom prst="roundRect">
            <a:avLst>
              <a:gd name="adj" fmla="val 3793"/>
            </a:avLst>
          </a:prstGeom>
          <a:solidFill>
            <a:srgbClr val="FFF7F0"/>
          </a:solidFill>
          <a:ln/>
        </p:spPr>
      </p:sp>
      <p:sp>
        <p:nvSpPr>
          <p:cNvPr id="23" name="Text 20"/>
          <p:cNvSpPr/>
          <p:nvPr/>
        </p:nvSpPr>
        <p:spPr>
          <a:xfrm>
            <a:off x="673373" y="2283507"/>
            <a:ext cx="795338" cy="100013"/>
          </a:xfrm>
          <a:prstGeom prst="rect">
            <a:avLst/>
          </a:prstGeom>
          <a:ln/>
        </p:spPr>
        <p:txBody>
          <a:bodyPr wrap="square" lIns="0" tIns="0" rIns="0" bIns="0" rtlCol="0" anchor="t"/>
          <a:lstStyle/>
          <a:p>
            <a:pPr algn="l" indent="0" marL="0">
              <a:lnSpc>
                <a:spcPts val="799"/>
              </a:lnSpc>
              <a:buNone/>
            </a:pPr>
            <a:r>
              <a:rPr lang="en-US" sz="500" b="1" dirty="0">
                <a:solidFill>
                  <a:srgbClr val="A24A1A"/>
                </a:solidFill>
                <a:latin typeface="Inter" pitchFamily="34" charset="0"/>
                <a:ea typeface="Inter" pitchFamily="34" charset="-122"/>
                <a:cs typeface="Inter" pitchFamily="34" charset="-120"/>
              </a:rPr>
              <a:t>Do Now · Gestus Gallery</a:t>
            </a:r>
            <a:endParaRPr lang="en-US" sz="500" dirty="0"/>
          </a:p>
        </p:txBody>
      </p:sp>
      <p:sp>
        <p:nvSpPr>
          <p:cNvPr id="24" name="Text 21"/>
          <p:cNvSpPr/>
          <p:nvPr/>
        </p:nvSpPr>
        <p:spPr>
          <a:xfrm>
            <a:off x="4121683" y="2282465"/>
            <a:ext cx="171450" cy="85725"/>
          </a:xfrm>
          <a:prstGeom prst="rect">
            <a:avLst/>
          </a:prstGeom>
          <a:ln/>
        </p:spPr>
        <p:txBody>
          <a:bodyPr wrap="square" lIns="0" tIns="0" rIns="0" bIns="0" rtlCol="0" anchor="t"/>
          <a:lstStyle/>
          <a:p>
            <a:pPr algn="l" indent="0" marL="0">
              <a:lnSpc>
                <a:spcPts val="670"/>
              </a:lnSpc>
              <a:buNone/>
            </a:pPr>
            <a:r>
              <a:rPr lang="en-US" sz="400" dirty="0">
                <a:solidFill>
                  <a:srgbClr val="A24A1A"/>
                </a:solidFill>
                <a:latin typeface="Inter" pitchFamily="34" charset="0"/>
                <a:ea typeface="Inter" pitchFamily="34" charset="-122"/>
                <a:cs typeface="Inter" pitchFamily="34" charset="-120"/>
              </a:rPr>
              <a:t>10 min</a:t>
            </a:r>
            <a:endParaRPr lang="en-US" sz="400" dirty="0"/>
          </a:p>
        </p:txBody>
      </p:sp>
      <p:sp>
        <p:nvSpPr>
          <p:cNvPr id="25" name="Text 22"/>
          <p:cNvSpPr/>
          <p:nvPr/>
        </p:nvSpPr>
        <p:spPr>
          <a:xfrm>
            <a:off x="673410" y="2394124"/>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Students enter to projected stills from the Berliner Ensemble. In silence, each strikes a single 'socially loaded' gesture (the boss, the soldier, the mother). Hold for 30 seconds. Discuss: what does the body alone tell us about class and power?</a:t>
            </a:r>
            <a:endParaRPr lang="en-US" sz="400" dirty="0"/>
          </a:p>
        </p:txBody>
      </p:sp>
      <p:sp>
        <p:nvSpPr>
          <p:cNvPr id="26" name="Text 23"/>
          <p:cNvSpPr/>
          <p:nvPr/>
        </p:nvSpPr>
        <p:spPr>
          <a:xfrm>
            <a:off x="673410" y="2571341"/>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bbc.co.uk/bitesize/guides/zxqgxyc — Brecht's epic theatre</a:t>
            </a:r>
            <a:endParaRPr lang="en-US" sz="400" dirty="0"/>
          </a:p>
        </p:txBody>
      </p:sp>
      <p:sp>
        <p:nvSpPr>
          <p:cNvPr id="27" name="Shape 24"/>
          <p:cNvSpPr/>
          <p:nvPr/>
        </p:nvSpPr>
        <p:spPr>
          <a:xfrm>
            <a:off x="585304" y="2705919"/>
            <a:ext cx="3767137" cy="428625"/>
          </a:xfrm>
          <a:prstGeom prst="roundRect">
            <a:avLst>
              <a:gd name="adj" fmla="val 3793"/>
            </a:avLst>
          </a:prstGeom>
          <a:solidFill>
            <a:srgbClr val="F0F8FB"/>
          </a:solidFill>
          <a:ln/>
        </p:spPr>
      </p:sp>
      <p:sp>
        <p:nvSpPr>
          <p:cNvPr id="28" name="Text 25"/>
          <p:cNvSpPr/>
          <p:nvPr/>
        </p:nvSpPr>
        <p:spPr>
          <a:xfrm>
            <a:off x="673224" y="2735870"/>
            <a:ext cx="1300163" cy="100013"/>
          </a:xfrm>
          <a:prstGeom prst="rect">
            <a:avLst/>
          </a:prstGeom>
          <a:ln/>
        </p:spPr>
        <p:txBody>
          <a:bodyPr wrap="square" lIns="0" tIns="0" rIns="0" bIns="0" rtlCol="0" anchor="t"/>
          <a:lstStyle/>
          <a:p>
            <a:pPr algn="l" indent="0" marL="0">
              <a:lnSpc>
                <a:spcPts val="799"/>
              </a:lnSpc>
              <a:buNone/>
            </a:pPr>
            <a:r>
              <a:rPr lang="en-US" sz="500" b="1" dirty="0">
                <a:solidFill>
                  <a:srgbClr val="0A4A66"/>
                </a:solidFill>
                <a:latin typeface="Inter" pitchFamily="34" charset="0"/>
                <a:ea typeface="Inter" pitchFamily="34" charset="-122"/>
                <a:cs typeface="Inter" pitchFamily="34" charset="-120"/>
              </a:rPr>
              <a:t>Main · Staging the Verfremdung extract</a:t>
            </a:r>
            <a:endParaRPr lang="en-US" sz="500" dirty="0"/>
          </a:p>
        </p:txBody>
      </p:sp>
      <p:sp>
        <p:nvSpPr>
          <p:cNvPr id="29" name="Text 26"/>
          <p:cNvSpPr/>
          <p:nvPr/>
        </p:nvSpPr>
        <p:spPr>
          <a:xfrm>
            <a:off x="4107768" y="2734828"/>
            <a:ext cx="185738" cy="85725"/>
          </a:xfrm>
          <a:prstGeom prst="rect">
            <a:avLst/>
          </a:prstGeom>
          <a:ln/>
        </p:spPr>
        <p:txBody>
          <a:bodyPr wrap="square" lIns="0" tIns="0" rIns="0" bIns="0" rtlCol="0" anchor="t"/>
          <a:lstStyle/>
          <a:p>
            <a:pPr algn="l" indent="0" marL="0">
              <a:lnSpc>
                <a:spcPts val="670"/>
              </a:lnSpc>
              <a:buNone/>
            </a:pPr>
            <a:r>
              <a:rPr lang="en-US" sz="400" dirty="0">
                <a:solidFill>
                  <a:srgbClr val="0A4A66"/>
                </a:solidFill>
                <a:latin typeface="Inter" pitchFamily="34" charset="0"/>
                <a:ea typeface="Inter" pitchFamily="34" charset="-122"/>
                <a:cs typeface="Inter" pitchFamily="34" charset="-120"/>
              </a:rPr>
              <a:t>40 min</a:t>
            </a:r>
            <a:endParaRPr lang="en-US" sz="400" dirty="0"/>
          </a:p>
        </p:txBody>
      </p:sp>
      <p:sp>
        <p:nvSpPr>
          <p:cNvPr id="30" name="Text 27"/>
          <p:cNvSpPr/>
          <p:nvPr/>
        </p:nvSpPr>
        <p:spPr>
          <a:xfrm>
            <a:off x="673410" y="2846487"/>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Groups of four stage the recruiter scene from Mother Courage. Each version must integrate at least three Brechtian devices: placard, direct address, song interruption, half-curtain reveal. Rehearse with a stop-and-justify prompt every 8 minutes.</a:t>
            </a:r>
            <a:endParaRPr lang="en-US" sz="400" dirty="0"/>
          </a:p>
        </p:txBody>
      </p:sp>
      <p:sp>
        <p:nvSpPr>
          <p:cNvPr id="31" name="Text 28"/>
          <p:cNvSpPr/>
          <p:nvPr/>
        </p:nvSpPr>
        <p:spPr>
          <a:xfrm>
            <a:off x="673410" y="3023704"/>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nationaltheatre.org.uk/learning/brecht-resource-pack</a:t>
            </a:r>
            <a:endParaRPr lang="en-US" sz="400" dirty="0"/>
          </a:p>
        </p:txBody>
      </p:sp>
      <p:sp>
        <p:nvSpPr>
          <p:cNvPr id="32" name="Shape 29"/>
          <p:cNvSpPr/>
          <p:nvPr/>
        </p:nvSpPr>
        <p:spPr>
          <a:xfrm>
            <a:off x="585304" y="3158282"/>
            <a:ext cx="3767137" cy="428625"/>
          </a:xfrm>
          <a:prstGeom prst="roundRect">
            <a:avLst>
              <a:gd name="adj" fmla="val 3793"/>
            </a:avLst>
          </a:prstGeom>
          <a:solidFill>
            <a:srgbClr val="FFFBEB"/>
          </a:solidFill>
          <a:ln/>
        </p:spPr>
      </p:sp>
      <p:sp>
        <p:nvSpPr>
          <p:cNvPr id="33" name="Text 30"/>
          <p:cNvSpPr/>
          <p:nvPr/>
        </p:nvSpPr>
        <p:spPr>
          <a:xfrm>
            <a:off x="673596" y="3188233"/>
            <a:ext cx="1057275" cy="100013"/>
          </a:xfrm>
          <a:prstGeom prst="rect">
            <a:avLst/>
          </a:prstGeom>
          <a:ln/>
        </p:spPr>
        <p:txBody>
          <a:bodyPr wrap="square" lIns="0" tIns="0" rIns="0" bIns="0" rtlCol="0" anchor="t"/>
          <a:lstStyle/>
          <a:p>
            <a:pPr algn="l" indent="0" marL="0">
              <a:lnSpc>
                <a:spcPts val="799"/>
              </a:lnSpc>
              <a:buNone/>
            </a:pPr>
            <a:r>
              <a:rPr lang="en-US" sz="500" b="1" dirty="0">
                <a:solidFill>
                  <a:srgbClr val="92580A"/>
                </a:solidFill>
                <a:latin typeface="Inter" pitchFamily="34" charset="0"/>
                <a:ea typeface="Inter" pitchFamily="34" charset="-122"/>
                <a:cs typeface="Inter" pitchFamily="34" charset="-120"/>
              </a:rPr>
              <a:t>Stretch · Director's commentary</a:t>
            </a:r>
            <a:endParaRPr lang="en-US" sz="500" dirty="0"/>
          </a:p>
        </p:txBody>
      </p:sp>
      <p:sp>
        <p:nvSpPr>
          <p:cNvPr id="34" name="Text 31"/>
          <p:cNvSpPr/>
          <p:nvPr/>
        </p:nvSpPr>
        <p:spPr>
          <a:xfrm>
            <a:off x="4122762" y="3187192"/>
            <a:ext cx="171450" cy="85725"/>
          </a:xfrm>
          <a:prstGeom prst="rect">
            <a:avLst/>
          </a:prstGeom>
          <a:ln/>
        </p:spPr>
        <p:txBody>
          <a:bodyPr wrap="square" lIns="0" tIns="0" rIns="0" bIns="0" rtlCol="0" anchor="t"/>
          <a:lstStyle/>
          <a:p>
            <a:pPr algn="l" indent="0" marL="0">
              <a:lnSpc>
                <a:spcPts val="670"/>
              </a:lnSpc>
              <a:buNone/>
            </a:pPr>
            <a:r>
              <a:rPr lang="en-US" sz="400" dirty="0">
                <a:solidFill>
                  <a:srgbClr val="92580A"/>
                </a:solidFill>
                <a:latin typeface="Inter" pitchFamily="34" charset="0"/>
                <a:ea typeface="Inter" pitchFamily="34" charset="-122"/>
                <a:cs typeface="Inter" pitchFamily="34" charset="-120"/>
              </a:rPr>
              <a:t>15 min</a:t>
            </a:r>
            <a:endParaRPr lang="en-US" sz="400" dirty="0"/>
          </a:p>
        </p:txBody>
      </p:sp>
      <p:sp>
        <p:nvSpPr>
          <p:cNvPr id="35" name="Text 32"/>
          <p:cNvSpPr/>
          <p:nvPr/>
        </p:nvSpPr>
        <p:spPr>
          <a:xfrm>
            <a:off x="673410" y="3298850"/>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Each director writes a 200-word programme note in the style of Brecht's Short Organum, defending one staging decision against an imagined naturalistic critic.</a:t>
            </a:r>
            <a:endParaRPr lang="en-US" sz="400" dirty="0"/>
          </a:p>
        </p:txBody>
      </p:sp>
      <p:sp>
        <p:nvSpPr>
          <p:cNvPr id="36" name="Text 33"/>
          <p:cNvSpPr/>
          <p:nvPr/>
        </p:nvSpPr>
        <p:spPr>
          <a:xfrm>
            <a:off x="673410" y="3476067"/>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dramaonlinelibrary.com/brecht-short-organum</a:t>
            </a:r>
            <a:endParaRPr lang="en-US" sz="400" dirty="0"/>
          </a:p>
        </p:txBody>
      </p:sp>
      <p:sp>
        <p:nvSpPr>
          <p:cNvPr id="37" name="Shape 34"/>
          <p:cNvSpPr/>
          <p:nvPr/>
        </p:nvSpPr>
        <p:spPr>
          <a:xfrm>
            <a:off x="585304" y="3610645"/>
            <a:ext cx="3767137" cy="428625"/>
          </a:xfrm>
          <a:prstGeom prst="roundRect">
            <a:avLst>
              <a:gd name="adj" fmla="val 3793"/>
            </a:avLst>
          </a:prstGeom>
          <a:solidFill>
            <a:srgbClr val="ECFDF5"/>
          </a:solidFill>
          <a:ln/>
        </p:spPr>
      </p:sp>
      <p:sp>
        <p:nvSpPr>
          <p:cNvPr id="38" name="Text 35"/>
          <p:cNvSpPr/>
          <p:nvPr/>
        </p:nvSpPr>
        <p:spPr>
          <a:xfrm>
            <a:off x="671996" y="3640596"/>
            <a:ext cx="1000125" cy="100013"/>
          </a:xfrm>
          <a:prstGeom prst="rect">
            <a:avLst/>
          </a:prstGeom>
          <a:ln/>
        </p:spPr>
        <p:txBody>
          <a:bodyPr wrap="square" lIns="0" tIns="0" rIns="0" bIns="0" rtlCol="0" anchor="t"/>
          <a:lstStyle/>
          <a:p>
            <a:pPr algn="l" indent="0" marL="0">
              <a:lnSpc>
                <a:spcPts val="799"/>
              </a:lnSpc>
              <a:buNone/>
            </a:pPr>
            <a:r>
              <a:rPr lang="en-US" sz="500" b="1" dirty="0">
                <a:solidFill>
                  <a:srgbClr val="0E5A4F"/>
                </a:solidFill>
                <a:latin typeface="Inter" pitchFamily="34" charset="0"/>
                <a:ea typeface="Inter" pitchFamily="34" charset="-122"/>
                <a:cs typeface="Inter" pitchFamily="34" charset="-120"/>
              </a:rPr>
              <a:t>Plenary · Cold-call &amp; exam link</a:t>
            </a:r>
            <a:endParaRPr lang="en-US" sz="500" dirty="0"/>
          </a:p>
        </p:txBody>
      </p:sp>
      <p:sp>
        <p:nvSpPr>
          <p:cNvPr id="39" name="Text 36"/>
          <p:cNvSpPr/>
          <p:nvPr/>
        </p:nvSpPr>
        <p:spPr>
          <a:xfrm>
            <a:off x="4122762" y="3639555"/>
            <a:ext cx="171450" cy="85725"/>
          </a:xfrm>
          <a:prstGeom prst="rect">
            <a:avLst/>
          </a:prstGeom>
          <a:ln/>
        </p:spPr>
        <p:txBody>
          <a:bodyPr wrap="square" lIns="0" tIns="0" rIns="0" bIns="0" rtlCol="0" anchor="t"/>
          <a:lstStyle/>
          <a:p>
            <a:pPr algn="l" indent="0" marL="0">
              <a:lnSpc>
                <a:spcPts val="670"/>
              </a:lnSpc>
              <a:buNone/>
            </a:pPr>
            <a:r>
              <a:rPr lang="en-US" sz="400" dirty="0">
                <a:solidFill>
                  <a:srgbClr val="0E5A4F"/>
                </a:solidFill>
                <a:latin typeface="Inter" pitchFamily="34" charset="0"/>
                <a:ea typeface="Inter" pitchFamily="34" charset="-122"/>
                <a:cs typeface="Inter" pitchFamily="34" charset="-120"/>
              </a:rPr>
              <a:t>15 min</a:t>
            </a:r>
            <a:endParaRPr lang="en-US" sz="400" dirty="0"/>
          </a:p>
        </p:txBody>
      </p:sp>
      <p:sp>
        <p:nvSpPr>
          <p:cNvPr id="40" name="Text 37"/>
          <p:cNvSpPr/>
          <p:nvPr/>
        </p:nvSpPr>
        <p:spPr>
          <a:xfrm>
            <a:off x="673410" y="3751213"/>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Two groups perform. Cold-call three students to identify the gestus, the V-effekt moment, and the political 'invitation to think'. Map evidence onto AO2 / AO3 of the Component 1 mark scheme.</a:t>
            </a:r>
            <a:endParaRPr lang="en-US" sz="400" dirty="0"/>
          </a:p>
        </p:txBody>
      </p:sp>
      <p:sp>
        <p:nvSpPr>
          <p:cNvPr id="41" name="Text 38"/>
          <p:cNvSpPr/>
          <p:nvPr/>
        </p:nvSpPr>
        <p:spPr>
          <a:xfrm>
            <a:off x="673410" y="3928430"/>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eduqas.co.uk/qualifications/drama-as-a-level</a:t>
            </a:r>
            <a:endParaRPr lang="en-US" sz="400" dirty="0"/>
          </a:p>
        </p:txBody>
      </p:sp>
      <p:sp>
        <p:nvSpPr>
          <p:cNvPr id="42" name="Text 39"/>
          <p:cNvSpPr/>
          <p:nvPr/>
        </p:nvSpPr>
        <p:spPr>
          <a:xfrm>
            <a:off x="585304" y="4742111"/>
            <a:ext cx="3767137" cy="114300"/>
          </a:xfrm>
          <a:prstGeom prst="rect">
            <a:avLst/>
          </a:prstGeom>
          <a:ln/>
        </p:spPr>
        <p:txBody>
          <a:bodyPr wrap="square" lIns="0" tIns="0" rIns="0" bIns="0" rtlCol="0" anchor="ctr"/>
          <a:lstStyle/>
          <a:p>
            <a:pPr algn="l" indent="0" marL="0">
              <a:lnSpc>
                <a:spcPts val="648"/>
              </a:lnSpc>
              <a:buNone/>
            </a:pPr>
            <a:r>
              <a:rPr lang="en-US" sz="400" dirty="0">
                <a:solidFill>
                  <a:srgbClr val="6B7D80"/>
                </a:solidFill>
                <a:latin typeface="Inter" pitchFamily="34" charset="0"/>
                <a:ea typeface="Inter" pitchFamily="34" charset="-122"/>
                <a:cs typeface="Inter" pitchFamily="34" charset="-120"/>
              </a:rPr>
              <a:t>Created in Creative Curriculum Designer</a:t>
            </a:r>
            <a:pPr algn="l" indent="0" marL="0">
              <a:lnSpc>
                <a:spcPts val="648"/>
              </a:lnSpc>
              <a:buNone/>
            </a:pPr>
            <a:r>
              <a:rPr lang="en-US" sz="400" dirty="0">
                <a:solidFill>
                  <a:srgbClr val="6B7D80"/>
                </a:solidFill>
                <a:latin typeface="Inter" pitchFamily="34" charset="0"/>
                <a:ea typeface="Inter" pitchFamily="34" charset="-122"/>
                <a:cs typeface="Inter" pitchFamily="34" charset="-120"/>
              </a:rPr>
              <a:t>Page 1 of 1</a:t>
            </a:r>
            <a:endParaRPr lang="en-US" sz="400" dirty="0"/>
          </a:p>
        </p:txBody>
      </p:sp>
      <p:sp>
        <p:nvSpPr>
          <p:cNvPr id="43" name="Shape 40"/>
          <p:cNvSpPr/>
          <p:nvPr/>
        </p:nvSpPr>
        <p:spPr>
          <a:xfrm>
            <a:off x="4662934" y="994618"/>
            <a:ext cx="4024312" cy="3943350"/>
          </a:xfrm>
          <a:prstGeom prst="roundRect">
            <a:avLst>
              <a:gd name="adj" fmla="val 269"/>
            </a:avLst>
          </a:prstGeom>
          <a:solidFill>
            <a:srgbClr val="FFFFFF"/>
          </a:solidFill>
          <a:ln/>
          <a:effectLst>
            <a:outerShdw sx="100000" sy="100000" kx="0" ky="0" algn="bl" rotWithShape="0" blurRad="333375" dist="142875" dir="5400000">
              <a:srgbClr val="000000">
                <a:alpha val="45000"/>
              </a:srgbClr>
            </a:outerShdw>
          </a:effectLst>
        </p:spPr>
      </p:sp>
      <p:sp>
        <p:nvSpPr>
          <p:cNvPr id="44" name="Shape 41"/>
          <p:cNvSpPr/>
          <p:nvPr/>
        </p:nvSpPr>
        <p:spPr>
          <a:xfrm>
            <a:off x="4791521" y="1077404"/>
            <a:ext cx="3767137" cy="404813"/>
          </a:xfrm>
          <a:prstGeom prst="rect">
            <a:avLst/>
          </a:prstGeom>
          <a:ln/>
        </p:spPr>
      </p:sp>
      <p:sp>
        <p:nvSpPr>
          <p:cNvPr id="45" name="Text 42"/>
          <p:cNvSpPr/>
          <p:nvPr/>
        </p:nvSpPr>
        <p:spPr>
          <a:xfrm>
            <a:off x="4790815" y="1077069"/>
            <a:ext cx="2295525" cy="109537"/>
          </a:xfrm>
          <a:prstGeom prst="rect">
            <a:avLst/>
          </a:prstGeom>
          <a:ln/>
        </p:spPr>
        <p:txBody>
          <a:bodyPr wrap="square" lIns="0" tIns="0" rIns="0" bIns="0" rtlCol="0" anchor="t"/>
          <a:lstStyle/>
          <a:p>
            <a:pPr algn="l" indent="0" marL="0">
              <a:lnSpc>
                <a:spcPts val="864"/>
              </a:lnSpc>
              <a:buNone/>
            </a:pPr>
            <a:r>
              <a:rPr lang="en-US" sz="500" b="1" dirty="0">
                <a:solidFill>
                  <a:srgbClr val="9333EA"/>
                </a:solidFill>
                <a:latin typeface="Inter" pitchFamily="34" charset="0"/>
                <a:ea typeface="Inter" pitchFamily="34" charset="-122"/>
                <a:cs typeface="Inter" pitchFamily="34" charset="-120"/>
              </a:rPr>
              <a:t>COOPERSALE HALL SCHOOL</a:t>
            </a:r>
            <a:endParaRPr lang="en-US" sz="500" dirty="0"/>
          </a:p>
        </p:txBody>
      </p:sp>
      <p:sp>
        <p:nvSpPr>
          <p:cNvPr id="46" name="Text 43"/>
          <p:cNvSpPr/>
          <p:nvPr/>
        </p:nvSpPr>
        <p:spPr>
          <a:xfrm>
            <a:off x="4790815" y="1195983"/>
            <a:ext cx="2295525" cy="133350"/>
          </a:xfrm>
          <a:prstGeom prst="rect">
            <a:avLst/>
          </a:prstGeom>
          <a:ln/>
        </p:spPr>
        <p:txBody>
          <a:bodyPr wrap="square" lIns="0" tIns="0" rIns="0" bIns="0" rtlCol="0" anchor="t"/>
          <a:lstStyle/>
          <a:p>
            <a:pPr algn="l" indent="0" marL="0">
              <a:lnSpc>
                <a:spcPts val="1035"/>
              </a:lnSpc>
              <a:spcBef>
                <a:spcPts val="81"/>
              </a:spcBef>
              <a:buNone/>
            </a:pPr>
            <a:r>
              <a:rPr lang="en-US" sz="800" b="1" dirty="0">
                <a:solidFill>
                  <a:srgbClr val="0F2A2E"/>
                </a:solidFill>
                <a:latin typeface="Inter" pitchFamily="34" charset="0"/>
                <a:ea typeface="Inter" pitchFamily="34" charset="-122"/>
                <a:cs typeface="Inter" pitchFamily="34" charset="-120"/>
              </a:rPr>
              <a:t>The Three Little Pigs — Acting Out the Story</a:t>
            </a:r>
            <a:endParaRPr lang="en-US" sz="800" dirty="0"/>
          </a:p>
        </p:txBody>
      </p:sp>
      <p:sp>
        <p:nvSpPr>
          <p:cNvPr id="47" name="Text 44"/>
          <p:cNvSpPr/>
          <p:nvPr/>
        </p:nvSpPr>
        <p:spPr>
          <a:xfrm>
            <a:off x="4790815" y="1336402"/>
            <a:ext cx="2295525" cy="95250"/>
          </a:xfrm>
          <a:prstGeom prst="rect">
            <a:avLst/>
          </a:prstGeom>
          <a:ln/>
        </p:spPr>
        <p:txBody>
          <a:bodyPr wrap="square" lIns="0" tIns="0" rIns="0" bIns="0" rtlCol="0" anchor="t"/>
          <a:lstStyle/>
          <a:p>
            <a:pPr algn="l" indent="0" marL="0">
              <a:lnSpc>
                <a:spcPts val="756"/>
              </a:lnSpc>
              <a:spcBef>
                <a:spcPts val="61"/>
              </a:spcBef>
              <a:buNone/>
            </a:pPr>
            <a:r>
              <a:rPr lang="en-US" sz="500" dirty="0">
                <a:solidFill>
                  <a:srgbClr val="6B7D80"/>
                </a:solidFill>
                <a:latin typeface="Inter" pitchFamily="34" charset="0"/>
                <a:ea typeface="Inter" pitchFamily="34" charset="-122"/>
                <a:cs typeface="Inter" pitchFamily="34" charset="-120"/>
              </a:rPr>
              <a:t>Reception · EYFS Drama · Storytelling Through Drama · Lesson 1 of 6</a:t>
            </a:r>
            <a:endParaRPr lang="en-US" sz="500" dirty="0"/>
          </a:p>
        </p:txBody>
      </p:sp>
      <p:sp>
        <p:nvSpPr>
          <p:cNvPr id="48" name="Text 45"/>
          <p:cNvSpPr/>
          <p:nvPr/>
        </p:nvSpPr>
        <p:spPr>
          <a:xfrm>
            <a:off x="8092827" y="1078074"/>
            <a:ext cx="466725" cy="104775"/>
          </a:xfrm>
          <a:prstGeom prst="rect">
            <a:avLst/>
          </a:prstGeom>
          <a:ln/>
        </p:spPr>
        <p:txBody>
          <a:bodyPr wrap="square" lIns="0" tIns="0" rIns="0" bIns="0" rtlCol="0" anchor="t"/>
          <a:lstStyle/>
          <a:p>
            <a:pPr algn="r" indent="0" marL="0">
              <a:lnSpc>
                <a:spcPts val="842"/>
              </a:lnSpc>
              <a:buNone/>
            </a:pPr>
            <a:r>
              <a:rPr lang="en-US" sz="500" b="1" dirty="0">
                <a:solidFill>
                  <a:srgbClr val="0F2A2E"/>
                </a:solidFill>
                <a:latin typeface="Inter" pitchFamily="34" charset="0"/>
                <a:ea typeface="Inter" pitchFamily="34" charset="-122"/>
                <a:cs typeface="Inter" pitchFamily="34" charset="-120"/>
              </a:rPr>
              <a:t>35 min</a:t>
            </a:r>
            <a:endParaRPr lang="en-US" sz="500" dirty="0"/>
          </a:p>
        </p:txBody>
      </p:sp>
      <p:sp>
        <p:nvSpPr>
          <p:cNvPr id="49" name="Text 46"/>
          <p:cNvSpPr/>
          <p:nvPr/>
        </p:nvSpPr>
        <p:spPr>
          <a:xfrm>
            <a:off x="8092827" y="1183258"/>
            <a:ext cx="466725" cy="90488"/>
          </a:xfrm>
          <a:prstGeom prst="rect">
            <a:avLst/>
          </a:prstGeom>
          <a:ln/>
        </p:spPr>
        <p:txBody>
          <a:bodyPr wrap="square" lIns="0" tIns="0" rIns="0" bIns="0" rtlCol="0" anchor="t"/>
          <a:lstStyle/>
          <a:p>
            <a:pPr algn="r" indent="0" marL="0">
              <a:lnSpc>
                <a:spcPts val="702"/>
              </a:lnSpc>
              <a:buNone/>
            </a:pPr>
            <a:r>
              <a:rPr lang="en-US" sz="400" dirty="0">
                <a:solidFill>
                  <a:srgbClr val="6B7D80"/>
                </a:solidFill>
                <a:latin typeface="Inter" pitchFamily="34" charset="0"/>
                <a:ea typeface="Inter" pitchFamily="34" charset="-122"/>
                <a:cs typeface="Inter" pitchFamily="34" charset="-120"/>
              </a:rPr>
              <a:t>Autumn 2 · Wk 2</a:t>
            </a:r>
            <a:endParaRPr lang="en-US" sz="400" dirty="0"/>
          </a:p>
        </p:txBody>
      </p:sp>
      <p:sp>
        <p:nvSpPr>
          <p:cNvPr id="50" name="Text 47"/>
          <p:cNvSpPr/>
          <p:nvPr/>
        </p:nvSpPr>
        <p:spPr>
          <a:xfrm>
            <a:off x="4791968" y="1534418"/>
            <a:ext cx="2233612" cy="95250"/>
          </a:xfrm>
          <a:prstGeom prst="rect">
            <a:avLst/>
          </a:prstGeom>
          <a:ln/>
        </p:spPr>
        <p:txBody>
          <a:bodyPr wrap="square" lIns="0" tIns="0" rIns="0" bIns="0" rtlCol="0" anchor="t"/>
          <a:lstStyle/>
          <a:p>
            <a:pPr algn="l" indent="0" marL="0">
              <a:lnSpc>
                <a:spcPts val="756"/>
              </a:lnSpc>
              <a:buNone/>
            </a:pPr>
            <a:r>
              <a:rPr lang="en-US" sz="500" b="1" dirty="0">
                <a:solidFill>
                  <a:srgbClr val="0F2A2E"/>
                </a:solidFill>
                <a:latin typeface="Inter" pitchFamily="34" charset="0"/>
                <a:ea typeface="Inter" pitchFamily="34" charset="-122"/>
                <a:cs typeface="Inter" pitchFamily="34" charset="-120"/>
              </a:rPr>
              <a:t>PRACTITIONER FOCUS</a:t>
            </a:r>
            <a:endParaRPr lang="en-US" sz="500" dirty="0"/>
          </a:p>
        </p:txBody>
      </p:sp>
      <p:sp>
        <p:nvSpPr>
          <p:cNvPr id="51" name="Text 48"/>
          <p:cNvSpPr/>
          <p:nvPr/>
        </p:nvSpPr>
        <p:spPr>
          <a:xfrm>
            <a:off x="4791968" y="1640309"/>
            <a:ext cx="2233612" cy="271463"/>
          </a:xfrm>
          <a:prstGeom prst="rect">
            <a:avLst/>
          </a:prstGeom>
          <a:ln/>
        </p:spPr>
        <p:txBody>
          <a:bodyPr wrap="square" lIns="0" tIns="0" rIns="0" bIns="0" rtlCol="0" anchor="t"/>
          <a:lstStyle/>
          <a:p>
            <a:pPr algn="l" indent="0" marL="0">
              <a:lnSpc>
                <a:spcPts val="713"/>
              </a:lnSpc>
              <a:spcBef>
                <a:spcPts val="81"/>
              </a:spcBef>
              <a:buNone/>
            </a:pPr>
            <a:r>
              <a:rPr lang="en-US" sz="500" dirty="0">
                <a:solidFill>
                  <a:srgbClr val="0F2A2E"/>
                </a:solidFill>
                <a:latin typeface="Inter" pitchFamily="34" charset="0"/>
                <a:ea typeface="Inter" pitchFamily="34" charset="-122"/>
                <a:cs typeface="Inter" pitchFamily="34" charset="-120"/>
              </a:rPr>
              <a:t>Children retell a familiar story through role play, using their bodies, voices and props to bring three characters to life and joining in with a repeated refrain.</a:t>
            </a:r>
            <a:endParaRPr lang="en-US" sz="500" dirty="0"/>
          </a:p>
        </p:txBody>
      </p:sp>
      <p:sp>
        <p:nvSpPr>
          <p:cNvPr id="52" name="Shape 49"/>
          <p:cNvSpPr/>
          <p:nvPr/>
        </p:nvSpPr>
        <p:spPr>
          <a:xfrm>
            <a:off x="7091028" y="1534083"/>
            <a:ext cx="1466850" cy="847725"/>
          </a:xfrm>
          <a:prstGeom prst="roundRect">
            <a:avLst>
              <a:gd name="adj" fmla="val 3878"/>
            </a:avLst>
          </a:prstGeom>
          <a:solidFill>
            <a:srgbClr val="F4F1FB"/>
          </a:solidFill>
          <a:ln/>
        </p:spPr>
      </p:sp>
      <p:sp>
        <p:nvSpPr>
          <p:cNvPr id="53" name="Text 50"/>
          <p:cNvSpPr/>
          <p:nvPr/>
        </p:nvSpPr>
        <p:spPr>
          <a:xfrm>
            <a:off x="7141034" y="1564184"/>
            <a:ext cx="1366837" cy="90488"/>
          </a:xfrm>
          <a:prstGeom prst="rect">
            <a:avLst/>
          </a:prstGeom>
          <a:ln/>
        </p:spPr>
        <p:txBody>
          <a:bodyPr wrap="square" lIns="0" tIns="0" rIns="0" bIns="0" rtlCol="0" anchor="t"/>
          <a:lstStyle/>
          <a:p>
            <a:pPr algn="l" indent="0" marL="0">
              <a:lnSpc>
                <a:spcPts val="702"/>
              </a:lnSpc>
              <a:buNone/>
            </a:pPr>
            <a:r>
              <a:rPr lang="en-US" sz="400" b="1" dirty="0">
                <a:solidFill>
                  <a:srgbClr val="9333EA"/>
                </a:solidFill>
                <a:latin typeface="Inter" pitchFamily="34" charset="0"/>
                <a:ea typeface="Inter" pitchFamily="34" charset="-122"/>
                <a:cs typeface="Inter" pitchFamily="34" charset="-120"/>
              </a:rPr>
              <a:t>I CAN… (CHILD-FACING)</a:t>
            </a:r>
            <a:endParaRPr lang="en-US" sz="400" dirty="0"/>
          </a:p>
        </p:txBody>
      </p:sp>
      <p:sp>
        <p:nvSpPr>
          <p:cNvPr id="54" name="Text 51"/>
          <p:cNvSpPr/>
          <p:nvPr/>
        </p:nvSpPr>
        <p:spPr>
          <a:xfrm>
            <a:off x="7141034" y="1663898"/>
            <a:ext cx="1366837" cy="166688"/>
          </a:xfrm>
          <a:prstGeom prst="rect">
            <a:avLst/>
          </a:prstGeom>
          <a:ln/>
        </p:spPr>
        <p:txBody>
          <a:bodyPr wrap="square" lIns="0" tIns="0" rIns="0" bIns="0" rtlCol="0" anchor="t"/>
          <a:lstStyle/>
          <a:p>
            <a:pPr algn="l" indent="0" marL="0">
              <a:lnSpc>
                <a:spcPts val="653"/>
              </a:lnSpc>
              <a:buNone/>
            </a:pPr>
            <a:r>
              <a:rPr lang="en-US" sz="400" dirty="0">
                <a:solidFill>
                  <a:srgbClr val="9333EA"/>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use my big voice and my little voice to be different characters.</a:t>
            </a:r>
            <a:endParaRPr lang="en-US" sz="400" dirty="0"/>
          </a:p>
        </p:txBody>
      </p:sp>
      <p:sp>
        <p:nvSpPr>
          <p:cNvPr id="55" name="Text 52"/>
          <p:cNvSpPr/>
          <p:nvPr/>
        </p:nvSpPr>
        <p:spPr>
          <a:xfrm>
            <a:off x="7141034" y="1837506"/>
            <a:ext cx="1366837" cy="166688"/>
          </a:xfrm>
          <a:prstGeom prst="rect">
            <a:avLst/>
          </a:prstGeom>
          <a:ln/>
        </p:spPr>
        <p:txBody>
          <a:bodyPr wrap="square" lIns="0" tIns="0" rIns="0" bIns="0" rtlCol="0" anchor="t"/>
          <a:lstStyle/>
          <a:p>
            <a:pPr algn="l" indent="0" marL="0">
              <a:lnSpc>
                <a:spcPts val="653"/>
              </a:lnSpc>
              <a:buNone/>
            </a:pPr>
            <a:r>
              <a:rPr lang="en-US" sz="400" dirty="0">
                <a:solidFill>
                  <a:srgbClr val="9333EA"/>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act out the story with my friends and take turns.</a:t>
            </a:r>
            <a:endParaRPr lang="en-US" sz="400" dirty="0"/>
          </a:p>
        </p:txBody>
      </p:sp>
      <p:sp>
        <p:nvSpPr>
          <p:cNvPr id="56" name="Text 53"/>
          <p:cNvSpPr/>
          <p:nvPr/>
        </p:nvSpPr>
        <p:spPr>
          <a:xfrm>
            <a:off x="7141034" y="2011114"/>
            <a:ext cx="1366837" cy="166688"/>
          </a:xfrm>
          <a:prstGeom prst="rect">
            <a:avLst/>
          </a:prstGeom>
          <a:ln/>
        </p:spPr>
        <p:txBody>
          <a:bodyPr wrap="square" lIns="0" tIns="0" rIns="0" bIns="0" rtlCol="0" anchor="t"/>
          <a:lstStyle/>
          <a:p>
            <a:pPr algn="l" indent="0" marL="0">
              <a:lnSpc>
                <a:spcPts val="653"/>
              </a:lnSpc>
              <a:buNone/>
            </a:pPr>
            <a:r>
              <a:rPr lang="en-US" sz="400" dirty="0">
                <a:solidFill>
                  <a:srgbClr val="9333EA"/>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join in with 'I'll huff and I'll puff' at the right moment.</a:t>
            </a:r>
            <a:endParaRPr lang="en-US" sz="400" dirty="0"/>
          </a:p>
        </p:txBody>
      </p:sp>
      <p:sp>
        <p:nvSpPr>
          <p:cNvPr id="57" name="Text 54"/>
          <p:cNvSpPr/>
          <p:nvPr/>
        </p:nvSpPr>
        <p:spPr>
          <a:xfrm>
            <a:off x="7141034" y="2184722"/>
            <a:ext cx="1366837" cy="166688"/>
          </a:xfrm>
          <a:prstGeom prst="rect">
            <a:avLst/>
          </a:prstGeom>
          <a:ln/>
        </p:spPr>
        <p:txBody>
          <a:bodyPr wrap="square" lIns="0" tIns="0" rIns="0" bIns="0" rtlCol="0" anchor="t"/>
          <a:lstStyle/>
          <a:p>
            <a:pPr algn="l" indent="0" marL="0">
              <a:lnSpc>
                <a:spcPts val="653"/>
              </a:lnSpc>
              <a:buNone/>
            </a:pPr>
            <a:r>
              <a:rPr lang="en-US" sz="400" dirty="0">
                <a:solidFill>
                  <a:srgbClr val="9333EA"/>
                </a:solidFill>
                <a:latin typeface="Inter" pitchFamily="34" charset="0"/>
                <a:ea typeface="Inter" pitchFamily="34" charset="-122"/>
                <a:cs typeface="Inter" pitchFamily="34" charset="-120"/>
              </a:rPr>
              <a:t>✓</a:t>
            </a:r>
            <a:pPr algn="l" indent="0" marL="0">
              <a:lnSpc>
                <a:spcPts val="653"/>
              </a:lnSpc>
              <a:buNone/>
            </a:pPr>
            <a:r>
              <a:rPr lang="en-US" sz="400" dirty="0">
                <a:solidFill>
                  <a:srgbClr val="0F2A2E"/>
                </a:solidFill>
                <a:latin typeface="Inter" pitchFamily="34" charset="0"/>
                <a:ea typeface="Inter" pitchFamily="34" charset="-122"/>
                <a:cs typeface="Inter" pitchFamily="34" charset="-120"/>
              </a:rPr>
              <a:t>I can show how the wolf feels using my face and my body.</a:t>
            </a:r>
            <a:endParaRPr lang="en-US" sz="400" dirty="0"/>
          </a:p>
        </p:txBody>
      </p:sp>
      <p:sp>
        <p:nvSpPr>
          <p:cNvPr id="58" name="Shape 55"/>
          <p:cNvSpPr/>
          <p:nvPr/>
        </p:nvSpPr>
        <p:spPr>
          <a:xfrm>
            <a:off x="4791521" y="2427163"/>
            <a:ext cx="3767137" cy="428625"/>
          </a:xfrm>
          <a:prstGeom prst="roundRect">
            <a:avLst>
              <a:gd name="adj" fmla="val 3793"/>
            </a:avLst>
          </a:prstGeom>
          <a:solidFill>
            <a:srgbClr val="FFF7F0"/>
          </a:solidFill>
          <a:ln/>
        </p:spPr>
      </p:sp>
      <p:sp>
        <p:nvSpPr>
          <p:cNvPr id="59" name="Text 56"/>
          <p:cNvSpPr/>
          <p:nvPr/>
        </p:nvSpPr>
        <p:spPr>
          <a:xfrm>
            <a:off x="4879293" y="2457115"/>
            <a:ext cx="995362" cy="100013"/>
          </a:xfrm>
          <a:prstGeom prst="rect">
            <a:avLst/>
          </a:prstGeom>
          <a:ln/>
        </p:spPr>
        <p:txBody>
          <a:bodyPr wrap="square" lIns="0" tIns="0" rIns="0" bIns="0" rtlCol="0" anchor="t"/>
          <a:lstStyle/>
          <a:p>
            <a:pPr algn="l" indent="0" marL="0">
              <a:lnSpc>
                <a:spcPts val="799"/>
              </a:lnSpc>
              <a:buNone/>
            </a:pPr>
            <a:r>
              <a:rPr lang="en-US" sz="500" b="1" dirty="0">
                <a:solidFill>
                  <a:srgbClr val="A24A1A"/>
                </a:solidFill>
                <a:latin typeface="Inter" pitchFamily="34" charset="0"/>
                <a:ea typeface="Inter" pitchFamily="34" charset="-122"/>
                <a:cs typeface="Inter" pitchFamily="34" charset="-120"/>
              </a:rPr>
              <a:t>Carpet · Story Voice Warm-Up</a:t>
            </a:r>
            <a:endParaRPr lang="en-US" sz="500" dirty="0"/>
          </a:p>
        </p:txBody>
      </p:sp>
      <p:sp>
        <p:nvSpPr>
          <p:cNvPr id="60" name="Text 57"/>
          <p:cNvSpPr/>
          <p:nvPr/>
        </p:nvSpPr>
        <p:spPr>
          <a:xfrm>
            <a:off x="8351676" y="2456073"/>
            <a:ext cx="147637" cy="85725"/>
          </a:xfrm>
          <a:prstGeom prst="rect">
            <a:avLst/>
          </a:prstGeom>
          <a:ln/>
        </p:spPr>
        <p:txBody>
          <a:bodyPr wrap="square" lIns="0" tIns="0" rIns="0" bIns="0" rtlCol="0" anchor="t"/>
          <a:lstStyle/>
          <a:p>
            <a:pPr algn="l" indent="0" marL="0">
              <a:lnSpc>
                <a:spcPts val="670"/>
              </a:lnSpc>
              <a:buNone/>
            </a:pPr>
            <a:r>
              <a:rPr lang="en-US" sz="400" dirty="0">
                <a:solidFill>
                  <a:srgbClr val="A24A1A"/>
                </a:solidFill>
                <a:latin typeface="Inter" pitchFamily="34" charset="0"/>
                <a:ea typeface="Inter" pitchFamily="34" charset="-122"/>
                <a:cs typeface="Inter" pitchFamily="34" charset="-120"/>
              </a:rPr>
              <a:t>6 min</a:t>
            </a:r>
            <a:endParaRPr lang="en-US" sz="400" dirty="0"/>
          </a:p>
        </p:txBody>
      </p:sp>
      <p:sp>
        <p:nvSpPr>
          <p:cNvPr id="61" name="Text 58"/>
          <p:cNvSpPr/>
          <p:nvPr/>
        </p:nvSpPr>
        <p:spPr>
          <a:xfrm>
            <a:off x="4879628" y="2567732"/>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On the story carpet, children practise three voices together: the squeaky pig, the stomping wolf, the calm narrator. Echo a line back in each voice. Builds vocal control before role play begins.</a:t>
            </a:r>
            <a:endParaRPr lang="en-US" sz="400" dirty="0"/>
          </a:p>
        </p:txBody>
      </p:sp>
      <p:sp>
        <p:nvSpPr>
          <p:cNvPr id="62" name="Text 59"/>
          <p:cNvSpPr/>
          <p:nvPr/>
        </p:nvSpPr>
        <p:spPr>
          <a:xfrm>
            <a:off x="4879628" y="2744949"/>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bbc.co.uk/teach/school-radio/eyfs-three-little-pigs/zn6vbdm</a:t>
            </a:r>
            <a:endParaRPr lang="en-US" sz="400" dirty="0"/>
          </a:p>
        </p:txBody>
      </p:sp>
      <p:sp>
        <p:nvSpPr>
          <p:cNvPr id="63" name="Shape 60"/>
          <p:cNvSpPr/>
          <p:nvPr/>
        </p:nvSpPr>
        <p:spPr>
          <a:xfrm>
            <a:off x="4791521" y="2879527"/>
            <a:ext cx="3767137" cy="428625"/>
          </a:xfrm>
          <a:prstGeom prst="roundRect">
            <a:avLst>
              <a:gd name="adj" fmla="val 3793"/>
            </a:avLst>
          </a:prstGeom>
          <a:solidFill>
            <a:srgbClr val="F4F1FB"/>
          </a:solidFill>
          <a:ln/>
        </p:spPr>
      </p:sp>
      <p:sp>
        <p:nvSpPr>
          <p:cNvPr id="64" name="Text 61"/>
          <p:cNvSpPr/>
          <p:nvPr/>
        </p:nvSpPr>
        <p:spPr>
          <a:xfrm>
            <a:off x="4879925" y="2909478"/>
            <a:ext cx="1376363" cy="100013"/>
          </a:xfrm>
          <a:prstGeom prst="rect">
            <a:avLst/>
          </a:prstGeom>
          <a:ln/>
        </p:spPr>
        <p:txBody>
          <a:bodyPr wrap="square" lIns="0" tIns="0" rIns="0" bIns="0" rtlCol="0" anchor="t"/>
          <a:lstStyle/>
          <a:p>
            <a:pPr algn="l" indent="0" marL="0">
              <a:lnSpc>
                <a:spcPts val="799"/>
              </a:lnSpc>
              <a:buNone/>
            </a:pPr>
            <a:r>
              <a:rPr lang="en-US" sz="500" b="1" dirty="0">
                <a:solidFill>
                  <a:srgbClr val="5B21B6"/>
                </a:solidFill>
                <a:latin typeface="Inter" pitchFamily="34" charset="0"/>
                <a:ea typeface="Inter" pitchFamily="34" charset="-122"/>
                <a:cs typeface="Inter" pitchFamily="34" charset="-120"/>
              </a:rPr>
              <a:t>Main · Acting Out the Story (small groups)</a:t>
            </a:r>
            <a:endParaRPr lang="en-US" sz="500" dirty="0"/>
          </a:p>
        </p:txBody>
      </p:sp>
      <p:sp>
        <p:nvSpPr>
          <p:cNvPr id="65" name="Text 62"/>
          <p:cNvSpPr/>
          <p:nvPr/>
        </p:nvSpPr>
        <p:spPr>
          <a:xfrm>
            <a:off x="8328310" y="2908436"/>
            <a:ext cx="171450" cy="85725"/>
          </a:xfrm>
          <a:prstGeom prst="rect">
            <a:avLst/>
          </a:prstGeom>
          <a:ln/>
        </p:spPr>
        <p:txBody>
          <a:bodyPr wrap="square" lIns="0" tIns="0" rIns="0" bIns="0" rtlCol="0" anchor="t"/>
          <a:lstStyle/>
          <a:p>
            <a:pPr algn="l" indent="0" marL="0">
              <a:lnSpc>
                <a:spcPts val="670"/>
              </a:lnSpc>
              <a:buNone/>
            </a:pPr>
            <a:r>
              <a:rPr lang="en-US" sz="400" dirty="0">
                <a:solidFill>
                  <a:srgbClr val="5B21B6"/>
                </a:solidFill>
                <a:latin typeface="Inter" pitchFamily="34" charset="0"/>
                <a:ea typeface="Inter" pitchFamily="34" charset="-122"/>
                <a:cs typeface="Inter" pitchFamily="34" charset="-120"/>
              </a:rPr>
              <a:t>18 min</a:t>
            </a:r>
            <a:endParaRPr lang="en-US" sz="400" dirty="0"/>
          </a:p>
        </p:txBody>
      </p:sp>
      <p:sp>
        <p:nvSpPr>
          <p:cNvPr id="66" name="Text 63"/>
          <p:cNvSpPr/>
          <p:nvPr/>
        </p:nvSpPr>
        <p:spPr>
          <a:xfrm>
            <a:off x="4879628" y="3020095"/>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Four corners of the hall become straw, sticks, brick and the wolf's path. Children move between zones in groups of four (3 pigs + 1 wolf), swapping roles after each refrain. Adults model gesture and facial expression at each new house.</a:t>
            </a:r>
            <a:endParaRPr lang="en-US" sz="400" dirty="0"/>
          </a:p>
        </p:txBody>
      </p:sp>
      <p:sp>
        <p:nvSpPr>
          <p:cNvPr id="67" name="Text 64"/>
          <p:cNvSpPr/>
          <p:nvPr/>
        </p:nvSpPr>
        <p:spPr>
          <a:xfrm>
            <a:off x="4879628" y="3197312"/>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earlyyears.education/drama-three-little-pigs-zones</a:t>
            </a:r>
            <a:endParaRPr lang="en-US" sz="400" dirty="0"/>
          </a:p>
        </p:txBody>
      </p:sp>
      <p:sp>
        <p:nvSpPr>
          <p:cNvPr id="68" name="Shape 65"/>
          <p:cNvSpPr/>
          <p:nvPr/>
        </p:nvSpPr>
        <p:spPr>
          <a:xfrm>
            <a:off x="4791521" y="3331890"/>
            <a:ext cx="3767137" cy="428625"/>
          </a:xfrm>
          <a:prstGeom prst="roundRect">
            <a:avLst>
              <a:gd name="adj" fmla="val 3793"/>
            </a:avLst>
          </a:prstGeom>
          <a:solidFill>
            <a:srgbClr val="F0F8FB"/>
          </a:solidFill>
          <a:ln/>
        </p:spPr>
      </p:sp>
      <p:sp>
        <p:nvSpPr>
          <p:cNvPr id="69" name="Text 66"/>
          <p:cNvSpPr/>
          <p:nvPr/>
        </p:nvSpPr>
        <p:spPr>
          <a:xfrm>
            <a:off x="4879479" y="3361841"/>
            <a:ext cx="1262063" cy="100013"/>
          </a:xfrm>
          <a:prstGeom prst="rect">
            <a:avLst/>
          </a:prstGeom>
          <a:ln/>
        </p:spPr>
        <p:txBody>
          <a:bodyPr wrap="square" lIns="0" tIns="0" rIns="0" bIns="0" rtlCol="0" anchor="t"/>
          <a:lstStyle/>
          <a:p>
            <a:pPr algn="l" indent="0" marL="0">
              <a:lnSpc>
                <a:spcPts val="799"/>
              </a:lnSpc>
              <a:buNone/>
            </a:pPr>
            <a:r>
              <a:rPr lang="en-US" sz="500" b="1" dirty="0">
                <a:solidFill>
                  <a:srgbClr val="0A4A66"/>
                </a:solidFill>
                <a:latin typeface="Inter" pitchFamily="34" charset="0"/>
                <a:ea typeface="Inter" pitchFamily="34" charset="-122"/>
                <a:cs typeface="Inter" pitchFamily="34" charset="-120"/>
              </a:rPr>
              <a:t>Language · Repeated Refrain Together</a:t>
            </a:r>
            <a:endParaRPr lang="en-US" sz="500" dirty="0"/>
          </a:p>
        </p:txBody>
      </p:sp>
      <p:sp>
        <p:nvSpPr>
          <p:cNvPr id="70" name="Text 67"/>
          <p:cNvSpPr/>
          <p:nvPr/>
        </p:nvSpPr>
        <p:spPr>
          <a:xfrm>
            <a:off x="8351676" y="3360800"/>
            <a:ext cx="147637" cy="85725"/>
          </a:xfrm>
          <a:prstGeom prst="rect">
            <a:avLst/>
          </a:prstGeom>
          <a:ln/>
        </p:spPr>
        <p:txBody>
          <a:bodyPr wrap="square" lIns="0" tIns="0" rIns="0" bIns="0" rtlCol="0" anchor="t"/>
          <a:lstStyle/>
          <a:p>
            <a:pPr algn="l" indent="0" marL="0">
              <a:lnSpc>
                <a:spcPts val="670"/>
              </a:lnSpc>
              <a:buNone/>
            </a:pPr>
            <a:r>
              <a:rPr lang="en-US" sz="400" dirty="0">
                <a:solidFill>
                  <a:srgbClr val="0A4A66"/>
                </a:solidFill>
                <a:latin typeface="Inter" pitchFamily="34" charset="0"/>
                <a:ea typeface="Inter" pitchFamily="34" charset="-122"/>
                <a:cs typeface="Inter" pitchFamily="34" charset="-120"/>
              </a:rPr>
              <a:t>6 min</a:t>
            </a:r>
            <a:endParaRPr lang="en-US" sz="400" dirty="0"/>
          </a:p>
        </p:txBody>
      </p:sp>
      <p:sp>
        <p:nvSpPr>
          <p:cNvPr id="71" name="Text 68"/>
          <p:cNvSpPr/>
          <p:nvPr/>
        </p:nvSpPr>
        <p:spPr>
          <a:xfrm>
            <a:off x="4879628" y="3472458"/>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Whole class chants 'Little pig, little pig, let me come in!' / 'Not by the hair of my chinny-chin-chin!' Add a clap on each beat. Encourages turn-taking and confident speaking in role.</a:t>
            </a:r>
            <a:endParaRPr lang="en-US" sz="400" dirty="0"/>
          </a:p>
        </p:txBody>
      </p:sp>
      <p:sp>
        <p:nvSpPr>
          <p:cNvPr id="72" name="Text 69"/>
          <p:cNvSpPr/>
          <p:nvPr/>
        </p:nvSpPr>
        <p:spPr>
          <a:xfrm>
            <a:off x="4879628" y="3649675"/>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literacyshed.com/the-three-little-pigs.html</a:t>
            </a:r>
            <a:endParaRPr lang="en-US" sz="400" dirty="0"/>
          </a:p>
        </p:txBody>
      </p:sp>
      <p:sp>
        <p:nvSpPr>
          <p:cNvPr id="73" name="Shape 70"/>
          <p:cNvSpPr/>
          <p:nvPr/>
        </p:nvSpPr>
        <p:spPr>
          <a:xfrm>
            <a:off x="4791521" y="3784253"/>
            <a:ext cx="3767137" cy="428625"/>
          </a:xfrm>
          <a:prstGeom prst="roundRect">
            <a:avLst>
              <a:gd name="adj" fmla="val 3793"/>
            </a:avLst>
          </a:prstGeom>
          <a:solidFill>
            <a:srgbClr val="ECFDF5"/>
          </a:solidFill>
          <a:ln/>
        </p:spPr>
      </p:sp>
      <p:sp>
        <p:nvSpPr>
          <p:cNvPr id="74" name="Text 71"/>
          <p:cNvSpPr/>
          <p:nvPr/>
        </p:nvSpPr>
        <p:spPr>
          <a:xfrm>
            <a:off x="4879628" y="3814204"/>
            <a:ext cx="1081087" cy="100013"/>
          </a:xfrm>
          <a:prstGeom prst="rect">
            <a:avLst/>
          </a:prstGeom>
          <a:ln/>
        </p:spPr>
        <p:txBody>
          <a:bodyPr wrap="square" lIns="0" tIns="0" rIns="0" bIns="0" rtlCol="0" anchor="t"/>
          <a:lstStyle/>
          <a:p>
            <a:pPr algn="l" indent="0" marL="0">
              <a:lnSpc>
                <a:spcPts val="799"/>
              </a:lnSpc>
              <a:buNone/>
            </a:pPr>
            <a:r>
              <a:rPr lang="en-US" sz="500" b="1" dirty="0">
                <a:solidFill>
                  <a:srgbClr val="0E5A4F"/>
                </a:solidFill>
                <a:latin typeface="Inter" pitchFamily="34" charset="0"/>
                <a:ea typeface="Inter" pitchFamily="34" charset="-122"/>
                <a:cs typeface="Inter" pitchFamily="34" charset="-120"/>
              </a:rPr>
              <a:t>Plenary · 'How did the wolf feel?'</a:t>
            </a:r>
            <a:endParaRPr lang="en-US" sz="500" dirty="0"/>
          </a:p>
        </p:txBody>
      </p:sp>
      <p:sp>
        <p:nvSpPr>
          <p:cNvPr id="75" name="Text 72"/>
          <p:cNvSpPr/>
          <p:nvPr/>
        </p:nvSpPr>
        <p:spPr>
          <a:xfrm>
            <a:off x="8352420" y="3813163"/>
            <a:ext cx="147637" cy="85725"/>
          </a:xfrm>
          <a:prstGeom prst="rect">
            <a:avLst/>
          </a:prstGeom>
          <a:ln/>
        </p:spPr>
        <p:txBody>
          <a:bodyPr wrap="square" lIns="0" tIns="0" rIns="0" bIns="0" rtlCol="0" anchor="t"/>
          <a:lstStyle/>
          <a:p>
            <a:pPr algn="l" indent="0" marL="0">
              <a:lnSpc>
                <a:spcPts val="670"/>
              </a:lnSpc>
              <a:buNone/>
            </a:pPr>
            <a:r>
              <a:rPr lang="en-US" sz="400" dirty="0">
                <a:solidFill>
                  <a:srgbClr val="0E5A4F"/>
                </a:solidFill>
                <a:latin typeface="Inter" pitchFamily="34" charset="0"/>
                <a:ea typeface="Inter" pitchFamily="34" charset="-122"/>
                <a:cs typeface="Inter" pitchFamily="34" charset="-120"/>
              </a:rPr>
              <a:t>5 min</a:t>
            </a:r>
            <a:endParaRPr lang="en-US" sz="400" dirty="0"/>
          </a:p>
        </p:txBody>
      </p:sp>
      <p:sp>
        <p:nvSpPr>
          <p:cNvPr id="76" name="Text 73"/>
          <p:cNvSpPr/>
          <p:nvPr/>
        </p:nvSpPr>
        <p:spPr>
          <a:xfrm>
            <a:off x="4879628" y="3924821"/>
            <a:ext cx="3619500" cy="166688"/>
          </a:xfrm>
          <a:prstGeom prst="rect">
            <a:avLst/>
          </a:prstGeom>
          <a:ln/>
        </p:spPr>
        <p:txBody>
          <a:bodyPr wrap="square" lIns="0" tIns="0" rIns="0" bIns="0" rtlCol="0" anchor="t"/>
          <a:lstStyle/>
          <a:p>
            <a:pPr algn="l" indent="0" marL="0">
              <a:lnSpc>
                <a:spcPts val="653"/>
              </a:lnSpc>
              <a:spcBef>
                <a:spcPts val="81"/>
              </a:spcBef>
              <a:buNone/>
            </a:pPr>
            <a:r>
              <a:rPr lang="en-US" sz="400" dirty="0">
                <a:solidFill>
                  <a:srgbClr val="0F2A2E"/>
                </a:solidFill>
                <a:latin typeface="Inter" pitchFamily="34" charset="0"/>
                <a:ea typeface="Inter" pitchFamily="34" charset="-122"/>
                <a:cs typeface="Inter" pitchFamily="34" charset="-120"/>
              </a:rPr>
              <a:t>Sit in a circle. Each child shows the wolf's face at the start, the middle, and the end of the story. Practitioner notes which children used facial expression to communicate feeling — evidence for the EAD profile.</a:t>
            </a:r>
            <a:endParaRPr lang="en-US" sz="400" dirty="0"/>
          </a:p>
        </p:txBody>
      </p:sp>
      <p:sp>
        <p:nvSpPr>
          <p:cNvPr id="77" name="Text 74"/>
          <p:cNvSpPr/>
          <p:nvPr/>
        </p:nvSpPr>
        <p:spPr>
          <a:xfrm>
            <a:off x="4879628" y="4102038"/>
            <a:ext cx="3619500" cy="80962"/>
          </a:xfrm>
          <a:prstGeom prst="rect">
            <a:avLst/>
          </a:prstGeom>
          <a:ln/>
        </p:spPr>
        <p:txBody>
          <a:bodyPr wrap="square" lIns="0" tIns="0" rIns="0" bIns="0" rtlCol="0" anchor="t"/>
          <a:lstStyle/>
          <a:p>
            <a:pPr algn="l" indent="0" marL="0">
              <a:lnSpc>
                <a:spcPts val="648"/>
              </a:lnSpc>
              <a:buNone/>
            </a:pPr>
            <a:r>
              <a:rPr lang="en-US" sz="400" dirty="0">
                <a:solidFill>
                  <a:srgbClr val="008272"/>
                </a:solidFill>
                <a:latin typeface="Inter" pitchFamily="34" charset="0"/>
                <a:ea typeface="Inter" pitchFamily="34" charset="-122"/>
                <a:cs typeface="Inter" pitchFamily="34" charset="-120"/>
              </a:rPr>
              <a:t>↗</a:t>
            </a:r>
            <a:pPr algn="l" indent="0" marL="0">
              <a:lnSpc>
                <a:spcPts val="648"/>
              </a:lnSpc>
              <a:buNone/>
            </a:pPr>
            <a:r>
              <a:rPr lang="en-US" sz="400" dirty="0">
                <a:solidFill>
                  <a:srgbClr val="008272"/>
                </a:solidFill>
                <a:latin typeface="Inter" pitchFamily="34" charset="0"/>
                <a:ea typeface="Inter" pitchFamily="34" charset="-122"/>
                <a:cs typeface="Inter" pitchFamily="34" charset="-120"/>
              </a:rPr>
              <a:t>foundationyears.org.uk/eyfs-statutory-framework</a:t>
            </a:r>
            <a:endParaRPr lang="en-US" sz="400" dirty="0"/>
          </a:p>
        </p:txBody>
      </p:sp>
      <p:sp>
        <p:nvSpPr>
          <p:cNvPr id="78" name="Shape 75"/>
          <p:cNvSpPr/>
          <p:nvPr/>
        </p:nvSpPr>
        <p:spPr>
          <a:xfrm>
            <a:off x="4791521" y="4331382"/>
            <a:ext cx="3767137" cy="376238"/>
          </a:xfrm>
          <a:prstGeom prst="rect">
            <a:avLst/>
          </a:prstGeom>
          <a:ln/>
        </p:spPr>
      </p:sp>
      <p:sp>
        <p:nvSpPr>
          <p:cNvPr id="79" name="Text 76"/>
          <p:cNvSpPr/>
          <p:nvPr/>
        </p:nvSpPr>
        <p:spPr>
          <a:xfrm>
            <a:off x="4791521" y="4367250"/>
            <a:ext cx="3767137" cy="85725"/>
          </a:xfrm>
          <a:prstGeom prst="rect">
            <a:avLst/>
          </a:prstGeom>
          <a:ln/>
        </p:spPr>
        <p:txBody>
          <a:bodyPr wrap="square" lIns="0" tIns="0" rIns="0" bIns="0" rtlCol="0" anchor="t"/>
          <a:lstStyle/>
          <a:p>
            <a:pPr algn="l" indent="0" marL="0">
              <a:lnSpc>
                <a:spcPts val="670"/>
              </a:lnSpc>
              <a:spcAft>
                <a:spcPts val="101"/>
              </a:spcAft>
              <a:buNone/>
            </a:pPr>
            <a:r>
              <a:rPr lang="en-US" sz="400" b="1" dirty="0">
                <a:solidFill>
                  <a:srgbClr val="9333EA"/>
                </a:solidFill>
                <a:latin typeface="Inter" pitchFamily="34" charset="0"/>
                <a:ea typeface="Inter" pitchFamily="34" charset="-122"/>
                <a:cs typeface="Inter" pitchFamily="34" charset="-120"/>
              </a:rPr>
              <a:t>LINKED EYFS OBJECTIVES</a:t>
            </a:r>
            <a:endParaRPr lang="en-US" sz="400" dirty="0"/>
          </a:p>
        </p:txBody>
      </p:sp>
      <p:sp>
        <p:nvSpPr>
          <p:cNvPr id="80" name="Text 77"/>
          <p:cNvSpPr/>
          <p:nvPr/>
        </p:nvSpPr>
        <p:spPr>
          <a:xfrm>
            <a:off x="4791521" y="4464769"/>
            <a:ext cx="3767137" cy="242888"/>
          </a:xfrm>
          <a:prstGeom prst="rect">
            <a:avLst/>
          </a:prstGeom>
          <a:ln/>
        </p:spPr>
        <p:txBody>
          <a:bodyPr wrap="square" lIns="0" tIns="0" rIns="0" bIns="0" rtlCol="0" anchor="t"/>
          <a:lstStyle/>
          <a:p>
            <a:pPr algn="l" indent="0" marL="0">
              <a:lnSpc>
                <a:spcPts val="648"/>
              </a:lnSpc>
              <a:buNone/>
            </a:pPr>
            <a:r>
              <a:rPr lang="en-US" sz="400" dirty="0">
                <a:solidFill>
                  <a:srgbClr val="0F2A2E"/>
                </a:solidFill>
                <a:highlight>
                  <a:srgbClr val="F4F1FB"/>
                </a:highlight>
                <a:latin typeface="Inter" pitchFamily="34" charset="0"/>
                <a:ea typeface="Inter" pitchFamily="34" charset="-122"/>
                <a:cs typeface="Inter" pitchFamily="34" charset="-120"/>
              </a:rPr>
              <a:t>RD-EAD-3 · Acts out familiar stories using words, actions and props.</a:t>
            </a:r>
            <a:pPr algn="l" indent="0" marL="0">
              <a:lnSpc>
                <a:spcPts val="648"/>
              </a:lnSpc>
              <a:buNone/>
            </a:pPr>
            <a:r>
              <a:rPr lang="en-US" sz="400" dirty="0">
                <a:solidFill>
                  <a:srgbClr val="0F2A2E"/>
                </a:solidFill>
                <a:highlight>
                  <a:srgbClr val="F4F1FB"/>
                </a:highlight>
                <a:latin typeface="Inter" pitchFamily="34" charset="0"/>
                <a:ea typeface="Inter" pitchFamily="34" charset="-122"/>
                <a:cs typeface="Inter" pitchFamily="34" charset="-120"/>
              </a:rPr>
              <a:t>RD-CL-2 · Speaks in role, using different voices for characters.</a:t>
            </a:r>
            <a:pPr algn="l" indent="0" marL="0">
              <a:lnSpc>
                <a:spcPts val="648"/>
              </a:lnSpc>
              <a:buNone/>
            </a:pPr>
            <a:r>
              <a:rPr lang="en-US" sz="400" dirty="0">
                <a:solidFill>
                  <a:srgbClr val="0F2A2E"/>
                </a:solidFill>
                <a:highlight>
                  <a:srgbClr val="F4F1FB"/>
                </a:highlight>
                <a:latin typeface="Inter" pitchFamily="34" charset="0"/>
                <a:ea typeface="Inter" pitchFamily="34" charset="-122"/>
                <a:cs typeface="Inter" pitchFamily="34" charset="-120"/>
              </a:rPr>
              <a:t>RD-PSED-1 · Takes turns and shares space during drama activities.</a:t>
            </a:r>
            <a:endParaRPr lang="en-US" sz="400" dirty="0"/>
          </a:p>
        </p:txBody>
      </p:sp>
      <p:sp>
        <p:nvSpPr>
          <p:cNvPr id="81" name="Text 78"/>
          <p:cNvSpPr/>
          <p:nvPr/>
        </p:nvSpPr>
        <p:spPr>
          <a:xfrm>
            <a:off x="4791521" y="4742111"/>
            <a:ext cx="3767137" cy="114300"/>
          </a:xfrm>
          <a:prstGeom prst="rect">
            <a:avLst/>
          </a:prstGeom>
          <a:ln/>
        </p:spPr>
        <p:txBody>
          <a:bodyPr wrap="square" lIns="0" tIns="0" rIns="0" bIns="0" rtlCol="0" anchor="ctr"/>
          <a:lstStyle/>
          <a:p>
            <a:pPr algn="l" indent="0" marL="0">
              <a:lnSpc>
                <a:spcPts val="648"/>
              </a:lnSpc>
              <a:buNone/>
            </a:pPr>
            <a:r>
              <a:rPr lang="en-US" sz="400" dirty="0">
                <a:solidFill>
                  <a:srgbClr val="6B7D80"/>
                </a:solidFill>
                <a:latin typeface="Inter" pitchFamily="34" charset="0"/>
                <a:ea typeface="Inter" pitchFamily="34" charset="-122"/>
                <a:cs typeface="Inter" pitchFamily="34" charset="-120"/>
              </a:rPr>
              <a:t>Created in Creative Curriculum Designer</a:t>
            </a:r>
            <a:pPr algn="l" indent="0" marL="0">
              <a:lnSpc>
                <a:spcPts val="648"/>
              </a:lnSpc>
              <a:buNone/>
            </a:pPr>
            <a:r>
              <a:rPr lang="en-US" sz="400" dirty="0">
                <a:solidFill>
                  <a:srgbClr val="6B7D80"/>
                </a:solidFill>
                <a:latin typeface="Inter" pitchFamily="34" charset="0"/>
                <a:ea typeface="Inter" pitchFamily="34" charset="-122"/>
                <a:cs typeface="Inter" pitchFamily="34" charset="-120"/>
              </a:rPr>
              <a:t>Page 1 of 1</a:t>
            </a:r>
            <a:endParaRPr lang="en-US" sz="400" dirty="0"/>
          </a:p>
        </p:txBody>
      </p:sp>
      <p:pic>
        <p:nvPicPr>
          <p:cNvPr id="8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304" y="1077404"/>
            <a:ext cx="3767137" cy="404813"/>
          </a:xfrm>
          <a:prstGeom prst="rect">
            <a:avLst/>
          </a:prstGeom>
        </p:spPr>
      </p:pic>
      <p:pic>
        <p:nvPicPr>
          <p:cNvPr id="8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5304" y="2253555"/>
            <a:ext cx="3767137" cy="428625"/>
          </a:xfrm>
          <a:prstGeom prst="rect">
            <a:avLst/>
          </a:prstGeom>
        </p:spPr>
      </p:pic>
      <p:pic>
        <p:nvPicPr>
          <p:cNvPr id="8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5304" y="2705919"/>
            <a:ext cx="3767137" cy="428625"/>
          </a:xfrm>
          <a:prstGeom prst="rect">
            <a:avLst/>
          </a:prstGeom>
        </p:spPr>
      </p:pic>
      <p:pic>
        <p:nvPicPr>
          <p:cNvPr id="8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5304" y="3158282"/>
            <a:ext cx="3767137" cy="428625"/>
          </a:xfrm>
          <a:prstGeom prst="rect">
            <a:avLst/>
          </a:prstGeom>
        </p:spPr>
      </p:pic>
      <p:pic>
        <p:nvPicPr>
          <p:cNvPr id="8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5304" y="3610645"/>
            <a:ext cx="3767137" cy="428625"/>
          </a:xfrm>
          <a:prstGeom prst="rect">
            <a:avLst/>
          </a:prstGeom>
        </p:spPr>
      </p:pic>
      <p:pic>
        <p:nvPicPr>
          <p:cNvPr id="87"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85304" y="4742111"/>
            <a:ext cx="3767137" cy="114300"/>
          </a:xfrm>
          <a:prstGeom prst="rect">
            <a:avLst/>
          </a:prstGeom>
        </p:spPr>
      </p:pic>
      <p:pic>
        <p:nvPicPr>
          <p:cNvPr id="88"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91521" y="1077404"/>
            <a:ext cx="3767137" cy="404813"/>
          </a:xfrm>
          <a:prstGeom prst="rect">
            <a:avLst/>
          </a:prstGeom>
        </p:spPr>
      </p:pic>
      <p:pic>
        <p:nvPicPr>
          <p:cNvPr id="8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91521" y="2427163"/>
            <a:ext cx="3767137" cy="428625"/>
          </a:xfrm>
          <a:prstGeom prst="rect">
            <a:avLst/>
          </a:prstGeom>
        </p:spPr>
      </p:pic>
      <p:pic>
        <p:nvPicPr>
          <p:cNvPr id="90"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791521" y="2879527"/>
            <a:ext cx="3767137" cy="428625"/>
          </a:xfrm>
          <a:prstGeom prst="rect">
            <a:avLst/>
          </a:prstGeom>
        </p:spPr>
      </p:pic>
      <p:pic>
        <p:nvPicPr>
          <p:cNvPr id="91"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791521" y="3331890"/>
            <a:ext cx="3767137" cy="428625"/>
          </a:xfrm>
          <a:prstGeom prst="rect">
            <a:avLst/>
          </a:prstGeom>
        </p:spPr>
      </p:pic>
      <p:pic>
        <p:nvPicPr>
          <p:cNvPr id="92"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791521" y="3784253"/>
            <a:ext cx="3767137" cy="428625"/>
          </a:xfrm>
          <a:prstGeom prst="rect">
            <a:avLst/>
          </a:prstGeom>
        </p:spPr>
      </p:pic>
      <p:pic>
        <p:nvPicPr>
          <p:cNvPr id="93" name="Image 12" descr="preencoded.png">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791521" y="4331382"/>
            <a:ext cx="3767137" cy="376238"/>
          </a:xfrm>
          <a:prstGeom prst="rect">
            <a:avLst/>
          </a:prstGeom>
        </p:spPr>
      </p:pic>
      <p:pic>
        <p:nvPicPr>
          <p:cNvPr id="94" name="Image 13" descr="preencoded.png">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791521" y="4742111"/>
            <a:ext cx="3767137" cy="114300"/>
          </a:xfrm>
          <a:prstGeom prst="rect">
            <a:avLst/>
          </a:prstGeom>
        </p:spPr>
      </p:pic>
      <p:pic>
        <p:nvPicPr>
          <p:cNvPr id="95" name="Image 14" descr="preencoded.png">    </p:cNvPr>
          <p:cNvPicPr>
            <a:picLocks noChangeAspect="1"/>
          </p:cNvPicPr>
          <p:nvPr/>
        </p:nvPicPr>
        <p:blipFill>
          <a:blip r:embed="rId29"/>
          <a:stretch>
            <a:fillRect/>
          </a:stretch>
        </p:blipFill>
        <p:spPr>
          <a:xfrm>
            <a:off x="228600" y="154260"/>
            <a:ext cx="857250" cy="257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1038783"/>
            <a:ext cx="3143250"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07</a:t>
            </a:r>
            <a:endParaRPr lang="en-US" sz="700" dirty="0"/>
          </a:p>
        </p:txBody>
      </p:sp>
      <p:sp>
        <p:nvSpPr>
          <p:cNvPr id="4" name="Text 2"/>
          <p:cNvSpPr/>
          <p:nvPr/>
        </p:nvSpPr>
        <p:spPr>
          <a:xfrm>
            <a:off x="640035" y="1278062"/>
            <a:ext cx="3143250" cy="785813"/>
          </a:xfrm>
          <a:prstGeom prst="rect">
            <a:avLst/>
          </a:prstGeom>
          <a:ln/>
        </p:spPr>
        <p:txBody>
          <a:bodyPr wrap="square" lIns="0" tIns="0" rIns="0" bIns="0" rtlCol="0" anchor="t"/>
          <a:lstStyle/>
          <a:p>
            <a:pPr algn="l" indent="0" marL="0">
              <a:lnSpc>
                <a:spcPts val="3084"/>
              </a:lnSpc>
              <a:buNone/>
            </a:pPr>
            <a:r>
              <a:rPr lang="en-US" sz="3000" b="1" dirty="0">
                <a:solidFill>
                  <a:srgbClr val="0F2A2E"/>
                </a:solidFill>
                <a:latin typeface="Inter" pitchFamily="34" charset="0"/>
                <a:ea typeface="Inter" pitchFamily="34" charset="-122"/>
                <a:cs typeface="Inter" pitchFamily="34" charset="-120"/>
              </a:rPr>
              <a:t>Settings that fit your school.</a:t>
            </a:r>
            <a:endParaRPr lang="en-US" sz="3000" dirty="0"/>
          </a:p>
        </p:txBody>
      </p:sp>
      <p:sp>
        <p:nvSpPr>
          <p:cNvPr id="5" name="Text 3"/>
          <p:cNvSpPr/>
          <p:nvPr/>
        </p:nvSpPr>
        <p:spPr>
          <a:xfrm>
            <a:off x="640035" y="2215865"/>
            <a:ext cx="3143250" cy="1004887"/>
          </a:xfrm>
          <a:prstGeom prst="rect">
            <a:avLst/>
          </a:prstGeom>
          <a:ln/>
        </p:spPr>
        <p:txBody>
          <a:bodyPr wrap="square" lIns="0" tIns="0" rIns="0" bIns="0" rtlCol="0" anchor="t"/>
          <a:lstStyle/>
          <a:p>
            <a:pPr algn="l" indent="0" marL="0">
              <a:lnSpc>
                <a:spcPts val="1579"/>
              </a:lnSpc>
              <a:spcBef>
                <a:spcPts val="1215"/>
              </a:spcBef>
              <a:buNone/>
            </a:pPr>
            <a:r>
              <a:rPr lang="en-US" sz="900" dirty="0">
                <a:solidFill>
                  <a:srgbClr val="6B7D80"/>
                </a:solidFill>
                <a:latin typeface="Inter" pitchFamily="34" charset="0"/>
                <a:ea typeface="Inter" pitchFamily="34" charset="-122"/>
                <a:cs typeface="Inter" pitchFamily="34" charset="-120"/>
              </a:rPr>
              <a:t>One panel for the things that change school by school — year groups, activity categories, your branding on every print-out, and where your data lives. Free to use, no resource lock-in: your practice belongs to you and the wider sector — not a platform.</a:t>
            </a:r>
            <a:endParaRPr lang="en-US" sz="900" dirty="0"/>
          </a:p>
        </p:txBody>
      </p:sp>
      <p:sp>
        <p:nvSpPr>
          <p:cNvPr id="6" name="Shape 4"/>
          <p:cNvSpPr/>
          <p:nvPr/>
        </p:nvSpPr>
        <p:spPr>
          <a:xfrm>
            <a:off x="638882" y="3417354"/>
            <a:ext cx="57150" cy="57150"/>
          </a:xfrm>
          <a:prstGeom prst="ellipse">
            <a:avLst/>
          </a:prstGeom>
          <a:solidFill>
            <a:srgbClr val="14B8A6"/>
          </a:solidFill>
          <a:ln/>
        </p:spPr>
      </p:sp>
      <p:sp>
        <p:nvSpPr>
          <p:cNvPr id="7" name="Text 5"/>
          <p:cNvSpPr/>
          <p:nvPr/>
        </p:nvSpPr>
        <p:spPr>
          <a:xfrm>
            <a:off x="768028" y="3383459"/>
            <a:ext cx="1542678" cy="119062"/>
          </a:xfrm>
          <a:prstGeom prst="rect">
            <a:avLst/>
          </a:prstGeom>
          <a:noFill/>
          <a:ln/>
        </p:spPr>
        <p:txBody>
          <a:bodyPr wrap="square" lIns="0" tIns="0" rIns="0" bIns="0" rtlCol="0" anchor="ctr"/>
          <a:lstStyle/>
          <a:p>
            <a:pPr indent="0" marL="0">
              <a:lnSpc>
                <a:spcPts val="1134"/>
              </a:lnSpc>
              <a:buNone/>
            </a:pPr>
            <a:r>
              <a:rPr lang="en-US" sz="700" dirty="0">
                <a:solidFill>
                  <a:srgbClr val="0F2A2E"/>
                </a:solidFill>
                <a:latin typeface="Inter" pitchFamily="34" charset="0"/>
                <a:ea typeface="Inter" pitchFamily="34" charset="-122"/>
                <a:cs typeface="Inter" pitchFamily="34" charset="-120"/>
              </a:rPr>
              <a:t>Year groups, EYFS through Year 6</a:t>
            </a:r>
            <a:endParaRPr lang="en-US" sz="700" dirty="0"/>
          </a:p>
        </p:txBody>
      </p:sp>
      <p:sp>
        <p:nvSpPr>
          <p:cNvPr id="8" name="Shape 6"/>
          <p:cNvSpPr/>
          <p:nvPr/>
        </p:nvSpPr>
        <p:spPr>
          <a:xfrm>
            <a:off x="638882" y="3612766"/>
            <a:ext cx="57150" cy="57150"/>
          </a:xfrm>
          <a:prstGeom prst="ellipse">
            <a:avLst/>
          </a:prstGeom>
          <a:solidFill>
            <a:srgbClr val="FF6B6B"/>
          </a:solidFill>
          <a:ln/>
        </p:spPr>
      </p:sp>
      <p:sp>
        <p:nvSpPr>
          <p:cNvPr id="9" name="Text 7"/>
          <p:cNvSpPr/>
          <p:nvPr/>
        </p:nvSpPr>
        <p:spPr>
          <a:xfrm>
            <a:off x="768028" y="3578870"/>
            <a:ext cx="1747540" cy="119062"/>
          </a:xfrm>
          <a:prstGeom prst="rect">
            <a:avLst/>
          </a:prstGeom>
          <a:noFill/>
          <a:ln/>
        </p:spPr>
        <p:txBody>
          <a:bodyPr wrap="square" lIns="0" tIns="0" rIns="0" bIns="0" rtlCol="0" anchor="ctr"/>
          <a:lstStyle/>
          <a:p>
            <a:pPr indent="0" marL="0">
              <a:lnSpc>
                <a:spcPts val="1134"/>
              </a:lnSpc>
              <a:buNone/>
            </a:pPr>
            <a:r>
              <a:rPr lang="en-US" sz="700" dirty="0">
                <a:solidFill>
                  <a:srgbClr val="0F2A2E"/>
                </a:solidFill>
                <a:latin typeface="Inter" pitchFamily="34" charset="0"/>
                <a:ea typeface="Inter" pitchFamily="34" charset="-122"/>
                <a:cs typeface="Inter" pitchFamily="34" charset="-120"/>
              </a:rPr>
              <a:t>Custom activity categories per subject</a:t>
            </a:r>
            <a:endParaRPr lang="en-US" sz="700" dirty="0"/>
          </a:p>
        </p:txBody>
      </p:sp>
      <p:sp>
        <p:nvSpPr>
          <p:cNvPr id="10" name="Shape 8"/>
          <p:cNvSpPr/>
          <p:nvPr/>
        </p:nvSpPr>
        <p:spPr>
          <a:xfrm>
            <a:off x="638882" y="3808177"/>
            <a:ext cx="57150" cy="57150"/>
          </a:xfrm>
          <a:prstGeom prst="ellipse">
            <a:avLst/>
          </a:prstGeom>
          <a:solidFill>
            <a:srgbClr val="14B8A6"/>
          </a:solidFill>
          <a:ln/>
        </p:spPr>
      </p:sp>
      <p:sp>
        <p:nvSpPr>
          <p:cNvPr id="11" name="Text 9"/>
          <p:cNvSpPr/>
          <p:nvPr/>
        </p:nvSpPr>
        <p:spPr>
          <a:xfrm>
            <a:off x="768028" y="3774281"/>
            <a:ext cx="1629073" cy="119062"/>
          </a:xfrm>
          <a:prstGeom prst="rect">
            <a:avLst/>
          </a:prstGeom>
          <a:noFill/>
          <a:ln/>
        </p:spPr>
        <p:txBody>
          <a:bodyPr wrap="square" lIns="0" tIns="0" rIns="0" bIns="0" rtlCol="0" anchor="ctr"/>
          <a:lstStyle/>
          <a:p>
            <a:pPr indent="0" marL="0">
              <a:lnSpc>
                <a:spcPts val="1134"/>
              </a:lnSpc>
              <a:buNone/>
            </a:pPr>
            <a:r>
              <a:rPr lang="en-US" sz="700" dirty="0">
                <a:solidFill>
                  <a:srgbClr val="0F2A2E"/>
                </a:solidFill>
                <a:latin typeface="Inter" pitchFamily="34" charset="0"/>
                <a:ea typeface="Inter" pitchFamily="34" charset="-122"/>
                <a:cs typeface="Inter" pitchFamily="34" charset="-120"/>
              </a:rPr>
              <a:t>Logo, colours, header on every PDF</a:t>
            </a:r>
            <a:endParaRPr lang="en-US" sz="700" dirty="0"/>
          </a:p>
        </p:txBody>
      </p:sp>
      <p:sp>
        <p:nvSpPr>
          <p:cNvPr id="12" name="Shape 10"/>
          <p:cNvSpPr/>
          <p:nvPr/>
        </p:nvSpPr>
        <p:spPr>
          <a:xfrm>
            <a:off x="638882" y="4003588"/>
            <a:ext cx="57150" cy="57150"/>
          </a:xfrm>
          <a:prstGeom prst="ellipse">
            <a:avLst/>
          </a:prstGeom>
          <a:solidFill>
            <a:srgbClr val="FF6B6B"/>
          </a:solidFill>
          <a:ln/>
        </p:spPr>
      </p:sp>
      <p:sp>
        <p:nvSpPr>
          <p:cNvPr id="13" name="Text 11"/>
          <p:cNvSpPr/>
          <p:nvPr/>
        </p:nvSpPr>
        <p:spPr>
          <a:xfrm>
            <a:off x="768028" y="3969693"/>
            <a:ext cx="2184722" cy="119062"/>
          </a:xfrm>
          <a:prstGeom prst="rect">
            <a:avLst/>
          </a:prstGeom>
          <a:noFill/>
          <a:ln/>
        </p:spPr>
        <p:txBody>
          <a:bodyPr wrap="square" lIns="0" tIns="0" rIns="0" bIns="0" rtlCol="0" anchor="ctr"/>
          <a:lstStyle/>
          <a:p>
            <a:pPr indent="0" marL="0">
              <a:lnSpc>
                <a:spcPts val="1134"/>
              </a:lnSpc>
              <a:buNone/>
            </a:pPr>
            <a:r>
              <a:rPr lang="en-US" sz="700" dirty="0">
                <a:solidFill>
                  <a:srgbClr val="0F2A2E"/>
                </a:solidFill>
                <a:latin typeface="Inter" pitchFamily="34" charset="0"/>
                <a:ea typeface="Inter" pitchFamily="34" charset="-122"/>
                <a:cs typeface="Inter" pitchFamily="34" charset="-120"/>
              </a:rPr>
              <a:t>Import, export, back up — your data stays yours</a:t>
            </a:r>
            <a:endParaRPr lang="en-US" sz="700" dirty="0"/>
          </a:p>
        </p:txBody>
      </p:sp>
      <p:sp>
        <p:nvSpPr>
          <p:cNvPr id="14" name="Shape 12"/>
          <p:cNvSpPr/>
          <p:nvPr/>
        </p:nvSpPr>
        <p:spPr>
          <a:xfrm>
            <a:off x="4012406" y="1433475"/>
            <a:ext cx="4491038" cy="2276475"/>
          </a:xfrm>
          <a:prstGeom prst="roundRect">
            <a:avLst>
              <a:gd name="adj" fmla="val 2017"/>
            </a:avLst>
          </a:prstGeom>
          <a:solidFill>
            <a:srgbClr val="FFFFFF"/>
          </a:solidFill>
          <a:ln w="4763">
            <a:solidFill>
              <a:srgbClr val="142727">
                <a:alpha val="5098"/>
              </a:srgbClr>
            </a:solidFill>
            <a:prstDash val="solid"/>
          </a:ln>
          <a:effectLst>
            <a:outerShdw sx="100000" sy="100000" kx="0" ky="0" algn="bl" rotWithShape="0" blurRad="285750" dist="95250" dir="5400000">
              <a:srgbClr val="004C45">
                <a:alpha val="12000"/>
              </a:srgbClr>
            </a:outerShdw>
          </a:effectLst>
        </p:spPr>
      </p:sp>
      <p:sp>
        <p:nvSpPr>
          <p:cNvPr id="15" name="Text 13"/>
          <p:cNvSpPr/>
          <p:nvPr/>
        </p:nvSpPr>
        <p:spPr>
          <a:xfrm>
            <a:off x="4017169" y="1437159"/>
            <a:ext cx="4481512" cy="314325"/>
          </a:xfrm>
          <a:prstGeom prst="rect">
            <a:avLst/>
          </a:prstGeom>
          <a:solidFill>
            <a:srgbClr val="FFFAF7"/>
          </a:solidFill>
          <a:ln/>
        </p:spPr>
        <p:txBody>
          <a:bodyPr wrap="square" lIns="0" tIns="0" rIns="0" bIns="0" rtlCol="0" anchor="ctr"/>
          <a:lstStyle/>
          <a:p>
            <a:pPr algn="l" indent="0" marL="0">
              <a:lnSpc>
                <a:spcPts val="1296"/>
              </a:lnSpc>
              <a:buNone/>
            </a:pPr>
            <a:r>
              <a:rPr lang="en-US" sz="800" b="1" dirty="0">
                <a:solidFill>
                  <a:srgbClr val="0F2A2E"/>
                </a:solidFill>
                <a:latin typeface="Inter" pitchFamily="34" charset="0"/>
                <a:ea typeface="Inter" pitchFamily="34" charset="-122"/>
                <a:cs typeface="Inter" pitchFamily="34" charset="-120"/>
              </a:rPr>
              <a:t>Settings</a:t>
            </a:r>
            <a:pPr algn="l" indent="0" marL="0">
              <a:lnSpc>
                <a:spcPts val="972"/>
              </a:lnSpc>
              <a:buNone/>
            </a:pPr>
            <a:r>
              <a:rPr lang="en-US" sz="600" dirty="0">
                <a:solidFill>
                  <a:srgbClr val="6B7D80"/>
                </a:solidFill>
                <a:latin typeface="Inter" pitchFamily="34" charset="0"/>
                <a:ea typeface="Inter" pitchFamily="34" charset="-122"/>
                <a:cs typeface="Inter" pitchFamily="34" charset="-120"/>
              </a:rPr>
              <a:t>Coopersale Hall School</a:t>
            </a:r>
            <a:endParaRPr lang="en-US" sz="800" dirty="0"/>
          </a:p>
        </p:txBody>
      </p:sp>
      <p:sp>
        <p:nvSpPr>
          <p:cNvPr id="16" name="Shape 14"/>
          <p:cNvSpPr/>
          <p:nvPr/>
        </p:nvSpPr>
        <p:spPr>
          <a:xfrm>
            <a:off x="4017169" y="1749809"/>
            <a:ext cx="4481512" cy="238125"/>
          </a:xfrm>
          <a:prstGeom prst="rect">
            <a:avLst/>
          </a:prstGeom>
          <a:solidFill>
            <a:srgbClr val="FFFAF8">
              <a:alpha val="40000"/>
            </a:srgbClr>
          </a:solidFill>
          <a:ln/>
        </p:spPr>
      </p:sp>
      <p:sp>
        <p:nvSpPr>
          <p:cNvPr id="17" name="Text 15"/>
          <p:cNvSpPr/>
          <p:nvPr/>
        </p:nvSpPr>
        <p:spPr>
          <a:xfrm>
            <a:off x="4072124" y="1749809"/>
            <a:ext cx="642938" cy="238125"/>
          </a:xfrm>
          <a:prstGeom prst="rect">
            <a:avLst/>
          </a:prstGeom>
          <a:ln/>
        </p:spPr>
        <p:txBody>
          <a:bodyPr wrap="square" lIns="0" tIns="0" rIns="0" bIns="0" rtlCol="0" anchor="t"/>
          <a:lstStyle/>
          <a:p>
            <a:pPr algn="l" indent="0" marL="0">
              <a:lnSpc>
                <a:spcPts val="972"/>
              </a:lnSpc>
              <a:buNone/>
            </a:pPr>
            <a:r>
              <a:rPr lang="en-US" sz="600" b="1" dirty="0">
                <a:solidFill>
                  <a:srgbClr val="0F2A2E"/>
                </a:solidFill>
                <a:latin typeface="Inter" pitchFamily="34" charset="0"/>
                <a:ea typeface="Inter" pitchFamily="34" charset="-122"/>
                <a:cs typeface="Inter" pitchFamily="34" charset="-120"/>
              </a:rPr>
              <a:t>Year groups</a:t>
            </a:r>
            <a:endParaRPr lang="en-US" sz="600" dirty="0"/>
          </a:p>
        </p:txBody>
      </p:sp>
      <p:sp>
        <p:nvSpPr>
          <p:cNvPr id="18" name="Text 16"/>
          <p:cNvSpPr/>
          <p:nvPr/>
        </p:nvSpPr>
        <p:spPr>
          <a:xfrm>
            <a:off x="4716549" y="1749809"/>
            <a:ext cx="585788"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Categories</a:t>
            </a:r>
            <a:endParaRPr lang="en-US" sz="600" dirty="0"/>
          </a:p>
        </p:txBody>
      </p:sp>
      <p:sp>
        <p:nvSpPr>
          <p:cNvPr id="19" name="Text 17"/>
          <p:cNvSpPr/>
          <p:nvPr/>
        </p:nvSpPr>
        <p:spPr>
          <a:xfrm>
            <a:off x="5303900" y="1749809"/>
            <a:ext cx="728663"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Resource links</a:t>
            </a:r>
            <a:endParaRPr lang="en-US" sz="600" dirty="0"/>
          </a:p>
        </p:txBody>
      </p:sp>
      <p:sp>
        <p:nvSpPr>
          <p:cNvPr id="20" name="Text 18"/>
          <p:cNvSpPr/>
          <p:nvPr/>
        </p:nvSpPr>
        <p:spPr>
          <a:xfrm>
            <a:off x="6032562" y="1749809"/>
            <a:ext cx="885825"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Custom objectives</a:t>
            </a:r>
            <a:endParaRPr lang="en-US" sz="600" dirty="0"/>
          </a:p>
        </p:txBody>
      </p:sp>
      <p:sp>
        <p:nvSpPr>
          <p:cNvPr id="21" name="Text 19"/>
          <p:cNvSpPr/>
          <p:nvPr/>
        </p:nvSpPr>
        <p:spPr>
          <a:xfrm>
            <a:off x="6917159" y="1749809"/>
            <a:ext cx="514350"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Branding</a:t>
            </a:r>
            <a:endParaRPr lang="en-US" sz="600" dirty="0"/>
          </a:p>
        </p:txBody>
      </p:sp>
      <p:sp>
        <p:nvSpPr>
          <p:cNvPr id="22" name="Text 20"/>
          <p:cNvSpPr/>
          <p:nvPr/>
        </p:nvSpPr>
        <p:spPr>
          <a:xfrm>
            <a:off x="7431286" y="1749809"/>
            <a:ext cx="342900"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Data</a:t>
            </a:r>
            <a:endParaRPr lang="en-US" sz="600" dirty="0"/>
          </a:p>
        </p:txBody>
      </p:sp>
      <p:sp>
        <p:nvSpPr>
          <p:cNvPr id="23" name="Text 21"/>
          <p:cNvSpPr/>
          <p:nvPr/>
        </p:nvSpPr>
        <p:spPr>
          <a:xfrm>
            <a:off x="7774930" y="1749809"/>
            <a:ext cx="390525" cy="233362"/>
          </a:xfrm>
          <a:prstGeom prst="rect">
            <a:avLst/>
          </a:prstGeom>
          <a:ln/>
        </p:spPr>
        <p:txBody>
          <a:bodyPr wrap="square" lIns="0" tIns="0" rIns="0" bIns="0" rtlCol="0" anchor="t"/>
          <a:lstStyle/>
          <a:p>
            <a:pPr algn="l" indent="0" marL="0">
              <a:lnSpc>
                <a:spcPts val="972"/>
              </a:lnSpc>
              <a:buNone/>
            </a:pPr>
            <a:r>
              <a:rPr lang="en-US" sz="600" dirty="0">
                <a:solidFill>
                  <a:srgbClr val="6B7D80"/>
                </a:solidFill>
                <a:latin typeface="Inter" pitchFamily="34" charset="0"/>
                <a:ea typeface="Inter" pitchFamily="34" charset="-122"/>
                <a:cs typeface="Inter" pitchFamily="34" charset="-120"/>
              </a:rPr>
              <a:t>Users</a:t>
            </a:r>
            <a:endParaRPr lang="en-US" sz="600" dirty="0"/>
          </a:p>
        </p:txBody>
      </p:sp>
      <p:sp>
        <p:nvSpPr>
          <p:cNvPr id="24" name="Text 22"/>
          <p:cNvSpPr/>
          <p:nvPr/>
        </p:nvSpPr>
        <p:spPr>
          <a:xfrm>
            <a:off x="4126297" y="2069827"/>
            <a:ext cx="2085975" cy="128588"/>
          </a:xfrm>
          <a:prstGeom prst="rect">
            <a:avLst/>
          </a:prstGeom>
          <a:ln/>
        </p:spPr>
        <p:txBody>
          <a:bodyPr wrap="square" lIns="0" tIns="0" rIns="0" bIns="0" rtlCol="0" anchor="t"/>
          <a:lstStyle/>
          <a:p>
            <a:pPr algn="l" indent="0" marL="0">
              <a:lnSpc>
                <a:spcPts val="1026"/>
              </a:lnSpc>
              <a:spcAft>
                <a:spcPts val="324"/>
              </a:spcAft>
              <a:buNone/>
            </a:pPr>
            <a:r>
              <a:rPr lang="en-US" sz="600" b="1" dirty="0">
                <a:solidFill>
                  <a:srgbClr val="0F2A2E"/>
                </a:solidFill>
                <a:latin typeface="Inter" pitchFamily="34" charset="0"/>
                <a:ea typeface="Inter" pitchFamily="34" charset="-122"/>
                <a:cs typeface="Inter" pitchFamily="34" charset="-120"/>
              </a:rPr>
              <a:t>Active year groups</a:t>
            </a:r>
            <a:endParaRPr lang="en-US" sz="600" dirty="0"/>
          </a:p>
        </p:txBody>
      </p:sp>
      <p:sp>
        <p:nvSpPr>
          <p:cNvPr id="25" name="Text 23"/>
          <p:cNvSpPr/>
          <p:nvPr/>
        </p:nvSpPr>
        <p:spPr>
          <a:xfrm>
            <a:off x="4126297" y="2240347"/>
            <a:ext cx="2085975" cy="204787"/>
          </a:xfrm>
          <a:prstGeom prst="roundRect">
            <a:avLst>
              <a:gd name="adj" fmla="val 20768"/>
            </a:avLst>
          </a:prstGeom>
          <a:solidFill>
            <a:srgbClr val="FFFFFF"/>
          </a:solidFill>
          <a:ln w="4763">
            <a:solidFill>
              <a:srgbClr val="142731">
                <a:alpha val="10196"/>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EYFS · Reception</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t>
            </a:r>
            <a:endParaRPr lang="en-US" sz="600" dirty="0"/>
          </a:p>
        </p:txBody>
      </p:sp>
      <p:sp>
        <p:nvSpPr>
          <p:cNvPr id="26" name="Text 24"/>
          <p:cNvSpPr/>
          <p:nvPr/>
        </p:nvSpPr>
        <p:spPr>
          <a:xfrm>
            <a:off x="4126297" y="2476016"/>
            <a:ext cx="2085975" cy="204787"/>
          </a:xfrm>
          <a:prstGeom prst="roundRect">
            <a:avLst>
              <a:gd name="adj" fmla="val 20768"/>
            </a:avLst>
          </a:prstGeom>
          <a:solidFill>
            <a:srgbClr val="FFFFFF"/>
          </a:solidFill>
          <a:ln w="4763">
            <a:solidFill>
              <a:srgbClr val="142731">
                <a:alpha val="10196"/>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Year 1</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t>
            </a:r>
            <a:endParaRPr lang="en-US" sz="600" dirty="0"/>
          </a:p>
        </p:txBody>
      </p:sp>
      <p:sp>
        <p:nvSpPr>
          <p:cNvPr id="27" name="Text 25"/>
          <p:cNvSpPr/>
          <p:nvPr/>
        </p:nvSpPr>
        <p:spPr>
          <a:xfrm>
            <a:off x="4126297" y="2711686"/>
            <a:ext cx="2085975" cy="204787"/>
          </a:xfrm>
          <a:prstGeom prst="roundRect">
            <a:avLst>
              <a:gd name="adj" fmla="val 20768"/>
            </a:avLst>
          </a:prstGeom>
          <a:solidFill>
            <a:srgbClr val="14B19D">
              <a:alpha val="5098"/>
            </a:srgbClr>
          </a:solidFill>
          <a:ln w="4763">
            <a:solidFill>
              <a:srgbClr val="14B9A5">
                <a:alpha val="40000"/>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Year 2</a:t>
            </a:r>
            <a:pPr algn="l" indent="0" marL="0">
              <a:lnSpc>
                <a:spcPts val="810"/>
              </a:lnSpc>
              <a:buNone/>
            </a:pPr>
            <a:r>
              <a:rPr lang="en-US" sz="500" dirty="0">
                <a:solidFill>
                  <a:srgbClr val="008272"/>
                </a:solidFill>
                <a:latin typeface="Inter" pitchFamily="34" charset="0"/>
                <a:ea typeface="Inter" pitchFamily="34" charset="-122"/>
                <a:cs typeface="Inter" pitchFamily="34" charset="-120"/>
              </a:rPr>
              <a:t>↕</a:t>
            </a:r>
            <a:endParaRPr lang="en-US" sz="600" dirty="0"/>
          </a:p>
        </p:txBody>
      </p:sp>
      <p:sp>
        <p:nvSpPr>
          <p:cNvPr id="28" name="Text 26"/>
          <p:cNvSpPr/>
          <p:nvPr/>
        </p:nvSpPr>
        <p:spPr>
          <a:xfrm>
            <a:off x="4126297" y="2947355"/>
            <a:ext cx="2085975" cy="204787"/>
          </a:xfrm>
          <a:prstGeom prst="roundRect">
            <a:avLst>
              <a:gd name="adj" fmla="val 20768"/>
            </a:avLst>
          </a:prstGeom>
          <a:solidFill>
            <a:srgbClr val="FFFFFF"/>
          </a:solidFill>
          <a:ln w="4763">
            <a:solidFill>
              <a:srgbClr val="142731">
                <a:alpha val="10196"/>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Year 3</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t>
            </a:r>
            <a:endParaRPr lang="en-US" sz="600" dirty="0"/>
          </a:p>
        </p:txBody>
      </p:sp>
      <p:sp>
        <p:nvSpPr>
          <p:cNvPr id="29" name="Text 27"/>
          <p:cNvSpPr/>
          <p:nvPr/>
        </p:nvSpPr>
        <p:spPr>
          <a:xfrm>
            <a:off x="4126297" y="3183024"/>
            <a:ext cx="2085975" cy="204787"/>
          </a:xfrm>
          <a:prstGeom prst="roundRect">
            <a:avLst>
              <a:gd name="adj" fmla="val 20768"/>
            </a:avLst>
          </a:prstGeom>
          <a:solidFill>
            <a:srgbClr val="FFFFFF"/>
          </a:solidFill>
          <a:ln w="4763">
            <a:solidFill>
              <a:srgbClr val="142731">
                <a:alpha val="10196"/>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Year 4</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t>
            </a:r>
            <a:endParaRPr lang="en-US" sz="600" dirty="0"/>
          </a:p>
        </p:txBody>
      </p:sp>
      <p:sp>
        <p:nvSpPr>
          <p:cNvPr id="30" name="Text 28"/>
          <p:cNvSpPr/>
          <p:nvPr/>
        </p:nvSpPr>
        <p:spPr>
          <a:xfrm>
            <a:off x="4126297" y="3418694"/>
            <a:ext cx="2085975" cy="204787"/>
          </a:xfrm>
          <a:prstGeom prst="roundRect">
            <a:avLst>
              <a:gd name="adj" fmla="val 20768"/>
            </a:avLst>
          </a:prstGeom>
          <a:solidFill>
            <a:srgbClr val="FFFFFF"/>
          </a:solidFill>
          <a:ln w="4763">
            <a:solidFill>
              <a:srgbClr val="142731">
                <a:alpha val="10196"/>
              </a:srgbClr>
            </a:solidFill>
            <a:prstDash val="solid"/>
          </a:ln>
        </p:spPr>
        <p:txBody>
          <a:bodyPr wrap="square" lIns="0" tIns="0" rIns="0" bIns="0" rtlCol="0" anchor="ctr"/>
          <a:lstStyle/>
          <a:p>
            <a:pPr algn="l" indent="0" marL="0">
              <a:lnSpc>
                <a:spcPts val="972"/>
              </a:lnSpc>
              <a:buNone/>
            </a:pPr>
            <a:r>
              <a:rPr lang="en-US" sz="600" dirty="0">
                <a:solidFill>
                  <a:srgbClr val="0F2A2E"/>
                </a:solidFill>
                <a:latin typeface="Inter" pitchFamily="34" charset="0"/>
                <a:ea typeface="Inter" pitchFamily="34" charset="-122"/>
                <a:cs typeface="Inter" pitchFamily="34" charset="-120"/>
              </a:rPr>
              <a:t>Year 5 &amp; 6</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t>
            </a:r>
            <a:endParaRPr lang="en-US" sz="600" dirty="0"/>
          </a:p>
        </p:txBody>
      </p:sp>
      <p:sp>
        <p:nvSpPr>
          <p:cNvPr id="31" name="Shape 29"/>
          <p:cNvSpPr/>
          <p:nvPr/>
        </p:nvSpPr>
        <p:spPr>
          <a:xfrm>
            <a:off x="6303578" y="2069976"/>
            <a:ext cx="2085975" cy="590550"/>
          </a:xfrm>
          <a:prstGeom prst="roundRect">
            <a:avLst>
              <a:gd name="adj" fmla="val 11988"/>
            </a:avLst>
          </a:prstGeom>
          <a:solidFill>
            <a:srgbClr val="FFF9F7">
              <a:alpha val="50196"/>
            </a:srgbClr>
          </a:solidFill>
          <a:ln w="4763">
            <a:solidFill>
              <a:srgbClr val="142731">
                <a:alpha val="10196"/>
              </a:srgbClr>
            </a:solidFill>
            <a:prstDash val="solid"/>
          </a:ln>
        </p:spPr>
      </p:sp>
      <p:sp>
        <p:nvSpPr>
          <p:cNvPr id="32" name="Text 30"/>
          <p:cNvSpPr/>
          <p:nvPr/>
        </p:nvSpPr>
        <p:spPr>
          <a:xfrm>
            <a:off x="6391684" y="2125005"/>
            <a:ext cx="1909762"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Branding preview</a:t>
            </a:r>
            <a:endParaRPr lang="en-US" sz="600" dirty="0"/>
          </a:p>
        </p:txBody>
      </p:sp>
      <p:sp>
        <p:nvSpPr>
          <p:cNvPr id="33" name="Shape 31"/>
          <p:cNvSpPr/>
          <p:nvPr/>
        </p:nvSpPr>
        <p:spPr>
          <a:xfrm>
            <a:off x="6391684" y="2268178"/>
            <a:ext cx="1909762" cy="338137"/>
          </a:xfrm>
          <a:prstGeom prst="roundRect">
            <a:avLst>
              <a:gd name="adj" fmla="val 6094"/>
            </a:avLst>
          </a:prstGeom>
          <a:solidFill>
            <a:srgbClr val="FFFFFF"/>
          </a:solidFill>
          <a:ln w="4763">
            <a:solidFill>
              <a:srgbClr val="142731">
                <a:alpha val="10196"/>
              </a:srgbClr>
            </a:solidFill>
            <a:prstDash val="solid"/>
          </a:ln>
        </p:spPr>
      </p:sp>
      <p:sp>
        <p:nvSpPr>
          <p:cNvPr id="34" name="Text 32"/>
          <p:cNvSpPr/>
          <p:nvPr/>
        </p:nvSpPr>
        <p:spPr>
          <a:xfrm>
            <a:off x="6468219" y="2347243"/>
            <a:ext cx="128588" cy="128588"/>
          </a:xfrm>
          <a:prstGeom prst="roundRect">
            <a:avLst>
              <a:gd name="adj" fmla="val 39506"/>
            </a:avLst>
          </a:prstGeom>
          <a:solidFill>
            <a:srgbClr val="008272"/>
          </a:solidFill>
          <a:ln/>
        </p:spPr>
        <p:txBody>
          <a:bodyPr wrap="square" lIns="0" tIns="0" rIns="0" bIns="0" rtlCol="0" anchor="ctr"/>
          <a:lstStyle/>
          <a:p>
            <a:pPr algn="ctr" indent="0" marL="0">
              <a:lnSpc>
                <a:spcPts val="864"/>
              </a:lnSpc>
              <a:buNone/>
            </a:pPr>
            <a:r>
              <a:rPr lang="en-US" sz="500" b="1" dirty="0">
                <a:solidFill>
                  <a:srgbClr val="FFFFFF"/>
                </a:solidFill>
                <a:latin typeface="Inter" pitchFamily="34" charset="0"/>
                <a:ea typeface="Inter" pitchFamily="34" charset="-122"/>
                <a:cs typeface="Inter" pitchFamily="34" charset="-120"/>
              </a:rPr>
              <a:t>C</a:t>
            </a:r>
            <a:endParaRPr lang="en-US" sz="500" dirty="0"/>
          </a:p>
        </p:txBody>
      </p:sp>
      <p:sp>
        <p:nvSpPr>
          <p:cNvPr id="35" name="Text 33"/>
          <p:cNvSpPr/>
          <p:nvPr/>
        </p:nvSpPr>
        <p:spPr>
          <a:xfrm>
            <a:off x="6641157" y="2315952"/>
            <a:ext cx="881063" cy="95250"/>
          </a:xfrm>
          <a:prstGeom prst="rect">
            <a:avLst/>
          </a:prstGeom>
          <a:ln/>
        </p:spPr>
        <p:txBody>
          <a:bodyPr wrap="square" lIns="0" tIns="0" rIns="0" bIns="0" rtlCol="0" anchor="t"/>
          <a:lstStyle/>
          <a:p>
            <a:pPr algn="l" indent="0" marL="0">
              <a:lnSpc>
                <a:spcPts val="765"/>
              </a:lnSpc>
              <a:buNone/>
            </a:pPr>
            <a:r>
              <a:rPr lang="en-US" sz="600" b="1" dirty="0">
                <a:solidFill>
                  <a:srgbClr val="0F2A2E"/>
                </a:solidFill>
                <a:latin typeface="Inter" pitchFamily="34" charset="0"/>
                <a:ea typeface="Inter" pitchFamily="34" charset="-122"/>
                <a:cs typeface="Inter" pitchFamily="34" charset="-120"/>
              </a:rPr>
              <a:t>Coopersale Hall School</a:t>
            </a:r>
            <a:endParaRPr lang="en-US" sz="600" dirty="0"/>
          </a:p>
        </p:txBody>
      </p:sp>
      <p:sp>
        <p:nvSpPr>
          <p:cNvPr id="36" name="Text 34"/>
          <p:cNvSpPr/>
          <p:nvPr/>
        </p:nvSpPr>
        <p:spPr>
          <a:xfrm>
            <a:off x="6641157" y="2412504"/>
            <a:ext cx="881063" cy="95250"/>
          </a:xfrm>
          <a:prstGeom prst="rect">
            <a:avLst/>
          </a:prstGeom>
          <a:ln/>
        </p:spPr>
        <p:txBody>
          <a:bodyPr wrap="square" lIns="0" tIns="0" rIns="0" bIns="0" rtlCol="0" anchor="t"/>
          <a:lstStyle/>
          <a:p>
            <a:pPr algn="l" indent="0" marL="0">
              <a:lnSpc>
                <a:spcPts val="756"/>
              </a:lnSpc>
              <a:buNone/>
            </a:pPr>
            <a:r>
              <a:rPr lang="en-US" sz="500" dirty="0">
                <a:solidFill>
                  <a:srgbClr val="6B7D80"/>
                </a:solidFill>
                <a:latin typeface="Inter" pitchFamily="34" charset="0"/>
                <a:ea typeface="Inter" pitchFamily="34" charset="-122"/>
                <a:cs typeface="Inter" pitchFamily="34" charset="-120"/>
              </a:rPr>
              <a:t>Performing Arts Curriculum</a:t>
            </a:r>
            <a:endParaRPr lang="en-US" sz="500" dirty="0"/>
          </a:p>
        </p:txBody>
      </p:sp>
      <p:sp>
        <p:nvSpPr>
          <p:cNvPr id="37" name="Shape 35"/>
          <p:cNvSpPr/>
          <p:nvPr/>
        </p:nvSpPr>
        <p:spPr>
          <a:xfrm>
            <a:off x="6468963" y="2539678"/>
            <a:ext cx="90488" cy="19050"/>
          </a:xfrm>
          <a:prstGeom prst="roundRect">
            <a:avLst>
              <a:gd name="adj" fmla="val 600000"/>
            </a:avLst>
          </a:prstGeom>
          <a:solidFill>
            <a:srgbClr val="008272"/>
          </a:solidFill>
          <a:ln/>
        </p:spPr>
      </p:sp>
      <p:sp>
        <p:nvSpPr>
          <p:cNvPr id="38" name="Shape 36"/>
          <p:cNvSpPr/>
          <p:nvPr/>
        </p:nvSpPr>
        <p:spPr>
          <a:xfrm>
            <a:off x="6587728" y="2539678"/>
            <a:ext cx="90488" cy="19050"/>
          </a:xfrm>
          <a:prstGeom prst="roundRect">
            <a:avLst>
              <a:gd name="adj" fmla="val 600000"/>
            </a:avLst>
          </a:prstGeom>
          <a:solidFill>
            <a:srgbClr val="FF6B6B"/>
          </a:solidFill>
          <a:ln/>
        </p:spPr>
      </p:sp>
      <p:sp>
        <p:nvSpPr>
          <p:cNvPr id="39" name="Shape 37"/>
          <p:cNvSpPr/>
          <p:nvPr/>
        </p:nvSpPr>
        <p:spPr>
          <a:xfrm>
            <a:off x="6706493" y="2539678"/>
            <a:ext cx="90488" cy="19050"/>
          </a:xfrm>
          <a:prstGeom prst="roundRect">
            <a:avLst>
              <a:gd name="adj" fmla="val 600000"/>
            </a:avLst>
          </a:prstGeom>
          <a:solidFill>
            <a:srgbClr val="FFB07A"/>
          </a:solidFill>
          <a:ln/>
        </p:spPr>
      </p:sp>
      <p:sp>
        <p:nvSpPr>
          <p:cNvPr id="40" name="Shape 38"/>
          <p:cNvSpPr/>
          <p:nvPr/>
        </p:nvSpPr>
        <p:spPr>
          <a:xfrm>
            <a:off x="6303578" y="2712318"/>
            <a:ext cx="2085975" cy="381000"/>
          </a:xfrm>
          <a:prstGeom prst="roundRect">
            <a:avLst>
              <a:gd name="adj" fmla="val 7200"/>
            </a:avLst>
          </a:prstGeom>
          <a:solidFill>
            <a:srgbClr val="FFF9F7">
              <a:alpha val="50196"/>
            </a:srgbClr>
          </a:solidFill>
          <a:ln w="4763">
            <a:solidFill>
              <a:srgbClr val="142731">
                <a:alpha val="10196"/>
              </a:srgbClr>
            </a:solidFill>
            <a:prstDash val="solid"/>
          </a:ln>
        </p:spPr>
      </p:sp>
      <p:sp>
        <p:nvSpPr>
          <p:cNvPr id="41" name="Text 39"/>
          <p:cNvSpPr/>
          <p:nvPr/>
        </p:nvSpPr>
        <p:spPr>
          <a:xfrm>
            <a:off x="6391684" y="2768910"/>
            <a:ext cx="1909762"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Categories · Drama</a:t>
            </a:r>
            <a:endParaRPr lang="en-US" sz="600" dirty="0"/>
          </a:p>
        </p:txBody>
      </p:sp>
      <p:sp>
        <p:nvSpPr>
          <p:cNvPr id="42" name="Text 40"/>
          <p:cNvSpPr/>
          <p:nvPr/>
        </p:nvSpPr>
        <p:spPr>
          <a:xfrm>
            <a:off x="6391684" y="2912901"/>
            <a:ext cx="1909762" cy="123825"/>
          </a:xfrm>
          <a:prstGeom prst="rect">
            <a:avLst/>
          </a:prstGeom>
          <a:ln/>
        </p:spPr>
        <p:txBody>
          <a:bodyPr wrap="square" lIns="0" tIns="0" rIns="0" bIns="0" rtlCol="0" anchor="t"/>
          <a:lstStyle/>
          <a:p>
            <a:pPr algn="l" indent="0" marL="0">
              <a:lnSpc>
                <a:spcPts val="810"/>
              </a:lnSpc>
              <a:buNone/>
            </a:pPr>
            <a:r>
              <a:rPr lang="en-US" sz="500" dirty="0">
                <a:solidFill>
                  <a:srgbClr val="A24A1A"/>
                </a:solidFill>
                <a:highlight>
                  <a:srgbClr val="FFE5D6"/>
                </a:highlight>
                <a:latin typeface="Inter" pitchFamily="34" charset="0"/>
                <a:ea typeface="Inter" pitchFamily="34" charset="-122"/>
                <a:cs typeface="Inter" pitchFamily="34" charset="-120"/>
              </a:rPr>
              <a:t>Warm-Up</a:t>
            </a:r>
            <a:pPr algn="l" indent="0" marL="0">
              <a:lnSpc>
                <a:spcPts val="810"/>
              </a:lnSpc>
              <a:buNone/>
            </a:pPr>
            <a:r>
              <a:rPr lang="en-US" sz="500" dirty="0">
                <a:solidFill>
                  <a:srgbClr val="A24A1A"/>
                </a:solidFill>
                <a:highlight>
                  <a:srgbClr val="FFE5D6"/>
                </a:highlight>
                <a:latin typeface="Inter" pitchFamily="34" charset="0"/>
                <a:ea typeface="Inter" pitchFamily="34" charset="-122"/>
                <a:cs typeface="Inter" pitchFamily="34" charset="-120"/>
              </a:rPr>
              <a:t>Main Activity</a:t>
            </a:r>
            <a:pPr algn="l" indent="0" marL="0">
              <a:lnSpc>
                <a:spcPts val="810"/>
              </a:lnSpc>
              <a:buNone/>
            </a:pPr>
            <a:r>
              <a:rPr lang="en-US" sz="500" dirty="0">
                <a:solidFill>
                  <a:srgbClr val="A24A1A"/>
                </a:solidFill>
                <a:highlight>
                  <a:srgbClr val="FFE5D6"/>
                </a:highlight>
                <a:latin typeface="Inter" pitchFamily="34" charset="0"/>
                <a:ea typeface="Inter" pitchFamily="34" charset="-122"/>
                <a:cs typeface="Inter" pitchFamily="34" charset="-120"/>
              </a:rPr>
              <a:t>Plenary</a:t>
            </a:r>
            <a:pPr algn="l" indent="0" marL="0">
              <a:lnSpc>
                <a:spcPts val="810"/>
              </a:lnSpc>
              <a:buNone/>
            </a:pPr>
            <a:r>
              <a:rPr lang="en-US" sz="500" dirty="0">
                <a:solidFill>
                  <a:srgbClr val="A24A1A"/>
                </a:solidFill>
                <a:highlight>
                  <a:srgbClr val="FFE5D6"/>
                </a:highlight>
                <a:latin typeface="Inter" pitchFamily="34" charset="0"/>
                <a:ea typeface="Inter" pitchFamily="34" charset="-122"/>
                <a:cs typeface="Inter" pitchFamily="34" charset="-120"/>
              </a:rPr>
              <a:t>Cool-Down</a:t>
            </a:r>
            <a:endParaRPr lang="en-US" sz="500" dirty="0"/>
          </a:p>
        </p:txBody>
      </p:sp>
      <p:sp>
        <p:nvSpPr>
          <p:cNvPr id="43" name="Shape 41"/>
          <p:cNvSpPr/>
          <p:nvPr/>
        </p:nvSpPr>
        <p:spPr>
          <a:xfrm>
            <a:off x="6303578" y="3143920"/>
            <a:ext cx="2085975" cy="400050"/>
          </a:xfrm>
          <a:prstGeom prst="roundRect">
            <a:avLst>
              <a:gd name="adj" fmla="val 6531"/>
            </a:avLst>
          </a:prstGeom>
          <a:solidFill>
            <a:srgbClr val="FFF9F7">
              <a:alpha val="50196"/>
            </a:srgbClr>
          </a:solidFill>
          <a:ln w="4763">
            <a:solidFill>
              <a:srgbClr val="142731">
                <a:alpha val="10196"/>
              </a:srgbClr>
            </a:solidFill>
            <a:prstDash val="solid"/>
          </a:ln>
        </p:spPr>
      </p:sp>
      <p:sp>
        <p:nvSpPr>
          <p:cNvPr id="44" name="Text 42"/>
          <p:cNvSpPr/>
          <p:nvPr/>
        </p:nvSpPr>
        <p:spPr>
          <a:xfrm>
            <a:off x="6391684" y="3200140"/>
            <a:ext cx="1909762" cy="123825"/>
          </a:xfrm>
          <a:prstGeom prst="rect">
            <a:avLst/>
          </a:prstGeom>
          <a:ln/>
        </p:spPr>
        <p:txBody>
          <a:bodyPr wrap="square" lIns="0" tIns="0" rIns="0" bIns="0" rtlCol="0" anchor="t"/>
          <a:lstStyle/>
          <a:p>
            <a:pPr algn="l" indent="0" marL="0">
              <a:lnSpc>
                <a:spcPts val="972"/>
              </a:lnSpc>
              <a:spcAft>
                <a:spcPts val="162"/>
              </a:spcAft>
              <a:buNone/>
            </a:pPr>
            <a:r>
              <a:rPr lang="en-US" sz="600" b="1" dirty="0">
                <a:solidFill>
                  <a:srgbClr val="0F2A2E"/>
                </a:solidFill>
                <a:latin typeface="Inter" pitchFamily="34" charset="0"/>
                <a:ea typeface="Inter" pitchFamily="34" charset="-122"/>
                <a:cs typeface="Inter" pitchFamily="34" charset="-120"/>
              </a:rPr>
              <a:t>Data</a:t>
            </a:r>
            <a:endParaRPr lang="en-US" sz="600" dirty="0"/>
          </a:p>
        </p:txBody>
      </p:sp>
      <p:sp>
        <p:nvSpPr>
          <p:cNvPr id="45" name="Text 43"/>
          <p:cNvSpPr/>
          <p:nvPr/>
        </p:nvSpPr>
        <p:spPr>
          <a:xfrm>
            <a:off x="6389489" y="3361134"/>
            <a:ext cx="623888" cy="109537"/>
          </a:xfrm>
          <a:prstGeom prst="rect">
            <a:avLst/>
          </a:prstGeom>
          <a:ln/>
        </p:spPr>
        <p:txBody>
          <a:bodyPr wrap="square" lIns="0" tIns="0" rIns="0" bIns="0" rtlCol="0" anchor="t"/>
          <a:lstStyle/>
          <a:p>
            <a:pPr algn="l" indent="0" marL="0">
              <a:lnSpc>
                <a:spcPts val="864"/>
              </a:lnSpc>
              <a:buNone/>
            </a:pPr>
            <a:r>
              <a:rPr lang="en-US" sz="500" dirty="0">
                <a:solidFill>
                  <a:srgbClr val="6B7D80"/>
                </a:solidFill>
                <a:latin typeface="Inter" pitchFamily="34" charset="0"/>
                <a:ea typeface="Inter" pitchFamily="34" charset="-122"/>
                <a:cs typeface="Inter" pitchFamily="34" charset="-120"/>
              </a:rPr>
              <a:t>Synced 2 min ago</a:t>
            </a:r>
            <a:endParaRPr lang="en-US" sz="500" dirty="0"/>
          </a:p>
        </p:txBody>
      </p:sp>
      <p:sp>
        <p:nvSpPr>
          <p:cNvPr id="46" name="Text 44"/>
          <p:cNvSpPr/>
          <p:nvPr/>
        </p:nvSpPr>
        <p:spPr>
          <a:xfrm>
            <a:off x="7606494" y="3344503"/>
            <a:ext cx="695325" cy="142875"/>
          </a:xfrm>
          <a:prstGeom prst="rect">
            <a:avLst/>
          </a:prstGeom>
          <a:ln/>
        </p:spPr>
        <p:txBody>
          <a:bodyPr wrap="square" lIns="0" tIns="0" rIns="0" bIns="0" rtlCol="0" anchor="t"/>
          <a:lstStyle/>
          <a:p>
            <a:pPr algn="l" indent="0" marL="0">
              <a:lnSpc>
                <a:spcPts val="810"/>
              </a:lnSpc>
              <a:buNone/>
            </a:pPr>
            <a:r>
              <a:rPr lang="en-US" sz="500" dirty="0">
                <a:solidFill>
                  <a:srgbClr val="0F2A2E"/>
                </a:solidFill>
                <a:highlight>
                  <a:srgbClr val="FFFFFF"/>
                </a:highlight>
                <a:latin typeface="Inter" pitchFamily="34" charset="0"/>
                <a:ea typeface="Inter" pitchFamily="34" charset="-122"/>
                <a:cs typeface="Inter" pitchFamily="34" charset="-120"/>
              </a:rPr>
              <a:t>Import</a:t>
            </a:r>
            <a:pPr algn="l" indent="0" marL="0">
              <a:lnSpc>
                <a:spcPts val="810"/>
              </a:lnSpc>
              <a:buNone/>
            </a:pPr>
            <a:r>
              <a:rPr lang="en-US" sz="500" dirty="0">
                <a:solidFill>
                  <a:srgbClr val="0F2A2E"/>
                </a:solidFill>
                <a:highlight>
                  <a:srgbClr val="FFFFFF"/>
                </a:highlight>
                <a:latin typeface="Inter" pitchFamily="34" charset="0"/>
                <a:ea typeface="Inter" pitchFamily="34" charset="-122"/>
                <a:cs typeface="Inter" pitchFamily="34" charset="-120"/>
              </a:rPr>
              <a:t>Export</a:t>
            </a:r>
            <a:endParaRPr lang="en-US" sz="500" dirty="0"/>
          </a:p>
        </p:txBody>
      </p:sp>
      <p:pic>
        <p:nvPicPr>
          <p:cNvPr id="4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17169" y="1437159"/>
            <a:ext cx="4481512" cy="314325"/>
          </a:xfrm>
          <a:prstGeom prst="rect">
            <a:avLst/>
          </a:prstGeom>
        </p:spPr>
      </p:pic>
      <p:pic>
        <p:nvPicPr>
          <p:cNvPr id="4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17169" y="1749809"/>
            <a:ext cx="4481512" cy="238125"/>
          </a:xfrm>
          <a:prstGeom prst="rect">
            <a:avLst/>
          </a:prstGeom>
        </p:spPr>
      </p:pic>
      <p:pic>
        <p:nvPicPr>
          <p:cNvPr id="4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72124" y="1749809"/>
            <a:ext cx="642938" cy="238125"/>
          </a:xfrm>
          <a:prstGeom prst="rect">
            <a:avLst/>
          </a:prstGeom>
        </p:spPr>
      </p:pic>
      <p:pic>
        <p:nvPicPr>
          <p:cNvPr id="50" name="Image 3" descr="preencoded.png">    </p:cNvPr>
          <p:cNvPicPr>
            <a:picLocks noChangeAspect="1"/>
          </p:cNvPicPr>
          <p:nvPr/>
        </p:nvPicPr>
        <p:blipFill>
          <a:blip r:embed="rId7"/>
          <a:stretch>
            <a:fillRect/>
          </a:stretch>
        </p:blipFill>
        <p:spPr>
          <a:xfrm>
            <a:off x="228600" y="154260"/>
            <a:ext cx="857250" cy="2571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1077" y="256691"/>
            <a:ext cx="714375" cy="138113"/>
          </a:xfrm>
          <a:prstGeom prst="rect">
            <a:avLst/>
          </a:prstGeom>
          <a:ln/>
        </p:spPr>
        <p:txBody>
          <a:bodyPr wrap="square" lIns="0" tIns="0" rIns="0" bIns="0" rtlCol="0" anchor="t"/>
          <a:lstStyle/>
          <a:p>
            <a:pPr algn="l" indent="0" marL="0">
              <a:lnSpc>
                <a:spcPts val="1080"/>
              </a:lnSpc>
              <a:spcAft>
                <a:spcPts val="810"/>
              </a:spcAft>
              <a:buNone/>
            </a:pPr>
            <a:r>
              <a:rPr lang="en-US" sz="700" b="1" dirty="0">
                <a:solidFill>
                  <a:srgbClr val="FF6B6B"/>
                </a:solidFill>
                <a:latin typeface="Inter" pitchFamily="34" charset="0"/>
                <a:ea typeface="Inter" pitchFamily="34" charset="-122"/>
                <a:cs typeface="Inter" pitchFamily="34" charset="-120"/>
              </a:rPr>
              <a:t>FEATURE 08</a:t>
            </a:r>
            <a:endParaRPr lang="en-US" sz="700" dirty="0"/>
          </a:p>
        </p:txBody>
      </p:sp>
      <p:sp>
        <p:nvSpPr>
          <p:cNvPr id="4" name="Text 2"/>
          <p:cNvSpPr/>
          <p:nvPr/>
        </p:nvSpPr>
        <p:spPr>
          <a:xfrm>
            <a:off x="640035" y="496342"/>
            <a:ext cx="6400800" cy="747712"/>
          </a:xfrm>
          <a:prstGeom prst="rect">
            <a:avLst/>
          </a:prstGeom>
          <a:ln/>
        </p:spPr>
        <p:txBody>
          <a:bodyPr wrap="square" lIns="0" tIns="0" rIns="0" bIns="0" rtlCol="0" anchor="t"/>
          <a:lstStyle/>
          <a:p>
            <a:pPr algn="l" indent="0" marL="0">
              <a:lnSpc>
                <a:spcPts val="2938"/>
              </a:lnSpc>
              <a:buNone/>
            </a:pPr>
            <a:r>
              <a:rPr lang="en-US" sz="2800" b="1" dirty="0">
                <a:solidFill>
                  <a:srgbClr val="0F2A2E"/>
                </a:solidFill>
                <a:latin typeface="Inter" pitchFamily="34" charset="0"/>
                <a:ea typeface="Inter" pitchFamily="34" charset="-122"/>
                <a:cs typeface="Inter" pitchFamily="34" charset="-120"/>
              </a:rPr>
              <a:t>Your school's homepage. A real preview.</a:t>
            </a:r>
            <a:endParaRPr lang="en-US" sz="2800" dirty="0"/>
          </a:p>
        </p:txBody>
      </p:sp>
      <p:sp>
        <p:nvSpPr>
          <p:cNvPr id="5" name="Text 3"/>
          <p:cNvSpPr/>
          <p:nvPr/>
        </p:nvSpPr>
        <p:spPr>
          <a:xfrm>
            <a:off x="640035" y="1320329"/>
            <a:ext cx="5029200" cy="471488"/>
          </a:xfrm>
          <a:prstGeom prst="rect">
            <a:avLst/>
          </a:prstGeom>
          <a:ln/>
        </p:spPr>
        <p:txBody>
          <a:bodyPr wrap="square" lIns="0" tIns="0" rIns="0" bIns="0" rtlCol="0" anchor="t"/>
          <a:lstStyle/>
          <a:p>
            <a:pPr algn="l" indent="0" marL="0">
              <a:lnSpc>
                <a:spcPts val="1238"/>
              </a:lnSpc>
              <a:spcBef>
                <a:spcPts val="607"/>
              </a:spcBef>
              <a:buNone/>
            </a:pPr>
            <a:r>
              <a:rPr lang="en-US" sz="900" dirty="0">
                <a:solidFill>
                  <a:srgbClr val="6B7D80"/>
                </a:solidFill>
                <a:latin typeface="Inter" pitchFamily="34" charset="0"/>
                <a:ea typeface="Inter" pitchFamily="34" charset="-122"/>
                <a:cs typeface="Inter" pitchFamily="34" charset="-120"/>
              </a:rPr>
              <a:t>Each school gets a public landing page with their branding, plus a one-click preview that drops parents, partner organisations, outreach teams or visiting practitioners into a curated, read-only walkthrough — no sign-up.</a:t>
            </a:r>
            <a:endParaRPr lang="en-US" sz="900" dirty="0"/>
          </a:p>
        </p:txBody>
      </p:sp>
      <p:sp>
        <p:nvSpPr>
          <p:cNvPr id="6" name="Shape 4"/>
          <p:cNvSpPr/>
          <p:nvPr/>
        </p:nvSpPr>
        <p:spPr>
          <a:xfrm>
            <a:off x="641003" y="1946970"/>
            <a:ext cx="3838575" cy="2938463"/>
          </a:xfrm>
          <a:prstGeom prst="roundRect">
            <a:avLst>
              <a:gd name="adj" fmla="val 1210"/>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7" name="Text 5"/>
          <p:cNvSpPr/>
          <p:nvPr/>
        </p:nvSpPr>
        <p:spPr>
          <a:xfrm>
            <a:off x="645765" y="1950988"/>
            <a:ext cx="3829050" cy="223838"/>
          </a:xfrm>
          <a:prstGeom prst="rect">
            <a:avLst/>
          </a:prstGeom>
          <a:solidFill>
            <a:srgbClr val="FFFAF7"/>
          </a:solidFill>
          <a:ln/>
        </p:spPr>
        <p:txBody>
          <a:bodyPr wrap="square" lIns="0" tIns="0" rIns="0" bIns="0" rtlCol="0" anchor="ctr"/>
          <a:lstStyle/>
          <a:p>
            <a:pPr algn="l" indent="0" marL="0">
              <a:lnSpc>
                <a:spcPts val="918"/>
              </a:lnSpc>
              <a:buNone/>
            </a:pPr>
            <a:r>
              <a:rPr lang="en-US" sz="600" b="1" dirty="0">
                <a:solidFill>
                  <a:srgbClr val="6B7D80"/>
                </a:solidFill>
                <a:latin typeface="Inter" pitchFamily="34" charset="0"/>
                <a:ea typeface="Inter" pitchFamily="34" charset="-122"/>
                <a:cs typeface="Inter" pitchFamily="34" charset="-120"/>
              </a:rPr>
              <a:t>creativecurriculumdesigner.com/coopersalehall</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Public homepage</a:t>
            </a:r>
            <a:endParaRPr lang="en-US" sz="600" dirty="0"/>
          </a:p>
        </p:txBody>
      </p:sp>
      <p:sp>
        <p:nvSpPr>
          <p:cNvPr id="8" name="Shape 6"/>
          <p:cNvSpPr/>
          <p:nvPr/>
        </p:nvSpPr>
        <p:spPr>
          <a:xfrm>
            <a:off x="645282" y="2175718"/>
            <a:ext cx="1914525" cy="2705100"/>
          </a:xfrm>
          <a:prstGeom prst="rect">
            <a:avLst/>
          </a:prstGeom>
          <a:solidFill>
            <a:srgbClr val="008272"/>
          </a:solidFill>
          <a:ln/>
        </p:spPr>
      </p:sp>
      <p:sp>
        <p:nvSpPr>
          <p:cNvPr id="9" name="Text 7"/>
          <p:cNvSpPr/>
          <p:nvPr/>
        </p:nvSpPr>
        <p:spPr>
          <a:xfrm>
            <a:off x="772120" y="2277145"/>
            <a:ext cx="147637" cy="147637"/>
          </a:xfrm>
          <a:prstGeom prst="roundRect">
            <a:avLst>
              <a:gd name="adj" fmla="val 29969"/>
            </a:avLst>
          </a:prstGeom>
          <a:solidFill>
            <a:srgbClr val="FFFFFF"/>
          </a:solidFill>
          <a:ln/>
        </p:spPr>
        <p:txBody>
          <a:bodyPr wrap="square" lIns="0" tIns="0" rIns="0" bIns="0" rtlCol="0" anchor="ctr"/>
          <a:lstStyle/>
          <a:p>
            <a:pPr algn="ctr" indent="0" marL="0">
              <a:lnSpc>
                <a:spcPts val="1080"/>
              </a:lnSpc>
              <a:buNone/>
            </a:pPr>
            <a:r>
              <a:rPr lang="en-US" sz="700" b="1" dirty="0">
                <a:solidFill>
                  <a:srgbClr val="008272"/>
                </a:solidFill>
                <a:latin typeface="Inter" pitchFamily="34" charset="0"/>
                <a:ea typeface="Inter" pitchFamily="34" charset="-122"/>
                <a:cs typeface="Inter" pitchFamily="34" charset="-120"/>
              </a:rPr>
              <a:t>C</a:t>
            </a:r>
            <a:endParaRPr lang="en-US" sz="700" dirty="0"/>
          </a:p>
        </p:txBody>
      </p:sp>
      <p:sp>
        <p:nvSpPr>
          <p:cNvPr id="10" name="Text 8"/>
          <p:cNvSpPr/>
          <p:nvPr/>
        </p:nvSpPr>
        <p:spPr>
          <a:xfrm>
            <a:off x="963960" y="2286670"/>
            <a:ext cx="671513" cy="128588"/>
          </a:xfrm>
          <a:prstGeom prst="rect">
            <a:avLst/>
          </a:prstGeom>
          <a:ln/>
        </p:spPr>
        <p:txBody>
          <a:bodyPr wrap="square" lIns="0" tIns="0" rIns="0" bIns="0" rtlCol="0" anchor="t"/>
          <a:lstStyle/>
          <a:p>
            <a:pPr algn="l" indent="0" marL="0">
              <a:lnSpc>
                <a:spcPts val="1026"/>
              </a:lnSpc>
              <a:buNone/>
            </a:pPr>
            <a:r>
              <a:rPr lang="en-US" sz="600" b="1" dirty="0">
                <a:solidFill>
                  <a:srgbClr val="FFFFFF"/>
                </a:solidFill>
                <a:latin typeface="Inter" pitchFamily="34" charset="0"/>
                <a:ea typeface="Inter" pitchFamily="34" charset="-122"/>
                <a:cs typeface="Inter" pitchFamily="34" charset="-120"/>
              </a:rPr>
              <a:t>Coopersale Hall</a:t>
            </a:r>
            <a:endParaRPr lang="en-US" sz="600" dirty="0"/>
          </a:p>
        </p:txBody>
      </p:sp>
      <p:sp>
        <p:nvSpPr>
          <p:cNvPr id="11" name="Text 9"/>
          <p:cNvSpPr/>
          <p:nvPr/>
        </p:nvSpPr>
        <p:spPr>
          <a:xfrm>
            <a:off x="773869" y="2945867"/>
            <a:ext cx="1657350" cy="604837"/>
          </a:xfrm>
          <a:prstGeom prst="rect">
            <a:avLst/>
          </a:prstGeom>
          <a:ln/>
        </p:spPr>
        <p:txBody>
          <a:bodyPr wrap="square" lIns="0" tIns="0" rIns="0" bIns="0" rtlCol="0" anchor="t"/>
          <a:lstStyle/>
          <a:p>
            <a:pPr algn="l" indent="0" marL="0">
              <a:lnSpc>
                <a:spcPts val="1584"/>
              </a:lnSpc>
              <a:buNone/>
            </a:pPr>
            <a:r>
              <a:rPr lang="en-US" sz="1500" b="1" dirty="0">
                <a:solidFill>
                  <a:srgbClr val="FFFFFF"/>
                </a:solidFill>
                <a:latin typeface="Inter" pitchFamily="34" charset="0"/>
                <a:ea typeface="Inter" pitchFamily="34" charset="-122"/>
                <a:cs typeface="Inter" pitchFamily="34" charset="-120"/>
              </a:rPr>
              <a:t>Performing Arts at Coopersale Hall</a:t>
            </a:r>
            <a:endParaRPr lang="en-US" sz="1500" dirty="0"/>
          </a:p>
        </p:txBody>
      </p:sp>
      <p:sp>
        <p:nvSpPr>
          <p:cNvPr id="12" name="Text 10"/>
          <p:cNvSpPr/>
          <p:nvPr/>
        </p:nvSpPr>
        <p:spPr>
          <a:xfrm>
            <a:off x="773869" y="3590702"/>
            <a:ext cx="1657350" cy="214313"/>
          </a:xfrm>
          <a:prstGeom prst="rect">
            <a:avLst/>
          </a:prstGeom>
          <a:ln/>
        </p:spPr>
        <p:txBody>
          <a:bodyPr wrap="square" lIns="0" tIns="0" rIns="0" bIns="0" rtlCol="0" anchor="t"/>
          <a:lstStyle/>
          <a:p>
            <a:pPr algn="l" indent="0" marL="0">
              <a:lnSpc>
                <a:spcPts val="842"/>
              </a:lnSpc>
              <a:spcBef>
                <a:spcPts val="324"/>
              </a:spcBef>
              <a:buNone/>
            </a:pPr>
            <a:r>
              <a:rPr lang="en-US" sz="600" dirty="0">
                <a:solidFill>
                  <a:srgbClr val="FFFFFF"/>
                </a:solidFill>
                <a:latin typeface="Inter" pitchFamily="34" charset="0"/>
                <a:ea typeface="Inter" pitchFamily="34" charset="-122"/>
                <a:cs typeface="Inter" pitchFamily="34" charset="-120"/>
              </a:rPr>
              <a:t>A year of drama, music and dance — built by our teachers, for our pupils.</a:t>
            </a:r>
            <a:endParaRPr lang="en-US" sz="600" dirty="0"/>
          </a:p>
        </p:txBody>
      </p:sp>
      <p:sp>
        <p:nvSpPr>
          <p:cNvPr id="13" name="Text 11"/>
          <p:cNvSpPr/>
          <p:nvPr/>
        </p:nvSpPr>
        <p:spPr>
          <a:xfrm>
            <a:off x="773869" y="4327513"/>
            <a:ext cx="1657350" cy="204787"/>
          </a:xfrm>
          <a:prstGeom prst="roundRect">
            <a:avLst>
              <a:gd name="adj" fmla="val 20768"/>
            </a:avLst>
          </a:prstGeom>
          <a:solidFill>
            <a:srgbClr val="FF6B6B"/>
          </a:solidFill>
          <a:ln/>
        </p:spPr>
        <p:txBody>
          <a:bodyPr wrap="square" lIns="0" tIns="0" rIns="0" bIns="0" rtlCol="0" anchor="ctr"/>
          <a:lstStyle/>
          <a:p>
            <a:pPr algn="ctr" indent="0" marL="0">
              <a:lnSpc>
                <a:spcPts val="972"/>
              </a:lnSpc>
              <a:buNone/>
            </a:pPr>
            <a:r>
              <a:rPr lang="en-US" sz="600" b="1" dirty="0">
                <a:solidFill>
                  <a:srgbClr val="FFFFFF"/>
                </a:solidFill>
                <a:latin typeface="Inter" pitchFamily="34" charset="0"/>
                <a:ea typeface="Inter" pitchFamily="34" charset="-122"/>
                <a:cs typeface="Inter" pitchFamily="34" charset="-120"/>
              </a:rPr>
              <a:t>Sign in</a:t>
            </a:r>
            <a:endParaRPr lang="en-US" sz="600" dirty="0"/>
          </a:p>
        </p:txBody>
      </p:sp>
      <p:sp>
        <p:nvSpPr>
          <p:cNvPr id="14" name="Text 12"/>
          <p:cNvSpPr/>
          <p:nvPr/>
        </p:nvSpPr>
        <p:spPr>
          <a:xfrm>
            <a:off x="773869" y="4563926"/>
            <a:ext cx="1657350" cy="214313"/>
          </a:xfrm>
          <a:prstGeom prst="roundRect">
            <a:avLst>
              <a:gd name="adj" fmla="val 18963"/>
            </a:avLst>
          </a:prstGeom>
          <a:solidFill>
            <a:srgbClr val="FFFFFF">
              <a:alpha val="10196"/>
            </a:srgbClr>
          </a:solidFill>
          <a:ln w="4763">
            <a:solidFill>
              <a:srgbClr val="FFFFFF">
                <a:alpha val="30196"/>
              </a:srgbClr>
            </a:solidFill>
            <a:prstDash val="solid"/>
          </a:ln>
        </p:spPr>
        <p:txBody>
          <a:bodyPr wrap="square" lIns="0" tIns="0" rIns="0" bIns="0" rtlCol="0" anchor="ctr"/>
          <a:lstStyle/>
          <a:p>
            <a:pPr algn="ctr" indent="0" marL="0">
              <a:lnSpc>
                <a:spcPts val="972"/>
              </a:lnSpc>
              <a:buNone/>
            </a:pPr>
            <a:r>
              <a:rPr lang="en-US" sz="600" b="1" dirty="0">
                <a:solidFill>
                  <a:srgbClr val="FFFFFF"/>
                </a:solidFill>
                <a:latin typeface="Inter" pitchFamily="34" charset="0"/>
                <a:ea typeface="Inter" pitchFamily="34" charset="-122"/>
                <a:cs typeface="Inter" pitchFamily="34" charset="-120"/>
              </a:rPr>
              <a:t>Preview the curriculum</a:t>
            </a:r>
            <a:endParaRPr lang="en-US" sz="600" dirty="0"/>
          </a:p>
        </p:txBody>
      </p:sp>
      <p:sp>
        <p:nvSpPr>
          <p:cNvPr id="15" name="Shape 13"/>
          <p:cNvSpPr/>
          <p:nvPr/>
        </p:nvSpPr>
        <p:spPr>
          <a:xfrm>
            <a:off x="2560774" y="2175718"/>
            <a:ext cx="1914525" cy="2705100"/>
          </a:xfrm>
          <a:prstGeom prst="rect">
            <a:avLst/>
          </a:prstGeom>
          <a:solidFill>
            <a:srgbClr val="FFE5D6"/>
          </a:solidFill>
          <a:ln/>
        </p:spPr>
      </p:sp>
      <p:sp>
        <p:nvSpPr>
          <p:cNvPr id="16" name="Shape 14"/>
          <p:cNvSpPr/>
          <p:nvPr/>
        </p:nvSpPr>
        <p:spPr>
          <a:xfrm>
            <a:off x="2670311" y="3050642"/>
            <a:ext cx="1695450" cy="295275"/>
          </a:xfrm>
          <a:prstGeom prst="roundRect">
            <a:avLst>
              <a:gd name="adj" fmla="val 9990"/>
            </a:avLst>
          </a:prstGeom>
          <a:solidFill>
            <a:srgbClr val="FFFFFF"/>
          </a:solidFill>
          <a:ln w="4763">
            <a:solidFill>
              <a:srgbClr val="FFAF7A">
                <a:alpha val="40000"/>
              </a:srgbClr>
            </a:solidFill>
            <a:prstDash val="solid"/>
          </a:ln>
        </p:spPr>
      </p:sp>
      <p:sp>
        <p:nvSpPr>
          <p:cNvPr id="17" name="Text 15"/>
          <p:cNvSpPr/>
          <p:nvPr/>
        </p:nvSpPr>
        <p:spPr>
          <a:xfrm>
            <a:off x="2739368" y="3092053"/>
            <a:ext cx="1557338" cy="109537"/>
          </a:xfrm>
          <a:prstGeom prst="rect">
            <a:avLst/>
          </a:prstGeom>
          <a:ln/>
        </p:spPr>
        <p:txBody>
          <a:bodyPr wrap="square" lIns="0" tIns="0" rIns="0" bIns="0" rtlCol="0" anchor="t"/>
          <a:lstStyle/>
          <a:p>
            <a:pPr algn="l" indent="0" marL="0">
              <a:lnSpc>
                <a:spcPts val="864"/>
              </a:lnSpc>
              <a:buNone/>
            </a:pPr>
            <a:r>
              <a:rPr lang="en-US" sz="500" b="1" dirty="0">
                <a:solidFill>
                  <a:srgbClr val="A24A1A"/>
                </a:solidFill>
                <a:latin typeface="Inter" pitchFamily="34" charset="0"/>
                <a:ea typeface="Inter" pitchFamily="34" charset="-122"/>
                <a:cs typeface="Inter" pitchFamily="34" charset="-120"/>
              </a:rPr>
              <a:t>Drama · Y4</a:t>
            </a:r>
            <a:endParaRPr lang="en-US" sz="500" dirty="0"/>
          </a:p>
        </p:txBody>
      </p:sp>
      <p:sp>
        <p:nvSpPr>
          <p:cNvPr id="18" name="Text 16"/>
          <p:cNvSpPr/>
          <p:nvPr/>
        </p:nvSpPr>
        <p:spPr>
          <a:xfrm>
            <a:off x="2739368" y="3200735"/>
            <a:ext cx="1557338" cy="104775"/>
          </a:xfrm>
          <a:prstGeom prst="rect">
            <a:avLst/>
          </a:prstGeom>
          <a:ln/>
        </p:spPr>
        <p:txBody>
          <a:bodyPr wrap="square" lIns="0" tIns="0" rIns="0" bIns="0" rtlCol="0" anchor="t"/>
          <a:lstStyle/>
          <a:p>
            <a:pPr algn="l" indent="0" marL="0">
              <a:lnSpc>
                <a:spcPts val="810"/>
              </a:lnSpc>
              <a:buNone/>
            </a:pPr>
            <a:r>
              <a:rPr lang="en-US" sz="500" dirty="0">
                <a:solidFill>
                  <a:srgbClr val="0F2A2E"/>
                </a:solidFill>
                <a:latin typeface="Inter" pitchFamily="34" charset="0"/>
                <a:ea typeface="Inter" pitchFamily="34" charset="-122"/>
                <a:cs typeface="Inter" pitchFamily="34" charset="-120"/>
              </a:rPr>
              <a:t>Storytelling Through Drama</a:t>
            </a:r>
            <a:endParaRPr lang="en-US" sz="500" dirty="0"/>
          </a:p>
        </p:txBody>
      </p:sp>
      <p:sp>
        <p:nvSpPr>
          <p:cNvPr id="19" name="Shape 17"/>
          <p:cNvSpPr/>
          <p:nvPr/>
        </p:nvSpPr>
        <p:spPr>
          <a:xfrm>
            <a:off x="2670311" y="3380594"/>
            <a:ext cx="1695450" cy="295275"/>
          </a:xfrm>
          <a:prstGeom prst="roundRect">
            <a:avLst>
              <a:gd name="adj" fmla="val 9990"/>
            </a:avLst>
          </a:prstGeom>
          <a:solidFill>
            <a:srgbClr val="FFFFFF"/>
          </a:solidFill>
          <a:ln w="4763">
            <a:solidFill>
              <a:srgbClr val="0FA5D4">
                <a:alpha val="40000"/>
              </a:srgbClr>
            </a:solidFill>
            <a:prstDash val="solid"/>
          </a:ln>
        </p:spPr>
      </p:sp>
      <p:sp>
        <p:nvSpPr>
          <p:cNvPr id="20" name="Text 18"/>
          <p:cNvSpPr/>
          <p:nvPr/>
        </p:nvSpPr>
        <p:spPr>
          <a:xfrm>
            <a:off x="2739368" y="3422005"/>
            <a:ext cx="1557338" cy="109537"/>
          </a:xfrm>
          <a:prstGeom prst="rect">
            <a:avLst/>
          </a:prstGeom>
          <a:ln/>
        </p:spPr>
        <p:txBody>
          <a:bodyPr wrap="square" lIns="0" tIns="0" rIns="0" bIns="0" rtlCol="0" anchor="t"/>
          <a:lstStyle/>
          <a:p>
            <a:pPr algn="l" indent="0" marL="0">
              <a:lnSpc>
                <a:spcPts val="864"/>
              </a:lnSpc>
              <a:buNone/>
            </a:pPr>
            <a:r>
              <a:rPr lang="en-US" sz="500" b="1" dirty="0">
                <a:solidFill>
                  <a:srgbClr val="0A4A66"/>
                </a:solidFill>
                <a:latin typeface="Inter" pitchFamily="34" charset="0"/>
                <a:ea typeface="Inter" pitchFamily="34" charset="-122"/>
                <a:cs typeface="Inter" pitchFamily="34" charset="-120"/>
              </a:rPr>
              <a:t>Music · Y3</a:t>
            </a:r>
            <a:endParaRPr lang="en-US" sz="500" dirty="0"/>
          </a:p>
        </p:txBody>
      </p:sp>
      <p:sp>
        <p:nvSpPr>
          <p:cNvPr id="21" name="Text 19"/>
          <p:cNvSpPr/>
          <p:nvPr/>
        </p:nvSpPr>
        <p:spPr>
          <a:xfrm>
            <a:off x="2739368" y="3530687"/>
            <a:ext cx="1557338" cy="104775"/>
          </a:xfrm>
          <a:prstGeom prst="rect">
            <a:avLst/>
          </a:prstGeom>
          <a:ln/>
        </p:spPr>
        <p:txBody>
          <a:bodyPr wrap="square" lIns="0" tIns="0" rIns="0" bIns="0" rtlCol="0" anchor="t"/>
          <a:lstStyle/>
          <a:p>
            <a:pPr algn="l" indent="0" marL="0">
              <a:lnSpc>
                <a:spcPts val="810"/>
              </a:lnSpc>
              <a:buNone/>
            </a:pPr>
            <a:r>
              <a:rPr lang="en-US" sz="500" dirty="0">
                <a:solidFill>
                  <a:srgbClr val="0F2A2E"/>
                </a:solidFill>
                <a:latin typeface="Inter" pitchFamily="34" charset="0"/>
                <a:ea typeface="Inter" pitchFamily="34" charset="-122"/>
                <a:cs typeface="Inter" pitchFamily="34" charset="-120"/>
              </a:rPr>
              <a:t>Rhythms of West Africa</a:t>
            </a:r>
            <a:endParaRPr lang="en-US" sz="500" dirty="0"/>
          </a:p>
        </p:txBody>
      </p:sp>
      <p:sp>
        <p:nvSpPr>
          <p:cNvPr id="22" name="Shape 20"/>
          <p:cNvSpPr/>
          <p:nvPr/>
        </p:nvSpPr>
        <p:spPr>
          <a:xfrm>
            <a:off x="2670311" y="3710546"/>
            <a:ext cx="1695450" cy="295275"/>
          </a:xfrm>
          <a:prstGeom prst="roundRect">
            <a:avLst>
              <a:gd name="adj" fmla="val 9990"/>
            </a:avLst>
          </a:prstGeom>
          <a:solidFill>
            <a:srgbClr val="FFFFFF"/>
          </a:solidFill>
          <a:ln w="4763">
            <a:solidFill>
              <a:srgbClr val="7D6BF0">
                <a:alpha val="40000"/>
              </a:srgbClr>
            </a:solidFill>
            <a:prstDash val="solid"/>
          </a:ln>
        </p:spPr>
      </p:sp>
      <p:sp>
        <p:nvSpPr>
          <p:cNvPr id="23" name="Text 21"/>
          <p:cNvSpPr/>
          <p:nvPr/>
        </p:nvSpPr>
        <p:spPr>
          <a:xfrm>
            <a:off x="2739368" y="3751957"/>
            <a:ext cx="1557338" cy="109537"/>
          </a:xfrm>
          <a:prstGeom prst="rect">
            <a:avLst/>
          </a:prstGeom>
          <a:ln/>
        </p:spPr>
        <p:txBody>
          <a:bodyPr wrap="square" lIns="0" tIns="0" rIns="0" bIns="0" rtlCol="0" anchor="t"/>
          <a:lstStyle/>
          <a:p>
            <a:pPr algn="l" indent="0" marL="0">
              <a:lnSpc>
                <a:spcPts val="864"/>
              </a:lnSpc>
              <a:buNone/>
            </a:pPr>
            <a:r>
              <a:rPr lang="en-US" sz="500" b="1" dirty="0">
                <a:solidFill>
                  <a:srgbClr val="3D2F7A"/>
                </a:solidFill>
                <a:latin typeface="Inter" pitchFamily="34" charset="0"/>
                <a:ea typeface="Inter" pitchFamily="34" charset="-122"/>
                <a:cs typeface="Inter" pitchFamily="34" charset="-120"/>
              </a:rPr>
              <a:t>Dance · Y5</a:t>
            </a:r>
            <a:endParaRPr lang="en-US" sz="500" dirty="0"/>
          </a:p>
        </p:txBody>
      </p:sp>
      <p:sp>
        <p:nvSpPr>
          <p:cNvPr id="24" name="Text 22"/>
          <p:cNvSpPr/>
          <p:nvPr/>
        </p:nvSpPr>
        <p:spPr>
          <a:xfrm>
            <a:off x="2739368" y="3860639"/>
            <a:ext cx="1557338" cy="104775"/>
          </a:xfrm>
          <a:prstGeom prst="rect">
            <a:avLst/>
          </a:prstGeom>
          <a:ln/>
        </p:spPr>
        <p:txBody>
          <a:bodyPr wrap="square" lIns="0" tIns="0" rIns="0" bIns="0" rtlCol="0" anchor="t"/>
          <a:lstStyle/>
          <a:p>
            <a:pPr algn="l" indent="0" marL="0">
              <a:lnSpc>
                <a:spcPts val="810"/>
              </a:lnSpc>
              <a:buNone/>
            </a:pPr>
            <a:r>
              <a:rPr lang="en-US" sz="500" dirty="0">
                <a:solidFill>
                  <a:srgbClr val="0F2A2E"/>
                </a:solidFill>
                <a:latin typeface="Inter" pitchFamily="34" charset="0"/>
                <a:ea typeface="Inter" pitchFamily="34" charset="-122"/>
                <a:cs typeface="Inter" pitchFamily="34" charset="-120"/>
              </a:rPr>
              <a:t>Storm Motif &amp; Canon</a:t>
            </a:r>
            <a:endParaRPr lang="en-US" sz="500" dirty="0"/>
          </a:p>
        </p:txBody>
      </p:sp>
      <p:sp>
        <p:nvSpPr>
          <p:cNvPr id="25" name="Shape 23"/>
          <p:cNvSpPr/>
          <p:nvPr/>
        </p:nvSpPr>
        <p:spPr>
          <a:xfrm>
            <a:off x="4664385" y="1946970"/>
            <a:ext cx="3838575" cy="2938463"/>
          </a:xfrm>
          <a:prstGeom prst="roundRect">
            <a:avLst>
              <a:gd name="adj" fmla="val 1210"/>
            </a:avLst>
          </a:prstGeom>
          <a:solidFill>
            <a:srgbClr val="FFFFFF"/>
          </a:solidFill>
          <a:ln w="4763">
            <a:solidFill>
              <a:srgbClr val="142727">
                <a:alpha val="5098"/>
              </a:srgbClr>
            </a:solidFill>
            <a:prstDash val="solid"/>
          </a:ln>
          <a:effectLst>
            <a:outerShdw sx="100000" sy="100000" kx="0" ky="0" algn="bl" rotWithShape="0" blurRad="190500" dist="57150" dir="5400000">
              <a:srgbClr val="004C45">
                <a:alpha val="10000"/>
              </a:srgbClr>
            </a:outerShdw>
          </a:effectLst>
        </p:spPr>
      </p:sp>
      <p:sp>
        <p:nvSpPr>
          <p:cNvPr id="26" name="Text 24"/>
          <p:cNvSpPr/>
          <p:nvPr/>
        </p:nvSpPr>
        <p:spPr>
          <a:xfrm>
            <a:off x="4669148" y="1950988"/>
            <a:ext cx="3829050" cy="223838"/>
          </a:xfrm>
          <a:prstGeom prst="rect">
            <a:avLst/>
          </a:prstGeom>
          <a:solidFill>
            <a:srgbClr val="FFFAF7"/>
          </a:solidFill>
          <a:ln/>
        </p:spPr>
        <p:txBody>
          <a:bodyPr wrap="square" lIns="0" tIns="0" rIns="0" bIns="0" rtlCol="0" anchor="ctr"/>
          <a:lstStyle/>
          <a:p>
            <a:pPr algn="l" indent="0" marL="0">
              <a:lnSpc>
                <a:spcPts val="918"/>
              </a:lnSpc>
              <a:buNone/>
            </a:pPr>
            <a:r>
              <a:rPr lang="en-US" sz="600" b="1" dirty="0">
                <a:solidFill>
                  <a:srgbClr val="6B7D80"/>
                </a:solidFill>
                <a:latin typeface="Inter" pitchFamily="34" charset="0"/>
                <a:ea typeface="Inter" pitchFamily="34" charset="-122"/>
                <a:cs typeface="Inter" pitchFamily="34" charset="-120"/>
              </a:rPr>
              <a:t>creativecurriculumdesigner.com/app</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Preview mode</a:t>
            </a:r>
            <a:endParaRPr lang="en-US" sz="600" dirty="0"/>
          </a:p>
        </p:txBody>
      </p:sp>
      <p:sp>
        <p:nvSpPr>
          <p:cNvPr id="27" name="Shape 25"/>
          <p:cNvSpPr/>
          <p:nvPr/>
        </p:nvSpPr>
        <p:spPr>
          <a:xfrm>
            <a:off x="4669148" y="2175383"/>
            <a:ext cx="3829050" cy="214313"/>
          </a:xfrm>
          <a:prstGeom prst="rect">
            <a:avLst/>
          </a:prstGeom>
          <a:solidFill>
            <a:srgbClr val="FF6B6B"/>
          </a:solidFill>
          <a:ln/>
        </p:spPr>
      </p:sp>
      <p:sp>
        <p:nvSpPr>
          <p:cNvPr id="28" name="Text 26"/>
          <p:cNvSpPr/>
          <p:nvPr/>
        </p:nvSpPr>
        <p:spPr>
          <a:xfrm>
            <a:off x="4759040" y="2225353"/>
            <a:ext cx="2371725" cy="114300"/>
          </a:xfrm>
          <a:prstGeom prst="rect">
            <a:avLst/>
          </a:prstGeom>
          <a:ln/>
        </p:spPr>
        <p:txBody>
          <a:bodyPr wrap="square" lIns="0" tIns="0" rIns="0" bIns="0" rtlCol="0" anchor="t"/>
          <a:lstStyle/>
          <a:p>
            <a:pPr algn="l" indent="0" marL="0">
              <a:lnSpc>
                <a:spcPts val="918"/>
              </a:lnSpc>
              <a:buNone/>
            </a:pPr>
            <a:r>
              <a:rPr lang="en-US" sz="600" b="1" dirty="0">
                <a:solidFill>
                  <a:srgbClr val="FFFFFF"/>
                </a:solidFill>
                <a:latin typeface="Inter" pitchFamily="34" charset="0"/>
                <a:ea typeface="Inter" pitchFamily="34" charset="-122"/>
                <a:cs typeface="Inter" pitchFamily="34" charset="-120"/>
              </a:rPr>
              <a:t>You're in preview mode · sample drama, music &amp; dance content</a:t>
            </a:r>
            <a:endParaRPr lang="en-US" sz="600" dirty="0"/>
          </a:p>
        </p:txBody>
      </p:sp>
      <p:sp>
        <p:nvSpPr>
          <p:cNvPr id="29" name="Text 27"/>
          <p:cNvSpPr/>
          <p:nvPr/>
        </p:nvSpPr>
        <p:spPr>
          <a:xfrm>
            <a:off x="7759378" y="2211102"/>
            <a:ext cx="647700" cy="142875"/>
          </a:xfrm>
          <a:prstGeom prst="rect">
            <a:avLst/>
          </a:prstGeom>
          <a:ln/>
        </p:spPr>
        <p:txBody>
          <a:bodyPr wrap="square" lIns="0" tIns="0" rIns="0" bIns="0" rtlCol="0" anchor="t"/>
          <a:lstStyle/>
          <a:p>
            <a:pPr algn="l" indent="0" marL="0">
              <a:lnSpc>
                <a:spcPts val="810"/>
              </a:lnSpc>
              <a:buNone/>
            </a:pPr>
            <a:r>
              <a:rPr lang="en-US" sz="500" b="1" dirty="0">
                <a:solidFill>
                  <a:srgbClr val="FF6B6B"/>
                </a:solidFill>
                <a:highlight>
                  <a:srgbClr val="FFFFFF"/>
                </a:highlight>
                <a:latin typeface="Inter" pitchFamily="34" charset="0"/>
                <a:ea typeface="Inter" pitchFamily="34" charset="-122"/>
                <a:cs typeface="Inter" pitchFamily="34" charset="-120"/>
              </a:rPr>
              <a:t>Sign in</a:t>
            </a:r>
            <a:pPr algn="l" indent="0" marL="0">
              <a:lnSpc>
                <a:spcPts val="810"/>
              </a:lnSpc>
              <a:buNone/>
            </a:pPr>
            <a:r>
              <a:rPr lang="en-US" sz="500" b="1" dirty="0">
                <a:solidFill>
                  <a:srgbClr val="FFFFFF"/>
                </a:solidFill>
                <a:highlight>
                  <a:srgbClr val="FFFFFF"/>
                </a:highlight>
                <a:latin typeface="Inter" pitchFamily="34" charset="0"/>
                <a:ea typeface="Inter" pitchFamily="34" charset="-122"/>
                <a:cs typeface="Inter" pitchFamily="34" charset="-120"/>
              </a:rPr>
              <a:t>Exit</a:t>
            </a:r>
            <a:endParaRPr lang="en-US" sz="500" dirty="0"/>
          </a:p>
        </p:txBody>
      </p:sp>
      <p:sp>
        <p:nvSpPr>
          <p:cNvPr id="30" name="Text 28"/>
          <p:cNvSpPr/>
          <p:nvPr/>
        </p:nvSpPr>
        <p:spPr>
          <a:xfrm>
            <a:off x="4778685" y="2461580"/>
            <a:ext cx="3609975" cy="138113"/>
          </a:xfrm>
          <a:prstGeom prst="rect">
            <a:avLst/>
          </a:prstGeom>
          <a:ln/>
        </p:spPr>
        <p:txBody>
          <a:bodyPr wrap="square" lIns="0" tIns="0" rIns="0" bIns="0" rtlCol="0" anchor="ctr"/>
          <a:lstStyle/>
          <a:p>
            <a:pPr algn="l" indent="0" marL="0">
              <a:lnSpc>
                <a:spcPts val="1080"/>
              </a:lnSpc>
              <a:buNone/>
            </a:pPr>
            <a:r>
              <a:rPr lang="en-US" sz="700" b="1" dirty="0">
                <a:solidFill>
                  <a:srgbClr val="0F2A2E"/>
                </a:solidFill>
                <a:latin typeface="Inter" pitchFamily="34" charset="0"/>
                <a:ea typeface="Inter" pitchFamily="34" charset="-122"/>
                <a:cs typeface="Inter" pitchFamily="34" charset="-120"/>
              </a:rPr>
              <a:t>Year 4 · Music</a:t>
            </a:r>
            <a:pPr algn="l" indent="0" marL="0">
              <a:lnSpc>
                <a:spcPts val="810"/>
              </a:lnSpc>
              <a:buNone/>
            </a:pPr>
            <a:r>
              <a:rPr lang="en-US" sz="500" dirty="0">
                <a:solidFill>
                  <a:srgbClr val="6B7D80"/>
                </a:solidFill>
                <a:latin typeface="Inter" pitchFamily="34" charset="0"/>
                <a:ea typeface="Inter" pitchFamily="34" charset="-122"/>
                <a:cs typeface="Inter" pitchFamily="34" charset="-120"/>
              </a:rPr>
              <a:t>Autumn 1 · 2025–26</a:t>
            </a:r>
            <a:endParaRPr lang="en-US" sz="700" dirty="0"/>
          </a:p>
        </p:txBody>
      </p:sp>
      <p:sp>
        <p:nvSpPr>
          <p:cNvPr id="31" name="Shape 29"/>
          <p:cNvSpPr/>
          <p:nvPr/>
        </p:nvSpPr>
        <p:spPr>
          <a:xfrm>
            <a:off x="4778759" y="2641141"/>
            <a:ext cx="1171575" cy="952500"/>
          </a:xfrm>
          <a:prstGeom prst="roundRect">
            <a:avLst>
              <a:gd name="adj" fmla="val 3840"/>
            </a:avLst>
          </a:prstGeom>
          <a:solidFill>
            <a:srgbClr val="D6E8F2"/>
          </a:solidFill>
          <a:ln w="4763">
            <a:solidFill>
              <a:srgbClr val="0FA5D4">
                <a:alpha val="40000"/>
              </a:srgbClr>
            </a:solidFill>
            <a:prstDash val="solid"/>
          </a:ln>
        </p:spPr>
      </p:sp>
      <p:sp>
        <p:nvSpPr>
          <p:cNvPr id="32" name="Text 30"/>
          <p:cNvSpPr/>
          <p:nvPr/>
        </p:nvSpPr>
        <p:spPr>
          <a:xfrm>
            <a:off x="4838291" y="2674925"/>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1</a:t>
            </a:r>
            <a:endParaRPr lang="en-US" sz="500" dirty="0"/>
          </a:p>
        </p:txBody>
      </p:sp>
      <p:sp>
        <p:nvSpPr>
          <p:cNvPr id="33" name="Text 31"/>
          <p:cNvSpPr/>
          <p:nvPr/>
        </p:nvSpPr>
        <p:spPr>
          <a:xfrm>
            <a:off x="4838291" y="2788555"/>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Rhythms of West Africa</a:t>
            </a:r>
            <a:endParaRPr lang="en-US" sz="500" dirty="0"/>
          </a:p>
        </p:txBody>
      </p:sp>
      <p:sp>
        <p:nvSpPr>
          <p:cNvPr id="34" name="Shape 32"/>
          <p:cNvSpPr/>
          <p:nvPr/>
        </p:nvSpPr>
        <p:spPr>
          <a:xfrm>
            <a:off x="5997885" y="2641141"/>
            <a:ext cx="1171575" cy="952500"/>
          </a:xfrm>
          <a:prstGeom prst="roundRect">
            <a:avLst>
              <a:gd name="adj" fmla="val 3840"/>
            </a:avLst>
          </a:prstGeom>
          <a:solidFill>
            <a:srgbClr val="D6E8F2"/>
          </a:solidFill>
          <a:ln w="4763">
            <a:solidFill>
              <a:srgbClr val="0FA5D4">
                <a:alpha val="40000"/>
              </a:srgbClr>
            </a:solidFill>
            <a:prstDash val="solid"/>
          </a:ln>
        </p:spPr>
      </p:sp>
      <p:sp>
        <p:nvSpPr>
          <p:cNvPr id="35" name="Text 33"/>
          <p:cNvSpPr/>
          <p:nvPr/>
        </p:nvSpPr>
        <p:spPr>
          <a:xfrm>
            <a:off x="6057416" y="2674925"/>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2</a:t>
            </a:r>
            <a:endParaRPr lang="en-US" sz="500" dirty="0"/>
          </a:p>
        </p:txBody>
      </p:sp>
      <p:sp>
        <p:nvSpPr>
          <p:cNvPr id="36" name="Text 34"/>
          <p:cNvSpPr/>
          <p:nvPr/>
        </p:nvSpPr>
        <p:spPr>
          <a:xfrm>
            <a:off x="6057416" y="2788555"/>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Body percussion patterns</a:t>
            </a:r>
            <a:endParaRPr lang="en-US" sz="500" dirty="0"/>
          </a:p>
        </p:txBody>
      </p:sp>
      <p:sp>
        <p:nvSpPr>
          <p:cNvPr id="37" name="Shape 35"/>
          <p:cNvSpPr/>
          <p:nvPr/>
        </p:nvSpPr>
        <p:spPr>
          <a:xfrm>
            <a:off x="7217011" y="2641141"/>
            <a:ext cx="1171575" cy="952500"/>
          </a:xfrm>
          <a:prstGeom prst="roundRect">
            <a:avLst>
              <a:gd name="adj" fmla="val 3840"/>
            </a:avLst>
          </a:prstGeom>
          <a:solidFill>
            <a:srgbClr val="D6E8F2"/>
          </a:solidFill>
          <a:ln w="4763">
            <a:solidFill>
              <a:srgbClr val="0FA5D4">
                <a:alpha val="40000"/>
              </a:srgbClr>
            </a:solidFill>
            <a:prstDash val="solid"/>
          </a:ln>
        </p:spPr>
      </p:sp>
      <p:sp>
        <p:nvSpPr>
          <p:cNvPr id="38" name="Text 36"/>
          <p:cNvSpPr/>
          <p:nvPr/>
        </p:nvSpPr>
        <p:spPr>
          <a:xfrm>
            <a:off x="7276542" y="2674925"/>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3</a:t>
            </a:r>
            <a:endParaRPr lang="en-US" sz="500" dirty="0"/>
          </a:p>
        </p:txBody>
      </p:sp>
      <p:sp>
        <p:nvSpPr>
          <p:cNvPr id="39" name="Text 37"/>
          <p:cNvSpPr/>
          <p:nvPr/>
        </p:nvSpPr>
        <p:spPr>
          <a:xfrm>
            <a:off x="7276542" y="2788555"/>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Call &amp; response groups</a:t>
            </a:r>
            <a:endParaRPr lang="en-US" sz="500" dirty="0"/>
          </a:p>
        </p:txBody>
      </p:sp>
      <p:sp>
        <p:nvSpPr>
          <p:cNvPr id="40" name="Shape 38"/>
          <p:cNvSpPr/>
          <p:nvPr/>
        </p:nvSpPr>
        <p:spPr>
          <a:xfrm>
            <a:off x="4778759" y="3641080"/>
            <a:ext cx="1171575" cy="952500"/>
          </a:xfrm>
          <a:prstGeom prst="roundRect">
            <a:avLst>
              <a:gd name="adj" fmla="val 3840"/>
            </a:avLst>
          </a:prstGeom>
          <a:solidFill>
            <a:srgbClr val="D6E8F2"/>
          </a:solidFill>
          <a:ln w="4763">
            <a:solidFill>
              <a:srgbClr val="0FA5D4">
                <a:alpha val="40000"/>
              </a:srgbClr>
            </a:solidFill>
            <a:prstDash val="solid"/>
          </a:ln>
        </p:spPr>
      </p:sp>
      <p:sp>
        <p:nvSpPr>
          <p:cNvPr id="41" name="Text 39"/>
          <p:cNvSpPr/>
          <p:nvPr/>
        </p:nvSpPr>
        <p:spPr>
          <a:xfrm>
            <a:off x="4838291" y="3674827"/>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4</a:t>
            </a:r>
            <a:endParaRPr lang="en-US" sz="500" dirty="0"/>
          </a:p>
        </p:txBody>
      </p:sp>
      <p:sp>
        <p:nvSpPr>
          <p:cNvPr id="42" name="Text 40"/>
          <p:cNvSpPr/>
          <p:nvPr/>
        </p:nvSpPr>
        <p:spPr>
          <a:xfrm>
            <a:off x="4838291" y="3788457"/>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Singing in unison</a:t>
            </a:r>
            <a:endParaRPr lang="en-US" sz="500" dirty="0"/>
          </a:p>
        </p:txBody>
      </p:sp>
      <p:sp>
        <p:nvSpPr>
          <p:cNvPr id="43" name="Shape 41"/>
          <p:cNvSpPr/>
          <p:nvPr/>
        </p:nvSpPr>
        <p:spPr>
          <a:xfrm>
            <a:off x="5997885" y="3641080"/>
            <a:ext cx="1171575" cy="952500"/>
          </a:xfrm>
          <a:prstGeom prst="roundRect">
            <a:avLst>
              <a:gd name="adj" fmla="val 3840"/>
            </a:avLst>
          </a:prstGeom>
          <a:solidFill>
            <a:srgbClr val="D6E8F2"/>
          </a:solidFill>
          <a:ln w="4763">
            <a:solidFill>
              <a:srgbClr val="0FA5D4">
                <a:alpha val="40000"/>
              </a:srgbClr>
            </a:solidFill>
            <a:prstDash val="solid"/>
          </a:ln>
        </p:spPr>
      </p:sp>
      <p:sp>
        <p:nvSpPr>
          <p:cNvPr id="44" name="Text 42"/>
          <p:cNvSpPr/>
          <p:nvPr/>
        </p:nvSpPr>
        <p:spPr>
          <a:xfrm>
            <a:off x="6057416" y="3674827"/>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5</a:t>
            </a:r>
            <a:endParaRPr lang="en-US" sz="500" dirty="0"/>
          </a:p>
        </p:txBody>
      </p:sp>
      <p:sp>
        <p:nvSpPr>
          <p:cNvPr id="45" name="Text 43"/>
          <p:cNvSpPr/>
          <p:nvPr/>
        </p:nvSpPr>
        <p:spPr>
          <a:xfrm>
            <a:off x="6057416" y="3788457"/>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Composing with loops</a:t>
            </a:r>
            <a:endParaRPr lang="en-US" sz="500" dirty="0"/>
          </a:p>
        </p:txBody>
      </p:sp>
      <p:sp>
        <p:nvSpPr>
          <p:cNvPr id="46" name="Shape 44"/>
          <p:cNvSpPr/>
          <p:nvPr/>
        </p:nvSpPr>
        <p:spPr>
          <a:xfrm>
            <a:off x="7217011" y="3641080"/>
            <a:ext cx="1171575" cy="952500"/>
          </a:xfrm>
          <a:prstGeom prst="roundRect">
            <a:avLst>
              <a:gd name="adj" fmla="val 3840"/>
            </a:avLst>
          </a:prstGeom>
          <a:solidFill>
            <a:srgbClr val="D6E8F2"/>
          </a:solidFill>
          <a:ln w="4763">
            <a:solidFill>
              <a:srgbClr val="0FA5D4">
                <a:alpha val="40000"/>
              </a:srgbClr>
            </a:solidFill>
            <a:prstDash val="solid"/>
          </a:ln>
        </p:spPr>
      </p:sp>
      <p:sp>
        <p:nvSpPr>
          <p:cNvPr id="47" name="Text 45"/>
          <p:cNvSpPr/>
          <p:nvPr/>
        </p:nvSpPr>
        <p:spPr>
          <a:xfrm>
            <a:off x="7276542" y="3674827"/>
            <a:ext cx="1052512" cy="104775"/>
          </a:xfrm>
          <a:prstGeom prst="rect">
            <a:avLst/>
          </a:prstGeom>
          <a:ln/>
        </p:spPr>
        <p:txBody>
          <a:bodyPr wrap="square" lIns="0" tIns="0" rIns="0" bIns="0" rtlCol="0" anchor="t"/>
          <a:lstStyle/>
          <a:p>
            <a:pPr algn="l" indent="0" marL="0">
              <a:lnSpc>
                <a:spcPts val="810"/>
              </a:lnSpc>
              <a:buNone/>
            </a:pPr>
            <a:r>
              <a:rPr lang="en-US" sz="500" b="1" dirty="0">
                <a:solidFill>
                  <a:srgbClr val="0A4A66"/>
                </a:solidFill>
                <a:latin typeface="Inter" pitchFamily="34" charset="0"/>
                <a:ea typeface="Inter" pitchFamily="34" charset="-122"/>
                <a:cs typeface="Inter" pitchFamily="34" charset="-120"/>
              </a:rPr>
              <a:t>Lesson 6</a:t>
            </a:r>
            <a:endParaRPr lang="en-US" sz="500" dirty="0"/>
          </a:p>
        </p:txBody>
      </p:sp>
      <p:sp>
        <p:nvSpPr>
          <p:cNvPr id="48" name="Text 46"/>
          <p:cNvSpPr/>
          <p:nvPr/>
        </p:nvSpPr>
        <p:spPr>
          <a:xfrm>
            <a:off x="7276542" y="3788457"/>
            <a:ext cx="1052512" cy="80962"/>
          </a:xfrm>
          <a:prstGeom prst="rect">
            <a:avLst/>
          </a:prstGeom>
          <a:ln/>
        </p:spPr>
        <p:txBody>
          <a:bodyPr wrap="square" lIns="0" tIns="0" rIns="0" bIns="0" rtlCol="0" anchor="t"/>
          <a:lstStyle/>
          <a:p>
            <a:pPr algn="l" indent="0" marL="0">
              <a:lnSpc>
                <a:spcPts val="630"/>
              </a:lnSpc>
              <a:spcBef>
                <a:spcPts val="81"/>
              </a:spcBef>
              <a:buNone/>
            </a:pPr>
            <a:r>
              <a:rPr lang="en-US" sz="500" dirty="0">
                <a:solidFill>
                  <a:srgbClr val="0A4A66"/>
                </a:solidFill>
                <a:latin typeface="Inter" pitchFamily="34" charset="0"/>
                <a:ea typeface="Inter" pitchFamily="34" charset="-122"/>
                <a:cs typeface="Inter" pitchFamily="34" charset="-120"/>
              </a:rPr>
              <a:t>Class performance</a:t>
            </a:r>
            <a:endParaRPr lang="en-US" sz="500" dirty="0"/>
          </a:p>
        </p:txBody>
      </p:sp>
      <p:sp>
        <p:nvSpPr>
          <p:cNvPr id="49" name="Text 47"/>
          <p:cNvSpPr/>
          <p:nvPr/>
        </p:nvSpPr>
        <p:spPr>
          <a:xfrm>
            <a:off x="4778685" y="4634471"/>
            <a:ext cx="3609975" cy="176212"/>
          </a:xfrm>
          <a:prstGeom prst="roundRect">
            <a:avLst>
              <a:gd name="adj" fmla="val 28050"/>
            </a:avLst>
          </a:prstGeom>
          <a:solidFill>
            <a:srgbClr val="FFFAF7"/>
          </a:solidFill>
          <a:ln w="4763">
            <a:solidFill>
              <a:srgbClr val="0F282D">
                <a:alpha val="20000"/>
              </a:srgbClr>
            </a:solidFill>
            <a:prstDash val="dash"/>
          </a:ln>
        </p:spPr>
        <p:txBody>
          <a:bodyPr wrap="square" lIns="0" tIns="0" rIns="0" bIns="0" rtlCol="0" anchor="ctr"/>
          <a:lstStyle/>
          <a:p>
            <a:pPr algn="ctr" indent="0" marL="0">
              <a:lnSpc>
                <a:spcPts val="810"/>
              </a:lnSpc>
              <a:buNone/>
            </a:pPr>
            <a:r>
              <a:rPr lang="en-US" sz="500" dirty="0">
                <a:solidFill>
                  <a:srgbClr val="6B7D80"/>
                </a:solidFill>
                <a:latin typeface="Inter" pitchFamily="34" charset="0"/>
                <a:ea typeface="Inter" pitchFamily="34" charset="-122"/>
                <a:cs typeface="Inter" pitchFamily="34" charset="-120"/>
              </a:rPr>
              <a:t>Read-only — click any lesson to explore</a:t>
            </a:r>
            <a:endParaRPr lang="en-US" sz="500" dirty="0"/>
          </a:p>
        </p:txBody>
      </p:sp>
      <p:pic>
        <p:nvPicPr>
          <p:cNvPr id="5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5765" y="1950988"/>
            <a:ext cx="3829050" cy="223838"/>
          </a:xfrm>
          <a:prstGeom prst="rect">
            <a:avLst/>
          </a:prstGeom>
        </p:spPr>
      </p:pic>
      <p:pic>
        <p:nvPicPr>
          <p:cNvPr id="5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9148" y="1950988"/>
            <a:ext cx="3829050" cy="223838"/>
          </a:xfrm>
          <a:prstGeom prst="rect">
            <a:avLst/>
          </a:prstGeom>
        </p:spPr>
      </p:pic>
      <p:pic>
        <p:nvPicPr>
          <p:cNvPr id="52" name="Image 2" descr="preencoded.png">    </p:cNvPr>
          <p:cNvPicPr>
            <a:picLocks noChangeAspect="1"/>
          </p:cNvPicPr>
          <p:nvPr/>
        </p:nvPicPr>
        <p:blipFill>
          <a:blip r:embed="rId5"/>
          <a:stretch>
            <a:fillRect/>
          </a:stretch>
        </p:blipFill>
        <p:spPr>
          <a:xfrm>
            <a:off x="228600" y="154260"/>
            <a:ext cx="857250" cy="257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39440" y="359532"/>
            <a:ext cx="904875" cy="138113"/>
          </a:xfrm>
          <a:prstGeom prst="rect">
            <a:avLst/>
          </a:prstGeom>
          <a:ln/>
        </p:spPr>
        <p:txBody>
          <a:bodyPr wrap="square" lIns="0" tIns="0" rIns="0" bIns="0" rtlCol="0" anchor="t"/>
          <a:lstStyle/>
          <a:p>
            <a:pPr algn="l" indent="0" marL="0">
              <a:lnSpc>
                <a:spcPts val="1080"/>
              </a:lnSpc>
              <a:spcAft>
                <a:spcPts val="1013"/>
              </a:spcAft>
              <a:buNone/>
            </a:pPr>
            <a:r>
              <a:rPr lang="en-US" sz="700" b="1" dirty="0">
                <a:solidFill>
                  <a:srgbClr val="FF6B6B"/>
                </a:solidFill>
                <a:latin typeface="Inter" pitchFamily="34" charset="0"/>
                <a:ea typeface="Inter" pitchFamily="34" charset="-122"/>
                <a:cs typeface="Inter" pitchFamily="34" charset="-120"/>
              </a:rPr>
              <a:t>HOW IT WORKS</a:t>
            </a:r>
            <a:endParaRPr lang="en-US" sz="700" dirty="0"/>
          </a:p>
        </p:txBody>
      </p:sp>
      <p:sp>
        <p:nvSpPr>
          <p:cNvPr id="4" name="Text 2"/>
          <p:cNvSpPr/>
          <p:nvPr/>
        </p:nvSpPr>
        <p:spPr>
          <a:xfrm>
            <a:off x="640035" y="626120"/>
            <a:ext cx="5486400" cy="857250"/>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From empty term to ready-to-teach.</a:t>
            </a:r>
            <a:endParaRPr lang="en-US" sz="3300" dirty="0"/>
          </a:p>
        </p:txBody>
      </p:sp>
      <p:sp>
        <p:nvSpPr>
          <p:cNvPr id="5" name="Text 3"/>
          <p:cNvSpPr/>
          <p:nvPr/>
        </p:nvSpPr>
        <p:spPr>
          <a:xfrm>
            <a:off x="640519" y="1792337"/>
            <a:ext cx="1862137" cy="457200"/>
          </a:xfrm>
          <a:prstGeom prst="rect">
            <a:avLst/>
          </a:prstGeom>
          <a:ln/>
        </p:spPr>
        <p:txBody>
          <a:bodyPr wrap="square" lIns="0" tIns="0" rIns="0" bIns="0" rtlCol="0" anchor="t"/>
          <a:lstStyle/>
          <a:p>
            <a:pPr algn="l" indent="0" marL="0">
              <a:lnSpc>
                <a:spcPts val="3600"/>
              </a:lnSpc>
              <a:buNone/>
            </a:pPr>
            <a:r>
              <a:rPr lang="en-US" sz="3600" b="1" dirty="0">
                <a:solidFill>
                  <a:srgbClr val="FF6B6B"/>
                </a:solidFill>
                <a:latin typeface="Inter" pitchFamily="34" charset="0"/>
                <a:ea typeface="Inter" pitchFamily="34" charset="-122"/>
                <a:cs typeface="Inter" pitchFamily="34" charset="-120"/>
              </a:rPr>
              <a:t>01</a:t>
            </a:r>
            <a:endParaRPr lang="en-US" sz="3600" dirty="0"/>
          </a:p>
        </p:txBody>
      </p:sp>
      <p:sp>
        <p:nvSpPr>
          <p:cNvPr id="6" name="Text 4"/>
          <p:cNvSpPr/>
          <p:nvPr/>
        </p:nvSpPr>
        <p:spPr>
          <a:xfrm>
            <a:off x="640519" y="2301887"/>
            <a:ext cx="1862137" cy="180975"/>
          </a:xfrm>
          <a:prstGeom prst="rect">
            <a:avLst/>
          </a:prstGeom>
          <a:ln/>
        </p:spPr>
        <p:txBody>
          <a:bodyPr wrap="square" lIns="0" tIns="0" rIns="0" bIns="0" rtlCol="0" anchor="t"/>
          <a:lstStyle/>
          <a:p>
            <a:pPr algn="l" indent="0" marL="0">
              <a:lnSpc>
                <a:spcPts val="1440"/>
              </a:lnSpc>
              <a:spcBef>
                <a:spcPts val="405"/>
              </a:spcBef>
              <a:buNone/>
            </a:pPr>
            <a:r>
              <a:rPr lang="en-US" sz="1100" b="1" dirty="0">
                <a:solidFill>
                  <a:srgbClr val="0F2A2E"/>
                </a:solidFill>
                <a:latin typeface="Inter" pitchFamily="34" charset="0"/>
                <a:ea typeface="Inter" pitchFamily="34" charset="-122"/>
                <a:cs typeface="Inter" pitchFamily="34" charset="-120"/>
              </a:rPr>
              <a:t>Map the year</a:t>
            </a:r>
            <a:endParaRPr lang="en-US" sz="1100" dirty="0"/>
          </a:p>
        </p:txBody>
      </p:sp>
      <p:sp>
        <p:nvSpPr>
          <p:cNvPr id="7" name="Text 5"/>
          <p:cNvSpPr/>
          <p:nvPr/>
        </p:nvSpPr>
        <p:spPr>
          <a:xfrm>
            <a:off x="640519" y="2545817"/>
            <a:ext cx="1862137" cy="414338"/>
          </a:xfrm>
          <a:prstGeom prst="rect">
            <a:avLst/>
          </a:prstGeom>
          <a:ln/>
        </p:spPr>
        <p:txBody>
          <a:bodyPr wrap="square" lIns="0" tIns="0" rIns="0" bIns="0" rtlCol="0" anchor="t"/>
          <a:lstStyle/>
          <a:p>
            <a:pPr algn="l" indent="0" marL="0">
              <a:lnSpc>
                <a:spcPts val="1089"/>
              </a:lnSpc>
              <a:spcBef>
                <a:spcPts val="486"/>
              </a:spcBef>
              <a:buNone/>
            </a:pPr>
            <a:r>
              <a:rPr lang="en-US" sz="700" dirty="0">
                <a:solidFill>
                  <a:srgbClr val="6B7D80"/>
                </a:solidFill>
                <a:latin typeface="Inter" pitchFamily="34" charset="0"/>
                <a:ea typeface="Inter" pitchFamily="34" charset="-122"/>
                <a:cs typeface="Inter" pitchFamily="34" charset="-120"/>
              </a:rPr>
              <a:t>Open the half-term planner and sketch the arc of your year. Themes, units and topic windows.</a:t>
            </a:r>
            <a:endParaRPr lang="en-US" sz="700" dirty="0"/>
          </a:p>
        </p:txBody>
      </p:sp>
      <p:sp>
        <p:nvSpPr>
          <p:cNvPr id="8" name="Text 6"/>
          <p:cNvSpPr/>
          <p:nvPr/>
        </p:nvSpPr>
        <p:spPr>
          <a:xfrm>
            <a:off x="2640769" y="1792337"/>
            <a:ext cx="1862137" cy="457200"/>
          </a:xfrm>
          <a:prstGeom prst="rect">
            <a:avLst/>
          </a:prstGeom>
          <a:ln/>
        </p:spPr>
        <p:txBody>
          <a:bodyPr wrap="square" lIns="0" tIns="0" rIns="0" bIns="0" rtlCol="0" anchor="t"/>
          <a:lstStyle/>
          <a:p>
            <a:pPr algn="l" indent="0" marL="0">
              <a:lnSpc>
                <a:spcPts val="3600"/>
              </a:lnSpc>
              <a:buNone/>
            </a:pPr>
            <a:r>
              <a:rPr lang="en-US" sz="3600" b="1" dirty="0">
                <a:solidFill>
                  <a:srgbClr val="FF6B6B"/>
                </a:solidFill>
                <a:latin typeface="Inter" pitchFamily="34" charset="0"/>
                <a:ea typeface="Inter" pitchFamily="34" charset="-122"/>
                <a:cs typeface="Inter" pitchFamily="34" charset="-120"/>
              </a:rPr>
              <a:t>02</a:t>
            </a:r>
            <a:endParaRPr lang="en-US" sz="3600" dirty="0"/>
          </a:p>
        </p:txBody>
      </p:sp>
      <p:sp>
        <p:nvSpPr>
          <p:cNvPr id="9" name="Text 7"/>
          <p:cNvSpPr/>
          <p:nvPr/>
        </p:nvSpPr>
        <p:spPr>
          <a:xfrm>
            <a:off x="2640769" y="2301887"/>
            <a:ext cx="1862137" cy="180975"/>
          </a:xfrm>
          <a:prstGeom prst="rect">
            <a:avLst/>
          </a:prstGeom>
          <a:ln/>
        </p:spPr>
        <p:txBody>
          <a:bodyPr wrap="square" lIns="0" tIns="0" rIns="0" bIns="0" rtlCol="0" anchor="t"/>
          <a:lstStyle/>
          <a:p>
            <a:pPr algn="l" indent="0" marL="0">
              <a:lnSpc>
                <a:spcPts val="1440"/>
              </a:lnSpc>
              <a:spcBef>
                <a:spcPts val="405"/>
              </a:spcBef>
              <a:buNone/>
            </a:pPr>
            <a:r>
              <a:rPr lang="en-US" sz="1100" b="1" dirty="0">
                <a:solidFill>
                  <a:srgbClr val="0F2A2E"/>
                </a:solidFill>
                <a:latin typeface="Inter" pitchFamily="34" charset="0"/>
                <a:ea typeface="Inter" pitchFamily="34" charset="-122"/>
                <a:cs typeface="Inter" pitchFamily="34" charset="-120"/>
              </a:rPr>
              <a:t>Pull from the library</a:t>
            </a:r>
            <a:endParaRPr lang="en-US" sz="1100" dirty="0"/>
          </a:p>
        </p:txBody>
      </p:sp>
      <p:sp>
        <p:nvSpPr>
          <p:cNvPr id="10" name="Text 8"/>
          <p:cNvSpPr/>
          <p:nvPr/>
        </p:nvSpPr>
        <p:spPr>
          <a:xfrm>
            <a:off x="2640769" y="2545817"/>
            <a:ext cx="1862137" cy="414338"/>
          </a:xfrm>
          <a:prstGeom prst="rect">
            <a:avLst/>
          </a:prstGeom>
          <a:ln/>
        </p:spPr>
        <p:txBody>
          <a:bodyPr wrap="square" lIns="0" tIns="0" rIns="0" bIns="0" rtlCol="0" anchor="t"/>
          <a:lstStyle/>
          <a:p>
            <a:pPr algn="l" indent="0" marL="0">
              <a:lnSpc>
                <a:spcPts val="1089"/>
              </a:lnSpc>
              <a:spcBef>
                <a:spcPts val="486"/>
              </a:spcBef>
              <a:buNone/>
            </a:pPr>
            <a:r>
              <a:rPr lang="en-US" sz="700" dirty="0">
                <a:solidFill>
                  <a:srgbClr val="6B7D80"/>
                </a:solidFill>
                <a:latin typeface="Inter" pitchFamily="34" charset="0"/>
                <a:ea typeface="Inter" pitchFamily="34" charset="-122"/>
                <a:cs typeface="Inter" pitchFamily="34" charset="-120"/>
              </a:rPr>
              <a:t>Drop existing lessons into each half-term or duplicate one and tweak it for a new year group.</a:t>
            </a:r>
            <a:endParaRPr lang="en-US" sz="700" dirty="0"/>
          </a:p>
        </p:txBody>
      </p:sp>
      <p:sp>
        <p:nvSpPr>
          <p:cNvPr id="11" name="Text 9"/>
          <p:cNvSpPr/>
          <p:nvPr/>
        </p:nvSpPr>
        <p:spPr>
          <a:xfrm>
            <a:off x="4641019" y="1792337"/>
            <a:ext cx="1862137" cy="457200"/>
          </a:xfrm>
          <a:prstGeom prst="rect">
            <a:avLst/>
          </a:prstGeom>
          <a:ln/>
        </p:spPr>
        <p:txBody>
          <a:bodyPr wrap="square" lIns="0" tIns="0" rIns="0" bIns="0" rtlCol="0" anchor="t"/>
          <a:lstStyle/>
          <a:p>
            <a:pPr algn="l" indent="0" marL="0">
              <a:lnSpc>
                <a:spcPts val="3600"/>
              </a:lnSpc>
              <a:buNone/>
            </a:pPr>
            <a:r>
              <a:rPr lang="en-US" sz="3600" b="1" dirty="0">
                <a:solidFill>
                  <a:srgbClr val="FF6B6B"/>
                </a:solidFill>
                <a:latin typeface="Inter" pitchFamily="34" charset="0"/>
                <a:ea typeface="Inter" pitchFamily="34" charset="-122"/>
                <a:cs typeface="Inter" pitchFamily="34" charset="-120"/>
              </a:rPr>
              <a:t>03</a:t>
            </a:r>
            <a:endParaRPr lang="en-US" sz="3600" dirty="0"/>
          </a:p>
        </p:txBody>
      </p:sp>
      <p:sp>
        <p:nvSpPr>
          <p:cNvPr id="12" name="Text 10"/>
          <p:cNvSpPr/>
          <p:nvPr/>
        </p:nvSpPr>
        <p:spPr>
          <a:xfrm>
            <a:off x="4641019" y="2301887"/>
            <a:ext cx="1862137" cy="180975"/>
          </a:xfrm>
          <a:prstGeom prst="rect">
            <a:avLst/>
          </a:prstGeom>
          <a:ln/>
        </p:spPr>
        <p:txBody>
          <a:bodyPr wrap="square" lIns="0" tIns="0" rIns="0" bIns="0" rtlCol="0" anchor="t"/>
          <a:lstStyle/>
          <a:p>
            <a:pPr algn="l" indent="0" marL="0">
              <a:lnSpc>
                <a:spcPts val="1440"/>
              </a:lnSpc>
              <a:spcBef>
                <a:spcPts val="405"/>
              </a:spcBef>
              <a:buNone/>
            </a:pPr>
            <a:r>
              <a:rPr lang="en-US" sz="1100" b="1" dirty="0">
                <a:solidFill>
                  <a:srgbClr val="0F2A2E"/>
                </a:solidFill>
                <a:latin typeface="Inter" pitchFamily="34" charset="0"/>
                <a:ea typeface="Inter" pitchFamily="34" charset="-122"/>
                <a:cs typeface="Inter" pitchFamily="34" charset="-120"/>
              </a:rPr>
              <a:t>Stack the activities</a:t>
            </a:r>
            <a:endParaRPr lang="en-US" sz="1100" dirty="0"/>
          </a:p>
        </p:txBody>
      </p:sp>
      <p:sp>
        <p:nvSpPr>
          <p:cNvPr id="13" name="Text 11"/>
          <p:cNvSpPr/>
          <p:nvPr/>
        </p:nvSpPr>
        <p:spPr>
          <a:xfrm>
            <a:off x="4641019" y="2545817"/>
            <a:ext cx="1862137" cy="414338"/>
          </a:xfrm>
          <a:prstGeom prst="rect">
            <a:avLst/>
          </a:prstGeom>
          <a:ln/>
        </p:spPr>
        <p:txBody>
          <a:bodyPr wrap="square" lIns="0" tIns="0" rIns="0" bIns="0" rtlCol="0" anchor="t"/>
          <a:lstStyle/>
          <a:p>
            <a:pPr algn="l" indent="0" marL="0">
              <a:lnSpc>
                <a:spcPts val="1089"/>
              </a:lnSpc>
              <a:spcBef>
                <a:spcPts val="486"/>
              </a:spcBef>
              <a:buNone/>
            </a:pPr>
            <a:r>
              <a:rPr lang="en-US" sz="700" dirty="0">
                <a:solidFill>
                  <a:srgbClr val="6B7D80"/>
                </a:solidFill>
                <a:latin typeface="Inter" pitchFamily="34" charset="0"/>
                <a:ea typeface="Inter" pitchFamily="34" charset="-122"/>
                <a:cs typeface="Inter" pitchFamily="34" charset="-120"/>
              </a:rPr>
              <a:t>Add warm-ups, mains and plenaries. Save winning combinations as reusable stacks.</a:t>
            </a:r>
            <a:endParaRPr lang="en-US" sz="700" dirty="0"/>
          </a:p>
        </p:txBody>
      </p:sp>
      <p:sp>
        <p:nvSpPr>
          <p:cNvPr id="14" name="Text 12"/>
          <p:cNvSpPr/>
          <p:nvPr/>
        </p:nvSpPr>
        <p:spPr>
          <a:xfrm>
            <a:off x="6641306" y="1792337"/>
            <a:ext cx="1862137" cy="457200"/>
          </a:xfrm>
          <a:prstGeom prst="rect">
            <a:avLst/>
          </a:prstGeom>
          <a:ln/>
        </p:spPr>
        <p:txBody>
          <a:bodyPr wrap="square" lIns="0" tIns="0" rIns="0" bIns="0" rtlCol="0" anchor="t"/>
          <a:lstStyle/>
          <a:p>
            <a:pPr algn="l" indent="0" marL="0">
              <a:lnSpc>
                <a:spcPts val="3600"/>
              </a:lnSpc>
              <a:buNone/>
            </a:pPr>
            <a:r>
              <a:rPr lang="en-US" sz="3600" b="1" dirty="0">
                <a:solidFill>
                  <a:srgbClr val="FF6B6B"/>
                </a:solidFill>
                <a:latin typeface="Inter" pitchFamily="34" charset="0"/>
                <a:ea typeface="Inter" pitchFamily="34" charset="-122"/>
                <a:cs typeface="Inter" pitchFamily="34" charset="-120"/>
              </a:rPr>
              <a:t>04</a:t>
            </a:r>
            <a:endParaRPr lang="en-US" sz="3600" dirty="0"/>
          </a:p>
        </p:txBody>
      </p:sp>
      <p:sp>
        <p:nvSpPr>
          <p:cNvPr id="15" name="Text 13"/>
          <p:cNvSpPr/>
          <p:nvPr/>
        </p:nvSpPr>
        <p:spPr>
          <a:xfrm>
            <a:off x="6641306" y="2301887"/>
            <a:ext cx="1862137" cy="180975"/>
          </a:xfrm>
          <a:prstGeom prst="rect">
            <a:avLst/>
          </a:prstGeom>
          <a:ln/>
        </p:spPr>
        <p:txBody>
          <a:bodyPr wrap="square" lIns="0" tIns="0" rIns="0" bIns="0" rtlCol="0" anchor="t"/>
          <a:lstStyle/>
          <a:p>
            <a:pPr algn="l" indent="0" marL="0">
              <a:lnSpc>
                <a:spcPts val="1440"/>
              </a:lnSpc>
              <a:spcBef>
                <a:spcPts val="405"/>
              </a:spcBef>
              <a:buNone/>
            </a:pPr>
            <a:r>
              <a:rPr lang="en-US" sz="1100" b="1" dirty="0">
                <a:solidFill>
                  <a:srgbClr val="0F2A2E"/>
                </a:solidFill>
                <a:latin typeface="Inter" pitchFamily="34" charset="0"/>
                <a:ea typeface="Inter" pitchFamily="34" charset="-122"/>
                <a:cs typeface="Inter" pitchFamily="34" charset="-120"/>
              </a:rPr>
              <a:t>Teach, refine &amp; share</a:t>
            </a:r>
            <a:endParaRPr lang="en-US" sz="1100" dirty="0"/>
          </a:p>
        </p:txBody>
      </p:sp>
      <p:sp>
        <p:nvSpPr>
          <p:cNvPr id="16" name="Text 14"/>
          <p:cNvSpPr/>
          <p:nvPr/>
        </p:nvSpPr>
        <p:spPr>
          <a:xfrm>
            <a:off x="6641306" y="2545817"/>
            <a:ext cx="1862137" cy="414338"/>
          </a:xfrm>
          <a:prstGeom prst="rect">
            <a:avLst/>
          </a:prstGeom>
          <a:ln/>
        </p:spPr>
        <p:txBody>
          <a:bodyPr wrap="square" lIns="0" tIns="0" rIns="0" bIns="0" rtlCol="0" anchor="t"/>
          <a:lstStyle/>
          <a:p>
            <a:pPr algn="l" indent="0" marL="0">
              <a:lnSpc>
                <a:spcPts val="1089"/>
              </a:lnSpc>
              <a:spcBef>
                <a:spcPts val="486"/>
              </a:spcBef>
              <a:buNone/>
            </a:pPr>
            <a:r>
              <a:rPr lang="en-US" sz="700" dirty="0">
                <a:solidFill>
                  <a:srgbClr val="6B7D80"/>
                </a:solidFill>
                <a:latin typeface="Inter" pitchFamily="34" charset="0"/>
                <a:ea typeface="Inter" pitchFamily="34" charset="-122"/>
                <a:cs typeface="Inter" pitchFamily="34" charset="-120"/>
              </a:rPr>
              <a:t>Print, project, or share with the team — and contribute back to a wider creative archive the whole sector can draw on.</a:t>
            </a:r>
            <a:endParaRPr lang="en-US" sz="700" dirty="0"/>
          </a:p>
        </p:txBody>
      </p:sp>
      <p:sp>
        <p:nvSpPr>
          <p:cNvPr id="17" name="Shape 15"/>
          <p:cNvSpPr/>
          <p:nvPr/>
        </p:nvSpPr>
        <p:spPr>
          <a:xfrm>
            <a:off x="640556" y="4045260"/>
            <a:ext cx="7862887" cy="738188"/>
          </a:xfrm>
          <a:prstGeom prst="roundRect">
            <a:avLst>
              <a:gd name="adj" fmla="val 19180"/>
            </a:avLst>
          </a:prstGeom>
          <a:solidFill>
            <a:srgbClr val="008272"/>
          </a:solidFill>
          <a:ln/>
        </p:spPr>
      </p:sp>
      <p:sp>
        <p:nvSpPr>
          <p:cNvPr id="18" name="Text 16"/>
          <p:cNvSpPr/>
          <p:nvPr/>
        </p:nvSpPr>
        <p:spPr>
          <a:xfrm>
            <a:off x="867482" y="4250048"/>
            <a:ext cx="314325" cy="328613"/>
          </a:xfrm>
          <a:prstGeom prst="roundRect">
            <a:avLst>
              <a:gd name="adj" fmla="val 17631"/>
            </a:avLst>
          </a:prstGeom>
          <a:solidFill>
            <a:srgbClr val="FFFFFF">
              <a:alpha val="10196"/>
            </a:srgbClr>
          </a:solidFill>
          <a:ln w="4763">
            <a:solidFill>
              <a:srgbClr val="FFFFFF">
                <a:alpha val="20000"/>
              </a:srgbClr>
            </a:solidFill>
            <a:prstDash val="solid"/>
          </a:ln>
        </p:spPr>
        <p:txBody>
          <a:bodyPr wrap="square" lIns="0" tIns="0" rIns="0" bIns="0" rtlCol="0" anchor="ctr"/>
          <a:lstStyle/>
          <a:p>
            <a:pPr algn="ctr" indent="0" marL="0">
              <a:lnSpc>
                <a:spcPts val="1728"/>
              </a:lnSpc>
              <a:buNone/>
            </a:pPr>
            <a:r>
              <a:rPr lang="en-US" sz="1100" b="1" dirty="0">
                <a:solidFill>
                  <a:srgbClr val="FFFFFF"/>
                </a:solidFill>
                <a:latin typeface="Inter" pitchFamily="34" charset="0"/>
                <a:ea typeface="Inter" pitchFamily="34" charset="-122"/>
                <a:cs typeface="Inter" pitchFamily="34" charset="-120"/>
              </a:rPr>
              <a:t>CD</a:t>
            </a:r>
            <a:endParaRPr lang="en-US" sz="1100" dirty="0"/>
          </a:p>
        </p:txBody>
      </p:sp>
      <p:sp>
        <p:nvSpPr>
          <p:cNvPr id="19" name="Text 17"/>
          <p:cNvSpPr/>
          <p:nvPr/>
        </p:nvSpPr>
        <p:spPr>
          <a:xfrm>
            <a:off x="1317203" y="4173736"/>
            <a:ext cx="4629150" cy="342900"/>
          </a:xfrm>
          <a:prstGeom prst="rect">
            <a:avLst/>
          </a:prstGeom>
          <a:ln/>
        </p:spPr>
        <p:txBody>
          <a:bodyPr wrap="square" lIns="0" tIns="0" rIns="0" bIns="0" rtlCol="0" anchor="t"/>
          <a:lstStyle/>
          <a:p>
            <a:pPr algn="l" indent="0" marL="0">
              <a:lnSpc>
                <a:spcPts val="1350"/>
              </a:lnSpc>
              <a:buNone/>
            </a:pPr>
            <a:r>
              <a:rPr lang="en-US" sz="1000" b="1" dirty="0">
                <a:solidFill>
                  <a:srgbClr val="FFFFFF"/>
                </a:solidFill>
                <a:latin typeface="Inter" pitchFamily="34" charset="0"/>
                <a:ea typeface="Inter" pitchFamily="34" charset="-122"/>
                <a:cs typeface="Inter" pitchFamily="34" charset="-120"/>
              </a:rPr>
              <a:t>Built for performing arts teaching from EYFS to KS5 — free for educators.</a:t>
            </a:r>
            <a:endParaRPr lang="en-US" sz="1000" dirty="0"/>
          </a:p>
        </p:txBody>
      </p:sp>
      <p:sp>
        <p:nvSpPr>
          <p:cNvPr id="20" name="Text 18"/>
          <p:cNvSpPr/>
          <p:nvPr/>
        </p:nvSpPr>
        <p:spPr>
          <a:xfrm>
            <a:off x="1317203" y="4516673"/>
            <a:ext cx="4629150" cy="138113"/>
          </a:xfrm>
          <a:prstGeom prst="rect">
            <a:avLst/>
          </a:prstGeom>
          <a:ln/>
        </p:spPr>
        <p:txBody>
          <a:bodyPr wrap="square" lIns="0" tIns="0" rIns="0" bIns="0" rtlCol="0" anchor="t"/>
          <a:lstStyle/>
          <a:p>
            <a:pPr algn="l" indent="0" marL="0">
              <a:lnSpc>
                <a:spcPts val="1089"/>
              </a:lnSpc>
              <a:buNone/>
            </a:pPr>
            <a:r>
              <a:rPr lang="en-US" sz="700" dirty="0">
                <a:solidFill>
                  <a:srgbClr val="FFFFFF"/>
                </a:solidFill>
                <a:latin typeface="Inter" pitchFamily="34" charset="0"/>
                <a:ea typeface="Inter" pitchFamily="34" charset="-122"/>
                <a:cs typeface="Inter" pitchFamily="34" charset="-120"/>
              </a:rPr>
              <a:t>Works on a laptop, a smartboard, a studio tablet, or a phone in the rehearsal room.</a:t>
            </a:r>
            <a:endParaRPr lang="en-US" sz="700" dirty="0"/>
          </a:p>
        </p:txBody>
      </p:sp>
      <p:sp>
        <p:nvSpPr>
          <p:cNvPr id="21" name="Text 19"/>
          <p:cNvSpPr/>
          <p:nvPr/>
        </p:nvSpPr>
        <p:spPr>
          <a:xfrm>
            <a:off x="5946651" y="4276204"/>
            <a:ext cx="471488" cy="276225"/>
          </a:xfrm>
          <a:prstGeom prst="rect">
            <a:avLst/>
          </a:prstGeom>
          <a:ln/>
        </p:spPr>
        <p:txBody>
          <a:bodyPr wrap="square" lIns="0" tIns="0" rIns="0" bIns="0" rtlCol="0" anchor="t"/>
          <a:lstStyle/>
          <a:p>
            <a:pPr algn="l" indent="0" marL="0">
              <a:lnSpc>
                <a:spcPts val="1080"/>
              </a:lnSpc>
              <a:buNone/>
            </a:pPr>
            <a:r>
              <a:rPr lang="en-US" sz="700" dirty="0">
                <a:solidFill>
                  <a:srgbClr val="FFFFFF"/>
                </a:solidFill>
                <a:latin typeface="Inter" pitchFamily="34" charset="0"/>
                <a:ea typeface="Inter" pitchFamily="34" charset="-122"/>
                <a:cs typeface="Inter" pitchFamily="34" charset="-120"/>
              </a:rPr>
              <a:t>Web &amp; PWA</a:t>
            </a:r>
            <a:endParaRPr lang="en-US" sz="700" dirty="0"/>
          </a:p>
        </p:txBody>
      </p:sp>
      <p:sp>
        <p:nvSpPr>
          <p:cNvPr id="22" name="Shape 20"/>
          <p:cNvSpPr/>
          <p:nvPr/>
        </p:nvSpPr>
        <p:spPr>
          <a:xfrm>
            <a:off x="6602127" y="4395229"/>
            <a:ext cx="33337" cy="38100"/>
          </a:xfrm>
          <a:prstGeom prst="roundRect">
            <a:avLst>
              <a:gd name="adj" fmla="val 342862"/>
            </a:avLst>
          </a:prstGeom>
          <a:solidFill>
            <a:srgbClr val="FF6B6B"/>
          </a:solidFill>
          <a:ln/>
        </p:spPr>
      </p:sp>
      <p:sp>
        <p:nvSpPr>
          <p:cNvPr id="23" name="Text 21"/>
          <p:cNvSpPr/>
          <p:nvPr/>
        </p:nvSpPr>
        <p:spPr>
          <a:xfrm>
            <a:off x="6817407" y="4276204"/>
            <a:ext cx="609600" cy="276225"/>
          </a:xfrm>
          <a:prstGeom prst="rect">
            <a:avLst/>
          </a:prstGeom>
          <a:ln/>
        </p:spPr>
        <p:txBody>
          <a:bodyPr wrap="square" lIns="0" tIns="0" rIns="0" bIns="0" rtlCol="0" anchor="t"/>
          <a:lstStyle/>
          <a:p>
            <a:pPr algn="l" indent="0" marL="0">
              <a:lnSpc>
                <a:spcPts val="1080"/>
              </a:lnSpc>
              <a:buNone/>
            </a:pPr>
            <a:r>
              <a:rPr lang="en-US" sz="700" dirty="0">
                <a:solidFill>
                  <a:srgbClr val="FFFFFF"/>
                </a:solidFill>
                <a:latin typeface="Inter" pitchFamily="34" charset="0"/>
                <a:ea typeface="Inter" pitchFamily="34" charset="-122"/>
                <a:cs typeface="Inter" pitchFamily="34" charset="-120"/>
              </a:rPr>
              <a:t>Offline-friendly</a:t>
            </a:r>
            <a:endParaRPr lang="en-US" sz="700" dirty="0"/>
          </a:p>
        </p:txBody>
      </p:sp>
      <p:sp>
        <p:nvSpPr>
          <p:cNvPr id="24" name="Shape 22"/>
          <p:cNvSpPr/>
          <p:nvPr/>
        </p:nvSpPr>
        <p:spPr>
          <a:xfrm>
            <a:off x="7608950" y="4395229"/>
            <a:ext cx="33337" cy="38100"/>
          </a:xfrm>
          <a:prstGeom prst="roundRect">
            <a:avLst>
              <a:gd name="adj" fmla="val 342862"/>
            </a:avLst>
          </a:prstGeom>
          <a:solidFill>
            <a:srgbClr val="FF6B6B"/>
          </a:solidFill>
          <a:ln/>
        </p:spPr>
      </p:sp>
      <p:sp>
        <p:nvSpPr>
          <p:cNvPr id="25" name="Text 23"/>
          <p:cNvSpPr/>
          <p:nvPr/>
        </p:nvSpPr>
        <p:spPr>
          <a:xfrm>
            <a:off x="7826536" y="4276204"/>
            <a:ext cx="447675" cy="276225"/>
          </a:xfrm>
          <a:prstGeom prst="rect">
            <a:avLst/>
          </a:prstGeom>
          <a:ln/>
        </p:spPr>
        <p:txBody>
          <a:bodyPr wrap="square" lIns="0" tIns="0" rIns="0" bIns="0" rtlCol="0" anchor="t"/>
          <a:lstStyle/>
          <a:p>
            <a:pPr algn="l" indent="0" marL="0">
              <a:lnSpc>
                <a:spcPts val="1080"/>
              </a:lnSpc>
              <a:buNone/>
            </a:pPr>
            <a:r>
              <a:rPr lang="en-US" sz="700" dirty="0">
                <a:solidFill>
                  <a:srgbClr val="FFFFFF"/>
                </a:solidFill>
                <a:latin typeface="Inter" pitchFamily="34" charset="0"/>
                <a:ea typeface="Inter" pitchFamily="34" charset="-122"/>
                <a:cs typeface="Inter" pitchFamily="34" charset="-120"/>
              </a:rPr>
              <a:t>Print-ready</a:t>
            </a:r>
            <a:endParaRPr lang="en-US" sz="700" dirty="0"/>
          </a:p>
        </p:txBody>
      </p:sp>
      <p:pic>
        <p:nvPicPr>
          <p:cNvPr id="26"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147" y="359532"/>
            <a:ext cx="2200275" cy="138113"/>
          </a:xfrm>
          <a:prstGeom prst="rect">
            <a:avLst/>
          </a:prstGeom>
          <a:ln/>
        </p:spPr>
        <p:txBody>
          <a:bodyPr wrap="square" lIns="0" tIns="0" rIns="0" bIns="0" rtlCol="0" anchor="t"/>
          <a:lstStyle/>
          <a:p>
            <a:pPr algn="l" indent="0" marL="0">
              <a:lnSpc>
                <a:spcPts val="1080"/>
              </a:lnSpc>
              <a:spcAft>
                <a:spcPts val="1215"/>
              </a:spcAft>
              <a:buNone/>
            </a:pPr>
            <a:r>
              <a:rPr lang="en-US" sz="700" b="1" dirty="0">
                <a:solidFill>
                  <a:srgbClr val="FF6B6B"/>
                </a:solidFill>
                <a:latin typeface="Inter" pitchFamily="34" charset="0"/>
                <a:ea typeface="Inter" pitchFamily="34" charset="-122"/>
                <a:cs typeface="Inter" pitchFamily="34" charset="-120"/>
              </a:rPr>
              <a:t>WHY NOW · THE CASE FOR THE ARTS</a:t>
            </a:r>
            <a:endParaRPr lang="en-US" sz="700" dirty="0"/>
          </a:p>
        </p:txBody>
      </p:sp>
      <p:sp>
        <p:nvSpPr>
          <p:cNvPr id="4" name="Text 2"/>
          <p:cNvSpPr/>
          <p:nvPr/>
        </p:nvSpPr>
        <p:spPr>
          <a:xfrm>
            <a:off x="641003" y="650267"/>
            <a:ext cx="3838575" cy="1233488"/>
          </a:xfrm>
          <a:prstGeom prst="rect">
            <a:avLst/>
          </a:prstGeom>
          <a:ln/>
        </p:spPr>
        <p:txBody>
          <a:bodyPr wrap="square" lIns="0" tIns="0" rIns="0" bIns="0" rtlCol="0" anchor="t"/>
          <a:lstStyle/>
          <a:p>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The arts in higher education are at a</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 </a:t>
            </a:r>
            <a:pPr algn="l" indent="0" marL="0">
              <a:lnSpc>
                <a:spcPts val="3231"/>
              </a:lnSpc>
              <a:buNone/>
            </a:pPr>
            <a:r>
              <a:rPr lang="en-US" sz="3100" b="1" dirty="0">
                <a:solidFill>
                  <a:srgbClr val="FF6B6B"/>
                </a:solidFill>
                <a:latin typeface="Inter" pitchFamily="34" charset="0"/>
                <a:ea typeface="Inter" pitchFamily="34" charset="-122"/>
                <a:cs typeface="Inter" pitchFamily="34" charset="-120"/>
              </a:rPr>
              <a:t>tipping point</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a:t>
            </a:r>
            <a:endParaRPr lang="en-US" sz="3100" dirty="0"/>
          </a:p>
        </p:txBody>
      </p:sp>
      <p:sp>
        <p:nvSpPr>
          <p:cNvPr id="5" name="Text 3"/>
          <p:cNvSpPr/>
          <p:nvPr/>
        </p:nvSpPr>
        <p:spPr>
          <a:xfrm>
            <a:off x="641003" y="2036936"/>
            <a:ext cx="3838575" cy="1247775"/>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Drama, music and dance courses at UK universities are being merged, paused and closed. The pipeline that feeds the West End, our orchestras, our touring dance companies — and every primary classroom that sings — starts in the schools we teach in today. If the practice we share now is thin, the cohort that arrives at university in five years will be too.</a:t>
            </a:r>
            <a:endParaRPr lang="en-US" sz="1000" dirty="0"/>
          </a:p>
        </p:txBody>
      </p:sp>
      <p:sp>
        <p:nvSpPr>
          <p:cNvPr id="6" name="Shape 4"/>
          <p:cNvSpPr/>
          <p:nvPr/>
        </p:nvSpPr>
        <p:spPr>
          <a:xfrm>
            <a:off x="641003" y="4273190"/>
            <a:ext cx="3838575" cy="509587"/>
          </a:xfrm>
          <a:prstGeom prst="rect">
            <a:avLst/>
          </a:prstGeom>
          <a:ln/>
        </p:spPr>
      </p:sp>
      <p:sp>
        <p:nvSpPr>
          <p:cNvPr id="7" name="Text 5"/>
          <p:cNvSpPr/>
          <p:nvPr/>
        </p:nvSpPr>
        <p:spPr>
          <a:xfrm>
            <a:off x="640966" y="4431283"/>
            <a:ext cx="2924175" cy="352425"/>
          </a:xfrm>
          <a:prstGeom prst="rect">
            <a:avLst/>
          </a:prstGeom>
          <a:ln/>
        </p:spPr>
        <p:txBody>
          <a:bodyPr wrap="square" lIns="0" tIns="0" rIns="0" bIns="0" rtlCol="0" anchor="t"/>
          <a:lstStyle/>
          <a:p>
            <a:pPr algn="l" indent="0" marL="0">
              <a:lnSpc>
                <a:spcPts val="1386"/>
              </a:lnSpc>
              <a:buNone/>
            </a:pPr>
            <a:r>
              <a:rPr lang="en-US" sz="1000" b="1" dirty="0">
                <a:solidFill>
                  <a:srgbClr val="008272"/>
                </a:solidFill>
                <a:latin typeface="Inter" pitchFamily="34" charset="0"/>
                <a:ea typeface="Inter" pitchFamily="34" charset="-122"/>
                <a:cs typeface="Inter" pitchFamily="34" charset="-120"/>
              </a:rPr>
              <a:t>"We don't get a second chance at a generation of artists."</a:t>
            </a:r>
            <a:endParaRPr lang="en-US" sz="1000" dirty="0"/>
          </a:p>
        </p:txBody>
      </p:sp>
      <p:sp>
        <p:nvSpPr>
          <p:cNvPr id="8" name="Shape 6"/>
          <p:cNvSpPr/>
          <p:nvPr/>
        </p:nvSpPr>
        <p:spPr>
          <a:xfrm>
            <a:off x="4662822" y="359941"/>
            <a:ext cx="1857375" cy="2147887"/>
          </a:xfrm>
          <a:prstGeom prst="roundRect">
            <a:avLst>
              <a:gd name="adj" fmla="val 3030"/>
            </a:avLst>
          </a:prstGeom>
          <a:solidFill>
            <a:srgbClr val="FFFFFF"/>
          </a:solidFill>
          <a:ln/>
          <a:effectLst>
            <a:outerShdw sx="100000" sy="100000" kx="0" ky="0" algn="bl" rotWithShape="0" blurRad="152400" dist="38100" dir="5400000">
              <a:srgbClr val="004C45">
                <a:alpha val="8000"/>
              </a:srgbClr>
            </a:outerShdw>
          </a:effectLst>
        </p:spPr>
      </p:sp>
      <p:sp>
        <p:nvSpPr>
          <p:cNvPr id="9" name="Text 7"/>
          <p:cNvSpPr/>
          <p:nvPr/>
        </p:nvSpPr>
        <p:spPr>
          <a:xfrm>
            <a:off x="4827129" y="494481"/>
            <a:ext cx="1528763" cy="419100"/>
          </a:xfrm>
          <a:prstGeom prst="rect">
            <a:avLst/>
          </a:prstGeom>
          <a:ln/>
        </p:spPr>
        <p:txBody>
          <a:bodyPr wrap="square" lIns="0" tIns="0" rIns="0" bIns="0" rtlCol="0" anchor="t"/>
          <a:lstStyle/>
          <a:p>
            <a:pPr algn="l" indent="0" marL="0">
              <a:lnSpc>
                <a:spcPts val="3312"/>
              </a:lnSpc>
              <a:buNone/>
            </a:pPr>
            <a:r>
              <a:rPr lang="en-US" sz="3300" b="1" dirty="0">
                <a:solidFill>
                  <a:srgbClr val="FF6B6B"/>
                </a:solidFill>
                <a:latin typeface="Inter" pitchFamily="34" charset="0"/>
                <a:ea typeface="Inter" pitchFamily="34" charset="-122"/>
                <a:cs typeface="Inter" pitchFamily="34" charset="-120"/>
              </a:rPr>
              <a:t>49</a:t>
            </a:r>
            <a:endParaRPr lang="en-US" sz="3300" dirty="0"/>
          </a:p>
        </p:txBody>
      </p:sp>
      <p:sp>
        <p:nvSpPr>
          <p:cNvPr id="10" name="Text 8"/>
          <p:cNvSpPr/>
          <p:nvPr/>
        </p:nvSpPr>
        <p:spPr>
          <a:xfrm>
            <a:off x="4827129" y="1978484"/>
            <a:ext cx="1528763" cy="395287"/>
          </a:xfrm>
          <a:prstGeom prst="rect">
            <a:avLst/>
          </a:prstGeom>
          <a:ln/>
        </p:spPr>
        <p:txBody>
          <a:bodyPr wrap="square" lIns="0" tIns="0" rIns="0" bIns="0" rtlCol="0" anchor="t"/>
          <a:lstStyle/>
          <a:p>
            <a:pPr algn="l" indent="0" marL="0">
              <a:lnSpc>
                <a:spcPts val="1040"/>
              </a:lnSpc>
              <a:buNone/>
            </a:pPr>
            <a:r>
              <a:rPr lang="en-US" sz="700" dirty="0">
                <a:solidFill>
                  <a:srgbClr val="6B7D80"/>
                </a:solidFill>
                <a:latin typeface="Inter" pitchFamily="34" charset="0"/>
                <a:ea typeface="Inter" pitchFamily="34" charset="-122"/>
                <a:cs typeface="Inter" pitchFamily="34" charset="-120"/>
              </a:rPr>
              <a:t>UK universities have closed, merged or paused arts &amp; humanities courses since 2023.</a:t>
            </a:r>
            <a:endParaRPr lang="en-US" sz="700" dirty="0"/>
          </a:p>
        </p:txBody>
      </p:sp>
      <p:sp>
        <p:nvSpPr>
          <p:cNvPr id="11" name="Shape 9"/>
          <p:cNvSpPr/>
          <p:nvPr/>
        </p:nvSpPr>
        <p:spPr>
          <a:xfrm>
            <a:off x="6647111" y="359941"/>
            <a:ext cx="1857375" cy="2147887"/>
          </a:xfrm>
          <a:prstGeom prst="roundRect">
            <a:avLst>
              <a:gd name="adj" fmla="val 3030"/>
            </a:avLst>
          </a:prstGeom>
          <a:solidFill>
            <a:srgbClr val="008272"/>
          </a:solidFill>
          <a:ln/>
        </p:spPr>
      </p:sp>
      <p:sp>
        <p:nvSpPr>
          <p:cNvPr id="12" name="Text 10"/>
          <p:cNvSpPr/>
          <p:nvPr/>
        </p:nvSpPr>
        <p:spPr>
          <a:xfrm>
            <a:off x="6811417" y="494481"/>
            <a:ext cx="1528763" cy="419100"/>
          </a:xfrm>
          <a:prstGeom prst="rect">
            <a:avLst/>
          </a:prstGeom>
          <a:ln/>
        </p:spPr>
        <p:txBody>
          <a:bodyPr wrap="square" lIns="0" tIns="0" rIns="0" bIns="0" rtlCol="0" anchor="t"/>
          <a:lstStyle/>
          <a:p>
            <a:pPr algn="l" indent="0" marL="0">
              <a:lnSpc>
                <a:spcPts val="3312"/>
              </a:lnSpc>
              <a:buNone/>
            </a:pPr>
            <a:r>
              <a:rPr lang="en-US" sz="3300" b="1" dirty="0">
                <a:solidFill>
                  <a:srgbClr val="FFFFFF"/>
                </a:solidFill>
                <a:latin typeface="Inter" pitchFamily="34" charset="0"/>
                <a:ea typeface="Inter" pitchFamily="34" charset="-122"/>
                <a:cs typeface="Inter" pitchFamily="34" charset="-120"/>
              </a:rPr>
              <a:t>-47%</a:t>
            </a:r>
            <a:endParaRPr lang="en-US" sz="3300" dirty="0"/>
          </a:p>
        </p:txBody>
      </p:sp>
      <p:sp>
        <p:nvSpPr>
          <p:cNvPr id="13" name="Text 11"/>
          <p:cNvSpPr/>
          <p:nvPr/>
        </p:nvSpPr>
        <p:spPr>
          <a:xfrm>
            <a:off x="6811417" y="2111127"/>
            <a:ext cx="1528763" cy="261937"/>
          </a:xfrm>
          <a:prstGeom prst="rect">
            <a:avLst/>
          </a:prstGeom>
          <a:ln/>
        </p:spPr>
        <p:txBody>
          <a:bodyPr wrap="square" lIns="0" tIns="0" rIns="0" bIns="0" rtlCol="0" anchor="t"/>
          <a:lstStyle/>
          <a:p>
            <a:pPr algn="l" indent="0" marL="0">
              <a:lnSpc>
                <a:spcPts val="1040"/>
              </a:lnSpc>
              <a:buNone/>
            </a:pPr>
            <a:r>
              <a:rPr lang="en-US" sz="700" dirty="0">
                <a:solidFill>
                  <a:srgbClr val="FFFFFF"/>
                </a:solidFill>
                <a:latin typeface="Inter" pitchFamily="34" charset="0"/>
                <a:ea typeface="Inter" pitchFamily="34" charset="-122"/>
                <a:cs typeface="Inter" pitchFamily="34" charset="-120"/>
              </a:rPr>
              <a:t>fall in arts GCSE entries since the EBacc was introduced.</a:t>
            </a:r>
            <a:endParaRPr lang="en-US" sz="700" dirty="0"/>
          </a:p>
        </p:txBody>
      </p:sp>
      <p:sp>
        <p:nvSpPr>
          <p:cNvPr id="14" name="Shape 12"/>
          <p:cNvSpPr/>
          <p:nvPr/>
        </p:nvSpPr>
        <p:spPr>
          <a:xfrm>
            <a:off x="4662822" y="2635672"/>
            <a:ext cx="1857375" cy="2147887"/>
          </a:xfrm>
          <a:prstGeom prst="roundRect">
            <a:avLst>
              <a:gd name="adj" fmla="val 3030"/>
            </a:avLst>
          </a:prstGeom>
          <a:solidFill>
            <a:srgbClr val="FFFFFF"/>
          </a:solidFill>
          <a:ln/>
          <a:effectLst>
            <a:outerShdw sx="100000" sy="100000" kx="0" ky="0" algn="bl" rotWithShape="0" blurRad="152400" dist="38100" dir="5400000">
              <a:srgbClr val="004C45">
                <a:alpha val="8000"/>
              </a:srgbClr>
            </a:outerShdw>
          </a:effectLst>
        </p:spPr>
      </p:sp>
      <p:sp>
        <p:nvSpPr>
          <p:cNvPr id="15" name="Text 13"/>
          <p:cNvSpPr/>
          <p:nvPr/>
        </p:nvSpPr>
        <p:spPr>
          <a:xfrm>
            <a:off x="4827129" y="2770212"/>
            <a:ext cx="1528763" cy="419100"/>
          </a:xfrm>
          <a:prstGeom prst="rect">
            <a:avLst/>
          </a:prstGeom>
          <a:ln/>
        </p:spPr>
        <p:txBody>
          <a:bodyPr wrap="square" lIns="0" tIns="0" rIns="0" bIns="0" rtlCol="0" anchor="t"/>
          <a:lstStyle/>
          <a:p>
            <a:pPr algn="l" indent="0" marL="0">
              <a:lnSpc>
                <a:spcPts val="3312"/>
              </a:lnSpc>
              <a:buNone/>
            </a:pPr>
            <a:r>
              <a:rPr lang="en-US" sz="3300" b="1" dirty="0">
                <a:solidFill>
                  <a:srgbClr val="008272"/>
                </a:solidFill>
                <a:latin typeface="Inter" pitchFamily="34" charset="0"/>
                <a:ea typeface="Inter" pitchFamily="34" charset="-122"/>
                <a:cs typeface="Inter" pitchFamily="34" charset="-120"/>
              </a:rPr>
              <a:t>1 in 8</a:t>
            </a:r>
            <a:endParaRPr lang="en-US" sz="3300" dirty="0"/>
          </a:p>
        </p:txBody>
      </p:sp>
      <p:sp>
        <p:nvSpPr>
          <p:cNvPr id="16" name="Text 14"/>
          <p:cNvSpPr/>
          <p:nvPr/>
        </p:nvSpPr>
        <p:spPr>
          <a:xfrm>
            <a:off x="4827129" y="4386858"/>
            <a:ext cx="1528763" cy="261937"/>
          </a:xfrm>
          <a:prstGeom prst="rect">
            <a:avLst/>
          </a:prstGeom>
          <a:ln/>
        </p:spPr>
        <p:txBody>
          <a:bodyPr wrap="square" lIns="0" tIns="0" rIns="0" bIns="0" rtlCol="0" anchor="t"/>
          <a:lstStyle/>
          <a:p>
            <a:pPr algn="l" indent="0" marL="0">
              <a:lnSpc>
                <a:spcPts val="1040"/>
              </a:lnSpc>
              <a:buNone/>
            </a:pPr>
            <a:r>
              <a:rPr lang="en-US" sz="700" dirty="0">
                <a:solidFill>
                  <a:srgbClr val="6B7D80"/>
                </a:solidFill>
                <a:latin typeface="Inter" pitchFamily="34" charset="0"/>
                <a:ea typeface="Inter" pitchFamily="34" charset="-122"/>
                <a:cs typeface="Inter" pitchFamily="34" charset="-120"/>
              </a:rPr>
              <a:t>state primaries have no specialist music or drama provision at all.</a:t>
            </a:r>
            <a:endParaRPr lang="en-US" sz="700" dirty="0"/>
          </a:p>
        </p:txBody>
      </p:sp>
      <p:sp>
        <p:nvSpPr>
          <p:cNvPr id="17" name="Shape 15"/>
          <p:cNvSpPr/>
          <p:nvPr/>
        </p:nvSpPr>
        <p:spPr>
          <a:xfrm>
            <a:off x="6647111" y="2635672"/>
            <a:ext cx="1857375" cy="2147887"/>
          </a:xfrm>
          <a:prstGeom prst="roundRect">
            <a:avLst>
              <a:gd name="adj" fmla="val 3030"/>
            </a:avLst>
          </a:prstGeom>
          <a:solidFill>
            <a:srgbClr val="FF6B6B"/>
          </a:solidFill>
          <a:ln/>
        </p:spPr>
      </p:sp>
      <p:sp>
        <p:nvSpPr>
          <p:cNvPr id="18" name="Text 16"/>
          <p:cNvSpPr/>
          <p:nvPr/>
        </p:nvSpPr>
        <p:spPr>
          <a:xfrm>
            <a:off x="6811417" y="2770212"/>
            <a:ext cx="1528763" cy="419100"/>
          </a:xfrm>
          <a:prstGeom prst="rect">
            <a:avLst/>
          </a:prstGeom>
          <a:ln/>
        </p:spPr>
        <p:txBody>
          <a:bodyPr wrap="square" lIns="0" tIns="0" rIns="0" bIns="0" rtlCol="0" anchor="t"/>
          <a:lstStyle/>
          <a:p>
            <a:pPr algn="l" indent="0" marL="0">
              <a:lnSpc>
                <a:spcPts val="3312"/>
              </a:lnSpc>
              <a:buNone/>
            </a:pPr>
            <a:r>
              <a:rPr lang="en-US" sz="3300" b="1" dirty="0">
                <a:solidFill>
                  <a:srgbClr val="FFFFFF"/>
                </a:solidFill>
                <a:latin typeface="Inter" pitchFamily="34" charset="0"/>
                <a:ea typeface="Inter" pitchFamily="34" charset="-122"/>
                <a:cs typeface="Inter" pitchFamily="34" charset="-120"/>
              </a:rPr>
              <a:t>£126b</a:t>
            </a:r>
            <a:endParaRPr lang="en-US" sz="3300" dirty="0"/>
          </a:p>
        </p:txBody>
      </p:sp>
      <p:sp>
        <p:nvSpPr>
          <p:cNvPr id="19" name="Text 17"/>
          <p:cNvSpPr/>
          <p:nvPr/>
        </p:nvSpPr>
        <p:spPr>
          <a:xfrm>
            <a:off x="6811417" y="4254215"/>
            <a:ext cx="1528763" cy="395287"/>
          </a:xfrm>
          <a:prstGeom prst="rect">
            <a:avLst/>
          </a:prstGeom>
          <a:ln/>
        </p:spPr>
        <p:txBody>
          <a:bodyPr wrap="square" lIns="0" tIns="0" rIns="0" bIns="0" rtlCol="0" anchor="t"/>
          <a:lstStyle/>
          <a:p>
            <a:pPr algn="l" indent="0" marL="0">
              <a:lnSpc>
                <a:spcPts val="1040"/>
              </a:lnSpc>
              <a:buNone/>
            </a:pPr>
            <a:r>
              <a:rPr lang="en-US" sz="700" dirty="0">
                <a:solidFill>
                  <a:srgbClr val="FFFFFF"/>
                </a:solidFill>
                <a:latin typeface="Inter" pitchFamily="34" charset="0"/>
                <a:ea typeface="Inter" pitchFamily="34" charset="-122"/>
                <a:cs typeface="Inter" pitchFamily="34" charset="-120"/>
              </a:rPr>
              <a:t>the UK creative industries — built on the artists our classrooms shape.</a:t>
            </a:r>
            <a:endParaRPr lang="en-US" sz="700" dirty="0"/>
          </a:p>
        </p:txBody>
      </p:sp>
      <p:pic>
        <p:nvPicPr>
          <p:cNvPr id="2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1003" y="4273190"/>
            <a:ext cx="3838575" cy="509587"/>
          </a:xfrm>
          <a:prstGeom prst="rect">
            <a:avLst/>
          </a:prstGeom>
        </p:spPr>
      </p:pic>
      <p:pic>
        <p:nvPicPr>
          <p:cNvPr id="21" name="Image 1" descr="preencoded.png">    </p:cNvPr>
          <p:cNvPicPr>
            <a:picLocks noChangeAspect="1"/>
          </p:cNvPicPr>
          <p:nvPr/>
        </p:nvPicPr>
        <p:blipFill>
          <a:blip r:embed="rId3"/>
          <a:stretch>
            <a:fillRect/>
          </a:stretch>
        </p:blipFill>
        <p:spPr>
          <a:xfrm>
            <a:off x="228600" y="154260"/>
            <a:ext cx="857250" cy="257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035" y="1087450"/>
            <a:ext cx="3143250" cy="138113"/>
          </a:xfrm>
          <a:prstGeom prst="rect">
            <a:avLst/>
          </a:prstGeom>
          <a:ln/>
        </p:spPr>
        <p:txBody>
          <a:bodyPr wrap="square" lIns="0" tIns="0" rIns="0" bIns="0" rtlCol="0" anchor="t"/>
          <a:lstStyle/>
          <a:p>
            <a:pPr algn="l" indent="0" marL="0">
              <a:lnSpc>
                <a:spcPts val="1080"/>
              </a:lnSpc>
              <a:spcAft>
                <a:spcPts val="1215"/>
              </a:spcAft>
              <a:buNone/>
            </a:pPr>
            <a:r>
              <a:rPr lang="en-US" sz="700" b="1" dirty="0">
                <a:solidFill>
                  <a:srgbClr val="FF6B6B"/>
                </a:solidFill>
                <a:latin typeface="Inter" pitchFamily="34" charset="0"/>
                <a:ea typeface="Inter" pitchFamily="34" charset="-122"/>
                <a:cs typeface="Inter" pitchFamily="34" charset="-120"/>
              </a:rPr>
              <a:t>THE ARGUMENT</a:t>
            </a:r>
            <a:endParaRPr lang="en-US" sz="700" dirty="0"/>
          </a:p>
        </p:txBody>
      </p:sp>
      <p:sp>
        <p:nvSpPr>
          <p:cNvPr id="4" name="Text 2"/>
          <p:cNvSpPr/>
          <p:nvPr/>
        </p:nvSpPr>
        <p:spPr>
          <a:xfrm>
            <a:off x="640035" y="1379711"/>
            <a:ext cx="3143250" cy="857250"/>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A </a:t>
            </a:r>
            <a:pPr algn="l" indent="0" marL="0">
              <a:lnSpc>
                <a:spcPts val="3378"/>
              </a:lnSpc>
              <a:buNone/>
            </a:pPr>
            <a:r>
              <a:rPr lang="en-US" sz="3300" b="1" dirty="0">
                <a:solidFill>
                  <a:srgbClr val="FF6B6B"/>
                </a:solidFill>
                <a:latin typeface="Inter" pitchFamily="34" charset="0"/>
                <a:ea typeface="Inter" pitchFamily="34" charset="-122"/>
                <a:cs typeface="Inter" pitchFamily="34" charset="-120"/>
              </a:rPr>
              <a:t>melting pot</a:t>
            </a:r>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 of knowledge.</a:t>
            </a:r>
            <a:endParaRPr lang="en-US" sz="3300" dirty="0"/>
          </a:p>
        </p:txBody>
      </p:sp>
      <p:sp>
        <p:nvSpPr>
          <p:cNvPr id="5" name="Text 3"/>
          <p:cNvSpPr/>
          <p:nvPr/>
        </p:nvSpPr>
        <p:spPr>
          <a:xfrm>
            <a:off x="640035" y="2392487"/>
            <a:ext cx="3143250" cy="1662113"/>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No single classroom — and no single conservatoire — can carry the whole creative ecology on its own. CCD is a place where every contributor pours in what they know best: the rehearsal a teacher nailed in Year 4, the masterclass a violinist gave in Year 11, the choreography a dance company toured to thirty schools. Together, that is a curriculum no funder could commission.</a:t>
            </a:r>
            <a:endParaRPr lang="en-US" sz="1000" dirty="0"/>
          </a:p>
        </p:txBody>
      </p:sp>
      <p:sp>
        <p:nvSpPr>
          <p:cNvPr id="6" name="Shape 4"/>
          <p:cNvSpPr/>
          <p:nvPr/>
        </p:nvSpPr>
        <p:spPr>
          <a:xfrm>
            <a:off x="4337372" y="1689088"/>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7" name="Text 5"/>
          <p:cNvSpPr/>
          <p:nvPr/>
        </p:nvSpPr>
        <p:spPr>
          <a:xfrm>
            <a:off x="4446910" y="1810978"/>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008272"/>
                </a:solidFill>
                <a:latin typeface="Inter" pitchFamily="34" charset="0"/>
                <a:ea typeface="Inter" pitchFamily="34" charset="-122"/>
                <a:cs typeface="Inter" pitchFamily="34" charset="-120"/>
              </a:rPr>
              <a:t>Schools</a:t>
            </a:r>
            <a:endParaRPr lang="en-US" sz="1200" dirty="0"/>
          </a:p>
        </p:txBody>
      </p:sp>
      <p:sp>
        <p:nvSpPr>
          <p:cNvPr id="8" name="Text 6"/>
          <p:cNvSpPr/>
          <p:nvPr/>
        </p:nvSpPr>
        <p:spPr>
          <a:xfrm>
            <a:off x="4446910" y="2047280"/>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Drama, music &amp; dance specialists across EYFS to KS5</a:t>
            </a:r>
            <a:endParaRPr lang="en-US" sz="600" dirty="0"/>
          </a:p>
        </p:txBody>
      </p:sp>
      <p:sp>
        <p:nvSpPr>
          <p:cNvPr id="9" name="Shape 7"/>
          <p:cNvSpPr/>
          <p:nvPr/>
        </p:nvSpPr>
        <p:spPr>
          <a:xfrm>
            <a:off x="5660157" y="1689088"/>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10" name="Text 8"/>
          <p:cNvSpPr/>
          <p:nvPr/>
        </p:nvSpPr>
        <p:spPr>
          <a:xfrm>
            <a:off x="5769694" y="1810978"/>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7C3AED"/>
                </a:solidFill>
                <a:latin typeface="Inter" pitchFamily="34" charset="0"/>
                <a:ea typeface="Inter" pitchFamily="34" charset="-122"/>
                <a:cs typeface="Inter" pitchFamily="34" charset="-120"/>
              </a:rPr>
              <a:t>Universities</a:t>
            </a:r>
            <a:endParaRPr lang="en-US" sz="1200" dirty="0"/>
          </a:p>
        </p:txBody>
      </p:sp>
      <p:sp>
        <p:nvSpPr>
          <p:cNvPr id="11" name="Text 9"/>
          <p:cNvSpPr/>
          <p:nvPr/>
        </p:nvSpPr>
        <p:spPr>
          <a:xfrm>
            <a:off x="5769694" y="2047280"/>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Conservatoires &amp; arts faculties protecting the pipeline</a:t>
            </a:r>
            <a:endParaRPr lang="en-US" sz="600" dirty="0"/>
          </a:p>
        </p:txBody>
      </p:sp>
      <p:sp>
        <p:nvSpPr>
          <p:cNvPr id="12" name="Shape 10"/>
          <p:cNvSpPr/>
          <p:nvPr/>
        </p:nvSpPr>
        <p:spPr>
          <a:xfrm>
            <a:off x="6982941" y="1689088"/>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13" name="Text 11"/>
          <p:cNvSpPr/>
          <p:nvPr/>
        </p:nvSpPr>
        <p:spPr>
          <a:xfrm>
            <a:off x="7092479" y="1810978"/>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FF6B6B"/>
                </a:solidFill>
                <a:latin typeface="Inter" pitchFamily="34" charset="0"/>
                <a:ea typeface="Inter" pitchFamily="34" charset="-122"/>
                <a:cs typeface="Inter" pitchFamily="34" charset="-120"/>
              </a:rPr>
              <a:t>Arts orgs</a:t>
            </a:r>
            <a:endParaRPr lang="en-US" sz="1200" dirty="0"/>
          </a:p>
        </p:txBody>
      </p:sp>
      <p:sp>
        <p:nvSpPr>
          <p:cNvPr id="14" name="Text 12"/>
          <p:cNvSpPr/>
          <p:nvPr/>
        </p:nvSpPr>
        <p:spPr>
          <a:xfrm>
            <a:off x="7092479" y="2047280"/>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Theatres, orchestras, dance companies, touring outreach</a:t>
            </a:r>
            <a:endParaRPr lang="en-US" sz="600" dirty="0"/>
          </a:p>
        </p:txBody>
      </p:sp>
      <p:sp>
        <p:nvSpPr>
          <p:cNvPr id="15" name="Shape 13"/>
          <p:cNvSpPr/>
          <p:nvPr/>
        </p:nvSpPr>
        <p:spPr>
          <a:xfrm>
            <a:off x="4337372" y="2635262"/>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16" name="Text 14"/>
          <p:cNvSpPr/>
          <p:nvPr/>
        </p:nvSpPr>
        <p:spPr>
          <a:xfrm>
            <a:off x="4446910" y="2757153"/>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FBBF24"/>
                </a:solidFill>
                <a:latin typeface="Inter" pitchFamily="34" charset="0"/>
                <a:ea typeface="Inter" pitchFamily="34" charset="-122"/>
                <a:cs typeface="Inter" pitchFamily="34" charset="-120"/>
              </a:rPr>
              <a:t>Practitioners</a:t>
            </a:r>
            <a:endParaRPr lang="en-US" sz="1200" dirty="0"/>
          </a:p>
        </p:txBody>
      </p:sp>
      <p:sp>
        <p:nvSpPr>
          <p:cNvPr id="17" name="Text 15"/>
          <p:cNvSpPr/>
          <p:nvPr/>
        </p:nvSpPr>
        <p:spPr>
          <a:xfrm>
            <a:off x="4446910" y="2993454"/>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Working artists, freelance teachers, visiting workshops</a:t>
            </a:r>
            <a:endParaRPr lang="en-US" sz="600" dirty="0"/>
          </a:p>
        </p:txBody>
      </p:sp>
      <p:sp>
        <p:nvSpPr>
          <p:cNvPr id="18" name="Shape 16"/>
          <p:cNvSpPr/>
          <p:nvPr/>
        </p:nvSpPr>
        <p:spPr>
          <a:xfrm>
            <a:off x="5660157" y="2635262"/>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19" name="Text 17"/>
          <p:cNvSpPr/>
          <p:nvPr/>
        </p:nvSpPr>
        <p:spPr>
          <a:xfrm>
            <a:off x="5769694" y="2757153"/>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0EA4D4"/>
                </a:solidFill>
                <a:latin typeface="Inter" pitchFamily="34" charset="0"/>
                <a:ea typeface="Inter" pitchFamily="34" charset="-122"/>
                <a:cs typeface="Inter" pitchFamily="34" charset="-120"/>
              </a:rPr>
              <a:t>Communities</a:t>
            </a:r>
            <a:endParaRPr lang="en-US" sz="1200" dirty="0"/>
          </a:p>
        </p:txBody>
      </p:sp>
      <p:sp>
        <p:nvSpPr>
          <p:cNvPr id="20" name="Text 18"/>
          <p:cNvSpPr/>
          <p:nvPr/>
        </p:nvSpPr>
        <p:spPr>
          <a:xfrm>
            <a:off x="5769694" y="2993454"/>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Parents, alumni, local audiences, partner primaries</a:t>
            </a:r>
            <a:endParaRPr lang="en-US" sz="600" dirty="0"/>
          </a:p>
        </p:txBody>
      </p:sp>
      <p:sp>
        <p:nvSpPr>
          <p:cNvPr id="21" name="Shape 19"/>
          <p:cNvSpPr/>
          <p:nvPr/>
        </p:nvSpPr>
        <p:spPr>
          <a:xfrm>
            <a:off x="6982941" y="2635262"/>
            <a:ext cx="1195387" cy="819150"/>
          </a:xfrm>
          <a:prstGeom prst="roundRect">
            <a:avLst>
              <a:gd name="adj" fmla="val 14538"/>
            </a:avLst>
          </a:prstGeom>
          <a:solidFill>
            <a:srgbClr val="FFFFFF"/>
          </a:solidFill>
          <a:ln/>
          <a:effectLst>
            <a:outerShdw sx="100000" sy="100000" kx="0" ky="0" algn="bl" rotWithShape="0" blurRad="133350" dist="38100" dir="5400000">
              <a:srgbClr val="004C45">
                <a:alpha val="10000"/>
              </a:srgbClr>
            </a:outerShdw>
          </a:effectLst>
        </p:spPr>
      </p:sp>
      <p:sp>
        <p:nvSpPr>
          <p:cNvPr id="22" name="Text 20"/>
          <p:cNvSpPr/>
          <p:nvPr/>
        </p:nvSpPr>
        <p:spPr>
          <a:xfrm>
            <a:off x="7092479" y="2757153"/>
            <a:ext cx="976312" cy="195263"/>
          </a:xfrm>
          <a:prstGeom prst="rect">
            <a:avLst/>
          </a:prstGeom>
          <a:ln/>
        </p:spPr>
        <p:txBody>
          <a:bodyPr wrap="square" lIns="0" tIns="0" rIns="0" bIns="0" rtlCol="0" anchor="t"/>
          <a:lstStyle/>
          <a:p>
            <a:pPr algn="l" indent="0" marL="0">
              <a:lnSpc>
                <a:spcPts val="1530"/>
              </a:lnSpc>
              <a:buNone/>
            </a:pPr>
            <a:r>
              <a:rPr lang="en-US" sz="1200" b="1" dirty="0">
                <a:solidFill>
                  <a:srgbClr val="5EEAD4"/>
                </a:solidFill>
                <a:latin typeface="Inter" pitchFamily="34" charset="0"/>
                <a:ea typeface="Inter" pitchFamily="34" charset="-122"/>
                <a:cs typeface="Inter" pitchFamily="34" charset="-120"/>
              </a:rPr>
              <a:t>Children</a:t>
            </a:r>
            <a:endParaRPr lang="en-US" sz="1200" dirty="0"/>
          </a:p>
        </p:txBody>
      </p:sp>
      <p:sp>
        <p:nvSpPr>
          <p:cNvPr id="23" name="Text 21"/>
          <p:cNvSpPr/>
          <p:nvPr/>
        </p:nvSpPr>
        <p:spPr>
          <a:xfrm>
            <a:off x="7092479" y="2993454"/>
            <a:ext cx="976312" cy="357188"/>
          </a:xfrm>
          <a:prstGeom prst="rect">
            <a:avLst/>
          </a:prstGeom>
          <a:ln/>
        </p:spPr>
        <p:txBody>
          <a:bodyPr wrap="square" lIns="0" tIns="0" rIns="0" bIns="0" rtlCol="0" anchor="t"/>
          <a:lstStyle/>
          <a:p>
            <a:pPr algn="l" indent="0" marL="0">
              <a:lnSpc>
                <a:spcPts val="940"/>
              </a:lnSpc>
              <a:spcBef>
                <a:spcPts val="324"/>
              </a:spcBef>
              <a:buNone/>
            </a:pPr>
            <a:r>
              <a:rPr lang="en-US" sz="600" dirty="0">
                <a:solidFill>
                  <a:srgbClr val="6B7D80"/>
                </a:solidFill>
                <a:latin typeface="Inter" pitchFamily="34" charset="0"/>
                <a:ea typeface="Inter" pitchFamily="34" charset="-122"/>
                <a:cs typeface="Inter" pitchFamily="34" charset="-120"/>
              </a:rPr>
              <a:t>The young artists every contribution is in service of</a:t>
            </a:r>
            <a:endParaRPr lang="en-US" sz="6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37372" y="1689088"/>
            <a:ext cx="1195387" cy="819150"/>
          </a:xfrm>
          <a:prstGeom prst="rect">
            <a:avLst/>
          </a:prstGeom>
        </p:spPr>
      </p:pic>
      <p:pic>
        <p:nvPicPr>
          <p:cNvPr id="2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60157" y="1689088"/>
            <a:ext cx="1195387" cy="819150"/>
          </a:xfrm>
          <a:prstGeom prst="rect">
            <a:avLst/>
          </a:prstGeom>
        </p:spPr>
      </p:pic>
      <p:pic>
        <p:nvPicPr>
          <p:cNvPr id="2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2941" y="1689088"/>
            <a:ext cx="1195387" cy="819150"/>
          </a:xfrm>
          <a:prstGeom prst="rect">
            <a:avLst/>
          </a:prstGeom>
        </p:spPr>
      </p:pic>
      <p:pic>
        <p:nvPicPr>
          <p:cNvPr id="2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37372" y="2635262"/>
            <a:ext cx="1195387" cy="819150"/>
          </a:xfrm>
          <a:prstGeom prst="rect">
            <a:avLst/>
          </a:prstGeom>
        </p:spPr>
      </p:pic>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60157" y="2635262"/>
            <a:ext cx="1195387" cy="819150"/>
          </a:xfrm>
          <a:prstGeom prst="rect">
            <a:avLst/>
          </a:prstGeom>
        </p:spPr>
      </p:pic>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82941" y="2635262"/>
            <a:ext cx="1195387" cy="819150"/>
          </a:xfrm>
          <a:prstGeom prst="rect">
            <a:avLst/>
          </a:prstGeom>
        </p:spPr>
      </p:pic>
      <p:pic>
        <p:nvPicPr>
          <p:cNvPr id="30" name="Image 6" descr="preencoded.png">    </p:cNvPr>
          <p:cNvPicPr>
            <a:picLocks noChangeAspect="1"/>
          </p:cNvPicPr>
          <p:nvPr/>
        </p:nvPicPr>
        <p:blipFill>
          <a:blip r:embed="rId13"/>
          <a:stretch>
            <a:fillRect/>
          </a:stretch>
        </p:blipFill>
        <p:spPr>
          <a:xfrm>
            <a:off x="228600" y="154260"/>
            <a:ext cx="857250" cy="2571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39998" y="359532"/>
            <a:ext cx="1476375" cy="138113"/>
          </a:xfrm>
          <a:prstGeom prst="rect">
            <a:avLst/>
          </a:prstGeom>
          <a:ln/>
        </p:spPr>
        <p:txBody>
          <a:bodyPr wrap="square" lIns="0" tIns="0" rIns="0" bIns="0" rtlCol="0" anchor="t"/>
          <a:lstStyle/>
          <a:p>
            <a:pPr algn="l" indent="0" marL="0">
              <a:lnSpc>
                <a:spcPts val="1080"/>
              </a:lnSpc>
              <a:spcAft>
                <a:spcPts val="1215"/>
              </a:spcAft>
              <a:buNone/>
            </a:pPr>
            <a:r>
              <a:rPr lang="en-US" sz="700" b="1" dirty="0">
                <a:solidFill>
                  <a:srgbClr val="FF6B6B"/>
                </a:solidFill>
                <a:latin typeface="Inter" pitchFamily="34" charset="0"/>
                <a:ea typeface="Inter" pitchFamily="34" charset="-122"/>
                <a:cs typeface="Inter" pitchFamily="34" charset="-120"/>
              </a:rPr>
              <a:t>CELEBRATING THE WORK</a:t>
            </a:r>
            <a:endParaRPr lang="en-US" sz="700" dirty="0"/>
          </a:p>
        </p:txBody>
      </p:sp>
      <p:sp>
        <p:nvSpPr>
          <p:cNvPr id="4" name="Text 2"/>
          <p:cNvSpPr/>
          <p:nvPr/>
        </p:nvSpPr>
        <p:spPr>
          <a:xfrm>
            <a:off x="639068" y="651793"/>
            <a:ext cx="5305425" cy="857250"/>
          </a:xfrm>
          <a:prstGeom prst="rect">
            <a:avLst/>
          </a:prstGeom>
          <a:ln/>
        </p:spPr>
        <p:txBody>
          <a:bodyPr wrap="square" lIns="0" tIns="0" rIns="0" bIns="0" rtlCol="0" anchor="t"/>
          <a:lstStyle/>
          <a:p>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Learning in the arts deserves to be</a:t>
            </a:r>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 </a:t>
            </a:r>
            <a:pPr algn="l" indent="0" marL="0">
              <a:lnSpc>
                <a:spcPts val="3378"/>
              </a:lnSpc>
              <a:buNone/>
            </a:pPr>
            <a:r>
              <a:rPr lang="en-US" sz="3300" b="1" i="1" dirty="0">
                <a:solidFill>
                  <a:srgbClr val="FF6B6B"/>
                </a:solidFill>
                <a:latin typeface="Inter" pitchFamily="34" charset="0"/>
                <a:ea typeface="Inter" pitchFamily="34" charset="-122"/>
                <a:cs typeface="Inter" pitchFamily="34" charset="-120"/>
              </a:rPr>
              <a:t>seen</a:t>
            </a:r>
            <a:pPr algn="l" indent="0" marL="0">
              <a:lnSpc>
                <a:spcPts val="3378"/>
              </a:lnSpc>
              <a:buNone/>
            </a:pPr>
            <a:r>
              <a:rPr lang="en-US" sz="3300" b="1" dirty="0">
                <a:solidFill>
                  <a:srgbClr val="0F2A2E"/>
                </a:solidFill>
                <a:latin typeface="Inter" pitchFamily="34" charset="0"/>
                <a:ea typeface="Inter" pitchFamily="34" charset="-122"/>
                <a:cs typeface="Inter" pitchFamily="34" charset="-120"/>
              </a:rPr>
              <a:t>.</a:t>
            </a:r>
            <a:endParaRPr lang="en-US" sz="3300" dirty="0"/>
          </a:p>
        </p:txBody>
      </p:sp>
      <p:sp>
        <p:nvSpPr>
          <p:cNvPr id="5" name="Text 3"/>
          <p:cNvSpPr/>
          <p:nvPr/>
        </p:nvSpPr>
        <p:spPr>
          <a:xfrm>
            <a:off x="640035" y="1664531"/>
            <a:ext cx="5029200" cy="1038225"/>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6B7D80"/>
                </a:solidFill>
                <a:latin typeface="Inter" pitchFamily="34" charset="0"/>
                <a:ea typeface="Inter" pitchFamily="34" charset="-122"/>
                <a:cs typeface="Inter" pitchFamily="34" charset="-120"/>
              </a:rPr>
              <a:t>Every freeze-frame, every first improvisation, every Year 6 ensemble piece is evidence that the arts are alive in our schools. CCD turns the daily craft of teaching into a record worth celebrating — published to school homepages, shared with parents, gathered into year-end showcases that tell the real story of arts education.</a:t>
            </a:r>
            <a:endParaRPr lang="en-US" sz="1000" dirty="0"/>
          </a:p>
        </p:txBody>
      </p:sp>
      <p:sp>
        <p:nvSpPr>
          <p:cNvPr id="6" name="Shape 4"/>
          <p:cNvSpPr/>
          <p:nvPr/>
        </p:nvSpPr>
        <p:spPr>
          <a:xfrm>
            <a:off x="639180" y="3483248"/>
            <a:ext cx="1871663" cy="1300163"/>
          </a:xfrm>
          <a:prstGeom prst="roundRect">
            <a:avLst>
              <a:gd name="adj" fmla="val 6183"/>
            </a:avLst>
          </a:prstGeom>
          <a:solidFill>
            <a:srgbClr val="FFFFFF"/>
          </a:solidFill>
          <a:ln/>
          <a:effectLst>
            <a:outerShdw sx="100000" sy="100000" kx="0" ky="0" algn="bl" rotWithShape="0" blurRad="133350" dist="38100" dir="5400000">
              <a:srgbClr val="004C45">
                <a:alpha val="10000"/>
              </a:srgbClr>
            </a:outerShdw>
          </a:effectLst>
        </p:spPr>
      </p:sp>
      <p:sp>
        <p:nvSpPr>
          <p:cNvPr id="7" name="Text 5"/>
          <p:cNvSpPr/>
          <p:nvPr/>
        </p:nvSpPr>
        <p:spPr>
          <a:xfrm>
            <a:off x="801105" y="3607668"/>
            <a:ext cx="1581150" cy="114300"/>
          </a:xfrm>
          <a:prstGeom prst="rect">
            <a:avLst/>
          </a:prstGeom>
          <a:ln/>
        </p:spPr>
        <p:txBody>
          <a:bodyPr wrap="square" lIns="0" tIns="0" rIns="0" bIns="0" rtlCol="0" anchor="t"/>
          <a:lstStyle/>
          <a:p>
            <a:pPr algn="l" indent="0" marL="0">
              <a:lnSpc>
                <a:spcPts val="918"/>
              </a:lnSpc>
              <a:buNone/>
            </a:pPr>
            <a:r>
              <a:rPr lang="en-US" sz="600" b="1" dirty="0">
                <a:solidFill>
                  <a:srgbClr val="008272"/>
                </a:solidFill>
                <a:latin typeface="Inter" pitchFamily="34" charset="0"/>
                <a:ea typeface="Inter" pitchFamily="34" charset="-122"/>
                <a:cs typeface="Inter" pitchFamily="34" charset="-120"/>
              </a:rPr>
              <a:t>ON THE SCHOOL HOMEPAGE</a:t>
            </a:r>
            <a:endParaRPr lang="en-US" sz="600" dirty="0"/>
          </a:p>
        </p:txBody>
      </p:sp>
      <p:sp>
        <p:nvSpPr>
          <p:cNvPr id="8" name="Text 6"/>
          <p:cNvSpPr/>
          <p:nvPr/>
        </p:nvSpPr>
        <p:spPr>
          <a:xfrm>
            <a:off x="801105" y="3774021"/>
            <a:ext cx="1581150" cy="166688"/>
          </a:xfrm>
          <a:prstGeom prst="rect">
            <a:avLst/>
          </a:prstGeom>
          <a:ln/>
        </p:spPr>
        <p:txBody>
          <a:bodyPr wrap="square" lIns="0" tIns="0" rIns="0" bIns="0" rtlCol="0" anchor="t"/>
          <a:lstStyle/>
          <a:p>
            <a:pPr algn="l" indent="0" marL="0">
              <a:lnSpc>
                <a:spcPts val="1305"/>
              </a:lnSpc>
              <a:buNone/>
            </a:pPr>
            <a:r>
              <a:rPr lang="en-US" sz="1000" b="1" dirty="0">
                <a:solidFill>
                  <a:srgbClr val="0F2A2E"/>
                </a:solidFill>
                <a:latin typeface="Inter" pitchFamily="34" charset="0"/>
                <a:ea typeface="Inter" pitchFamily="34" charset="-122"/>
                <a:cs typeface="Inter" pitchFamily="34" charset="-120"/>
              </a:rPr>
              <a:t>This week in the arts</a:t>
            </a:r>
            <a:endParaRPr lang="en-US" sz="1000" dirty="0"/>
          </a:p>
        </p:txBody>
      </p:sp>
      <p:sp>
        <p:nvSpPr>
          <p:cNvPr id="9" name="Text 7"/>
          <p:cNvSpPr/>
          <p:nvPr/>
        </p:nvSpPr>
        <p:spPr>
          <a:xfrm>
            <a:off x="801105" y="3990603"/>
            <a:ext cx="1581150" cy="504825"/>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Lessons published live so parents and SLT see what's happening on stage and in the studio — not just on the spreadsheet.</a:t>
            </a:r>
            <a:endParaRPr lang="en-US" sz="700" dirty="0"/>
          </a:p>
        </p:txBody>
      </p:sp>
      <p:sp>
        <p:nvSpPr>
          <p:cNvPr id="10" name="Shape 8"/>
          <p:cNvSpPr/>
          <p:nvPr/>
        </p:nvSpPr>
        <p:spPr>
          <a:xfrm>
            <a:off x="2637160" y="3483248"/>
            <a:ext cx="1871663" cy="1300163"/>
          </a:xfrm>
          <a:prstGeom prst="roundRect">
            <a:avLst>
              <a:gd name="adj" fmla="val 6183"/>
            </a:avLst>
          </a:prstGeom>
          <a:solidFill>
            <a:srgbClr val="FFFFFF"/>
          </a:solidFill>
          <a:ln/>
          <a:effectLst>
            <a:outerShdw sx="100000" sy="100000" kx="0" ky="0" algn="bl" rotWithShape="0" blurRad="133350" dist="38100" dir="5400000">
              <a:srgbClr val="004C45">
                <a:alpha val="10000"/>
              </a:srgbClr>
            </a:outerShdw>
          </a:effectLst>
        </p:spPr>
      </p:sp>
      <p:sp>
        <p:nvSpPr>
          <p:cNvPr id="11" name="Text 9"/>
          <p:cNvSpPr/>
          <p:nvPr/>
        </p:nvSpPr>
        <p:spPr>
          <a:xfrm>
            <a:off x="2799085" y="3607668"/>
            <a:ext cx="1581150" cy="114300"/>
          </a:xfrm>
          <a:prstGeom prst="rect">
            <a:avLst/>
          </a:prstGeom>
          <a:ln/>
        </p:spPr>
        <p:txBody>
          <a:bodyPr wrap="square" lIns="0" tIns="0" rIns="0" bIns="0" rtlCol="0" anchor="t"/>
          <a:lstStyle/>
          <a:p>
            <a:pPr algn="l" indent="0" marL="0">
              <a:lnSpc>
                <a:spcPts val="918"/>
              </a:lnSpc>
              <a:buNone/>
            </a:pPr>
            <a:r>
              <a:rPr lang="en-US" sz="600" b="1" dirty="0">
                <a:solidFill>
                  <a:srgbClr val="7C3AED"/>
                </a:solidFill>
                <a:latin typeface="Inter" pitchFamily="34" charset="0"/>
                <a:ea typeface="Inter" pitchFamily="34" charset="-122"/>
                <a:cs typeface="Inter" pitchFamily="34" charset="-120"/>
              </a:rPr>
              <a:t>YEAR-END SHOWCASE</a:t>
            </a:r>
            <a:endParaRPr lang="en-US" sz="600" dirty="0"/>
          </a:p>
        </p:txBody>
      </p:sp>
      <p:sp>
        <p:nvSpPr>
          <p:cNvPr id="12" name="Text 10"/>
          <p:cNvSpPr/>
          <p:nvPr/>
        </p:nvSpPr>
        <p:spPr>
          <a:xfrm>
            <a:off x="2799085" y="3773537"/>
            <a:ext cx="1581150" cy="333375"/>
          </a:xfrm>
          <a:prstGeom prst="rect">
            <a:avLst/>
          </a:prstGeom>
          <a:ln/>
        </p:spPr>
        <p:txBody>
          <a:bodyPr wrap="square" lIns="0" tIns="0" rIns="0" bIns="0" rtlCol="0" anchor="t"/>
          <a:lstStyle/>
          <a:p>
            <a:pPr algn="l" indent="0" marL="0">
              <a:lnSpc>
                <a:spcPts val="1305"/>
              </a:lnSpc>
              <a:buNone/>
            </a:pPr>
            <a:r>
              <a:rPr lang="en-US" sz="1000" b="1" dirty="0">
                <a:solidFill>
                  <a:srgbClr val="0F2A2E"/>
                </a:solidFill>
                <a:latin typeface="Inter" pitchFamily="34" charset="0"/>
                <a:ea typeface="Inter" pitchFamily="34" charset="-122"/>
                <a:cs typeface="Inter" pitchFamily="34" charset="-120"/>
              </a:rPr>
              <a:t>From sketchbook to stage</a:t>
            </a:r>
            <a:endParaRPr lang="en-US" sz="1000" dirty="0"/>
          </a:p>
        </p:txBody>
      </p:sp>
      <p:sp>
        <p:nvSpPr>
          <p:cNvPr id="13" name="Text 11"/>
          <p:cNvSpPr/>
          <p:nvPr/>
        </p:nvSpPr>
        <p:spPr>
          <a:xfrm>
            <a:off x="2799085" y="4156323"/>
            <a:ext cx="1581150" cy="504825"/>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Pull every lesson, photo and reflection from a unit into a single, shareable timeline. Frame the journey, not just the performance.</a:t>
            </a:r>
            <a:endParaRPr lang="en-US" sz="700" dirty="0"/>
          </a:p>
        </p:txBody>
      </p:sp>
      <p:sp>
        <p:nvSpPr>
          <p:cNvPr id="14" name="Shape 12"/>
          <p:cNvSpPr/>
          <p:nvPr/>
        </p:nvSpPr>
        <p:spPr>
          <a:xfrm>
            <a:off x="4635140" y="3483248"/>
            <a:ext cx="1871663" cy="1300163"/>
          </a:xfrm>
          <a:prstGeom prst="roundRect">
            <a:avLst>
              <a:gd name="adj" fmla="val 6183"/>
            </a:avLst>
          </a:prstGeom>
          <a:solidFill>
            <a:srgbClr val="FFFFFF"/>
          </a:solidFill>
          <a:ln/>
          <a:effectLst>
            <a:outerShdw sx="100000" sy="100000" kx="0" ky="0" algn="bl" rotWithShape="0" blurRad="133350" dist="38100" dir="5400000">
              <a:srgbClr val="004C45">
                <a:alpha val="10000"/>
              </a:srgbClr>
            </a:outerShdw>
          </a:effectLst>
        </p:spPr>
      </p:sp>
      <p:sp>
        <p:nvSpPr>
          <p:cNvPr id="15" name="Text 13"/>
          <p:cNvSpPr/>
          <p:nvPr/>
        </p:nvSpPr>
        <p:spPr>
          <a:xfrm>
            <a:off x="4797065" y="3607668"/>
            <a:ext cx="1581150" cy="114300"/>
          </a:xfrm>
          <a:prstGeom prst="rect">
            <a:avLst/>
          </a:prstGeom>
          <a:ln/>
        </p:spPr>
        <p:txBody>
          <a:bodyPr wrap="square" lIns="0" tIns="0" rIns="0" bIns="0" rtlCol="0" anchor="t"/>
          <a:lstStyle/>
          <a:p>
            <a:pPr algn="l" indent="0" marL="0">
              <a:lnSpc>
                <a:spcPts val="918"/>
              </a:lnSpc>
              <a:buNone/>
            </a:pPr>
            <a:r>
              <a:rPr lang="en-US" sz="600" b="1" dirty="0">
                <a:solidFill>
                  <a:srgbClr val="FF6B6B"/>
                </a:solidFill>
                <a:latin typeface="Inter" pitchFamily="34" charset="0"/>
                <a:ea typeface="Inter" pitchFamily="34" charset="-122"/>
                <a:cs typeface="Inter" pitchFamily="34" charset="-120"/>
              </a:rPr>
              <a:t>PRACTITIONER PORTFOLIO</a:t>
            </a:r>
            <a:endParaRPr lang="en-US" sz="600" dirty="0"/>
          </a:p>
        </p:txBody>
      </p:sp>
      <p:sp>
        <p:nvSpPr>
          <p:cNvPr id="16" name="Text 14"/>
          <p:cNvSpPr/>
          <p:nvPr/>
        </p:nvSpPr>
        <p:spPr>
          <a:xfrm>
            <a:off x="4797065" y="3774021"/>
            <a:ext cx="1581150" cy="166688"/>
          </a:xfrm>
          <a:prstGeom prst="rect">
            <a:avLst/>
          </a:prstGeom>
          <a:ln/>
        </p:spPr>
        <p:txBody>
          <a:bodyPr wrap="square" lIns="0" tIns="0" rIns="0" bIns="0" rtlCol="0" anchor="t"/>
          <a:lstStyle/>
          <a:p>
            <a:pPr algn="l" indent="0" marL="0">
              <a:lnSpc>
                <a:spcPts val="1305"/>
              </a:lnSpc>
              <a:buNone/>
            </a:pPr>
            <a:r>
              <a:rPr lang="en-US" sz="1000" b="1" dirty="0">
                <a:solidFill>
                  <a:srgbClr val="0F2A2E"/>
                </a:solidFill>
                <a:latin typeface="Inter" pitchFamily="34" charset="0"/>
                <a:ea typeface="Inter" pitchFamily="34" charset="-122"/>
                <a:cs typeface="Inter" pitchFamily="34" charset="-120"/>
              </a:rPr>
              <a:t>What I taught this year</a:t>
            </a:r>
            <a:endParaRPr lang="en-US" sz="1000" dirty="0"/>
          </a:p>
        </p:txBody>
      </p:sp>
      <p:sp>
        <p:nvSpPr>
          <p:cNvPr id="17" name="Text 15"/>
          <p:cNvSpPr/>
          <p:nvPr/>
        </p:nvSpPr>
        <p:spPr>
          <a:xfrm>
            <a:off x="4797065" y="3992054"/>
            <a:ext cx="1581150" cy="376238"/>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An export every educator can hand to a head, a partner organisation, or take with them into the next role.</a:t>
            </a:r>
            <a:endParaRPr lang="en-US" sz="700" dirty="0"/>
          </a:p>
        </p:txBody>
      </p:sp>
      <p:sp>
        <p:nvSpPr>
          <p:cNvPr id="18" name="Shape 16"/>
          <p:cNvSpPr/>
          <p:nvPr/>
        </p:nvSpPr>
        <p:spPr>
          <a:xfrm>
            <a:off x="6633121" y="3483248"/>
            <a:ext cx="1871663" cy="1300163"/>
          </a:xfrm>
          <a:prstGeom prst="roundRect">
            <a:avLst>
              <a:gd name="adj" fmla="val 6183"/>
            </a:avLst>
          </a:prstGeom>
          <a:solidFill>
            <a:srgbClr val="FFFFFF"/>
          </a:solidFill>
          <a:ln/>
          <a:effectLst>
            <a:outerShdw sx="100000" sy="100000" kx="0" ky="0" algn="bl" rotWithShape="0" blurRad="133350" dist="38100" dir="5400000">
              <a:srgbClr val="004C45">
                <a:alpha val="10000"/>
              </a:srgbClr>
            </a:outerShdw>
          </a:effectLst>
        </p:spPr>
      </p:sp>
      <p:sp>
        <p:nvSpPr>
          <p:cNvPr id="19" name="Text 17"/>
          <p:cNvSpPr/>
          <p:nvPr/>
        </p:nvSpPr>
        <p:spPr>
          <a:xfrm>
            <a:off x="6795046" y="3607668"/>
            <a:ext cx="1581150" cy="114300"/>
          </a:xfrm>
          <a:prstGeom prst="rect">
            <a:avLst/>
          </a:prstGeom>
          <a:ln/>
        </p:spPr>
        <p:txBody>
          <a:bodyPr wrap="square" lIns="0" tIns="0" rIns="0" bIns="0" rtlCol="0" anchor="t"/>
          <a:lstStyle/>
          <a:p>
            <a:pPr algn="l" indent="0" marL="0">
              <a:lnSpc>
                <a:spcPts val="918"/>
              </a:lnSpc>
              <a:buNone/>
            </a:pPr>
            <a:r>
              <a:rPr lang="en-US" sz="600" b="1" dirty="0">
                <a:solidFill>
                  <a:srgbClr val="FBBF24"/>
                </a:solidFill>
                <a:latin typeface="Inter" pitchFamily="34" charset="0"/>
                <a:ea typeface="Inter" pitchFamily="34" charset="-122"/>
                <a:cs typeface="Inter" pitchFamily="34" charset="-120"/>
              </a:rPr>
              <a:t>SECTOR EVIDENCE</a:t>
            </a:r>
            <a:endParaRPr lang="en-US" sz="600" dirty="0"/>
          </a:p>
        </p:txBody>
      </p:sp>
      <p:sp>
        <p:nvSpPr>
          <p:cNvPr id="20" name="Text 18"/>
          <p:cNvSpPr/>
          <p:nvPr/>
        </p:nvSpPr>
        <p:spPr>
          <a:xfrm>
            <a:off x="6795046" y="3773537"/>
            <a:ext cx="1581150" cy="333375"/>
          </a:xfrm>
          <a:prstGeom prst="rect">
            <a:avLst/>
          </a:prstGeom>
          <a:ln/>
        </p:spPr>
        <p:txBody>
          <a:bodyPr wrap="square" lIns="0" tIns="0" rIns="0" bIns="0" rtlCol="0" anchor="t"/>
          <a:lstStyle/>
          <a:p>
            <a:pPr algn="l" indent="0" marL="0">
              <a:lnSpc>
                <a:spcPts val="1305"/>
              </a:lnSpc>
              <a:buNone/>
            </a:pPr>
            <a:r>
              <a:rPr lang="en-US" sz="1000" b="1" dirty="0">
                <a:solidFill>
                  <a:srgbClr val="0F2A2E"/>
                </a:solidFill>
                <a:latin typeface="Inter" pitchFamily="34" charset="0"/>
                <a:ea typeface="Inter" pitchFamily="34" charset="-122"/>
                <a:cs typeface="Inter" pitchFamily="34" charset="-120"/>
              </a:rPr>
              <a:t>What the arts look like in 1,000 classrooms</a:t>
            </a:r>
            <a:endParaRPr lang="en-US" sz="1000" dirty="0"/>
          </a:p>
        </p:txBody>
      </p:sp>
      <p:sp>
        <p:nvSpPr>
          <p:cNvPr id="21" name="Text 19"/>
          <p:cNvSpPr/>
          <p:nvPr/>
        </p:nvSpPr>
        <p:spPr>
          <a:xfrm>
            <a:off x="6795046" y="4156323"/>
            <a:ext cx="1581150" cy="504825"/>
          </a:xfrm>
          <a:prstGeom prst="rect">
            <a:avLst/>
          </a:prstGeom>
          <a:ln/>
        </p:spPr>
        <p:txBody>
          <a:bodyPr wrap="square" lIns="0" tIns="0" rIns="0" bIns="0" rtlCol="0" anchor="t"/>
          <a:lstStyle/>
          <a:p>
            <a:pPr algn="l" indent="0" marL="0">
              <a:lnSpc>
                <a:spcPts val="990"/>
              </a:lnSpc>
              <a:buNone/>
            </a:pPr>
            <a:r>
              <a:rPr lang="en-US" sz="700" dirty="0">
                <a:solidFill>
                  <a:srgbClr val="6B7D80"/>
                </a:solidFill>
                <a:latin typeface="Inter" pitchFamily="34" charset="0"/>
                <a:ea typeface="Inter" pitchFamily="34" charset="-122"/>
                <a:cs typeface="Inter" pitchFamily="34" charset="-120"/>
              </a:rPr>
              <a:t>Anonymised, aggregated insight for funders, MATs and arts councils — so the case for the arts is grounded in real practice.</a:t>
            </a:r>
            <a:endParaRPr lang="en-US" sz="700" dirty="0"/>
          </a:p>
        </p:txBody>
      </p:sp>
      <p:pic>
        <p:nvPicPr>
          <p:cNvPr id="2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9180" y="3483248"/>
            <a:ext cx="1871663" cy="1300163"/>
          </a:xfrm>
          <a:prstGeom prst="rect">
            <a:avLst/>
          </a:prstGeom>
        </p:spPr>
      </p:pic>
      <p:pic>
        <p:nvPicPr>
          <p:cNvPr id="2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37160" y="3483248"/>
            <a:ext cx="1871663" cy="1300163"/>
          </a:xfrm>
          <a:prstGeom prst="rect">
            <a:avLst/>
          </a:prstGeom>
        </p:spPr>
      </p:pic>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35140" y="3483248"/>
            <a:ext cx="1871663" cy="1300163"/>
          </a:xfrm>
          <a:prstGeom prst="rect">
            <a:avLst/>
          </a:prstGeom>
        </p:spPr>
      </p:pic>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3121" y="3483248"/>
            <a:ext cx="1871663" cy="1300163"/>
          </a:xfrm>
          <a:prstGeom prst="rect">
            <a:avLst/>
          </a:prstGeom>
        </p:spPr>
      </p:pic>
      <p:pic>
        <p:nvPicPr>
          <p:cNvPr id="26" name="Image 4" descr="preencoded.png">    </p:cNvPr>
          <p:cNvPicPr>
            <a:picLocks noChangeAspect="1"/>
          </p:cNvPicPr>
          <p:nvPr/>
        </p:nvPicPr>
        <p:blipFill>
          <a:blip r:embed="rId9"/>
          <a:stretch>
            <a:fillRect/>
          </a:stretch>
        </p:blipFill>
        <p:spPr>
          <a:xfrm>
            <a:off x="228600" y="154260"/>
            <a:ext cx="857250" cy="2571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8272"/>
          </a:solidFill>
          <a:ln/>
        </p:spPr>
      </p:sp>
      <p:sp>
        <p:nvSpPr>
          <p:cNvPr id="3" name="Text 1"/>
          <p:cNvSpPr/>
          <p:nvPr/>
        </p:nvSpPr>
        <p:spPr>
          <a:xfrm>
            <a:off x="640147" y="962881"/>
            <a:ext cx="1547813" cy="209550"/>
          </a:xfrm>
          <a:prstGeom prst="roundRect">
            <a:avLst>
              <a:gd name="adj" fmla="val 54545"/>
            </a:avLst>
          </a:prstGeom>
          <a:solidFill>
            <a:srgbClr val="FFFFFF">
              <a:alpha val="14902"/>
            </a:srgbClr>
          </a:solidFill>
          <a:ln w="4763">
            <a:solidFill>
              <a:srgbClr val="FFFFFF">
                <a:alpha val="30196"/>
              </a:srgbClr>
            </a:solidFill>
            <a:prstDash val="solid"/>
          </a:ln>
        </p:spPr>
        <p:txBody>
          <a:bodyPr wrap="square" lIns="0" tIns="0" rIns="0" bIns="0" rtlCol="0" anchor="ctr"/>
          <a:lstStyle/>
          <a:p>
            <a:pPr algn="l" indent="0" marL="0">
              <a:lnSpc>
                <a:spcPts val="1080"/>
              </a:lnSpc>
              <a:spcAft>
                <a:spcPts val="1215"/>
              </a:spcAft>
              <a:buNone/>
            </a:pPr>
            <a:r>
              <a:rPr lang="en-US" sz="700" dirty="0">
                <a:solidFill>
                  <a:srgbClr val="FFFFFF"/>
                </a:solidFill>
                <a:latin typeface="Inter" pitchFamily="34" charset="0"/>
                <a:ea typeface="Inter" pitchFamily="34" charset="-122"/>
                <a:cs typeface="Inter" pitchFamily="34" charset="-120"/>
              </a:rPr>
              <a:t>INSPIRING · LIFE-CHANGING</a:t>
            </a:r>
            <a:endParaRPr lang="en-US" sz="700" dirty="0"/>
          </a:p>
        </p:txBody>
      </p:sp>
      <p:sp>
        <p:nvSpPr>
          <p:cNvPr id="4" name="Text 2"/>
          <p:cNvSpPr/>
          <p:nvPr/>
        </p:nvSpPr>
        <p:spPr>
          <a:xfrm>
            <a:off x="640519" y="1325649"/>
            <a:ext cx="4491038" cy="1452562"/>
          </a:xfrm>
          <a:prstGeom prst="rect">
            <a:avLst/>
          </a:prstGeom>
          <a:ln/>
        </p:spPr>
        <p:txBody>
          <a:bodyPr wrap="square" lIns="0" tIns="0" rIns="0" bIns="0" rtlCol="0" anchor="t"/>
          <a:lstStyle/>
          <a:p>
            <a:pPr algn="l" indent="0" marL="0">
              <a:lnSpc>
                <a:spcPts val="3810"/>
              </a:lnSpc>
              <a:buNone/>
            </a:pPr>
            <a:r>
              <a:rPr lang="en-US" sz="3800" b="1" dirty="0">
                <a:solidFill>
                  <a:srgbClr val="FFFFFF"/>
                </a:solidFill>
                <a:latin typeface="Inter" pitchFamily="34" charset="0"/>
                <a:ea typeface="Inter" pitchFamily="34" charset="-122"/>
                <a:cs typeface="Inter" pitchFamily="34" charset="-120"/>
              </a:rPr>
              <a:t>One inspiring lesson can</a:t>
            </a:r>
            <a:pPr algn="l" indent="0" marL="0">
              <a:lnSpc>
                <a:spcPts val="3810"/>
              </a:lnSpc>
              <a:buNone/>
            </a:pPr>
            <a:r>
              <a:rPr lang="en-US" sz="3800" b="1" dirty="0">
                <a:solidFill>
                  <a:srgbClr val="FFFFFF"/>
                </a:solidFill>
                <a:latin typeface="Inter" pitchFamily="34" charset="0"/>
                <a:ea typeface="Inter" pitchFamily="34" charset="-122"/>
                <a:cs typeface="Inter" pitchFamily="34" charset="-120"/>
              </a:rPr>
              <a:t> </a:t>
            </a:r>
            <a:pPr algn="l" indent="0" marL="0">
              <a:lnSpc>
                <a:spcPts val="3810"/>
              </a:lnSpc>
              <a:buNone/>
            </a:pPr>
            <a:r>
              <a:rPr lang="en-US" sz="3800" b="1" dirty="0">
                <a:solidFill>
                  <a:srgbClr val="FF6B6B"/>
                </a:solidFill>
                <a:latin typeface="Inter" pitchFamily="34" charset="0"/>
                <a:ea typeface="Inter" pitchFamily="34" charset="-122"/>
                <a:cs typeface="Inter" pitchFamily="34" charset="-120"/>
              </a:rPr>
              <a:t>change a life</a:t>
            </a:r>
            <a:pPr algn="l" indent="0" marL="0">
              <a:lnSpc>
                <a:spcPts val="3810"/>
              </a:lnSpc>
              <a:buNone/>
            </a:pPr>
            <a:r>
              <a:rPr lang="en-US" sz="3800" b="1" dirty="0">
                <a:solidFill>
                  <a:srgbClr val="FFFFFF"/>
                </a:solidFill>
                <a:latin typeface="Inter" pitchFamily="34" charset="0"/>
                <a:ea typeface="Inter" pitchFamily="34" charset="-122"/>
                <a:cs typeface="Inter" pitchFamily="34" charset="-120"/>
              </a:rPr>
              <a:t>.</a:t>
            </a:r>
            <a:endParaRPr lang="en-US" sz="3800" dirty="0"/>
          </a:p>
        </p:txBody>
      </p:sp>
      <p:sp>
        <p:nvSpPr>
          <p:cNvPr id="5" name="Text 3"/>
          <p:cNvSpPr/>
          <p:nvPr/>
        </p:nvSpPr>
        <p:spPr>
          <a:xfrm>
            <a:off x="640966" y="2932137"/>
            <a:ext cx="3838575" cy="1247775"/>
          </a:xfrm>
          <a:prstGeom prst="rect">
            <a:avLst/>
          </a:prstGeom>
          <a:ln/>
        </p:spPr>
        <p:txBody>
          <a:bodyPr wrap="square" lIns="0" tIns="0" rIns="0" bIns="0" rtlCol="0" anchor="t"/>
          <a:lstStyle/>
          <a:p>
            <a:pPr algn="l" indent="0" marL="0">
              <a:lnSpc>
                <a:spcPts val="1638"/>
              </a:lnSpc>
              <a:spcBef>
                <a:spcPts val="1215"/>
              </a:spcBef>
              <a:buNone/>
            </a:pPr>
            <a:r>
              <a:rPr lang="en-US" sz="1000" dirty="0">
                <a:solidFill>
                  <a:srgbClr val="FFFFFF"/>
                </a:solidFill>
                <a:latin typeface="Inter" pitchFamily="34" charset="0"/>
                <a:ea typeface="Inter" pitchFamily="34" charset="-122"/>
                <a:cs typeface="Inter" pitchFamily="34" charset="-120"/>
              </a:rPr>
              <a:t>Ask any director, choreographer, conductor or composer where it started, and you'll hear the same answer: a teacher, a moment, a lesson that opened a door. CCD is built so those moments multiply — so the brilliant lesson a teacher teaches in Stoke this Tuesday is the lesson a non-specialist in Truro can teach next week.</a:t>
            </a:r>
            <a:endParaRPr lang="en-US" sz="1000" dirty="0"/>
          </a:p>
        </p:txBody>
      </p:sp>
      <p:sp>
        <p:nvSpPr>
          <p:cNvPr id="6" name="Shape 4"/>
          <p:cNvSpPr/>
          <p:nvPr/>
        </p:nvSpPr>
        <p:spPr>
          <a:xfrm>
            <a:off x="5360677" y="1067209"/>
            <a:ext cx="3143250" cy="1023937"/>
          </a:xfrm>
          <a:prstGeom prst="roundRect">
            <a:avLst>
              <a:gd name="adj" fmla="val 9969"/>
            </a:avLst>
          </a:prstGeom>
          <a:solidFill>
            <a:srgbClr val="FFFFFF">
              <a:alpha val="7843"/>
            </a:srgbClr>
          </a:solidFill>
          <a:ln w="4763">
            <a:solidFill>
              <a:srgbClr val="FFFFFF">
                <a:alpha val="14902"/>
              </a:srgbClr>
            </a:solidFill>
            <a:prstDash val="solid"/>
          </a:ln>
        </p:spPr>
      </p:sp>
      <p:sp>
        <p:nvSpPr>
          <p:cNvPr id="7" name="Text 5"/>
          <p:cNvSpPr/>
          <p:nvPr/>
        </p:nvSpPr>
        <p:spPr>
          <a:xfrm>
            <a:off x="5529746" y="1194718"/>
            <a:ext cx="2805112" cy="566738"/>
          </a:xfrm>
          <a:prstGeom prst="rect">
            <a:avLst/>
          </a:prstGeom>
          <a:ln/>
        </p:spPr>
        <p:txBody>
          <a:bodyPr wrap="square" lIns="0" tIns="0" rIns="0" bIns="0" rtlCol="0" anchor="t"/>
          <a:lstStyle/>
          <a:p>
            <a:pPr algn="l" indent="0" marL="0">
              <a:lnSpc>
                <a:spcPts val="1485"/>
              </a:lnSpc>
              <a:buNone/>
            </a:pPr>
            <a:r>
              <a:rPr lang="en-US" sz="1000" b="1" dirty="0">
                <a:solidFill>
                  <a:srgbClr val="FFFFFF"/>
                </a:solidFill>
                <a:latin typeface="Inter" pitchFamily="34" charset="0"/>
                <a:ea typeface="Inter" pitchFamily="34" charset="-122"/>
                <a:cs typeface="Inter" pitchFamily="34" charset="-120"/>
              </a:rPr>
              <a:t>"My drama teacher gave me the courage to audition. Without that one lesson I'd have never set foot on a stage."</a:t>
            </a:r>
            <a:endParaRPr lang="en-US" sz="1000" dirty="0"/>
          </a:p>
        </p:txBody>
      </p:sp>
      <p:sp>
        <p:nvSpPr>
          <p:cNvPr id="8" name="Text 6"/>
          <p:cNvSpPr/>
          <p:nvPr/>
        </p:nvSpPr>
        <p:spPr>
          <a:xfrm>
            <a:off x="5529746" y="1833711"/>
            <a:ext cx="2805112" cy="128588"/>
          </a:xfrm>
          <a:prstGeom prst="rect">
            <a:avLst/>
          </a:prstGeom>
          <a:ln/>
        </p:spPr>
        <p:txBody>
          <a:bodyPr wrap="square" lIns="0" tIns="0" rIns="0" bIns="0" rtlCol="0" anchor="t"/>
          <a:lstStyle/>
          <a:p>
            <a:pPr algn="l" indent="0" marL="0">
              <a:lnSpc>
                <a:spcPts val="1026"/>
              </a:lnSpc>
              <a:spcBef>
                <a:spcPts val="567"/>
              </a:spcBef>
              <a:buNone/>
            </a:pPr>
            <a:r>
              <a:rPr lang="en-US" sz="600" b="1" dirty="0">
                <a:solidFill>
                  <a:srgbClr val="FF6B6B"/>
                </a:solidFill>
                <a:latin typeface="Inter" pitchFamily="34" charset="0"/>
                <a:ea typeface="Inter" pitchFamily="34" charset="-122"/>
                <a:cs typeface="Inter" pitchFamily="34" charset="-120"/>
              </a:rPr>
              <a:t>RSC COMPANY MEMBER, 2024</a:t>
            </a:r>
            <a:endParaRPr lang="en-US" sz="600" dirty="0"/>
          </a:p>
        </p:txBody>
      </p:sp>
      <p:sp>
        <p:nvSpPr>
          <p:cNvPr id="9" name="Shape 7"/>
          <p:cNvSpPr/>
          <p:nvPr/>
        </p:nvSpPr>
        <p:spPr>
          <a:xfrm>
            <a:off x="5360677" y="2193243"/>
            <a:ext cx="3143250" cy="1214438"/>
          </a:xfrm>
          <a:prstGeom prst="roundRect">
            <a:avLst>
              <a:gd name="adj" fmla="val 7087"/>
            </a:avLst>
          </a:prstGeom>
          <a:solidFill>
            <a:srgbClr val="FFFFFF">
              <a:alpha val="7843"/>
            </a:srgbClr>
          </a:solidFill>
          <a:ln w="4763">
            <a:solidFill>
              <a:srgbClr val="FFFFFF">
                <a:alpha val="14902"/>
              </a:srgbClr>
            </a:solidFill>
            <a:prstDash val="solid"/>
          </a:ln>
        </p:spPr>
      </p:sp>
      <p:sp>
        <p:nvSpPr>
          <p:cNvPr id="10" name="Text 8"/>
          <p:cNvSpPr/>
          <p:nvPr/>
        </p:nvSpPr>
        <p:spPr>
          <a:xfrm>
            <a:off x="5529746" y="2323133"/>
            <a:ext cx="2805112" cy="752475"/>
          </a:xfrm>
          <a:prstGeom prst="rect">
            <a:avLst/>
          </a:prstGeom>
          <a:ln/>
        </p:spPr>
        <p:txBody>
          <a:bodyPr wrap="square" lIns="0" tIns="0" rIns="0" bIns="0" rtlCol="0" anchor="t"/>
          <a:lstStyle/>
          <a:p>
            <a:pPr algn="l" indent="0" marL="0">
              <a:lnSpc>
                <a:spcPts val="1485"/>
              </a:lnSpc>
              <a:buNone/>
            </a:pPr>
            <a:r>
              <a:rPr lang="en-US" sz="1000" b="1" dirty="0">
                <a:solidFill>
                  <a:srgbClr val="FFFFFF"/>
                </a:solidFill>
                <a:latin typeface="Inter" pitchFamily="34" charset="0"/>
                <a:ea typeface="Inter" pitchFamily="34" charset="-122"/>
                <a:cs typeface="Inter" pitchFamily="34" charset="-120"/>
              </a:rPr>
              <a:t>"I learned to read music in Year 5 from a peripatetic teacher who came in once a week. That teacher built my whole career."</a:t>
            </a:r>
            <a:endParaRPr lang="en-US" sz="1000" dirty="0"/>
          </a:p>
        </p:txBody>
      </p:sp>
      <p:sp>
        <p:nvSpPr>
          <p:cNvPr id="11" name="Text 9"/>
          <p:cNvSpPr/>
          <p:nvPr/>
        </p:nvSpPr>
        <p:spPr>
          <a:xfrm>
            <a:off x="5529746" y="3149278"/>
            <a:ext cx="2805112" cy="128588"/>
          </a:xfrm>
          <a:prstGeom prst="rect">
            <a:avLst/>
          </a:prstGeom>
          <a:ln/>
        </p:spPr>
        <p:txBody>
          <a:bodyPr wrap="square" lIns="0" tIns="0" rIns="0" bIns="0" rtlCol="0" anchor="t"/>
          <a:lstStyle/>
          <a:p>
            <a:pPr algn="l" indent="0" marL="0">
              <a:lnSpc>
                <a:spcPts val="1026"/>
              </a:lnSpc>
              <a:spcBef>
                <a:spcPts val="567"/>
              </a:spcBef>
              <a:buNone/>
            </a:pPr>
            <a:r>
              <a:rPr lang="en-US" sz="600" b="1" dirty="0">
                <a:solidFill>
                  <a:srgbClr val="FF6B6B"/>
                </a:solidFill>
                <a:latin typeface="Inter" pitchFamily="34" charset="0"/>
                <a:ea typeface="Inter" pitchFamily="34" charset="-122"/>
                <a:cs typeface="Inter" pitchFamily="34" charset="-120"/>
              </a:rPr>
              <a:t>BBC SYMPHONY PLAYER</a:t>
            </a:r>
            <a:endParaRPr lang="en-US" sz="600" dirty="0"/>
          </a:p>
        </p:txBody>
      </p:sp>
      <p:sp>
        <p:nvSpPr>
          <p:cNvPr id="12" name="Shape 10"/>
          <p:cNvSpPr/>
          <p:nvPr/>
        </p:nvSpPr>
        <p:spPr>
          <a:xfrm>
            <a:off x="5360677" y="3509665"/>
            <a:ext cx="3143250" cy="566738"/>
          </a:xfrm>
          <a:prstGeom prst="roundRect">
            <a:avLst>
              <a:gd name="adj" fmla="val 32540"/>
            </a:avLst>
          </a:prstGeom>
          <a:solidFill>
            <a:srgbClr val="FF6B6B"/>
          </a:solidFill>
          <a:ln/>
        </p:spPr>
      </p:sp>
      <p:sp>
        <p:nvSpPr>
          <p:cNvPr id="13" name="Text 11"/>
          <p:cNvSpPr/>
          <p:nvPr/>
        </p:nvSpPr>
        <p:spPr>
          <a:xfrm>
            <a:off x="5524984" y="3633490"/>
            <a:ext cx="2814638" cy="319088"/>
          </a:xfrm>
          <a:prstGeom prst="rect">
            <a:avLst/>
          </a:prstGeom>
          <a:ln/>
        </p:spPr>
        <p:txBody>
          <a:bodyPr wrap="square" lIns="0" tIns="0" rIns="0" bIns="0" rtlCol="0" anchor="t"/>
          <a:lstStyle/>
          <a:p>
            <a:pPr algn="l" indent="0" marL="0">
              <a:lnSpc>
                <a:spcPts val="1260"/>
              </a:lnSpc>
              <a:buNone/>
            </a:pPr>
            <a:r>
              <a:rPr lang="en-US" sz="1000" b="1" dirty="0">
                <a:solidFill>
                  <a:srgbClr val="FFFFFF"/>
                </a:solidFill>
                <a:latin typeface="Inter" pitchFamily="34" charset="0"/>
                <a:ea typeface="Inter" pitchFamily="34" charset="-122"/>
                <a:cs typeface="Inter" pitchFamily="34" charset="-120"/>
              </a:rPr>
              <a:t>Every shared lesson is one more door, opened for one more child.</a:t>
            </a:r>
            <a:endParaRPr lang="en-US" sz="1000" dirty="0"/>
          </a:p>
        </p:txBody>
      </p:sp>
      <p:pic>
        <p:nvPicPr>
          <p:cNvPr id="14"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AF7"/>
          </a:solidFill>
          <a:ln/>
        </p:spPr>
      </p:sp>
      <p:sp>
        <p:nvSpPr>
          <p:cNvPr id="3" name="Text 1"/>
          <p:cNvSpPr/>
          <p:nvPr/>
        </p:nvSpPr>
        <p:spPr>
          <a:xfrm>
            <a:off x="640445" y="359532"/>
            <a:ext cx="1600200" cy="138113"/>
          </a:xfrm>
          <a:prstGeom prst="rect">
            <a:avLst/>
          </a:prstGeom>
          <a:ln/>
        </p:spPr>
        <p:txBody>
          <a:bodyPr wrap="square" lIns="0" tIns="0" rIns="0" bIns="0" rtlCol="0" anchor="t"/>
          <a:lstStyle/>
          <a:p>
            <a:pPr algn="l" indent="0" marL="0">
              <a:lnSpc>
                <a:spcPts val="1080"/>
              </a:lnSpc>
              <a:spcAft>
                <a:spcPts val="972"/>
              </a:spcAft>
              <a:buNone/>
            </a:pPr>
            <a:r>
              <a:rPr lang="en-US" sz="700" b="1" dirty="0">
                <a:solidFill>
                  <a:srgbClr val="FF6B6B"/>
                </a:solidFill>
                <a:latin typeface="Inter" pitchFamily="34" charset="0"/>
                <a:ea typeface="Inter" pitchFamily="34" charset="-122"/>
                <a:cs typeface="Inter" pitchFamily="34" charset="-120"/>
              </a:rPr>
              <a:t>PROTECTING THE PIPELINE</a:t>
            </a:r>
            <a:endParaRPr lang="en-US" sz="700" dirty="0"/>
          </a:p>
        </p:txBody>
      </p:sp>
      <p:sp>
        <p:nvSpPr>
          <p:cNvPr id="4" name="Text 2"/>
          <p:cNvSpPr/>
          <p:nvPr/>
        </p:nvSpPr>
        <p:spPr>
          <a:xfrm>
            <a:off x="640519" y="619795"/>
            <a:ext cx="4491038" cy="1643063"/>
          </a:xfrm>
          <a:prstGeom prst="rect">
            <a:avLst/>
          </a:prstGeom>
          <a:ln/>
        </p:spPr>
        <p:txBody>
          <a:bodyPr wrap="square" lIns="0" tIns="0" rIns="0" bIns="0" rtlCol="0" anchor="t"/>
          <a:lstStyle/>
          <a:p>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From a Reception assembly to a</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 </a:t>
            </a:r>
            <a:pPr algn="l" indent="0" marL="0">
              <a:lnSpc>
                <a:spcPts val="3231"/>
              </a:lnSpc>
              <a:buNone/>
            </a:pPr>
            <a:r>
              <a:rPr lang="en-US" sz="3100" b="1" dirty="0">
                <a:solidFill>
                  <a:srgbClr val="008272"/>
                </a:solidFill>
                <a:latin typeface="Inter" pitchFamily="34" charset="0"/>
                <a:ea typeface="Inter" pitchFamily="34" charset="-122"/>
                <a:cs typeface="Inter" pitchFamily="34" charset="-120"/>
              </a:rPr>
              <a:t>conservatoire stage</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 —</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 </a:t>
            </a:r>
            <a:pPr algn="l" indent="0" marL="0">
              <a:lnSpc>
                <a:spcPts val="3231"/>
              </a:lnSpc>
              <a:buNone/>
            </a:pPr>
            <a:r>
              <a:rPr lang="en-US" sz="3100" b="1" dirty="0">
                <a:solidFill>
                  <a:srgbClr val="FF6B6B"/>
                </a:solidFill>
                <a:latin typeface="Inter" pitchFamily="34" charset="0"/>
                <a:ea typeface="Inter" pitchFamily="34" charset="-122"/>
                <a:cs typeface="Inter" pitchFamily="34" charset="-120"/>
              </a:rPr>
              <a:t>one continuous arc</a:t>
            </a:r>
            <a:pPr algn="l" indent="0" marL="0">
              <a:lnSpc>
                <a:spcPts val="3231"/>
              </a:lnSpc>
              <a:buNone/>
            </a:pPr>
            <a:r>
              <a:rPr lang="en-US" sz="3100" b="1" dirty="0">
                <a:solidFill>
                  <a:srgbClr val="0F2A2E"/>
                </a:solidFill>
                <a:latin typeface="Inter" pitchFamily="34" charset="0"/>
                <a:ea typeface="Inter" pitchFamily="34" charset="-122"/>
                <a:cs typeface="Inter" pitchFamily="34" charset="-120"/>
              </a:rPr>
              <a:t>.</a:t>
            </a:r>
            <a:endParaRPr lang="en-US" sz="3100" dirty="0"/>
          </a:p>
        </p:txBody>
      </p:sp>
      <p:sp>
        <p:nvSpPr>
          <p:cNvPr id="5" name="Text 3"/>
          <p:cNvSpPr/>
          <p:nvPr/>
        </p:nvSpPr>
        <p:spPr>
          <a:xfrm>
            <a:off x="5360677" y="1333426"/>
            <a:ext cx="3143250" cy="928688"/>
          </a:xfrm>
          <a:prstGeom prst="rect">
            <a:avLst/>
          </a:prstGeom>
          <a:ln/>
        </p:spPr>
        <p:txBody>
          <a:bodyPr wrap="square" lIns="0" tIns="0" rIns="0" bIns="0" rtlCol="0" anchor="t"/>
          <a:lstStyle/>
          <a:p>
            <a:pPr algn="l" indent="0" marL="0">
              <a:lnSpc>
                <a:spcPts val="1463"/>
              </a:lnSpc>
              <a:buNone/>
            </a:pPr>
            <a:r>
              <a:rPr lang="en-US" sz="900" dirty="0">
                <a:solidFill>
                  <a:srgbClr val="6B7D80"/>
                </a:solidFill>
                <a:latin typeface="Inter" pitchFamily="34" charset="0"/>
                <a:ea typeface="Inter" pitchFamily="34" charset="-122"/>
                <a:cs typeface="Inter" pitchFamily="34" charset="-120"/>
              </a:rPr>
              <a:t>When schools, arts orgs, practitioners and universities work in the same archive, no stage of a child's creative life sits in isolation. The lesson plan a Year 4 teacher writes is the same evidence base a head of conservatoire admissions will one day rely on.</a:t>
            </a:r>
            <a:endParaRPr lang="en-US" sz="9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556" y="2700226"/>
            <a:ext cx="7862887" cy="23812"/>
          </a:xfrm>
          <a:prstGeom prst="rect">
            <a:avLst/>
          </a:prstGeom>
        </p:spPr>
      </p:pic>
      <p:sp>
        <p:nvSpPr>
          <p:cNvPr id="7" name="Shape 4"/>
          <p:cNvSpPr/>
          <p:nvPr/>
        </p:nvSpPr>
        <p:spPr>
          <a:xfrm>
            <a:off x="1308534" y="2658331"/>
            <a:ext cx="133350" cy="133350"/>
          </a:xfrm>
          <a:prstGeom prst="ellipse">
            <a:avLst/>
          </a:prstGeom>
          <a:solidFill>
            <a:srgbClr val="FBBF24"/>
          </a:solidFill>
          <a:ln w="19050">
            <a:solidFill>
              <a:srgbClr val="FFFAF7"/>
            </a:solidFill>
            <a:prstDash val="solid"/>
          </a:ln>
          <a:effectLst>
            <a:outerShdw sx="100000" sy="100000" kx="0" ky="0" algn="bl" rotWithShape="0" blurRad="57150" dist="19050" dir="5400000">
              <a:srgbClr val="004C45">
                <a:alpha val="20000"/>
              </a:srgbClr>
            </a:outerShdw>
          </a:effectLst>
        </p:spPr>
      </p:sp>
      <p:sp>
        <p:nvSpPr>
          <p:cNvPr id="8" name="Shape 5"/>
          <p:cNvSpPr/>
          <p:nvPr/>
        </p:nvSpPr>
        <p:spPr>
          <a:xfrm>
            <a:off x="639403" y="2914613"/>
            <a:ext cx="1471613" cy="938212"/>
          </a:xfrm>
          <a:prstGeom prst="roundRect">
            <a:avLst>
              <a:gd name="adj" fmla="val 11082"/>
            </a:avLst>
          </a:prstGeom>
          <a:solidFill>
            <a:srgbClr val="FFFFFF"/>
          </a:solidFill>
          <a:ln/>
          <a:effectLst>
            <a:outerShdw sx="100000" sy="100000" kx="0" ky="0" algn="bl" rotWithShape="0" blurRad="133350" dist="38100" dir="5400000">
              <a:srgbClr val="004C45">
                <a:alpha val="8000"/>
              </a:srgbClr>
            </a:outerShdw>
          </a:effectLst>
        </p:spPr>
      </p:sp>
      <p:sp>
        <p:nvSpPr>
          <p:cNvPr id="9" name="Text 6"/>
          <p:cNvSpPr/>
          <p:nvPr/>
        </p:nvSpPr>
        <p:spPr>
          <a:xfrm>
            <a:off x="748940" y="3036950"/>
            <a:ext cx="1252537" cy="123825"/>
          </a:xfrm>
          <a:prstGeom prst="rect">
            <a:avLst/>
          </a:prstGeom>
          <a:ln/>
        </p:spPr>
        <p:txBody>
          <a:bodyPr wrap="square" lIns="0" tIns="0" rIns="0" bIns="0" rtlCol="0" anchor="t"/>
          <a:lstStyle/>
          <a:p>
            <a:pPr algn="ctr" indent="0" marL="0">
              <a:lnSpc>
                <a:spcPts val="972"/>
              </a:lnSpc>
              <a:buNone/>
            </a:pPr>
            <a:r>
              <a:rPr lang="en-US" sz="600" b="1" dirty="0">
                <a:solidFill>
                  <a:srgbClr val="FBBF24"/>
                </a:solidFill>
                <a:latin typeface="Inter" pitchFamily="34" charset="0"/>
                <a:ea typeface="Inter" pitchFamily="34" charset="-122"/>
                <a:cs typeface="Inter" pitchFamily="34" charset="-120"/>
              </a:rPr>
              <a:t>EYFS</a:t>
            </a:r>
            <a:endParaRPr lang="en-US" sz="600" dirty="0"/>
          </a:p>
        </p:txBody>
      </p:sp>
      <p:sp>
        <p:nvSpPr>
          <p:cNvPr id="10" name="Text 7"/>
          <p:cNvSpPr/>
          <p:nvPr/>
        </p:nvSpPr>
        <p:spPr>
          <a:xfrm>
            <a:off x="748940" y="3202112"/>
            <a:ext cx="1252537" cy="147637"/>
          </a:xfrm>
          <a:prstGeom prst="rect">
            <a:avLst/>
          </a:prstGeom>
          <a:ln/>
        </p:spPr>
        <p:txBody>
          <a:bodyPr wrap="square" lIns="0" tIns="0" rIns="0" bIns="0" rtlCol="0" anchor="t"/>
          <a:lstStyle/>
          <a:p>
            <a:pPr algn="ctr" indent="0" marL="0">
              <a:lnSpc>
                <a:spcPts val="1170"/>
              </a:lnSpc>
              <a:buNone/>
            </a:pPr>
            <a:r>
              <a:rPr lang="en-US" sz="900" b="1" dirty="0">
                <a:solidFill>
                  <a:srgbClr val="0F2A2E"/>
                </a:solidFill>
                <a:latin typeface="Inter" pitchFamily="34" charset="0"/>
                <a:ea typeface="Inter" pitchFamily="34" charset="-122"/>
                <a:cs typeface="Inter" pitchFamily="34" charset="-120"/>
              </a:rPr>
              <a:t>First sparks</a:t>
            </a:r>
            <a:endParaRPr lang="en-US" sz="900" dirty="0"/>
          </a:p>
        </p:txBody>
      </p:sp>
      <p:sp>
        <p:nvSpPr>
          <p:cNvPr id="11" name="Text 8"/>
          <p:cNvSpPr/>
          <p:nvPr/>
        </p:nvSpPr>
        <p:spPr>
          <a:xfrm>
            <a:off x="748940" y="3391719"/>
            <a:ext cx="1252537" cy="357188"/>
          </a:xfrm>
          <a:prstGeom prst="rect">
            <a:avLst/>
          </a:prstGeom>
          <a:ln/>
        </p:spPr>
        <p:txBody>
          <a:bodyPr wrap="square" lIns="0" tIns="0" rIns="0" bIns="0" rtlCol="0" anchor="t"/>
          <a:lstStyle/>
          <a:p>
            <a:pPr algn="ctr" indent="0" marL="0">
              <a:lnSpc>
                <a:spcPts val="940"/>
              </a:lnSpc>
              <a:buNone/>
            </a:pPr>
            <a:r>
              <a:rPr lang="en-US" sz="600" dirty="0">
                <a:solidFill>
                  <a:srgbClr val="6B7D80"/>
                </a:solidFill>
                <a:latin typeface="Inter" pitchFamily="34" charset="0"/>
                <a:ea typeface="Inter" pitchFamily="34" charset="-122"/>
                <a:cs typeface="Inter" pitchFamily="34" charset="-120"/>
              </a:rPr>
              <a:t>Songs, role play, movement to music. The first time a child is told they're an artist.</a:t>
            </a:r>
            <a:endParaRPr lang="en-US" sz="600" dirty="0"/>
          </a:p>
        </p:txBody>
      </p:sp>
      <p:sp>
        <p:nvSpPr>
          <p:cNvPr id="12" name="Shape 9"/>
          <p:cNvSpPr/>
          <p:nvPr/>
        </p:nvSpPr>
        <p:spPr>
          <a:xfrm>
            <a:off x="2906874" y="2658331"/>
            <a:ext cx="133350" cy="133350"/>
          </a:xfrm>
          <a:prstGeom prst="ellipse">
            <a:avLst/>
          </a:prstGeom>
          <a:solidFill>
            <a:srgbClr val="5EEAD4"/>
          </a:solidFill>
          <a:ln w="19050">
            <a:solidFill>
              <a:srgbClr val="FFFAF7"/>
            </a:solidFill>
            <a:prstDash val="solid"/>
          </a:ln>
          <a:effectLst>
            <a:outerShdw sx="100000" sy="100000" kx="0" ky="0" algn="bl" rotWithShape="0" blurRad="57150" dist="19050" dir="5400000">
              <a:srgbClr val="004C45">
                <a:alpha val="20000"/>
              </a:srgbClr>
            </a:outerShdw>
          </a:effectLst>
        </p:spPr>
      </p:sp>
      <p:sp>
        <p:nvSpPr>
          <p:cNvPr id="13" name="Shape 10"/>
          <p:cNvSpPr/>
          <p:nvPr/>
        </p:nvSpPr>
        <p:spPr>
          <a:xfrm>
            <a:off x="2237780" y="2915208"/>
            <a:ext cx="1471613" cy="1204913"/>
          </a:xfrm>
          <a:prstGeom prst="roundRect">
            <a:avLst>
              <a:gd name="adj" fmla="val 6719"/>
            </a:avLst>
          </a:prstGeom>
          <a:solidFill>
            <a:srgbClr val="FFFFFF"/>
          </a:solidFill>
          <a:ln/>
          <a:effectLst>
            <a:outerShdw sx="100000" sy="100000" kx="0" ky="0" algn="bl" rotWithShape="0" blurRad="133350" dist="38100" dir="5400000">
              <a:srgbClr val="004C45">
                <a:alpha val="8000"/>
              </a:srgbClr>
            </a:outerShdw>
          </a:effectLst>
        </p:spPr>
      </p:sp>
      <p:sp>
        <p:nvSpPr>
          <p:cNvPr id="14" name="Text 11"/>
          <p:cNvSpPr/>
          <p:nvPr/>
        </p:nvSpPr>
        <p:spPr>
          <a:xfrm>
            <a:off x="2347317" y="3036950"/>
            <a:ext cx="1252537" cy="123825"/>
          </a:xfrm>
          <a:prstGeom prst="rect">
            <a:avLst/>
          </a:prstGeom>
          <a:ln/>
        </p:spPr>
        <p:txBody>
          <a:bodyPr wrap="square" lIns="0" tIns="0" rIns="0" bIns="0" rtlCol="0" anchor="t"/>
          <a:lstStyle/>
          <a:p>
            <a:pPr algn="ctr" indent="0" marL="0">
              <a:lnSpc>
                <a:spcPts val="972"/>
              </a:lnSpc>
              <a:buNone/>
            </a:pPr>
            <a:r>
              <a:rPr lang="en-US" sz="600" b="1" dirty="0">
                <a:solidFill>
                  <a:srgbClr val="5EEAD4"/>
                </a:solidFill>
                <a:latin typeface="Inter" pitchFamily="34" charset="0"/>
                <a:ea typeface="Inter" pitchFamily="34" charset="-122"/>
                <a:cs typeface="Inter" pitchFamily="34" charset="-120"/>
              </a:rPr>
              <a:t>KS1–KS2</a:t>
            </a:r>
            <a:endParaRPr lang="en-US" sz="600" dirty="0"/>
          </a:p>
        </p:txBody>
      </p:sp>
      <p:sp>
        <p:nvSpPr>
          <p:cNvPr id="15" name="Text 12"/>
          <p:cNvSpPr/>
          <p:nvPr/>
        </p:nvSpPr>
        <p:spPr>
          <a:xfrm>
            <a:off x="2347317" y="3202558"/>
            <a:ext cx="1252537" cy="295275"/>
          </a:xfrm>
          <a:prstGeom prst="rect">
            <a:avLst/>
          </a:prstGeom>
          <a:ln/>
        </p:spPr>
        <p:txBody>
          <a:bodyPr wrap="square" lIns="0" tIns="0" rIns="0" bIns="0" rtlCol="0" anchor="t"/>
          <a:lstStyle/>
          <a:p>
            <a:pPr algn="ctr" indent="0" marL="0">
              <a:lnSpc>
                <a:spcPts val="1170"/>
              </a:lnSpc>
              <a:buNone/>
            </a:pPr>
            <a:r>
              <a:rPr lang="en-US" sz="900" b="1" dirty="0">
                <a:solidFill>
                  <a:srgbClr val="0F2A2E"/>
                </a:solidFill>
                <a:latin typeface="Inter" pitchFamily="34" charset="0"/>
                <a:ea typeface="Inter" pitchFamily="34" charset="-122"/>
                <a:cs typeface="Inter" pitchFamily="34" charset="-120"/>
              </a:rPr>
              <a:t>Practice &amp; confidence</a:t>
            </a:r>
            <a:endParaRPr lang="en-US" sz="900" dirty="0"/>
          </a:p>
        </p:txBody>
      </p:sp>
      <p:sp>
        <p:nvSpPr>
          <p:cNvPr id="16" name="Text 13"/>
          <p:cNvSpPr/>
          <p:nvPr/>
        </p:nvSpPr>
        <p:spPr>
          <a:xfrm>
            <a:off x="2347317" y="3540398"/>
            <a:ext cx="1252537" cy="476250"/>
          </a:xfrm>
          <a:prstGeom prst="rect">
            <a:avLst/>
          </a:prstGeom>
          <a:ln/>
        </p:spPr>
        <p:txBody>
          <a:bodyPr wrap="square" lIns="0" tIns="0" rIns="0" bIns="0" rtlCol="0" anchor="t"/>
          <a:lstStyle/>
          <a:p>
            <a:pPr algn="ctr" indent="0" marL="0">
              <a:lnSpc>
                <a:spcPts val="940"/>
              </a:lnSpc>
              <a:buNone/>
            </a:pPr>
            <a:r>
              <a:rPr lang="en-US" sz="600" dirty="0">
                <a:solidFill>
                  <a:srgbClr val="6B7D80"/>
                </a:solidFill>
                <a:latin typeface="Inter" pitchFamily="34" charset="0"/>
                <a:ea typeface="Inter" pitchFamily="34" charset="-122"/>
                <a:cs typeface="Inter" pitchFamily="34" charset="-120"/>
              </a:rPr>
              <a:t>Ensemble performance, improvisation, the first lead role. Where the habit of making takes hold.</a:t>
            </a:r>
            <a:endParaRPr lang="en-US" sz="600" dirty="0"/>
          </a:p>
        </p:txBody>
      </p:sp>
      <p:sp>
        <p:nvSpPr>
          <p:cNvPr id="17" name="Shape 14"/>
          <p:cNvSpPr/>
          <p:nvPr/>
        </p:nvSpPr>
        <p:spPr>
          <a:xfrm>
            <a:off x="4505288" y="2658331"/>
            <a:ext cx="133350" cy="133350"/>
          </a:xfrm>
          <a:prstGeom prst="ellipse">
            <a:avLst/>
          </a:prstGeom>
          <a:solidFill>
            <a:srgbClr val="0EA4D4"/>
          </a:solidFill>
          <a:ln w="19050">
            <a:solidFill>
              <a:srgbClr val="FFFAF7"/>
            </a:solidFill>
            <a:prstDash val="solid"/>
          </a:ln>
          <a:effectLst>
            <a:outerShdw sx="100000" sy="100000" kx="0" ky="0" algn="bl" rotWithShape="0" blurRad="57150" dist="19050" dir="5400000">
              <a:srgbClr val="004C45">
                <a:alpha val="20000"/>
              </a:srgbClr>
            </a:outerShdw>
          </a:effectLst>
        </p:spPr>
      </p:sp>
      <p:sp>
        <p:nvSpPr>
          <p:cNvPr id="18" name="Shape 15"/>
          <p:cNvSpPr/>
          <p:nvPr/>
        </p:nvSpPr>
        <p:spPr>
          <a:xfrm>
            <a:off x="3836157" y="2914762"/>
            <a:ext cx="1471613" cy="1057275"/>
          </a:xfrm>
          <a:prstGeom prst="roundRect">
            <a:avLst>
              <a:gd name="adj" fmla="val 8727"/>
            </a:avLst>
          </a:prstGeom>
          <a:solidFill>
            <a:srgbClr val="FFFFFF"/>
          </a:solidFill>
          <a:ln/>
          <a:effectLst>
            <a:outerShdw sx="100000" sy="100000" kx="0" ky="0" algn="bl" rotWithShape="0" blurRad="133350" dist="38100" dir="5400000">
              <a:srgbClr val="004C45">
                <a:alpha val="8000"/>
              </a:srgbClr>
            </a:outerShdw>
          </a:effectLst>
        </p:spPr>
      </p:sp>
      <p:sp>
        <p:nvSpPr>
          <p:cNvPr id="19" name="Text 16"/>
          <p:cNvSpPr/>
          <p:nvPr/>
        </p:nvSpPr>
        <p:spPr>
          <a:xfrm>
            <a:off x="3945694" y="3036950"/>
            <a:ext cx="1252537" cy="123825"/>
          </a:xfrm>
          <a:prstGeom prst="rect">
            <a:avLst/>
          </a:prstGeom>
          <a:ln/>
        </p:spPr>
        <p:txBody>
          <a:bodyPr wrap="square" lIns="0" tIns="0" rIns="0" bIns="0" rtlCol="0" anchor="t"/>
          <a:lstStyle/>
          <a:p>
            <a:pPr algn="ctr" indent="0" marL="0">
              <a:lnSpc>
                <a:spcPts val="972"/>
              </a:lnSpc>
              <a:buNone/>
            </a:pPr>
            <a:r>
              <a:rPr lang="en-US" sz="600" b="1" dirty="0">
                <a:solidFill>
                  <a:srgbClr val="0EA4D4"/>
                </a:solidFill>
                <a:latin typeface="Inter" pitchFamily="34" charset="0"/>
                <a:ea typeface="Inter" pitchFamily="34" charset="-122"/>
                <a:cs typeface="Inter" pitchFamily="34" charset="-120"/>
              </a:rPr>
              <a:t>KS3</a:t>
            </a:r>
            <a:endParaRPr lang="en-US" sz="600" dirty="0"/>
          </a:p>
        </p:txBody>
      </p:sp>
      <p:sp>
        <p:nvSpPr>
          <p:cNvPr id="20" name="Text 17"/>
          <p:cNvSpPr/>
          <p:nvPr/>
        </p:nvSpPr>
        <p:spPr>
          <a:xfrm>
            <a:off x="3945694" y="3202112"/>
            <a:ext cx="1252537" cy="147637"/>
          </a:xfrm>
          <a:prstGeom prst="rect">
            <a:avLst/>
          </a:prstGeom>
          <a:ln/>
        </p:spPr>
        <p:txBody>
          <a:bodyPr wrap="square" lIns="0" tIns="0" rIns="0" bIns="0" rtlCol="0" anchor="t"/>
          <a:lstStyle/>
          <a:p>
            <a:pPr algn="ctr" indent="0" marL="0">
              <a:lnSpc>
                <a:spcPts val="1170"/>
              </a:lnSpc>
              <a:buNone/>
            </a:pPr>
            <a:r>
              <a:rPr lang="en-US" sz="900" b="1" dirty="0">
                <a:solidFill>
                  <a:srgbClr val="0F2A2E"/>
                </a:solidFill>
                <a:latin typeface="Inter" pitchFamily="34" charset="0"/>
                <a:ea typeface="Inter" pitchFamily="34" charset="-122"/>
                <a:cs typeface="Inter" pitchFamily="34" charset="-120"/>
              </a:rPr>
              <a:t>Specialism opens up</a:t>
            </a:r>
            <a:endParaRPr lang="en-US" sz="900" dirty="0"/>
          </a:p>
        </p:txBody>
      </p:sp>
      <p:sp>
        <p:nvSpPr>
          <p:cNvPr id="21" name="Text 18"/>
          <p:cNvSpPr/>
          <p:nvPr/>
        </p:nvSpPr>
        <p:spPr>
          <a:xfrm>
            <a:off x="3945694" y="3391867"/>
            <a:ext cx="1252537" cy="476250"/>
          </a:xfrm>
          <a:prstGeom prst="rect">
            <a:avLst/>
          </a:prstGeom>
          <a:ln/>
        </p:spPr>
        <p:txBody>
          <a:bodyPr wrap="square" lIns="0" tIns="0" rIns="0" bIns="0" rtlCol="0" anchor="t"/>
          <a:lstStyle/>
          <a:p>
            <a:pPr algn="ctr" indent="0" marL="0">
              <a:lnSpc>
                <a:spcPts val="940"/>
              </a:lnSpc>
              <a:buNone/>
            </a:pPr>
            <a:r>
              <a:rPr lang="en-US" sz="600" dirty="0">
                <a:solidFill>
                  <a:srgbClr val="6B7D80"/>
                </a:solidFill>
                <a:latin typeface="Inter" pitchFamily="34" charset="0"/>
                <a:ea typeface="Inter" pitchFamily="34" charset="-122"/>
                <a:cs typeface="Inter" pitchFamily="34" charset="-120"/>
              </a:rPr>
              <a:t>Choosing an instrument, a discipline, a voice. The years that decide which children carry the arts forward.</a:t>
            </a:r>
            <a:endParaRPr lang="en-US" sz="600" dirty="0"/>
          </a:p>
        </p:txBody>
      </p:sp>
      <p:sp>
        <p:nvSpPr>
          <p:cNvPr id="22" name="Shape 19"/>
          <p:cNvSpPr/>
          <p:nvPr/>
        </p:nvSpPr>
        <p:spPr>
          <a:xfrm>
            <a:off x="6103627" y="2658331"/>
            <a:ext cx="133350" cy="133350"/>
          </a:xfrm>
          <a:prstGeom prst="ellipse">
            <a:avLst/>
          </a:prstGeom>
          <a:solidFill>
            <a:srgbClr val="FF6B6B"/>
          </a:solidFill>
          <a:ln w="19050">
            <a:solidFill>
              <a:srgbClr val="FFFAF7"/>
            </a:solidFill>
            <a:prstDash val="solid"/>
          </a:ln>
          <a:effectLst>
            <a:outerShdw sx="100000" sy="100000" kx="0" ky="0" algn="bl" rotWithShape="0" blurRad="57150" dist="19050" dir="5400000">
              <a:srgbClr val="004C45">
                <a:alpha val="20000"/>
              </a:srgbClr>
            </a:outerShdw>
          </a:effectLst>
        </p:spPr>
      </p:sp>
      <p:sp>
        <p:nvSpPr>
          <p:cNvPr id="23" name="Shape 20"/>
          <p:cNvSpPr/>
          <p:nvPr/>
        </p:nvSpPr>
        <p:spPr>
          <a:xfrm>
            <a:off x="5434533" y="2915059"/>
            <a:ext cx="1471613" cy="1085850"/>
          </a:xfrm>
          <a:prstGeom prst="roundRect">
            <a:avLst>
              <a:gd name="adj" fmla="val 8273"/>
            </a:avLst>
          </a:prstGeom>
          <a:solidFill>
            <a:srgbClr val="FFFFFF"/>
          </a:solidFill>
          <a:ln/>
          <a:effectLst>
            <a:outerShdw sx="100000" sy="100000" kx="0" ky="0" algn="bl" rotWithShape="0" blurRad="133350" dist="38100" dir="5400000">
              <a:srgbClr val="004C45">
                <a:alpha val="8000"/>
              </a:srgbClr>
            </a:outerShdw>
          </a:effectLst>
        </p:spPr>
      </p:sp>
      <p:sp>
        <p:nvSpPr>
          <p:cNvPr id="24" name="Text 21"/>
          <p:cNvSpPr/>
          <p:nvPr/>
        </p:nvSpPr>
        <p:spPr>
          <a:xfrm>
            <a:off x="5544071" y="3036950"/>
            <a:ext cx="1252537" cy="123825"/>
          </a:xfrm>
          <a:prstGeom prst="rect">
            <a:avLst/>
          </a:prstGeom>
          <a:ln/>
        </p:spPr>
        <p:txBody>
          <a:bodyPr wrap="square" lIns="0" tIns="0" rIns="0" bIns="0" rtlCol="0" anchor="t"/>
          <a:lstStyle/>
          <a:p>
            <a:pPr algn="ctr" indent="0" marL="0">
              <a:lnSpc>
                <a:spcPts val="972"/>
              </a:lnSpc>
              <a:buNone/>
            </a:pPr>
            <a:r>
              <a:rPr lang="en-US" sz="600" b="1" dirty="0">
                <a:solidFill>
                  <a:srgbClr val="FF6B6B"/>
                </a:solidFill>
                <a:latin typeface="Inter" pitchFamily="34" charset="0"/>
                <a:ea typeface="Inter" pitchFamily="34" charset="-122"/>
                <a:cs typeface="Inter" pitchFamily="34" charset="-120"/>
              </a:rPr>
              <a:t>KS4–KS5</a:t>
            </a:r>
            <a:endParaRPr lang="en-US" sz="600" dirty="0"/>
          </a:p>
        </p:txBody>
      </p:sp>
      <p:sp>
        <p:nvSpPr>
          <p:cNvPr id="25" name="Text 22"/>
          <p:cNvSpPr/>
          <p:nvPr/>
        </p:nvSpPr>
        <p:spPr>
          <a:xfrm>
            <a:off x="5544071" y="3202558"/>
            <a:ext cx="1252537" cy="295275"/>
          </a:xfrm>
          <a:prstGeom prst="rect">
            <a:avLst/>
          </a:prstGeom>
          <a:ln/>
        </p:spPr>
        <p:txBody>
          <a:bodyPr wrap="square" lIns="0" tIns="0" rIns="0" bIns="0" rtlCol="0" anchor="t"/>
          <a:lstStyle/>
          <a:p>
            <a:pPr algn="ctr" indent="0" marL="0">
              <a:lnSpc>
                <a:spcPts val="1170"/>
              </a:lnSpc>
              <a:buNone/>
            </a:pPr>
            <a:r>
              <a:rPr lang="en-US" sz="900" b="1" dirty="0">
                <a:solidFill>
                  <a:srgbClr val="0F2A2E"/>
                </a:solidFill>
                <a:latin typeface="Inter" pitchFamily="34" charset="0"/>
                <a:ea typeface="Inter" pitchFamily="34" charset="-122"/>
                <a:cs typeface="Inter" pitchFamily="34" charset="-120"/>
              </a:rPr>
              <a:t>Toward conservatoire</a:t>
            </a:r>
            <a:endParaRPr lang="en-US" sz="900" dirty="0"/>
          </a:p>
        </p:txBody>
      </p:sp>
      <p:sp>
        <p:nvSpPr>
          <p:cNvPr id="26" name="Text 23"/>
          <p:cNvSpPr/>
          <p:nvPr/>
        </p:nvSpPr>
        <p:spPr>
          <a:xfrm>
            <a:off x="5544071" y="3540249"/>
            <a:ext cx="1252537" cy="357188"/>
          </a:xfrm>
          <a:prstGeom prst="rect">
            <a:avLst/>
          </a:prstGeom>
          <a:ln/>
        </p:spPr>
        <p:txBody>
          <a:bodyPr wrap="square" lIns="0" tIns="0" rIns="0" bIns="0" rtlCol="0" anchor="t"/>
          <a:lstStyle/>
          <a:p>
            <a:pPr algn="ctr" indent="0" marL="0">
              <a:lnSpc>
                <a:spcPts val="940"/>
              </a:lnSpc>
              <a:buNone/>
            </a:pPr>
            <a:r>
              <a:rPr lang="en-US" sz="600" dirty="0">
                <a:solidFill>
                  <a:srgbClr val="6B7D80"/>
                </a:solidFill>
                <a:latin typeface="Inter" pitchFamily="34" charset="0"/>
                <a:ea typeface="Inter" pitchFamily="34" charset="-122"/>
                <a:cs typeface="Inter" pitchFamily="34" charset="-120"/>
              </a:rPr>
              <a:t>GCSE, A-Level, BTEC, LAMDA. The portfolio that the auditioning panel will read.</a:t>
            </a:r>
            <a:endParaRPr lang="en-US" sz="600" dirty="0"/>
          </a:p>
        </p:txBody>
      </p:sp>
      <p:sp>
        <p:nvSpPr>
          <p:cNvPr id="27" name="Shape 24"/>
          <p:cNvSpPr/>
          <p:nvPr/>
        </p:nvSpPr>
        <p:spPr>
          <a:xfrm>
            <a:off x="7702042" y="2658331"/>
            <a:ext cx="133350" cy="133350"/>
          </a:xfrm>
          <a:prstGeom prst="ellipse">
            <a:avLst/>
          </a:prstGeom>
          <a:solidFill>
            <a:srgbClr val="7C3AED"/>
          </a:solidFill>
          <a:ln w="19050">
            <a:solidFill>
              <a:srgbClr val="FFFAF7"/>
            </a:solidFill>
            <a:prstDash val="solid"/>
          </a:ln>
          <a:effectLst>
            <a:outerShdw sx="100000" sy="100000" kx="0" ky="0" algn="bl" rotWithShape="0" blurRad="57150" dist="19050" dir="5400000">
              <a:srgbClr val="004C45">
                <a:alpha val="20000"/>
              </a:srgbClr>
            </a:outerShdw>
          </a:effectLst>
        </p:spPr>
      </p:sp>
      <p:sp>
        <p:nvSpPr>
          <p:cNvPr id="28" name="Shape 25"/>
          <p:cNvSpPr/>
          <p:nvPr/>
        </p:nvSpPr>
        <p:spPr>
          <a:xfrm>
            <a:off x="7032910" y="2915357"/>
            <a:ext cx="1471613" cy="1323975"/>
          </a:xfrm>
          <a:prstGeom prst="roundRect">
            <a:avLst>
              <a:gd name="adj" fmla="val 5565"/>
            </a:avLst>
          </a:prstGeom>
          <a:solidFill>
            <a:srgbClr val="FFFFFF"/>
          </a:solidFill>
          <a:ln/>
          <a:effectLst>
            <a:outerShdw sx="100000" sy="100000" kx="0" ky="0" algn="bl" rotWithShape="0" blurRad="133350" dist="38100" dir="5400000">
              <a:srgbClr val="004C45">
                <a:alpha val="8000"/>
              </a:srgbClr>
            </a:outerShdw>
          </a:effectLst>
        </p:spPr>
      </p:sp>
      <p:sp>
        <p:nvSpPr>
          <p:cNvPr id="29" name="Text 26"/>
          <p:cNvSpPr/>
          <p:nvPr/>
        </p:nvSpPr>
        <p:spPr>
          <a:xfrm>
            <a:off x="7142448" y="3036950"/>
            <a:ext cx="1252537" cy="123825"/>
          </a:xfrm>
          <a:prstGeom prst="rect">
            <a:avLst/>
          </a:prstGeom>
          <a:ln/>
        </p:spPr>
        <p:txBody>
          <a:bodyPr wrap="square" lIns="0" tIns="0" rIns="0" bIns="0" rtlCol="0" anchor="t"/>
          <a:lstStyle/>
          <a:p>
            <a:pPr algn="ctr" indent="0" marL="0">
              <a:lnSpc>
                <a:spcPts val="972"/>
              </a:lnSpc>
              <a:buNone/>
            </a:pPr>
            <a:r>
              <a:rPr lang="en-US" sz="600" b="1" dirty="0">
                <a:solidFill>
                  <a:srgbClr val="7C3AED"/>
                </a:solidFill>
                <a:latin typeface="Inter" pitchFamily="34" charset="0"/>
                <a:ea typeface="Inter" pitchFamily="34" charset="-122"/>
                <a:cs typeface="Inter" pitchFamily="34" charset="-120"/>
              </a:rPr>
              <a:t>UNIVERSITY</a:t>
            </a:r>
            <a:endParaRPr lang="en-US" sz="600" dirty="0"/>
          </a:p>
        </p:txBody>
      </p:sp>
      <p:sp>
        <p:nvSpPr>
          <p:cNvPr id="30" name="Text 27"/>
          <p:cNvSpPr/>
          <p:nvPr/>
        </p:nvSpPr>
        <p:spPr>
          <a:xfrm>
            <a:off x="7142448" y="3202558"/>
            <a:ext cx="1252537" cy="295275"/>
          </a:xfrm>
          <a:prstGeom prst="rect">
            <a:avLst/>
          </a:prstGeom>
          <a:ln/>
        </p:spPr>
        <p:txBody>
          <a:bodyPr wrap="square" lIns="0" tIns="0" rIns="0" bIns="0" rtlCol="0" anchor="t"/>
          <a:lstStyle/>
          <a:p>
            <a:pPr algn="ctr" indent="0" marL="0">
              <a:lnSpc>
                <a:spcPts val="1170"/>
              </a:lnSpc>
              <a:buNone/>
            </a:pPr>
            <a:r>
              <a:rPr lang="en-US" sz="900" b="1" dirty="0">
                <a:solidFill>
                  <a:srgbClr val="0F2A2E"/>
                </a:solidFill>
                <a:latin typeface="Inter" pitchFamily="34" charset="0"/>
                <a:ea typeface="Inter" pitchFamily="34" charset="-122"/>
                <a:cs typeface="Inter" pitchFamily="34" charset="-120"/>
              </a:rPr>
              <a:t>The pipeline protected</a:t>
            </a:r>
            <a:endParaRPr lang="en-US" sz="900" dirty="0"/>
          </a:p>
        </p:txBody>
      </p:sp>
      <p:sp>
        <p:nvSpPr>
          <p:cNvPr id="31" name="Text 28"/>
          <p:cNvSpPr/>
          <p:nvPr/>
        </p:nvSpPr>
        <p:spPr>
          <a:xfrm>
            <a:off x="7142448" y="3540547"/>
            <a:ext cx="1252537" cy="595313"/>
          </a:xfrm>
          <a:prstGeom prst="rect">
            <a:avLst/>
          </a:prstGeom>
          <a:ln/>
        </p:spPr>
        <p:txBody>
          <a:bodyPr wrap="square" lIns="0" tIns="0" rIns="0" bIns="0" rtlCol="0" anchor="t"/>
          <a:lstStyle/>
          <a:p>
            <a:pPr algn="ctr" indent="0" marL="0">
              <a:lnSpc>
                <a:spcPts val="940"/>
              </a:lnSpc>
              <a:buNone/>
            </a:pPr>
            <a:r>
              <a:rPr lang="en-US" sz="600" dirty="0">
                <a:solidFill>
                  <a:srgbClr val="6B7D80"/>
                </a:solidFill>
                <a:latin typeface="Inter" pitchFamily="34" charset="0"/>
                <a:ea typeface="Inter" pitchFamily="34" charset="-122"/>
                <a:cs typeface="Inter" pitchFamily="34" charset="-120"/>
              </a:rPr>
              <a:t>Drama school, conservatoire, music college. The next generation of professional artists — only as strong as Year 4 was.</a:t>
            </a:r>
            <a:endParaRPr lang="en-US" sz="600" dirty="0"/>
          </a:p>
        </p:txBody>
      </p:sp>
      <p:sp>
        <p:nvSpPr>
          <p:cNvPr id="32" name="Shape 29"/>
          <p:cNvSpPr/>
          <p:nvPr/>
        </p:nvSpPr>
        <p:spPr>
          <a:xfrm>
            <a:off x="640556" y="4419005"/>
            <a:ext cx="7862887" cy="481012"/>
          </a:xfrm>
          <a:prstGeom prst="rect">
            <a:avLst/>
          </a:prstGeom>
          <a:ln/>
        </p:spPr>
      </p:sp>
      <p:sp>
        <p:nvSpPr>
          <p:cNvPr id="33" name="Text 30"/>
          <p:cNvSpPr/>
          <p:nvPr/>
        </p:nvSpPr>
        <p:spPr>
          <a:xfrm>
            <a:off x="640035" y="4547369"/>
            <a:ext cx="5029200" cy="352425"/>
          </a:xfrm>
          <a:prstGeom prst="rect">
            <a:avLst/>
          </a:prstGeom>
          <a:ln/>
        </p:spPr>
        <p:txBody>
          <a:bodyPr wrap="square" lIns="0" tIns="0" rIns="0" bIns="0" rtlCol="0" anchor="t"/>
          <a:lstStyle/>
          <a:p>
            <a:pPr algn="l" indent="0" marL="0">
              <a:lnSpc>
                <a:spcPts val="1386"/>
              </a:lnSpc>
              <a:buNone/>
            </a:pPr>
            <a:r>
              <a:rPr lang="en-US" sz="1000" b="1" dirty="0">
                <a:solidFill>
                  <a:srgbClr val="0F2A2E"/>
                </a:solidFill>
                <a:latin typeface="Inter" pitchFamily="34" charset="0"/>
                <a:ea typeface="Inter" pitchFamily="34" charset="-122"/>
                <a:cs typeface="Inter" pitchFamily="34" charset="-120"/>
              </a:rPr>
              <a:t>Cut any link in this chain, and the next generation of artists never reaches the stage.</a:t>
            </a:r>
            <a:endParaRPr lang="en-US" sz="1000" dirty="0"/>
          </a:p>
        </p:txBody>
      </p:sp>
      <p:sp>
        <p:nvSpPr>
          <p:cNvPr id="34" name="Text 31"/>
          <p:cNvSpPr/>
          <p:nvPr/>
        </p:nvSpPr>
        <p:spPr>
          <a:xfrm>
            <a:off x="6912583" y="4628331"/>
            <a:ext cx="1590675" cy="190500"/>
          </a:xfrm>
          <a:prstGeom prst="rect">
            <a:avLst/>
          </a:prstGeom>
          <a:ln/>
        </p:spPr>
        <p:txBody>
          <a:bodyPr wrap="square" lIns="0" tIns="0" rIns="0" bIns="0" rtlCol="0" anchor="t"/>
          <a:lstStyle/>
          <a:p>
            <a:pPr algn="l" indent="0" marL="0">
              <a:lnSpc>
                <a:spcPts val="1512"/>
              </a:lnSpc>
              <a:buNone/>
            </a:pPr>
            <a:r>
              <a:rPr lang="en-US" sz="1000" b="1" dirty="0">
                <a:solidFill>
                  <a:srgbClr val="008272"/>
                </a:solidFill>
                <a:latin typeface="Inter" pitchFamily="34" charset="0"/>
                <a:ea typeface="Inter" pitchFamily="34" charset="-122"/>
                <a:cs typeface="Inter" pitchFamily="34" charset="-120"/>
              </a:rPr>
              <a:t>EYFS → KS5 → University</a:t>
            </a:r>
            <a:endParaRPr lang="en-US" sz="1000" dirty="0"/>
          </a:p>
        </p:txBody>
      </p:sp>
      <p:pic>
        <p:nvPicPr>
          <p:cNvPr id="3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403" y="2914613"/>
            <a:ext cx="1471613" cy="938212"/>
          </a:xfrm>
          <a:prstGeom prst="rect">
            <a:avLst/>
          </a:prstGeom>
        </p:spPr>
      </p:pic>
      <p:pic>
        <p:nvPicPr>
          <p:cNvPr id="3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37780" y="2915208"/>
            <a:ext cx="1471613" cy="1204913"/>
          </a:xfrm>
          <a:prstGeom prst="rect">
            <a:avLst/>
          </a:prstGeom>
        </p:spPr>
      </p:pic>
      <p:pic>
        <p:nvPicPr>
          <p:cNvPr id="3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6157" y="2914762"/>
            <a:ext cx="1471613" cy="1057275"/>
          </a:xfrm>
          <a:prstGeom prst="rect">
            <a:avLst/>
          </a:prstGeom>
        </p:spPr>
      </p:pic>
      <p:pic>
        <p:nvPicPr>
          <p:cNvPr id="3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34533" y="2915059"/>
            <a:ext cx="1471613" cy="1085850"/>
          </a:xfrm>
          <a:prstGeom prst="rect">
            <a:avLst/>
          </a:prstGeom>
        </p:spPr>
      </p:pic>
      <p:pic>
        <p:nvPicPr>
          <p:cNvPr id="3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32910" y="2915357"/>
            <a:ext cx="1471613" cy="1323975"/>
          </a:xfrm>
          <a:prstGeom prst="rect">
            <a:avLst/>
          </a:prstGeom>
        </p:spPr>
      </p:pic>
      <p:pic>
        <p:nvPicPr>
          <p:cNvPr id="40"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0556" y="4419005"/>
            <a:ext cx="7862887" cy="481012"/>
          </a:xfrm>
          <a:prstGeom prst="rect">
            <a:avLst/>
          </a:prstGeom>
        </p:spPr>
      </p:pic>
      <p:pic>
        <p:nvPicPr>
          <p:cNvPr id="41" name="Image 7" descr="preencoded.png">    </p:cNvPr>
          <p:cNvPicPr>
            <a:picLocks noChangeAspect="1"/>
          </p:cNvPicPr>
          <p:nvPr/>
        </p:nvPicPr>
        <p:blipFill>
          <a:blip r:embed="rId15"/>
          <a:stretch>
            <a:fillRect/>
          </a:stretch>
        </p:blipFill>
        <p:spPr>
          <a:xfrm>
            <a:off x="228600" y="154260"/>
            <a:ext cx="857250" cy="2571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8272"/>
          </a:solidFill>
          <a:ln/>
        </p:spPr>
      </p:sp>
      <p:sp>
        <p:nvSpPr>
          <p:cNvPr id="3" name="Text 1"/>
          <p:cNvSpPr/>
          <p:nvPr/>
        </p:nvSpPr>
        <p:spPr>
          <a:xfrm>
            <a:off x="639440" y="759879"/>
            <a:ext cx="3581400" cy="223838"/>
          </a:xfrm>
          <a:prstGeom prst="roundRect">
            <a:avLst>
              <a:gd name="adj" fmla="val 51064"/>
            </a:avLst>
          </a:prstGeom>
          <a:solidFill>
            <a:srgbClr val="FFFFFF">
              <a:alpha val="14902"/>
            </a:srgbClr>
          </a:solidFill>
          <a:ln w="4763">
            <a:solidFill>
              <a:srgbClr val="FFFFFF">
                <a:alpha val="30196"/>
              </a:srgbClr>
            </a:solidFill>
            <a:prstDash val="solid"/>
          </a:ln>
        </p:spPr>
        <p:txBody>
          <a:bodyPr wrap="square" lIns="0" tIns="0" rIns="0" bIns="0" rtlCol="0" anchor="ctr"/>
          <a:lstStyle/>
          <a:p>
            <a:pPr algn="l" indent="0" marL="0">
              <a:lnSpc>
                <a:spcPts val="1134"/>
              </a:lnSpc>
              <a:spcAft>
                <a:spcPts val="1215"/>
              </a:spcAft>
              <a:buNone/>
            </a:pPr>
            <a:r>
              <a:rPr lang="en-US" sz="700" dirty="0">
                <a:solidFill>
                  <a:srgbClr val="FFFFFF"/>
                </a:solidFill>
                <a:latin typeface="Inter" pitchFamily="34" charset="0"/>
                <a:ea typeface="Inter" pitchFamily="34" charset="-122"/>
                <a:cs typeface="Inter" pitchFamily="34" charset="-120"/>
              </a:rPr>
              <a:t>TRY IT WITH YOUR SCHOOL, DEPARTMENT OR ARTS ORGANISATION</a:t>
            </a:r>
            <a:endParaRPr lang="en-US" sz="700" dirty="0"/>
          </a:p>
        </p:txBody>
      </p:sp>
      <p:sp>
        <p:nvSpPr>
          <p:cNvPr id="4" name="Text 2"/>
          <p:cNvSpPr/>
          <p:nvPr/>
        </p:nvSpPr>
        <p:spPr>
          <a:xfrm>
            <a:off x="640035" y="1138982"/>
            <a:ext cx="6858000" cy="1128713"/>
          </a:xfrm>
          <a:prstGeom prst="rect">
            <a:avLst/>
          </a:prstGeom>
          <a:ln/>
        </p:spPr>
        <p:txBody>
          <a:bodyPr wrap="square" lIns="0" tIns="0" rIns="0" bIns="0" rtlCol="0" anchor="t"/>
          <a:lstStyle/>
          <a:p>
            <a:pPr algn="l" indent="0" marL="0">
              <a:lnSpc>
                <a:spcPts val="4446"/>
              </a:lnSpc>
              <a:buNone/>
            </a:pPr>
            <a:r>
              <a:rPr lang="en-US" sz="4600" b="1" dirty="0">
                <a:solidFill>
                  <a:srgbClr val="FFFFFF"/>
                </a:solidFill>
                <a:latin typeface="Inter" pitchFamily="34" charset="0"/>
                <a:ea typeface="Inter" pitchFamily="34" charset="-122"/>
                <a:cs typeface="Inter" pitchFamily="34" charset="-120"/>
              </a:rPr>
              <a:t>Grow your creative</a:t>
            </a:r>
            <a:pPr algn="l" indent="0" marL="0">
              <a:lnSpc>
                <a:spcPts val="4446"/>
              </a:lnSpc>
              <a:buNone/>
            </a:pPr>
            <a:r>
              <a:rPr lang="en-US" sz="4600" b="1" dirty="0">
                <a:solidFill>
                  <a:srgbClr val="FF6B6B"/>
                </a:solidFill>
                <a:latin typeface="Inter" pitchFamily="34" charset="0"/>
                <a:ea typeface="Inter" pitchFamily="34" charset="-122"/>
                <a:cs typeface="Inter" pitchFamily="34" charset="-120"/>
              </a:rPr>
              <a:t>practice — together.</a:t>
            </a:r>
            <a:endParaRPr lang="en-US" sz="4600" dirty="0"/>
          </a:p>
        </p:txBody>
      </p:sp>
      <p:sp>
        <p:nvSpPr>
          <p:cNvPr id="5" name="Text 3"/>
          <p:cNvSpPr/>
          <p:nvPr/>
        </p:nvSpPr>
        <p:spPr>
          <a:xfrm>
            <a:off x="640035" y="2423145"/>
            <a:ext cx="5029200" cy="1204913"/>
          </a:xfrm>
          <a:prstGeom prst="rect">
            <a:avLst/>
          </a:prstGeom>
          <a:ln/>
        </p:spPr>
        <p:txBody>
          <a:bodyPr wrap="square" lIns="0" tIns="0" rIns="0" bIns="0" rtlCol="0" anchor="t"/>
          <a:lstStyle/>
          <a:p>
            <a:pPr algn="l" indent="0" marL="0">
              <a:lnSpc>
                <a:spcPts val="1584"/>
              </a:lnSpc>
              <a:spcBef>
                <a:spcPts val="1215"/>
              </a:spcBef>
              <a:buNone/>
            </a:pPr>
            <a:r>
              <a:rPr lang="en-US" sz="1100" dirty="0">
                <a:solidFill>
                  <a:srgbClr val="FFFFFF"/>
                </a:solidFill>
                <a:latin typeface="Inter" pitchFamily="34" charset="0"/>
                <a:ea typeface="Inter" pitchFamily="34" charset="-122"/>
                <a:cs typeface="Inter" pitchFamily="34" charset="-120"/>
              </a:rPr>
              <a:t>Built with educators and tested in real classrooms. Powered by your creativity. Shared with theatres, orchestras, dance companies, universities and outreach teams — together, building the creative archive your sector deserves. Bring CCD into your school, department or arts organisation for a half-term trial and we'll walk your team through it.</a:t>
            </a:r>
            <a:endParaRPr lang="en-US" sz="1100" dirty="0"/>
          </a:p>
        </p:txBody>
      </p:sp>
      <p:sp>
        <p:nvSpPr>
          <p:cNvPr id="6" name="Shape 4"/>
          <p:cNvSpPr/>
          <p:nvPr/>
        </p:nvSpPr>
        <p:spPr>
          <a:xfrm>
            <a:off x="639589" y="3628058"/>
            <a:ext cx="2500313" cy="757238"/>
          </a:xfrm>
          <a:prstGeom prst="roundRect">
            <a:avLst>
              <a:gd name="adj" fmla="val 18227"/>
            </a:avLst>
          </a:prstGeom>
          <a:solidFill>
            <a:srgbClr val="FFFFFF">
              <a:alpha val="7843"/>
            </a:srgbClr>
          </a:solidFill>
          <a:ln w="4763">
            <a:solidFill>
              <a:srgbClr val="FFFFFF">
                <a:alpha val="14902"/>
              </a:srgbClr>
            </a:solidFill>
            <a:prstDash val="solid"/>
          </a:ln>
        </p:spPr>
      </p:sp>
      <p:sp>
        <p:nvSpPr>
          <p:cNvPr id="7" name="Text 5"/>
          <p:cNvSpPr/>
          <p:nvPr/>
        </p:nvSpPr>
        <p:spPr>
          <a:xfrm>
            <a:off x="791989" y="3756682"/>
            <a:ext cx="2195513" cy="138113"/>
          </a:xfrm>
          <a:prstGeom prst="rect">
            <a:avLst/>
          </a:prstGeom>
          <a:ln/>
        </p:spPr>
        <p:txBody>
          <a:bodyPr wrap="square" lIns="0" tIns="0" rIns="0" bIns="0" rtlCol="0" anchor="t"/>
          <a:lstStyle/>
          <a:p>
            <a:pPr algn="l" indent="0" marL="0">
              <a:lnSpc>
                <a:spcPts val="1080"/>
              </a:lnSpc>
              <a:spcAft>
                <a:spcPts val="405"/>
              </a:spcAft>
              <a:buNone/>
            </a:pPr>
            <a:r>
              <a:rPr lang="en-US" sz="700" b="1" dirty="0">
                <a:solidFill>
                  <a:srgbClr val="FF6B6B"/>
                </a:solidFill>
                <a:latin typeface="Inter" pitchFamily="34" charset="0"/>
                <a:ea typeface="Inter" pitchFamily="34" charset="-122"/>
                <a:cs typeface="Inter" pitchFamily="34" charset="-120"/>
              </a:rPr>
              <a:t>VISIT</a:t>
            </a:r>
            <a:endParaRPr lang="en-US" sz="700" dirty="0"/>
          </a:p>
        </p:txBody>
      </p:sp>
      <p:sp>
        <p:nvSpPr>
          <p:cNvPr id="8" name="Text 6"/>
          <p:cNvSpPr/>
          <p:nvPr/>
        </p:nvSpPr>
        <p:spPr>
          <a:xfrm>
            <a:off x="791989" y="3944764"/>
            <a:ext cx="2195513" cy="161925"/>
          </a:xfrm>
          <a:prstGeom prst="rect">
            <a:avLst/>
          </a:prstGeom>
          <a:ln/>
        </p:spPr>
        <p:txBody>
          <a:bodyPr wrap="square" lIns="0" tIns="0" rIns="0" bIns="0" rtlCol="0" anchor="t"/>
          <a:lstStyle/>
          <a:p>
            <a:pPr algn="l" indent="0" marL="0">
              <a:lnSpc>
                <a:spcPts val="1260"/>
              </a:lnSpc>
              <a:buNone/>
            </a:pPr>
            <a:r>
              <a:rPr lang="en-US" sz="1000" b="1" dirty="0">
                <a:solidFill>
                  <a:srgbClr val="FFFFFF"/>
                </a:solidFill>
                <a:latin typeface="Inter" pitchFamily="34" charset="0"/>
                <a:ea typeface="Inter" pitchFamily="34" charset="-122"/>
                <a:cs typeface="Inter" pitchFamily="34" charset="-120"/>
              </a:rPr>
              <a:t>creativecurriculumdesigner.com</a:t>
            </a:r>
            <a:endParaRPr lang="en-US" sz="1000" dirty="0"/>
          </a:p>
        </p:txBody>
      </p:sp>
      <p:sp>
        <p:nvSpPr>
          <p:cNvPr id="9" name="Shape 7"/>
          <p:cNvSpPr/>
          <p:nvPr/>
        </p:nvSpPr>
        <p:spPr>
          <a:xfrm>
            <a:off x="3321844" y="3628058"/>
            <a:ext cx="2500313" cy="757238"/>
          </a:xfrm>
          <a:prstGeom prst="roundRect">
            <a:avLst>
              <a:gd name="adj" fmla="val 18227"/>
            </a:avLst>
          </a:prstGeom>
          <a:solidFill>
            <a:srgbClr val="FFFFFF">
              <a:alpha val="7843"/>
            </a:srgbClr>
          </a:solidFill>
          <a:ln w="4763">
            <a:solidFill>
              <a:srgbClr val="FFFFFF">
                <a:alpha val="14902"/>
              </a:srgbClr>
            </a:solidFill>
            <a:prstDash val="solid"/>
          </a:ln>
        </p:spPr>
      </p:sp>
      <p:sp>
        <p:nvSpPr>
          <p:cNvPr id="10" name="Text 8"/>
          <p:cNvSpPr/>
          <p:nvPr/>
        </p:nvSpPr>
        <p:spPr>
          <a:xfrm>
            <a:off x="3474244" y="3756682"/>
            <a:ext cx="2195513" cy="138113"/>
          </a:xfrm>
          <a:prstGeom prst="rect">
            <a:avLst/>
          </a:prstGeom>
          <a:ln/>
        </p:spPr>
        <p:txBody>
          <a:bodyPr wrap="square" lIns="0" tIns="0" rIns="0" bIns="0" rtlCol="0" anchor="t"/>
          <a:lstStyle/>
          <a:p>
            <a:pPr algn="l" indent="0" marL="0">
              <a:lnSpc>
                <a:spcPts val="1080"/>
              </a:lnSpc>
              <a:spcAft>
                <a:spcPts val="405"/>
              </a:spcAft>
              <a:buNone/>
            </a:pPr>
            <a:r>
              <a:rPr lang="en-US" sz="700" b="1" dirty="0">
                <a:solidFill>
                  <a:srgbClr val="FF6B6B"/>
                </a:solidFill>
                <a:latin typeface="Inter" pitchFamily="34" charset="0"/>
                <a:ea typeface="Inter" pitchFamily="34" charset="-122"/>
                <a:cs typeface="Inter" pitchFamily="34" charset="-120"/>
              </a:rPr>
              <a:t>EMAIL</a:t>
            </a:r>
            <a:endParaRPr lang="en-US" sz="700" dirty="0"/>
          </a:p>
        </p:txBody>
      </p:sp>
      <p:sp>
        <p:nvSpPr>
          <p:cNvPr id="11" name="Text 9"/>
          <p:cNvSpPr/>
          <p:nvPr/>
        </p:nvSpPr>
        <p:spPr>
          <a:xfrm>
            <a:off x="3474244" y="3944764"/>
            <a:ext cx="2195513" cy="161925"/>
          </a:xfrm>
          <a:prstGeom prst="rect">
            <a:avLst/>
          </a:prstGeom>
          <a:ln/>
        </p:spPr>
        <p:txBody>
          <a:bodyPr wrap="square" lIns="0" tIns="0" rIns="0" bIns="0" rtlCol="0" anchor="t"/>
          <a:lstStyle/>
          <a:p>
            <a:pPr algn="l" indent="0" marL="0">
              <a:lnSpc>
                <a:spcPts val="1260"/>
              </a:lnSpc>
              <a:buNone/>
            </a:pPr>
            <a:r>
              <a:rPr lang="en-US" sz="1000" b="1" dirty="0">
                <a:solidFill>
                  <a:srgbClr val="FFFFFF"/>
                </a:solidFill>
                <a:latin typeface="Inter" pitchFamily="34" charset="0"/>
                <a:ea typeface="Inter" pitchFamily="34" charset="-122"/>
                <a:cs typeface="Inter" pitchFamily="34" charset="-120"/>
              </a:rPr>
              <a:t>hello@creativecurriculumdesigner.com</a:t>
            </a:r>
            <a:endParaRPr lang="en-US" sz="1000" dirty="0"/>
          </a:p>
        </p:txBody>
      </p:sp>
      <p:sp>
        <p:nvSpPr>
          <p:cNvPr id="12" name="Shape 10"/>
          <p:cNvSpPr/>
          <p:nvPr/>
        </p:nvSpPr>
        <p:spPr>
          <a:xfrm>
            <a:off x="6004099" y="3628058"/>
            <a:ext cx="2500313" cy="757238"/>
          </a:xfrm>
          <a:prstGeom prst="roundRect">
            <a:avLst>
              <a:gd name="adj" fmla="val 18227"/>
            </a:avLst>
          </a:prstGeom>
          <a:solidFill>
            <a:srgbClr val="FF6B6B"/>
          </a:solidFill>
          <a:ln/>
        </p:spPr>
      </p:sp>
      <p:sp>
        <p:nvSpPr>
          <p:cNvPr id="13" name="Text 11"/>
          <p:cNvSpPr/>
          <p:nvPr/>
        </p:nvSpPr>
        <p:spPr>
          <a:xfrm>
            <a:off x="6151736" y="3751920"/>
            <a:ext cx="2205037" cy="138113"/>
          </a:xfrm>
          <a:prstGeom prst="rect">
            <a:avLst/>
          </a:prstGeom>
          <a:ln/>
        </p:spPr>
        <p:txBody>
          <a:bodyPr wrap="square" lIns="0" tIns="0" rIns="0" bIns="0" rtlCol="0" anchor="t"/>
          <a:lstStyle/>
          <a:p>
            <a:pPr algn="l" indent="0" marL="0">
              <a:lnSpc>
                <a:spcPts val="1080"/>
              </a:lnSpc>
              <a:spcAft>
                <a:spcPts val="405"/>
              </a:spcAft>
              <a:buNone/>
            </a:pPr>
            <a:r>
              <a:rPr lang="en-US" sz="700" b="1" dirty="0">
                <a:solidFill>
                  <a:srgbClr val="FFFFFF"/>
                </a:solidFill>
                <a:latin typeface="Inter" pitchFamily="34" charset="0"/>
                <a:ea typeface="Inter" pitchFamily="34" charset="-122"/>
                <a:cs typeface="Inter" pitchFamily="34" charset="-120"/>
              </a:rPr>
              <a:t>BOOK A DEMO</a:t>
            </a:r>
            <a:endParaRPr lang="en-US" sz="700" dirty="0"/>
          </a:p>
        </p:txBody>
      </p:sp>
      <p:sp>
        <p:nvSpPr>
          <p:cNvPr id="14" name="Text 12"/>
          <p:cNvSpPr/>
          <p:nvPr/>
        </p:nvSpPr>
        <p:spPr>
          <a:xfrm>
            <a:off x="6151736" y="3941415"/>
            <a:ext cx="2205037" cy="319088"/>
          </a:xfrm>
          <a:prstGeom prst="rect">
            <a:avLst/>
          </a:prstGeom>
          <a:ln/>
        </p:spPr>
        <p:txBody>
          <a:bodyPr wrap="square" lIns="0" tIns="0" rIns="0" bIns="0" rtlCol="0" anchor="t"/>
          <a:lstStyle/>
          <a:p>
            <a:pPr algn="l" indent="0" marL="0">
              <a:lnSpc>
                <a:spcPts val="1260"/>
              </a:lnSpc>
              <a:buNone/>
            </a:pPr>
            <a:r>
              <a:rPr lang="en-US" sz="1000" b="1" dirty="0">
                <a:solidFill>
                  <a:srgbClr val="FFFFFF"/>
                </a:solidFill>
                <a:latin typeface="Inter" pitchFamily="34" charset="0"/>
                <a:ea typeface="Inter" pitchFamily="34" charset="-122"/>
                <a:cs typeface="Inter" pitchFamily="34" charset="-120"/>
              </a:rPr>
              <a:t>30-minute walk-through with your team or partners</a:t>
            </a:r>
            <a:endParaRPr lang="en-US" sz="1000" dirty="0"/>
          </a:p>
        </p:txBody>
      </p:sp>
      <p:pic>
        <p:nvPicPr>
          <p:cNvPr id="15" name="Image 0" descr="preencoded.png">    </p:cNvPr>
          <p:cNvPicPr>
            <a:picLocks noChangeAspect="1"/>
          </p:cNvPicPr>
          <p:nvPr/>
        </p:nvPicPr>
        <p:blipFill>
          <a:blip r:embed="rId1"/>
          <a:stretch>
            <a:fillRect/>
          </a:stretch>
        </p:blipFill>
        <p:spPr>
          <a:xfrm>
            <a:off x="228600" y="154260"/>
            <a:ext cx="857250" cy="2571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2026-05-09T22:10:37Z</dcterms:created>
  <dcterms:modified xsi:type="dcterms:W3CDTF">2026-05-09T22:10:37Z</dcterms:modified>
</cp:coreProperties>
</file>