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61da4a806843fb" /><Relationship Type="http://schemas.openxmlformats.org/officeDocument/2006/relationships/extended-properties" Target="/docProps/app.xml" Id="R64b0f2464b9a4aef" /><Relationship Type="http://schemas.openxmlformats.org/officeDocument/2006/relationships/officeDocument" Target="/ppt/presentation.xml" Id="Re92758e1398f4786" /></Relationships>
</file>

<file path=ppt/presentation.xml><?xml version="1.0" encoding="utf-8"?>
<p:presentation xmlns:p="http://schemas.openxmlformats.org/presentationml/2006/main">
  <p:sldMasterIdLst>
    <p:sldMasterId xmlns:r="http://schemas.openxmlformats.org/officeDocument/2006/relationships" id="2147483648" r:id="R9f6c51cb9ae147e6"/>
  </p:sldMasterIdLst>
  <p:notesMasterIdLst>
    <p:notesMasterId xmlns:r="http://schemas.openxmlformats.org/officeDocument/2006/relationships" r:id="R77ec99db0ac54d34"/>
  </p:notesMasterIdLst>
  <p:sldIdLst>
    <p:sldId xmlns:r="http://schemas.openxmlformats.org/officeDocument/2006/relationships" id="256" r:id="R4c8d869edc6e4150"/>
    <p:sldId xmlns:r="http://schemas.openxmlformats.org/officeDocument/2006/relationships" id="257" r:id="Rd65eba2816a548e6"/>
    <p:sldId xmlns:r="http://schemas.openxmlformats.org/officeDocument/2006/relationships" id="258" r:id="Ra785ec90727f435e"/>
    <p:sldId xmlns:r="http://schemas.openxmlformats.org/officeDocument/2006/relationships" id="259" r:id="R03c97c09f5254410"/>
    <p:sldId xmlns:r="http://schemas.openxmlformats.org/officeDocument/2006/relationships" id="260" r:id="R816e039ddcee415f"/>
    <p:sldId xmlns:r="http://schemas.openxmlformats.org/officeDocument/2006/relationships" id="261" r:id="R45e2b30512bd4417"/>
    <p:sldId xmlns:r="http://schemas.openxmlformats.org/officeDocument/2006/relationships" id="262" r:id="Re1fd006d741c45a2"/>
    <p:sldId xmlns:r="http://schemas.openxmlformats.org/officeDocument/2006/relationships" id="263" r:id="R0d51ed481c86454c"/>
    <p:sldId xmlns:r="http://schemas.openxmlformats.org/officeDocument/2006/relationships" id="264" r:id="R89f30a9c9baa4481"/>
    <p:sldId xmlns:r="http://schemas.openxmlformats.org/officeDocument/2006/relationships" id="265" r:id="Rec7ff6b0580e4c6a"/>
    <p:sldId xmlns:r="http://schemas.openxmlformats.org/officeDocument/2006/relationships" id="266" r:id="Rb9dd28a934414a2d"/>
    <p:sldId xmlns:r="http://schemas.openxmlformats.org/officeDocument/2006/relationships" id="267" r:id="R74b3e32246e34e89"/>
    <p:sldId xmlns:r="http://schemas.openxmlformats.org/officeDocument/2006/relationships" id="268" r:id="R12a183b015824dba"/>
    <p:sldId xmlns:r="http://schemas.openxmlformats.org/officeDocument/2006/relationships" id="269" r:id="R8afc14200c144c5a"/>
    <p:sldId xmlns:r="http://schemas.openxmlformats.org/officeDocument/2006/relationships" id="270" r:id="Rca476c0309dc4a80"/>
    <p:sldId xmlns:r="http://schemas.openxmlformats.org/officeDocument/2006/relationships" id="271" r:id="Rc38a67cddb7a4f7f"/>
    <p:sldId xmlns:r="http://schemas.openxmlformats.org/officeDocument/2006/relationships" id="272" r:id="Ree689931790d4986"/>
    <p:sldId xmlns:r="http://schemas.openxmlformats.org/officeDocument/2006/relationships" id="273" r:id="Rffe099c6b3b7477f"/>
    <p:sldId xmlns:r="http://schemas.openxmlformats.org/officeDocument/2006/relationships" id="274" r:id="R2b971c79fda844e4"/>
    <p:sldId xmlns:r="http://schemas.openxmlformats.org/officeDocument/2006/relationships" id="275" r:id="R4a5cb01dfee245d9"/>
    <p:sldId xmlns:r="http://schemas.openxmlformats.org/officeDocument/2006/relationships" id="276" r:id="R63e8b882d7a6434f"/>
    <p:sldId xmlns:r="http://schemas.openxmlformats.org/officeDocument/2006/relationships" id="277" r:id="R8612b17bc2d04a68"/>
    <p:sldId xmlns:r="http://schemas.openxmlformats.org/officeDocument/2006/relationships" id="278" r:id="R088d893d44bd4bb7"/>
    <p:sldId xmlns:r="http://schemas.openxmlformats.org/officeDocument/2006/relationships" id="279" r:id="R441355fbf3764d83"/>
    <p:sldId xmlns:r="http://schemas.openxmlformats.org/officeDocument/2006/relationships" id="280" r:id="R81cc874e189449e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9f6c51cb9ae147e6" /><Relationship Type="http://schemas.openxmlformats.org/officeDocument/2006/relationships/theme" Target="/ppt/theme/theme1.xml" Id="R2668c8298597450b" /><Relationship Type="http://schemas.openxmlformats.org/officeDocument/2006/relationships/notesMaster" Target="/ppt/notesMasters/notesMaster1.xml" Id="R77ec99db0ac54d34" /><Relationship Type="http://schemas.openxmlformats.org/officeDocument/2006/relationships/presProps" Target="/ppt/presProps.xml" Id="R127d1cafdaaf411e" /><Relationship Type="http://schemas.openxmlformats.org/officeDocument/2006/relationships/viewProps" Target="/ppt/viewProps.xml" Id="R8e4ba617456e4ebc" /><Relationship Type="http://schemas.openxmlformats.org/officeDocument/2006/relationships/tableStyles" Target="/ppt/tableStyles.xml" Id="Ra38399b759c94e87" /><Relationship Type="http://schemas.openxmlformats.org/officeDocument/2006/relationships/slide" Target="/ppt/slides/slide1.xml" Id="R4c8d869edc6e4150" /><Relationship Type="http://schemas.openxmlformats.org/officeDocument/2006/relationships/slide" Target="/ppt/slides/slide2.xml" Id="Rd65eba2816a548e6" /><Relationship Type="http://schemas.openxmlformats.org/officeDocument/2006/relationships/slide" Target="/ppt/slides/slide3.xml" Id="Ra785ec90727f435e" /><Relationship Type="http://schemas.openxmlformats.org/officeDocument/2006/relationships/slide" Target="/ppt/slides/slide4.xml" Id="R03c97c09f5254410" /><Relationship Type="http://schemas.openxmlformats.org/officeDocument/2006/relationships/slide" Target="/ppt/slides/slide5.xml" Id="R816e039ddcee415f" /><Relationship Type="http://schemas.openxmlformats.org/officeDocument/2006/relationships/slide" Target="/ppt/slides/slide6.xml" Id="R45e2b30512bd4417" /><Relationship Type="http://schemas.openxmlformats.org/officeDocument/2006/relationships/slide" Target="/ppt/slides/slide7.xml" Id="Re1fd006d741c45a2" /><Relationship Type="http://schemas.openxmlformats.org/officeDocument/2006/relationships/slide" Target="/ppt/slides/slide8.xml" Id="R0d51ed481c86454c" /><Relationship Type="http://schemas.openxmlformats.org/officeDocument/2006/relationships/slide" Target="/ppt/slides/slide9.xml" Id="R89f30a9c9baa4481" /><Relationship Type="http://schemas.openxmlformats.org/officeDocument/2006/relationships/slide" Target="/ppt/slides/slide10.xml" Id="Rec7ff6b0580e4c6a" /><Relationship Type="http://schemas.openxmlformats.org/officeDocument/2006/relationships/slide" Target="/ppt/slides/slide11.xml" Id="Rb9dd28a934414a2d" /><Relationship Type="http://schemas.openxmlformats.org/officeDocument/2006/relationships/slide" Target="/ppt/slides/slide12.xml" Id="R74b3e32246e34e89" /><Relationship Type="http://schemas.openxmlformats.org/officeDocument/2006/relationships/slide" Target="/ppt/slides/slide13.xml" Id="R12a183b015824dba" /><Relationship Type="http://schemas.openxmlformats.org/officeDocument/2006/relationships/slide" Target="/ppt/slides/slide14.xml" Id="R8afc14200c144c5a" /><Relationship Type="http://schemas.openxmlformats.org/officeDocument/2006/relationships/slide" Target="/ppt/slides/slide15.xml" Id="Rca476c0309dc4a80" /><Relationship Type="http://schemas.openxmlformats.org/officeDocument/2006/relationships/slide" Target="/ppt/slides/slide16.xml" Id="Rc38a67cddb7a4f7f" /><Relationship Type="http://schemas.openxmlformats.org/officeDocument/2006/relationships/slide" Target="/ppt/slides/slide17.xml" Id="Ree689931790d4986" /><Relationship Type="http://schemas.openxmlformats.org/officeDocument/2006/relationships/slide" Target="/ppt/slides/slide18.xml" Id="Rffe099c6b3b7477f" /><Relationship Type="http://schemas.openxmlformats.org/officeDocument/2006/relationships/slide" Target="/ppt/slides/slide19.xml" Id="R2b971c79fda844e4" /><Relationship Type="http://schemas.openxmlformats.org/officeDocument/2006/relationships/slide" Target="/ppt/slides/slide20.xml" Id="R4a5cb01dfee245d9" /><Relationship Type="http://schemas.openxmlformats.org/officeDocument/2006/relationships/slide" Target="/ppt/slides/slide21.xml" Id="R63e8b882d7a6434f" /><Relationship Type="http://schemas.openxmlformats.org/officeDocument/2006/relationships/slide" Target="/ppt/slides/slide22.xml" Id="R8612b17bc2d04a68" /><Relationship Type="http://schemas.openxmlformats.org/officeDocument/2006/relationships/slide" Target="/ppt/slides/slide23.xml" Id="R088d893d44bd4bb7" /><Relationship Type="http://schemas.openxmlformats.org/officeDocument/2006/relationships/slide" Target="/ppt/slides/slide24.xml" Id="R441355fbf3764d83" /><Relationship Type="http://schemas.openxmlformats.org/officeDocument/2006/relationships/slide" Target="/ppt/slides/slide25.xml" Id="R81cc874e189449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05d25c3c8c3248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a0780c12104b03" /><Relationship Type="http://schemas.openxmlformats.org/officeDocument/2006/relationships/notesMaster" Target="/ppt/notesMasters/notesMaster1.xml" Id="R24372f5772a648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2b71b0e47c4b9b" /><Relationship Type="http://schemas.openxmlformats.org/officeDocument/2006/relationships/notesMaster" Target="/ppt/notesMasters/notesMaster1.xml" Id="R97d611b4214548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900b80eae941aa" /><Relationship Type="http://schemas.openxmlformats.org/officeDocument/2006/relationships/notesMaster" Target="/ppt/notesMasters/notesMaster1.xml" Id="R748b34f2bfd346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c360d2a2804e4f" /><Relationship Type="http://schemas.openxmlformats.org/officeDocument/2006/relationships/notesMaster" Target="/ppt/notesMasters/notesMaster1.xml" Id="R2a952fc71f3244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485113129f4087" /><Relationship Type="http://schemas.openxmlformats.org/officeDocument/2006/relationships/notesMaster" Target="/ppt/notesMasters/notesMaster1.xml" Id="Reb674582b0ef42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70af35e92f468b" /><Relationship Type="http://schemas.openxmlformats.org/officeDocument/2006/relationships/notesMaster" Target="/ppt/notesMasters/notesMaster1.xml" Id="R1a029912a8f546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0f9602eb09431c" /><Relationship Type="http://schemas.openxmlformats.org/officeDocument/2006/relationships/notesMaster" Target="/ppt/notesMasters/notesMaster1.xml" Id="Rc9cbf66351554d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77ff350bad4827" /><Relationship Type="http://schemas.openxmlformats.org/officeDocument/2006/relationships/notesMaster" Target="/ppt/notesMasters/notesMaster1.xml" Id="Rb9e0794671514a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21df92f3df4a91" /><Relationship Type="http://schemas.openxmlformats.org/officeDocument/2006/relationships/notesMaster" Target="/ppt/notesMasters/notesMaster1.xml" Id="R2772ed81a2164d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6b059e31d34e71" /><Relationship Type="http://schemas.openxmlformats.org/officeDocument/2006/relationships/notesMaster" Target="/ppt/notesMasters/notesMaster1.xml" Id="R2e15acf5a5e646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ad74e347aa4e22" /><Relationship Type="http://schemas.openxmlformats.org/officeDocument/2006/relationships/notesMaster" Target="/ppt/notesMasters/notesMaster1.xml" Id="Rc7c97279f9494b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8768447e3849b8" /><Relationship Type="http://schemas.openxmlformats.org/officeDocument/2006/relationships/notesMaster" Target="/ppt/notesMasters/notesMaster1.xml" Id="Rcdb6430f1440409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cc1f24097f24398" /><Relationship Type="http://schemas.openxmlformats.org/officeDocument/2006/relationships/notesMaster" Target="/ppt/notesMasters/notesMaster1.xml" Id="R9f4084de26ec4c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0b334eb86541b3" /><Relationship Type="http://schemas.openxmlformats.org/officeDocument/2006/relationships/notesMaster" Target="/ppt/notesMasters/notesMaster1.xml" Id="R03e6df81a138461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af43d524644ad2" /><Relationship Type="http://schemas.openxmlformats.org/officeDocument/2006/relationships/notesMaster" Target="/ppt/notesMasters/notesMaster1.xml" Id="Ra53bb4b67b8349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1791c7378034834" /><Relationship Type="http://schemas.openxmlformats.org/officeDocument/2006/relationships/notesMaster" Target="/ppt/notesMasters/notesMaster1.xml" Id="Re402ccd9f773456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8f3cff0df514bdc" /><Relationship Type="http://schemas.openxmlformats.org/officeDocument/2006/relationships/notesMaster" Target="/ppt/notesMasters/notesMaster1.xml" Id="Rdb51169445d8493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a864d4c945045d6" /><Relationship Type="http://schemas.openxmlformats.org/officeDocument/2006/relationships/notesMaster" Target="/ppt/notesMasters/notesMaster1.xml" Id="R9326d428690a448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d99478971984d09" /><Relationship Type="http://schemas.openxmlformats.org/officeDocument/2006/relationships/notesMaster" Target="/ppt/notesMasters/notesMaster1.xml" Id="R43818ac6acb94d3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d95b1ece0174d68" /><Relationship Type="http://schemas.openxmlformats.org/officeDocument/2006/relationships/notesMaster" Target="/ppt/notesMasters/notesMaster1.xml" Id="R34b7799757b8429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6492c1380574389" /><Relationship Type="http://schemas.openxmlformats.org/officeDocument/2006/relationships/notesMaster" Target="/ppt/notesMasters/notesMaster1.xml" Id="Rce7f217f70ef4d9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83f1cdcfb504a7c" /><Relationship Type="http://schemas.openxmlformats.org/officeDocument/2006/relationships/notesMaster" Target="/ppt/notesMasters/notesMaster1.xml" Id="R7695155764f54fe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698d16f8ed34036" /><Relationship Type="http://schemas.openxmlformats.org/officeDocument/2006/relationships/notesMaster" Target="/ppt/notesMasters/notesMaster1.xml" Id="Rb297bd520512465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2b083dea1d342ab" /><Relationship Type="http://schemas.openxmlformats.org/officeDocument/2006/relationships/notesMaster" Target="/ppt/notesMasters/notesMaster1.xml" Id="R8deeb8a7ebd9423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2866c45052343c9" /><Relationship Type="http://schemas.openxmlformats.org/officeDocument/2006/relationships/notesMaster" Target="/ppt/notesMasters/notesMaster1.xml" Id="R56a4a849470f46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brand slide — CCD mark with connection byline.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Title / proposal framing for Arts Council.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slide — isolation and lost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now — pipeline and sector stats.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Solution overview — planner, library, stacks.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Audience — EYFS to KS5 and partners.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Discipline coverage with example 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library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Activity stacks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Activity cards with web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Activity creation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planner calendar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Four-step how it 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Partners and teacher marketplace.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Music hubs in Partner Hubs.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LSO hub — add resource to library.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Activity → Lesson → Term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Partner key dates into Important 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Calendar week / timetable 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Paid partners and basket.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Settings — key-stage folders.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Organisation hub and share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Celebrating arts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Life-changing arts education.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CTA.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1729cb165b4cae"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E7DA88D4-4599-4C3E-9469-AB424FBB0498}"/>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EEF78EE3-8E69-4884-AE9F-B5495C9D53E2}"/>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508FDAD7-6018-410F-AAE9-1CD10F38986E}"/>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97FE626E-7439-4DB8-B2E8-477E7EBE46DB}"/>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6E38C8ED-7B0B-4C34-9569-5BB630885188}"/>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56bdbdda2bf94cb2" /><Relationship Type="http://schemas.openxmlformats.org/officeDocument/2006/relationships/slideLayout" Target="/ppt/slideLayouts/slideLayout2.xml" Id="Re4f83badacf144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5D69DA89-64C4-42A7-8F02-F0EF24343E93}"/>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f83badacf144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40f336b86b3a4282" /><Relationship Type="http://schemas.openxmlformats.org/officeDocument/2006/relationships/notesSlide" Target="/ppt/notesSlides/notesSlide1.xml" Id="R2b117a68a3f34b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8518d2cc4594732" /><Relationship Type="http://schemas.openxmlformats.org/officeDocument/2006/relationships/notesSlide" Target="/ppt/notesSlides/notesSlide2.xml" Id="R22c97f74c6b842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a0a29cf13d94580" /><Relationship Type="http://schemas.openxmlformats.org/officeDocument/2006/relationships/notesSlide" Target="/ppt/notesSlides/notesSlide3.xml" Id="R29da913a63e74d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32468b2aff64bc2" /><Relationship Type="http://schemas.openxmlformats.org/officeDocument/2006/relationships/notesSlide" Target="/ppt/notesSlides/notesSlide4.xml" Id="R4cf9bf41b9894c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cd17e83e17644f1" /><Relationship Type="http://schemas.openxmlformats.org/officeDocument/2006/relationships/notesSlide" Target="/ppt/notesSlides/notesSlide5.xml" Id="Rcafc9efd4b5c42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3a66516102c45ef" /><Relationship Type="http://schemas.openxmlformats.org/officeDocument/2006/relationships/notesSlide" Target="/ppt/notesSlides/notesSlide6.xml" Id="R0f2210991cbd45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0c0b6b94809457c" /><Relationship Type="http://schemas.openxmlformats.org/officeDocument/2006/relationships/notesSlide" Target="/ppt/notesSlides/notesSlide7.xml" Id="R5779c4e467bc44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41a06fa940b4337" /><Relationship Type="http://schemas.openxmlformats.org/officeDocument/2006/relationships/notesSlide" Target="/ppt/notesSlides/notesSlide8.xml" Id="Rc091a5a286154d7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a9ed67ad4294d80" /><Relationship Type="http://schemas.openxmlformats.org/officeDocument/2006/relationships/notesSlide" Target="/ppt/notesSlides/notesSlide9.xml" Id="Rf1f52e72a05a4b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cea826ce6244ca4" /><Relationship Type="http://schemas.openxmlformats.org/officeDocument/2006/relationships/notesSlide" Target="/ppt/notesSlides/notesSlide10.xml" Id="Re0117bec929d4e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c73d70a24e3242e8" /><Relationship Type="http://schemas.openxmlformats.org/officeDocument/2006/relationships/notesSlide" Target="/ppt/notesSlides/notesSlide11.xml" Id="R4756872494784d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6695f0da51504b50" /><Relationship Type="http://schemas.openxmlformats.org/officeDocument/2006/relationships/notesSlide" Target="/ppt/notesSlides/notesSlide12.xml" Id="R44aec919a028485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a0917d9cef940a2" /><Relationship Type="http://schemas.openxmlformats.org/officeDocument/2006/relationships/notesSlide" Target="/ppt/notesSlides/notesSlide13.xml" Id="R964ba7a841d24c4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7ec17f218795496d" /><Relationship Type="http://schemas.openxmlformats.org/officeDocument/2006/relationships/notesSlide" Target="/ppt/notesSlides/notesSlide14.xml" Id="Rbfe73285522a44e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025d17186d294065" /><Relationship Type="http://schemas.openxmlformats.org/officeDocument/2006/relationships/notesSlide" Target="/ppt/notesSlides/notesSlide15.xml" Id="Re62a22ea4fd7467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2d671a0b28874b25" /><Relationship Type="http://schemas.openxmlformats.org/officeDocument/2006/relationships/notesSlide" Target="/ppt/notesSlides/notesSlide16.xml" Id="R2cacbd2e37224a3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13dc4906cd74390" /><Relationship Type="http://schemas.openxmlformats.org/officeDocument/2006/relationships/notesSlide" Target="/ppt/notesSlides/notesSlide17.xml" Id="R7dd4e6059226424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bb2b5c054cb04e50" /><Relationship Type="http://schemas.openxmlformats.org/officeDocument/2006/relationships/notesSlide" Target="/ppt/notesSlides/notesSlide18.xml" Id="R14ab12a2414842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b74064b02e884691" /><Relationship Type="http://schemas.openxmlformats.org/officeDocument/2006/relationships/notesSlide" Target="/ppt/notesSlides/notesSlide19.xml" Id="Rd31bfbb337354e8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668e1c02e2df4a13" /><Relationship Type="http://schemas.openxmlformats.org/officeDocument/2006/relationships/notesSlide" Target="/ppt/notesSlides/notesSlide20.xml" Id="R8f9d9a0aac31438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15107c891b6342cf" /><Relationship Type="http://schemas.openxmlformats.org/officeDocument/2006/relationships/notesSlide" Target="/ppt/notesSlides/notesSlide21.xml" Id="Rbba02432240a4bc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f3db7ce140484a72" /><Relationship Type="http://schemas.openxmlformats.org/officeDocument/2006/relationships/notesSlide" Target="/ppt/notesSlides/notesSlide22.xml" Id="R875bb143361042c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126e30a1c60a4f5d" /><Relationship Type="http://schemas.openxmlformats.org/officeDocument/2006/relationships/notesSlide" Target="/ppt/notesSlides/notesSlide23.xml" Id="R1fdc4b195b8c473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c5c1fcfc2f644a21" /><Relationship Type="http://schemas.openxmlformats.org/officeDocument/2006/relationships/notesSlide" Target="/ppt/notesSlides/notesSlide24.xml" Id="Rac44496462564f0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1c3bcb2288794cab" /><Relationship Type="http://schemas.openxmlformats.org/officeDocument/2006/relationships/notesSlide" Target="/ppt/notesSlides/notesSlide25.xml" Id="Rbb7e3bdfbfc441b5" /></Relationships>
</file>

<file path=ppt/slides/slide1.xml><?xml version="1.0" encoding="utf-8"?>
<p:sld xmlns:p="http://schemas.openxmlformats.org/presentationml/2006/main">
  <p:cSld>
    <p:bg>
      <p:bgPr>
        <a:solidFill xmlns:a="http://schemas.openxmlformats.org/drawingml/2006/main">
          <a:srgbClr val="002D24"/>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C3E1B53E-6FB2-405D-B516-CE09E8E51F62}"/>
              </a:ext>
            </a:extLst>
          </p:cNvPr>
          <p:cNvSpPr>
            <a:spLocks xmlns:a="http://schemas.openxmlformats.org/drawingml/2006/main" noGrp="1"/>
          </p:cNvSpPr>
          <p:nvPr/>
        </p:nvSpPr>
        <p:spPr>
          <a:xfrm xmlns:a="http://schemas.openxmlformats.org/drawingml/2006/main">
            <a:off x="8572500" y="-952500"/>
            <a:ext cx="4953000" cy="4953000"/>
          </a:xfrm>
          <a:prstGeom xmlns:a="http://schemas.openxmlformats.org/drawingml/2006/main" prst="ellipse">
            <a:avLst/>
          </a:prstGeom>
          <a:solidFill xmlns:a="http://schemas.openxmlformats.org/drawingml/2006/main">
            <a:srgbClr val="B6FF7E">
              <a:alpha val="941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0DDDF11-B303-42C2-AA65-8A6C29CB9319}"/>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01A16"/>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9305546-701E-4DCC-BC42-4BA0D5338E8C}"/>
              </a:ext>
            </a:extLst>
          </p:cNvPr>
          <p:cNvSpPr>
            <a:spLocks xmlns:a="http://schemas.openxmlformats.org/drawingml/2006/main" noGrp="1"/>
          </p:cNvSpPr>
          <p:nvPr/>
        </p:nvSpPr>
        <p:spPr>
          <a:xfrm xmlns:a="http://schemas.openxmlformats.org/drawingml/2006/main">
            <a:off x="8572500" y="-952500"/>
            <a:ext cx="4953000" cy="4953000"/>
          </a:xfrm>
          <a:prstGeom xmlns:a="http://schemas.openxmlformats.org/drawingml/2006/main" prst="ellipse">
            <a:avLst/>
          </a:prstGeom>
          <a:solidFill xmlns:a="http://schemas.openxmlformats.org/drawingml/2006/main">
            <a:srgbClr val="B6FF7E">
              <a:alpha val="9412"/>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652FD76-9399-4B46-9268-28E31D59783E}"/>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01A16"/>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1BDA59A-49CD-44B8-9A4C-AD94846C9EFF}"/>
              </a:ext>
            </a:extLst>
          </p:cNvPr>
          <p:cNvSpPr>
            <a:spLocks xmlns:a="http://schemas.openxmlformats.org/drawingml/2006/main" noGrp="1"/>
          </p:cNvSpPr>
          <p:nvPr/>
        </p:nvSpPr>
        <p:spPr>
          <a:xfrm xmlns:a="http://schemas.openxmlformats.org/drawingml/2006/main">
            <a:off x="5143500" y="1047750"/>
            <a:ext cx="1905000" cy="1905000"/>
          </a:xfrm>
          <a:prstGeom xmlns:a="http://schemas.openxmlformats.org/drawingml/2006/main" prst="ellipse">
            <a:avLst/>
          </a:prstGeom>
          <a:solidFill xmlns:a="http://schemas.openxmlformats.org/drawingml/2006/main">
            <a:srgbClr val="000000">
              <a:alpha val="0"/>
            </a:srgbClr>
          </a:solidFill>
          <a:ln xmlns:a="http://schemas.openxmlformats.org/drawingml/2006/main" w="28575">
            <a:solidFill>
              <a:srgbClr val="B6FF7E"/>
            </a:solidFill>
            <a:prstDash val="solid"/>
          </a:ln>
        </p:spPr>
      </p:sp>
      <p:sp>
        <p:nvSpPr>
          <p:cNvPr id="7" name="">
            <a:extLst xmlns:a="http://schemas.openxmlformats.org/drawingml/2006/main">
              <a:ext uri="{FF2B5EF4-FFF2-40B4-BE49-F238E27FC236}">
                <a16:creationId xmlns:a16="http://schemas.microsoft.com/office/drawing/2014/main" id="{BC18DF51-C5C2-4E9F-BB4B-2D56E3BA8F08}"/>
              </a:ext>
            </a:extLst>
          </p:cNvPr>
          <p:cNvSpPr>
            <a:spLocks xmlns:a="http://schemas.openxmlformats.org/drawingml/2006/main" noGrp="1"/>
          </p:cNvSpPr>
          <p:nvPr/>
        </p:nvSpPr>
        <p:spPr>
          <a:xfrm xmlns:a="http://schemas.openxmlformats.org/drawingml/2006/main">
            <a:off x="5143500" y="1666875"/>
            <a:ext cx="1905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3000" b="1">
                <a:solidFill>
                  <a:srgbClr val="B6FF7E"/>
                </a:solidFill>
              </a:defRPr>
            </a:pPr>
            <a:r>
              <a:rPr sz="3000" b="1">
                <a:solidFill>
                  <a:srgbClr val="B6FF7E"/>
                </a:solidFill>
              </a:rPr>
              <a:t>CCD</a:t>
            </a:r>
          </a:p>
        </p:txBody>
      </p:sp>
      <p:sp>
        <p:nvSpPr>
          <p:cNvPr id="8" name="">
            <a:extLst xmlns:a="http://schemas.openxmlformats.org/drawingml/2006/main">
              <a:ext uri="{FF2B5EF4-FFF2-40B4-BE49-F238E27FC236}">
                <a16:creationId xmlns:a16="http://schemas.microsoft.com/office/drawing/2014/main" id="{B40FFADF-162D-46C1-8D90-B6678A30DD8D}"/>
              </a:ext>
            </a:extLst>
          </p:cNvPr>
          <p:cNvSpPr>
            <a:spLocks xmlns:a="http://schemas.openxmlformats.org/drawingml/2006/main" noGrp="1"/>
          </p:cNvSpPr>
          <p:nvPr/>
        </p:nvSpPr>
        <p:spPr>
          <a:xfrm xmlns:a="http://schemas.openxmlformats.org/drawingml/2006/main">
            <a:off x="952500" y="3429000"/>
            <a:ext cx="102870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400" b="1">
                <a:solidFill>
                  <a:srgbClr val="FFFFFF"/>
                </a:solidFill>
              </a:defRPr>
            </a:pPr>
            <a:r>
              <a:rPr sz="2400" b="1">
                <a:solidFill>
                  <a:srgbClr val="FFFFFF"/>
                </a:solidFill>
              </a:rPr>
              <a:t>Exceptional lessons start with connection</a:t>
            </a:r>
          </a:p>
        </p:txBody>
      </p:sp>
      <p:sp>
        <p:nvSpPr>
          <p:cNvPr id="9" name="">
            <a:extLst xmlns:a="http://schemas.openxmlformats.org/drawingml/2006/main">
              <a:ext uri="{FF2B5EF4-FFF2-40B4-BE49-F238E27FC236}">
                <a16:creationId xmlns:a16="http://schemas.microsoft.com/office/drawing/2014/main" id="{0AE2EE1E-9F1B-4880-91D2-3F487731C231}"/>
              </a:ext>
            </a:extLst>
          </p:cNvPr>
          <p:cNvSpPr>
            <a:spLocks xmlns:a="http://schemas.openxmlformats.org/drawingml/2006/main" noGrp="1"/>
          </p:cNvSpPr>
          <p:nvPr/>
        </p:nvSpPr>
        <p:spPr>
          <a:xfrm xmlns:a="http://schemas.openxmlformats.org/drawingml/2006/main">
            <a:off x="1714500" y="4476750"/>
            <a:ext cx="87630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200" b="0">
                <a:solidFill>
                  <a:srgbClr val="D8EBE4"/>
                </a:solidFill>
              </a:defRPr>
            </a:pPr>
            <a:r>
              <a:rPr sz="1200" b="0">
                <a:solidFill>
                  <a:srgbClr val="D8EBE4"/>
                </a:solidFill>
              </a:rPr>
              <a:t>Capture ideas. Build lessons. Connect with the best arts organisations — EYFS to A-level.</a:t>
            </a:r>
          </a:p>
        </p:txBody>
      </p:sp>
      <p:sp>
        <p:nvSpPr>
          <p:cNvPr id="10" name="">
            <a:extLst xmlns:a="http://schemas.openxmlformats.org/drawingml/2006/main">
              <a:ext uri="{FF2B5EF4-FFF2-40B4-BE49-F238E27FC236}">
                <a16:creationId xmlns:a16="http://schemas.microsoft.com/office/drawing/2014/main" id="{BC3CB556-E5AB-47B5-B3B0-2A0C6B978902}"/>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8FB5AD"/>
                </a:solidFill>
              </a:defRPr>
            </a:pPr>
            <a:r>
              <a:rPr sz="825" b="0">
                <a:solidFill>
                  <a:srgbClr val="8FB5AD"/>
                </a:solidFill>
              </a:rPr>
              <a:t>Creative Curriculum Designer</a:t>
            </a:r>
          </a:p>
        </p:txBody>
      </p:sp>
      <p:sp>
        <p:nvSpPr>
          <p:cNvPr id="11" name="">
            <a:extLst xmlns:a="http://schemas.openxmlformats.org/drawingml/2006/main">
              <a:ext uri="{FF2B5EF4-FFF2-40B4-BE49-F238E27FC236}">
                <a16:creationId xmlns:a16="http://schemas.microsoft.com/office/drawing/2014/main" id="{F8A00ABD-C11D-4192-8F03-434C07FB1075}"/>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8FB5AD"/>
                </a:solidFill>
              </a:defRPr>
            </a:pPr>
            <a:r>
              <a:rPr sz="825" b="0">
                <a:solidFill>
                  <a:srgbClr val="8FB5AD"/>
                </a:solidFill>
              </a:rPr>
              <a:t>01 / 25</a:t>
            </a:r>
          </a:p>
        </p:txBody>
      </p:sp>
    </p:spTree>
    <p:extLst>
      <p:ext uri="{BB962C8B-B14F-4D97-AF65-F5344CB8AC3E}">
        <p14:creationId xmlns:p14="http://schemas.microsoft.com/office/powerpoint/2010/main" val="1635548844"/>
      </p:ext>
    </p:extLst>
  </p:cSld>
</p:sld>
</file>

<file path=ppt/slides/slide2.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564A67AE-4793-4352-A24F-FC951D577F6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BBD1E78-A484-4484-96C4-DFCC21B82E91}"/>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BD8FFBD-7455-40C4-BD88-D11F537CA396}"/>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AFC217A5-485E-4F97-BB34-7340850F43A6}"/>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A proposal to the Arts Council</a:t>
            </a:r>
          </a:p>
        </p:txBody>
      </p:sp>
      <p:sp>
        <p:nvSpPr>
          <p:cNvPr id="6" name="">
            <a:extLst xmlns:a="http://schemas.openxmlformats.org/drawingml/2006/main">
              <a:ext uri="{FF2B5EF4-FFF2-40B4-BE49-F238E27FC236}">
                <a16:creationId xmlns:a16="http://schemas.microsoft.com/office/drawing/2014/main" id="{A3E1AA1D-8E4A-447B-A77B-2C5C71BB5815}"/>
              </a:ext>
            </a:extLst>
          </p:cNvPr>
          <p:cNvSpPr>
            <a:spLocks xmlns:a="http://schemas.openxmlformats.org/drawingml/2006/main" noGrp="1"/>
          </p:cNvSpPr>
          <p:nvPr/>
        </p:nvSpPr>
        <p:spPr>
          <a:xfrm xmlns:a="http://schemas.openxmlformats.org/drawingml/2006/main">
            <a:off x="609600" y="666750"/>
            <a:ext cx="8572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02D24"/>
                </a:solidFill>
              </a:defRPr>
            </a:pPr>
            <a:r>
              <a:rPr sz="1050" b="1">
                <a:solidFill>
                  <a:srgbClr val="002D24"/>
                </a:solidFill>
              </a:rPr>
              <a:t>Creative Curriculum Designer</a:t>
            </a:r>
          </a:p>
        </p:txBody>
      </p:sp>
      <p:sp>
        <p:nvSpPr>
          <p:cNvPr id="7" name="">
            <a:extLst xmlns:a="http://schemas.openxmlformats.org/drawingml/2006/main">
              <a:ext uri="{FF2B5EF4-FFF2-40B4-BE49-F238E27FC236}">
                <a16:creationId xmlns:a16="http://schemas.microsoft.com/office/drawing/2014/main" id="{77546D42-DB19-4649-9FD4-8EF39D41001D}"/>
              </a:ext>
            </a:extLst>
          </p:cNvPr>
          <p:cNvSpPr>
            <a:spLocks xmlns:a="http://schemas.openxmlformats.org/drawingml/2006/main" noGrp="1"/>
          </p:cNvSpPr>
          <p:nvPr/>
        </p:nvSpPr>
        <p:spPr>
          <a:xfrm xmlns:a="http://schemas.openxmlformats.org/drawingml/2006/main">
            <a:off x="609600" y="1143000"/>
            <a:ext cx="104775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002D24"/>
                </a:solidFill>
              </a:defRPr>
            </a:pPr>
            <a:r>
              <a:rPr sz="2700" b="1">
                <a:solidFill>
                  <a:srgbClr val="002D24"/>
                </a:solidFill>
              </a:rPr>
              <a:t>Bringing the arts together — for every child.</a:t>
            </a:r>
          </a:p>
        </p:txBody>
      </p:sp>
      <p:sp>
        <p:nvSpPr>
          <p:cNvPr id="8" name="">
            <a:extLst xmlns:a="http://schemas.openxmlformats.org/drawingml/2006/main">
              <a:ext uri="{FF2B5EF4-FFF2-40B4-BE49-F238E27FC236}">
                <a16:creationId xmlns:a16="http://schemas.microsoft.com/office/drawing/2014/main" id="{403958F9-14F4-45B0-B4DE-55592198F8CE}"/>
              </a:ext>
            </a:extLst>
          </p:cNvPr>
          <p:cNvSpPr>
            <a:spLocks xmlns:a="http://schemas.openxmlformats.org/drawingml/2006/main" noGrp="1"/>
          </p:cNvSpPr>
          <p:nvPr/>
        </p:nvSpPr>
        <p:spPr>
          <a:xfrm xmlns:a="http://schemas.openxmlformats.org/drawingml/2006/main">
            <a:off x="609600" y="2381250"/>
            <a:ext cx="95250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2A4548"/>
                </a:solidFill>
              </a:defRPr>
            </a:pPr>
            <a:r>
              <a:rPr sz="1200" b="0">
                <a:solidFill>
                  <a:srgbClr val="2A4548"/>
                </a:solidFill>
              </a:rPr>
              <a:t>One connected home for schools, arts organisations and practitioners — so exceptional creative opportunities reach the children who need them.</a:t>
            </a:r>
          </a:p>
        </p:txBody>
      </p:sp>
      <p:sp>
        <p:nvSpPr>
          <p:cNvPr id="9" name="">
            <a:extLst xmlns:a="http://schemas.openxmlformats.org/drawingml/2006/main">
              <a:ext uri="{FF2B5EF4-FFF2-40B4-BE49-F238E27FC236}">
                <a16:creationId xmlns:a16="http://schemas.microsoft.com/office/drawing/2014/main" id="{0723E28F-A3D0-4472-BAB0-1B6A031BBFDC}"/>
              </a:ext>
            </a:extLst>
          </p:cNvPr>
          <p:cNvSpPr>
            <a:spLocks xmlns:a="http://schemas.openxmlformats.org/drawingml/2006/main" noGrp="1"/>
          </p:cNvSpPr>
          <p:nvPr/>
        </p:nvSpPr>
        <p:spPr>
          <a:xfrm xmlns:a="http://schemas.openxmlformats.org/drawingml/2006/main">
            <a:off x="609600" y="3524250"/>
            <a:ext cx="8001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D97D8584-048B-49D9-99A3-0B1D8878490D}"/>
              </a:ext>
            </a:extLst>
          </p:cNvPr>
          <p:cNvSpPr>
            <a:spLocks xmlns:a="http://schemas.openxmlformats.org/drawingml/2006/main" noGrp="1"/>
          </p:cNvSpPr>
          <p:nvPr/>
        </p:nvSpPr>
        <p:spPr>
          <a:xfrm xmlns:a="http://schemas.openxmlformats.org/drawingml/2006/main">
            <a:off x="685800" y="3562350"/>
            <a:ext cx="647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Schools</a:t>
            </a:r>
          </a:p>
        </p:txBody>
      </p:sp>
      <p:sp>
        <p:nvSpPr>
          <p:cNvPr id="11" name="">
            <a:extLst xmlns:a="http://schemas.openxmlformats.org/drawingml/2006/main">
              <a:ext uri="{FF2B5EF4-FFF2-40B4-BE49-F238E27FC236}">
                <a16:creationId xmlns:a16="http://schemas.microsoft.com/office/drawing/2014/main" id="{A56C0139-C19F-47F0-9D87-62E6E8515234}"/>
              </a:ext>
            </a:extLst>
          </p:cNvPr>
          <p:cNvSpPr>
            <a:spLocks xmlns:a="http://schemas.openxmlformats.org/drawingml/2006/main" noGrp="1"/>
          </p:cNvSpPr>
          <p:nvPr/>
        </p:nvSpPr>
        <p:spPr>
          <a:xfrm xmlns:a="http://schemas.openxmlformats.org/drawingml/2006/main">
            <a:off x="1485900" y="3524250"/>
            <a:ext cx="9525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2CA6B49D-EF9B-498B-82C4-86934A463C42}"/>
              </a:ext>
            </a:extLst>
          </p:cNvPr>
          <p:cNvSpPr>
            <a:spLocks xmlns:a="http://schemas.openxmlformats.org/drawingml/2006/main" noGrp="1"/>
          </p:cNvSpPr>
          <p:nvPr/>
        </p:nvSpPr>
        <p:spPr>
          <a:xfrm xmlns:a="http://schemas.openxmlformats.org/drawingml/2006/main">
            <a:off x="1562100" y="3562350"/>
            <a:ext cx="800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Arts orgs</a:t>
            </a:r>
          </a:p>
        </p:txBody>
      </p:sp>
      <p:sp>
        <p:nvSpPr>
          <p:cNvPr id="13" name="">
            <a:extLst xmlns:a="http://schemas.openxmlformats.org/drawingml/2006/main">
              <a:ext uri="{FF2B5EF4-FFF2-40B4-BE49-F238E27FC236}">
                <a16:creationId xmlns:a16="http://schemas.microsoft.com/office/drawing/2014/main" id="{50A78916-41E0-455B-A5CF-990DB75EB62C}"/>
              </a:ext>
            </a:extLst>
          </p:cNvPr>
          <p:cNvSpPr>
            <a:spLocks xmlns:a="http://schemas.openxmlformats.org/drawingml/2006/main" noGrp="1"/>
          </p:cNvSpPr>
          <p:nvPr/>
        </p:nvSpPr>
        <p:spPr>
          <a:xfrm xmlns:a="http://schemas.openxmlformats.org/drawingml/2006/main">
            <a:off x="2514600" y="3524250"/>
            <a:ext cx="12573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5535EA38-C230-450A-8EDA-E2A630A29FAE}"/>
              </a:ext>
            </a:extLst>
          </p:cNvPr>
          <p:cNvSpPr>
            <a:spLocks xmlns:a="http://schemas.openxmlformats.org/drawingml/2006/main" noGrp="1"/>
          </p:cNvSpPr>
          <p:nvPr/>
        </p:nvSpPr>
        <p:spPr>
          <a:xfrm xmlns:a="http://schemas.openxmlformats.org/drawingml/2006/main">
            <a:off x="2590800" y="3562350"/>
            <a:ext cx="110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Practitioners</a:t>
            </a:r>
          </a:p>
        </p:txBody>
      </p:sp>
      <p:sp>
        <p:nvSpPr>
          <p:cNvPr id="15" name="">
            <a:extLst xmlns:a="http://schemas.openxmlformats.org/drawingml/2006/main">
              <a:ext uri="{FF2B5EF4-FFF2-40B4-BE49-F238E27FC236}">
                <a16:creationId xmlns:a16="http://schemas.microsoft.com/office/drawing/2014/main" id="{4CFD4C98-059A-415D-AFF7-72EF054A9BBC}"/>
              </a:ext>
            </a:extLst>
          </p:cNvPr>
          <p:cNvSpPr>
            <a:spLocks xmlns:a="http://schemas.openxmlformats.org/drawingml/2006/main" noGrp="1"/>
          </p:cNvSpPr>
          <p:nvPr/>
        </p:nvSpPr>
        <p:spPr>
          <a:xfrm xmlns:a="http://schemas.openxmlformats.org/drawingml/2006/main">
            <a:off x="3848100" y="3524250"/>
            <a:ext cx="8763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78B6F814-9257-4AFC-AE85-72EA5F6AA6EA}"/>
              </a:ext>
            </a:extLst>
          </p:cNvPr>
          <p:cNvSpPr>
            <a:spLocks xmlns:a="http://schemas.openxmlformats.org/drawingml/2006/main" noGrp="1"/>
          </p:cNvSpPr>
          <p:nvPr/>
        </p:nvSpPr>
        <p:spPr>
          <a:xfrm xmlns:a="http://schemas.openxmlformats.org/drawingml/2006/main">
            <a:off x="3924300" y="3562350"/>
            <a:ext cx="723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Children</a:t>
            </a:r>
          </a:p>
        </p:txBody>
      </p:sp>
      <p:sp>
        <p:nvSpPr>
          <p:cNvPr id="17" name="">
            <a:extLst xmlns:a="http://schemas.openxmlformats.org/drawingml/2006/main">
              <a:ext uri="{FF2B5EF4-FFF2-40B4-BE49-F238E27FC236}">
                <a16:creationId xmlns:a16="http://schemas.microsoft.com/office/drawing/2014/main" id="{BD54247F-1D28-46EF-9825-DAFCCAC3A6F5}"/>
              </a:ext>
            </a:extLst>
          </p:cNvPr>
          <p:cNvSpPr>
            <a:spLocks xmlns:a="http://schemas.openxmlformats.org/drawingml/2006/main" noGrp="1"/>
          </p:cNvSpPr>
          <p:nvPr/>
        </p:nvSpPr>
        <p:spPr>
          <a:xfrm xmlns:a="http://schemas.openxmlformats.org/drawingml/2006/main">
            <a:off x="609600" y="4095750"/>
            <a:ext cx="5715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002D24"/>
                </a:solidFill>
              </a:defRPr>
            </a:pPr>
            <a:r>
              <a:rPr sz="1200" b="1">
                <a:solidFill>
                  <a:srgbClr val="002D24"/>
                </a:solidFill>
              </a:rPr>
              <a:t>www.ccdesigner.co.uk</a:t>
            </a:r>
          </a:p>
        </p:txBody>
      </p:sp>
      <p:sp>
        <p:nvSpPr>
          <p:cNvPr id="18" name="">
            <a:extLst xmlns:a="http://schemas.openxmlformats.org/drawingml/2006/main">
              <a:ext uri="{FF2B5EF4-FFF2-40B4-BE49-F238E27FC236}">
                <a16:creationId xmlns:a16="http://schemas.microsoft.com/office/drawing/2014/main" id="{5535F8C0-2390-46F2-AD20-738948066031}"/>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19" name="">
            <a:extLst xmlns:a="http://schemas.openxmlformats.org/drawingml/2006/main">
              <a:ext uri="{FF2B5EF4-FFF2-40B4-BE49-F238E27FC236}">
                <a16:creationId xmlns:a16="http://schemas.microsoft.com/office/drawing/2014/main" id="{C15AB957-0D8A-44CB-9A8E-024155D7627C}"/>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02 / 25</a:t>
            </a:r>
          </a:p>
        </p:txBody>
      </p:sp>
    </p:spTree>
    <p:extLst>
      <p:ext uri="{BB962C8B-B14F-4D97-AF65-F5344CB8AC3E}">
        <p14:creationId xmlns:p14="http://schemas.microsoft.com/office/powerpoint/2010/main" val="2080589112"/>
      </p:ext>
    </p:extLst>
  </p:cSld>
</p:sld>
</file>

<file path=ppt/slides/slide3.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8B019405-7236-4B9C-83D4-4FD974D7BC4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68BA6AE-DCFE-46CC-A354-5B0A1C5F9243}"/>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6DDFD19-5C98-4603-BBA5-AA3B19499D2B}"/>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C862963-8600-4AFB-AB19-4816311EAF28}"/>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The problem</a:t>
            </a:r>
          </a:p>
        </p:txBody>
      </p:sp>
      <p:sp>
        <p:nvSpPr>
          <p:cNvPr id="6" name="">
            <a:extLst xmlns:a="http://schemas.openxmlformats.org/drawingml/2006/main">
              <a:ext uri="{FF2B5EF4-FFF2-40B4-BE49-F238E27FC236}">
                <a16:creationId xmlns:a16="http://schemas.microsoft.com/office/drawing/2014/main" id="{255D5F35-315E-4B67-8452-7EB5FCAF0F4B}"/>
              </a:ext>
            </a:extLst>
          </p:cNvPr>
          <p:cNvSpPr>
            <a:spLocks xmlns:a="http://schemas.openxmlformats.org/drawingml/2006/main" noGrp="1"/>
          </p:cNvSpPr>
          <p:nvPr/>
        </p:nvSpPr>
        <p:spPr>
          <a:xfrm xmlns:a="http://schemas.openxmlformats.org/drawingml/2006/main">
            <a:off x="609600" y="647700"/>
            <a:ext cx="109537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002D24"/>
                </a:solidFill>
              </a:defRPr>
            </a:pPr>
            <a:r>
              <a:rPr sz="2250" b="1">
                <a:solidFill>
                  <a:srgbClr val="002D24"/>
                </a:solidFill>
              </a:rPr>
              <a:t>Arts teachers are working alone.</a:t>
            </a:r>
          </a:p>
        </p:txBody>
      </p:sp>
      <p:sp>
        <p:nvSpPr>
          <p:cNvPr id="7" name="">
            <a:extLst xmlns:a="http://schemas.openxmlformats.org/drawingml/2006/main">
              <a:ext uri="{FF2B5EF4-FFF2-40B4-BE49-F238E27FC236}">
                <a16:creationId xmlns:a16="http://schemas.microsoft.com/office/drawing/2014/main" id="{B8BB6BF6-EA0E-4765-BA3F-FDB175057071}"/>
              </a:ext>
            </a:extLst>
          </p:cNvPr>
          <p:cNvSpPr>
            <a:spLocks xmlns:a="http://schemas.openxmlformats.org/drawingml/2006/main" noGrp="1"/>
          </p:cNvSpPr>
          <p:nvPr/>
        </p:nvSpPr>
        <p:spPr>
          <a:xfrm xmlns:a="http://schemas.openxmlformats.org/drawingml/2006/main">
            <a:off x="609600" y="1428750"/>
            <a:ext cx="109537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2A4548"/>
                </a:solidFill>
              </a:defRPr>
            </a:pPr>
            <a:r>
              <a:rPr sz="1125" b="0">
                <a:solidFill>
                  <a:srgbClr val="2A4548"/>
                </a:solidFill>
              </a:rPr>
              <a:t>Drama, dance and music teachers stitch a year together from PDFs, shared drives, photocopied schemes and last year's tabs — often as the only specialist in the building. Great practice gets lost; non-specialists are left guessing.</a:t>
            </a:r>
          </a:p>
        </p:txBody>
      </p:sp>
      <p:sp>
        <p:nvSpPr>
          <p:cNvPr id="8" name="">
            <a:extLst xmlns:a="http://schemas.openxmlformats.org/drawingml/2006/main">
              <a:ext uri="{FF2B5EF4-FFF2-40B4-BE49-F238E27FC236}">
                <a16:creationId xmlns:a16="http://schemas.microsoft.com/office/drawing/2014/main" id="{9794FCDE-20BC-4025-AA26-4F5A7FE99C4A}"/>
              </a:ext>
            </a:extLst>
          </p:cNvPr>
          <p:cNvSpPr>
            <a:spLocks xmlns:a="http://schemas.openxmlformats.org/drawingml/2006/main" noGrp="1"/>
          </p:cNvSpPr>
          <p:nvPr/>
        </p:nvSpPr>
        <p:spPr>
          <a:xfrm xmlns:a="http://schemas.openxmlformats.org/drawingml/2006/main">
            <a:off x="609600" y="2305050"/>
            <a:ext cx="2667000" cy="952500"/>
          </a:xfrm>
          <a:prstGeom xmlns:a="http://schemas.openxmlformats.org/drawingml/2006/main" prst="roundRect">
            <a:avLst>
              <a:gd name="adj" fmla="val 8000"/>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C714012B-1DCD-4798-BFF7-D83790D7C921}"/>
              </a:ext>
            </a:extLst>
          </p:cNvPr>
          <p:cNvSpPr>
            <a:spLocks xmlns:a="http://schemas.openxmlformats.org/drawingml/2006/main" noGrp="1"/>
          </p:cNvSpPr>
          <p:nvPr/>
        </p:nvSpPr>
        <p:spPr>
          <a:xfrm xmlns:a="http://schemas.openxmlformats.org/drawingml/2006/main">
            <a:off x="762000" y="2438400"/>
            <a:ext cx="2362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3228"/>
          </a:bodyPr>
          <a:lstStyle xmlns:a="http://schemas.openxmlformats.org/drawingml/2006/main"/>
          <a:p xmlns:a="http://schemas.openxmlformats.org/drawingml/2006/main">
            <a:pPr algn="l">
              <a:defRPr sz="2550" b="1">
                <a:solidFill>
                  <a:srgbClr val="B6FF7E"/>
                </a:solidFill>
              </a:defRPr>
            </a:pPr>
            <a:r>
              <a:rPr sz="2550" b="1">
                <a:solidFill>
                  <a:srgbClr val="B6FF7E"/>
                </a:solidFill>
              </a:rPr>
              <a:t>5+</a:t>
            </a:r>
          </a:p>
        </p:txBody>
      </p:sp>
      <p:sp>
        <p:nvSpPr>
          <p:cNvPr id="10" name="">
            <a:extLst xmlns:a="http://schemas.openxmlformats.org/drawingml/2006/main">
              <a:ext uri="{FF2B5EF4-FFF2-40B4-BE49-F238E27FC236}">
                <a16:creationId xmlns:a16="http://schemas.microsoft.com/office/drawing/2014/main" id="{5D9A99DA-2481-411D-9D08-A03C1741AAAF}"/>
              </a:ext>
            </a:extLst>
          </p:cNvPr>
          <p:cNvSpPr>
            <a:spLocks xmlns:a="http://schemas.openxmlformats.org/drawingml/2006/main" noGrp="1"/>
          </p:cNvSpPr>
          <p:nvPr/>
        </p:nvSpPr>
        <p:spPr>
          <a:xfrm xmlns:a="http://schemas.openxmlformats.org/drawingml/2006/main">
            <a:off x="3429000" y="2457450"/>
            <a:ext cx="80962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2A4548"/>
                </a:solidFill>
              </a:defRPr>
            </a:pPr>
            <a:r>
              <a:rPr sz="1050" b="0">
                <a:solidFill>
                  <a:srgbClr val="2A4548"/>
                </a:solidFill>
              </a:rPr>
              <a:t>hours a week the average teacher spends planning outside of class — most of it reinventing what someone, somewhere has already made.</a:t>
            </a:r>
          </a:p>
        </p:txBody>
      </p:sp>
      <p:sp>
        <p:nvSpPr>
          <p:cNvPr id="11" name="">
            <a:extLst xmlns:a="http://schemas.openxmlformats.org/drawingml/2006/main">
              <a:ext uri="{FF2B5EF4-FFF2-40B4-BE49-F238E27FC236}">
                <a16:creationId xmlns:a16="http://schemas.microsoft.com/office/drawing/2014/main" id="{F17F16F4-9189-4C91-805B-F586EEB2CB20}"/>
              </a:ext>
            </a:extLst>
          </p:cNvPr>
          <p:cNvSpPr>
            <a:spLocks xmlns:a="http://schemas.openxmlformats.org/drawingml/2006/main" noGrp="1"/>
          </p:cNvSpPr>
          <p:nvPr/>
        </p:nvSpPr>
        <p:spPr>
          <a:xfrm xmlns:a="http://schemas.openxmlformats.org/drawingml/2006/main">
            <a:off x="609600" y="3448050"/>
            <a:ext cx="356235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D7E4DF"/>
            </a:solidFill>
            <a:prstDash val="solid"/>
          </a:ln>
        </p:spPr>
      </p:sp>
      <p:sp>
        <p:nvSpPr>
          <p:cNvPr id="12" name="">
            <a:extLst xmlns:a="http://schemas.openxmlformats.org/drawingml/2006/main">
              <a:ext uri="{FF2B5EF4-FFF2-40B4-BE49-F238E27FC236}">
                <a16:creationId xmlns:a16="http://schemas.microsoft.com/office/drawing/2014/main" id="{A1423ACB-A4D8-41B3-9350-E6B8146DA716}"/>
              </a:ext>
            </a:extLst>
          </p:cNvPr>
          <p:cNvSpPr>
            <a:spLocks xmlns:a="http://schemas.openxmlformats.org/drawingml/2006/main" noGrp="1"/>
          </p:cNvSpPr>
          <p:nvPr/>
        </p:nvSpPr>
        <p:spPr>
          <a:xfrm xmlns:a="http://schemas.openxmlformats.org/drawingml/2006/main">
            <a:off x="723900" y="3562350"/>
            <a:ext cx="3333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01</a:t>
            </a:r>
          </a:p>
        </p:txBody>
      </p:sp>
      <p:sp>
        <p:nvSpPr>
          <p:cNvPr id="13" name="">
            <a:extLst xmlns:a="http://schemas.openxmlformats.org/drawingml/2006/main">
              <a:ext uri="{FF2B5EF4-FFF2-40B4-BE49-F238E27FC236}">
                <a16:creationId xmlns:a16="http://schemas.microsoft.com/office/drawing/2014/main" id="{1551A7B9-21C1-4CBB-BB4A-77CD31673C34}"/>
              </a:ext>
            </a:extLst>
          </p:cNvPr>
          <p:cNvSpPr>
            <a:spLocks xmlns:a="http://schemas.openxmlformats.org/drawingml/2006/main" noGrp="1"/>
          </p:cNvSpPr>
          <p:nvPr/>
        </p:nvSpPr>
        <p:spPr>
          <a:xfrm xmlns:a="http://schemas.openxmlformats.org/drawingml/2006/main">
            <a:off x="723900" y="3771900"/>
            <a:ext cx="3333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Practice lives in too many places</a:t>
            </a:r>
          </a:p>
        </p:txBody>
      </p:sp>
      <p:sp>
        <p:nvSpPr>
          <p:cNvPr id="14" name="">
            <a:extLst xmlns:a="http://schemas.openxmlformats.org/drawingml/2006/main">
              <a:ext uri="{FF2B5EF4-FFF2-40B4-BE49-F238E27FC236}">
                <a16:creationId xmlns:a16="http://schemas.microsoft.com/office/drawing/2014/main" id="{81151116-C672-4EC9-99E6-1BC47E5CABAB}"/>
              </a:ext>
            </a:extLst>
          </p:cNvPr>
          <p:cNvSpPr>
            <a:spLocks xmlns:a="http://schemas.openxmlformats.org/drawingml/2006/main" noGrp="1"/>
          </p:cNvSpPr>
          <p:nvPr/>
        </p:nvSpPr>
        <p:spPr>
          <a:xfrm xmlns:a="http://schemas.openxmlformats.org/drawingml/2006/main">
            <a:off x="723900" y="4171950"/>
            <a:ext cx="33337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Schemes in folders, rehearsal notes on a phone, warm-ups in a notebook. Nothing connects, nothing carries forward.</a:t>
            </a:r>
          </a:p>
        </p:txBody>
      </p:sp>
      <p:sp>
        <p:nvSpPr>
          <p:cNvPr id="15" name="">
            <a:extLst xmlns:a="http://schemas.openxmlformats.org/drawingml/2006/main">
              <a:ext uri="{FF2B5EF4-FFF2-40B4-BE49-F238E27FC236}">
                <a16:creationId xmlns:a16="http://schemas.microsoft.com/office/drawing/2014/main" id="{EF69868F-3851-441C-818E-5A1480C2FBC9}"/>
              </a:ext>
            </a:extLst>
          </p:cNvPr>
          <p:cNvSpPr>
            <a:spLocks xmlns:a="http://schemas.openxmlformats.org/drawingml/2006/main" noGrp="1"/>
          </p:cNvSpPr>
          <p:nvPr/>
        </p:nvSpPr>
        <p:spPr>
          <a:xfrm xmlns:a="http://schemas.openxmlformats.org/drawingml/2006/main">
            <a:off x="4305300" y="3448050"/>
            <a:ext cx="356235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D7E4DF"/>
            </a:solidFill>
            <a:prstDash val="solid"/>
          </a:ln>
        </p:spPr>
      </p:sp>
      <p:sp>
        <p:nvSpPr>
          <p:cNvPr id="16" name="">
            <a:extLst xmlns:a="http://schemas.openxmlformats.org/drawingml/2006/main">
              <a:ext uri="{FF2B5EF4-FFF2-40B4-BE49-F238E27FC236}">
                <a16:creationId xmlns:a16="http://schemas.microsoft.com/office/drawing/2014/main" id="{2EF42C0C-7274-47F8-BE9C-57E1F0D16C5B}"/>
              </a:ext>
            </a:extLst>
          </p:cNvPr>
          <p:cNvSpPr>
            <a:spLocks xmlns:a="http://schemas.openxmlformats.org/drawingml/2006/main" noGrp="1"/>
          </p:cNvSpPr>
          <p:nvPr/>
        </p:nvSpPr>
        <p:spPr>
          <a:xfrm xmlns:a="http://schemas.openxmlformats.org/drawingml/2006/main">
            <a:off x="4419600" y="3562350"/>
            <a:ext cx="3333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02</a:t>
            </a:r>
          </a:p>
        </p:txBody>
      </p:sp>
      <p:sp>
        <p:nvSpPr>
          <p:cNvPr id="17" name="">
            <a:extLst xmlns:a="http://schemas.openxmlformats.org/drawingml/2006/main">
              <a:ext uri="{FF2B5EF4-FFF2-40B4-BE49-F238E27FC236}">
                <a16:creationId xmlns:a16="http://schemas.microsoft.com/office/drawing/2014/main" id="{DAF885FA-11BF-4F14-AE94-4293F1C0C6FC}"/>
              </a:ext>
            </a:extLst>
          </p:cNvPr>
          <p:cNvSpPr>
            <a:spLocks xmlns:a="http://schemas.openxmlformats.org/drawingml/2006/main" noGrp="1"/>
          </p:cNvSpPr>
          <p:nvPr/>
        </p:nvSpPr>
        <p:spPr>
          <a:xfrm xmlns:a="http://schemas.openxmlformats.org/drawingml/2006/main">
            <a:off x="4419600" y="3771900"/>
            <a:ext cx="3333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The bigger arc is invisible</a:t>
            </a:r>
          </a:p>
        </p:txBody>
      </p:sp>
      <p:sp>
        <p:nvSpPr>
          <p:cNvPr id="18" name="">
            <a:extLst xmlns:a="http://schemas.openxmlformats.org/drawingml/2006/main">
              <a:ext uri="{FF2B5EF4-FFF2-40B4-BE49-F238E27FC236}">
                <a16:creationId xmlns:a16="http://schemas.microsoft.com/office/drawing/2014/main" id="{4907009E-277B-4AB8-88C0-518DDAE66661}"/>
              </a:ext>
            </a:extLst>
          </p:cNvPr>
          <p:cNvSpPr>
            <a:spLocks xmlns:a="http://schemas.openxmlformats.org/drawingml/2006/main" noGrp="1"/>
          </p:cNvSpPr>
          <p:nvPr/>
        </p:nvSpPr>
        <p:spPr>
          <a:xfrm xmlns:a="http://schemas.openxmlformats.org/drawingml/2006/main">
            <a:off x="4419600" y="4171950"/>
            <a:ext cx="33337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It's hard to see how a term, a key stage, or a whole creative journey fits together — let alone shape it without starting over.</a:t>
            </a:r>
          </a:p>
        </p:txBody>
      </p:sp>
      <p:sp>
        <p:nvSpPr>
          <p:cNvPr id="19" name="">
            <a:extLst xmlns:a="http://schemas.openxmlformats.org/drawingml/2006/main">
              <a:ext uri="{FF2B5EF4-FFF2-40B4-BE49-F238E27FC236}">
                <a16:creationId xmlns:a16="http://schemas.microsoft.com/office/drawing/2014/main" id="{95A5B3B9-8BE9-48BC-86F1-59E69C6FF5F6}"/>
              </a:ext>
            </a:extLst>
          </p:cNvPr>
          <p:cNvSpPr>
            <a:spLocks xmlns:a="http://schemas.openxmlformats.org/drawingml/2006/main" noGrp="1"/>
          </p:cNvSpPr>
          <p:nvPr/>
        </p:nvSpPr>
        <p:spPr>
          <a:xfrm xmlns:a="http://schemas.openxmlformats.org/drawingml/2006/main">
            <a:off x="8001000" y="3448050"/>
            <a:ext cx="356235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D7E4DF"/>
            </a:solidFill>
            <a:prstDash val="solid"/>
          </a:ln>
        </p:spPr>
      </p:sp>
      <p:sp>
        <p:nvSpPr>
          <p:cNvPr id="20" name="">
            <a:extLst xmlns:a="http://schemas.openxmlformats.org/drawingml/2006/main">
              <a:ext uri="{FF2B5EF4-FFF2-40B4-BE49-F238E27FC236}">
                <a16:creationId xmlns:a16="http://schemas.microsoft.com/office/drawing/2014/main" id="{854A378A-6C47-4156-B157-AB5DDB716F34}"/>
              </a:ext>
            </a:extLst>
          </p:cNvPr>
          <p:cNvSpPr>
            <a:spLocks xmlns:a="http://schemas.openxmlformats.org/drawingml/2006/main" noGrp="1"/>
          </p:cNvSpPr>
          <p:nvPr/>
        </p:nvSpPr>
        <p:spPr>
          <a:xfrm xmlns:a="http://schemas.openxmlformats.org/drawingml/2006/main">
            <a:off x="8115300" y="3562350"/>
            <a:ext cx="3333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03</a:t>
            </a:r>
          </a:p>
        </p:txBody>
      </p:sp>
      <p:sp>
        <p:nvSpPr>
          <p:cNvPr id="21" name="">
            <a:extLst xmlns:a="http://schemas.openxmlformats.org/drawingml/2006/main">
              <a:ext uri="{FF2B5EF4-FFF2-40B4-BE49-F238E27FC236}">
                <a16:creationId xmlns:a16="http://schemas.microsoft.com/office/drawing/2014/main" id="{2E995D24-7433-409E-977B-9A19548F9945}"/>
              </a:ext>
            </a:extLst>
          </p:cNvPr>
          <p:cNvSpPr>
            <a:spLocks xmlns:a="http://schemas.openxmlformats.org/drawingml/2006/main" noGrp="1"/>
          </p:cNvSpPr>
          <p:nvPr/>
        </p:nvSpPr>
        <p:spPr>
          <a:xfrm xmlns:a="http://schemas.openxmlformats.org/drawingml/2006/main">
            <a:off x="8115300" y="3771900"/>
            <a:ext cx="3333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Creative practice gets lost</a:t>
            </a:r>
          </a:p>
        </p:txBody>
      </p:sp>
      <p:sp>
        <p:nvSpPr>
          <p:cNvPr id="22" name="">
            <a:extLst xmlns:a="http://schemas.openxmlformats.org/drawingml/2006/main">
              <a:ext uri="{FF2B5EF4-FFF2-40B4-BE49-F238E27FC236}">
                <a16:creationId xmlns:a16="http://schemas.microsoft.com/office/drawing/2014/main" id="{1A7E5BE1-5219-492A-886E-F87BB26EDC2C}"/>
              </a:ext>
            </a:extLst>
          </p:cNvPr>
          <p:cNvSpPr>
            <a:spLocks xmlns:a="http://schemas.openxmlformats.org/drawingml/2006/main" noGrp="1"/>
          </p:cNvSpPr>
          <p:nvPr/>
        </p:nvSpPr>
        <p:spPr>
          <a:xfrm xmlns:a="http://schemas.openxmlformats.org/drawingml/2006/main">
            <a:off x="8115300" y="4171950"/>
            <a:ext cx="33337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Teaching is creative work — but the warm-up that worked, the rehearsal that landed, the unit a colleague nailed disappear into forgotten documents by July, learned again the hard way next September.</a:t>
            </a:r>
          </a:p>
        </p:txBody>
      </p:sp>
      <p:sp>
        <p:nvSpPr>
          <p:cNvPr id="23" name="">
            <a:extLst xmlns:a="http://schemas.openxmlformats.org/drawingml/2006/main">
              <a:ext uri="{FF2B5EF4-FFF2-40B4-BE49-F238E27FC236}">
                <a16:creationId xmlns:a16="http://schemas.microsoft.com/office/drawing/2014/main" id="{33DC5F79-B70A-40D4-BCA6-8C52DD239952}"/>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24" name="">
            <a:extLst xmlns:a="http://schemas.openxmlformats.org/drawingml/2006/main">
              <a:ext uri="{FF2B5EF4-FFF2-40B4-BE49-F238E27FC236}">
                <a16:creationId xmlns:a16="http://schemas.microsoft.com/office/drawing/2014/main" id="{289BC955-5D82-462A-8098-67449EF1FC77}"/>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03 / 25</a:t>
            </a:r>
          </a:p>
        </p:txBody>
      </p:sp>
    </p:spTree>
    <p:extLst>
      <p:ext uri="{BB962C8B-B14F-4D97-AF65-F5344CB8AC3E}">
        <p14:creationId xmlns:p14="http://schemas.microsoft.com/office/powerpoint/2010/main" val="1310302630"/>
      </p:ext>
    </p:extLst>
  </p:cSld>
</p:sld>
</file>

<file path=ppt/slides/slide4.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58C5D36-EC83-48C2-B485-3B7B59F0BCB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A48A68A-E897-43DC-8984-025D123B984C}"/>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06DEEC4-00F1-4EEE-9BC9-747CC13B1B11}"/>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F94BF05-B62F-44A9-B63C-9BD2E8D22BE2}"/>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Why now · the case for the arts</a:t>
            </a:r>
          </a:p>
        </p:txBody>
      </p:sp>
      <p:sp>
        <p:nvSpPr>
          <p:cNvPr id="6" name="">
            <a:extLst xmlns:a="http://schemas.openxmlformats.org/drawingml/2006/main">
              <a:ext uri="{FF2B5EF4-FFF2-40B4-BE49-F238E27FC236}">
                <a16:creationId xmlns:a16="http://schemas.microsoft.com/office/drawing/2014/main" id="{9F358D69-A407-4DB8-8D41-E7C297EE629C}"/>
              </a:ext>
            </a:extLst>
          </p:cNvPr>
          <p:cNvSpPr>
            <a:spLocks xmlns:a="http://schemas.openxmlformats.org/drawingml/2006/main" noGrp="1"/>
          </p:cNvSpPr>
          <p:nvPr/>
        </p:nvSpPr>
        <p:spPr>
          <a:xfrm xmlns:a="http://schemas.openxmlformats.org/drawingml/2006/main">
            <a:off x="609600" y="647700"/>
            <a:ext cx="109537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02D24"/>
                </a:solidFill>
              </a:defRPr>
            </a:pPr>
            <a:r>
              <a:rPr sz="2100" b="1">
                <a:solidFill>
                  <a:srgbClr val="002D24"/>
                </a:solidFill>
              </a:rPr>
              <a:t>The arts in higher education are at a tipping point.</a:t>
            </a:r>
          </a:p>
        </p:txBody>
      </p:sp>
      <p:sp>
        <p:nvSpPr>
          <p:cNvPr id="7" name="">
            <a:extLst xmlns:a="http://schemas.openxmlformats.org/drawingml/2006/main">
              <a:ext uri="{FF2B5EF4-FFF2-40B4-BE49-F238E27FC236}">
                <a16:creationId xmlns:a16="http://schemas.microsoft.com/office/drawing/2014/main" id="{D7780322-EA83-4970-B023-29B2E44412C6}"/>
              </a:ext>
            </a:extLst>
          </p:cNvPr>
          <p:cNvSpPr>
            <a:spLocks xmlns:a="http://schemas.openxmlformats.org/drawingml/2006/main" noGrp="1"/>
          </p:cNvSpPr>
          <p:nvPr/>
        </p:nvSpPr>
        <p:spPr>
          <a:xfrm xmlns:a="http://schemas.openxmlformats.org/drawingml/2006/main">
            <a:off x="609600" y="1428750"/>
            <a:ext cx="109537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2A4548"/>
                </a:solidFill>
              </a:defRPr>
            </a:pPr>
            <a:r>
              <a:rPr sz="1125" b="0">
                <a:solidFill>
                  <a:srgbClr val="2A4548"/>
                </a:solidFill>
              </a:rPr>
              <a:t>Drama, music and dance courses at UK universities are being merged, paused and closed. The pipeline that feeds the West End, our orchestras, our touring dance companies — and every primary classroom that sings — starts in the schools we teach in today. If the practice we share now is thin, the cohort that arrives at university in five years will be too.</a:t>
            </a:r>
          </a:p>
        </p:txBody>
      </p:sp>
      <p:sp>
        <p:nvSpPr>
          <p:cNvPr id="8" name="">
            <a:extLst xmlns:a="http://schemas.openxmlformats.org/drawingml/2006/main">
              <a:ext uri="{FF2B5EF4-FFF2-40B4-BE49-F238E27FC236}">
                <a16:creationId xmlns:a16="http://schemas.microsoft.com/office/drawing/2014/main" id="{CC949608-EBD2-4ECB-B8F2-0D0D3B80E83C}"/>
              </a:ext>
            </a:extLst>
          </p:cNvPr>
          <p:cNvSpPr>
            <a:spLocks xmlns:a="http://schemas.openxmlformats.org/drawingml/2006/main" noGrp="1"/>
          </p:cNvSpPr>
          <p:nvPr/>
        </p:nvSpPr>
        <p:spPr>
          <a:xfrm xmlns:a="http://schemas.openxmlformats.org/drawingml/2006/main">
            <a:off x="609600" y="2438400"/>
            <a:ext cx="10953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002D24"/>
                </a:solidFill>
              </a:defRPr>
            </a:pPr>
            <a:r>
              <a:rPr sz="1125" b="1" i="1">
                <a:solidFill>
                  <a:srgbClr val="002D24"/>
                </a:solidFill>
              </a:rPr>
              <a:t>"We don't get a second chance at a generation of artists."</a:t>
            </a:r>
          </a:p>
        </p:txBody>
      </p:sp>
      <p:sp>
        <p:nvSpPr>
          <p:cNvPr id="9" name="">
            <a:extLst xmlns:a="http://schemas.openxmlformats.org/drawingml/2006/main">
              <a:ext uri="{FF2B5EF4-FFF2-40B4-BE49-F238E27FC236}">
                <a16:creationId xmlns:a16="http://schemas.microsoft.com/office/drawing/2014/main" id="{8CB55533-A582-4FC4-A1D0-7D292E4F296A}"/>
              </a:ext>
            </a:extLst>
          </p:cNvPr>
          <p:cNvSpPr>
            <a:spLocks xmlns:a="http://schemas.openxmlformats.org/drawingml/2006/main" noGrp="1"/>
          </p:cNvSpPr>
          <p:nvPr/>
        </p:nvSpPr>
        <p:spPr>
          <a:xfrm xmlns:a="http://schemas.openxmlformats.org/drawingml/2006/main">
            <a:off x="609600" y="2857500"/>
            <a:ext cx="263842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0" name="">
            <a:extLst xmlns:a="http://schemas.openxmlformats.org/drawingml/2006/main">
              <a:ext uri="{FF2B5EF4-FFF2-40B4-BE49-F238E27FC236}">
                <a16:creationId xmlns:a16="http://schemas.microsoft.com/office/drawing/2014/main" id="{7D30466B-487A-4E15-BCF4-C88C9E15FFBD}"/>
              </a:ext>
            </a:extLst>
          </p:cNvPr>
          <p:cNvSpPr>
            <a:spLocks xmlns:a="http://schemas.openxmlformats.org/drawingml/2006/main" noGrp="1"/>
          </p:cNvSpPr>
          <p:nvPr/>
        </p:nvSpPr>
        <p:spPr>
          <a:xfrm xmlns:a="http://schemas.openxmlformats.org/drawingml/2006/main">
            <a:off x="723900" y="2971800"/>
            <a:ext cx="240982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0F2A2E"/>
                </a:solidFill>
              </a:defRPr>
            </a:pPr>
            <a:r>
              <a:rPr sz="1800" b="1">
                <a:solidFill>
                  <a:srgbClr val="0F2A2E"/>
                </a:solidFill>
              </a:rPr>
              <a:t>49</a:t>
            </a:r>
          </a:p>
        </p:txBody>
      </p:sp>
      <p:sp>
        <p:nvSpPr>
          <p:cNvPr id="11" name="">
            <a:extLst xmlns:a="http://schemas.openxmlformats.org/drawingml/2006/main">
              <a:ext uri="{FF2B5EF4-FFF2-40B4-BE49-F238E27FC236}">
                <a16:creationId xmlns:a16="http://schemas.microsoft.com/office/drawing/2014/main" id="{0E5279D3-0327-49C1-AD4D-4E9E5995CAE3}"/>
              </a:ext>
            </a:extLst>
          </p:cNvPr>
          <p:cNvSpPr>
            <a:spLocks xmlns:a="http://schemas.openxmlformats.org/drawingml/2006/main" noGrp="1"/>
          </p:cNvSpPr>
          <p:nvPr/>
        </p:nvSpPr>
        <p:spPr>
          <a:xfrm xmlns:a="http://schemas.openxmlformats.org/drawingml/2006/main">
            <a:off x="723900" y="3371850"/>
            <a:ext cx="2409825"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UK universities have closed, merged or paused arts &amp; humanities courses since 2023.</a:t>
            </a:r>
          </a:p>
        </p:txBody>
      </p:sp>
      <p:sp>
        <p:nvSpPr>
          <p:cNvPr id="12" name="">
            <a:extLst xmlns:a="http://schemas.openxmlformats.org/drawingml/2006/main">
              <a:ext uri="{FF2B5EF4-FFF2-40B4-BE49-F238E27FC236}">
                <a16:creationId xmlns:a16="http://schemas.microsoft.com/office/drawing/2014/main" id="{5DE9B9FC-A9AF-4ECF-9185-826662134E03}"/>
              </a:ext>
            </a:extLst>
          </p:cNvPr>
          <p:cNvSpPr>
            <a:spLocks xmlns:a="http://schemas.openxmlformats.org/drawingml/2006/main" noGrp="1"/>
          </p:cNvSpPr>
          <p:nvPr/>
        </p:nvSpPr>
        <p:spPr>
          <a:xfrm xmlns:a="http://schemas.openxmlformats.org/drawingml/2006/main">
            <a:off x="3381375" y="2857500"/>
            <a:ext cx="263842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3" name="">
            <a:extLst xmlns:a="http://schemas.openxmlformats.org/drawingml/2006/main">
              <a:ext uri="{FF2B5EF4-FFF2-40B4-BE49-F238E27FC236}">
                <a16:creationId xmlns:a16="http://schemas.microsoft.com/office/drawing/2014/main" id="{910436E6-12A1-4D0C-A711-75B5D35F349A}"/>
              </a:ext>
            </a:extLst>
          </p:cNvPr>
          <p:cNvSpPr>
            <a:spLocks xmlns:a="http://schemas.openxmlformats.org/drawingml/2006/main" noGrp="1"/>
          </p:cNvSpPr>
          <p:nvPr/>
        </p:nvSpPr>
        <p:spPr>
          <a:xfrm xmlns:a="http://schemas.openxmlformats.org/drawingml/2006/main">
            <a:off x="3495675" y="2971800"/>
            <a:ext cx="240982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0F2A2E"/>
                </a:solidFill>
              </a:defRPr>
            </a:pPr>
            <a:r>
              <a:rPr sz="1800" b="1">
                <a:solidFill>
                  <a:srgbClr val="0F2A2E"/>
                </a:solidFill>
              </a:rPr>
              <a:t>-47%</a:t>
            </a:r>
          </a:p>
        </p:txBody>
      </p:sp>
      <p:sp>
        <p:nvSpPr>
          <p:cNvPr id="14" name="">
            <a:extLst xmlns:a="http://schemas.openxmlformats.org/drawingml/2006/main">
              <a:ext uri="{FF2B5EF4-FFF2-40B4-BE49-F238E27FC236}">
                <a16:creationId xmlns:a16="http://schemas.microsoft.com/office/drawing/2014/main" id="{413967E8-BC4A-4FCC-A647-FDD1D26363AE}"/>
              </a:ext>
            </a:extLst>
          </p:cNvPr>
          <p:cNvSpPr>
            <a:spLocks xmlns:a="http://schemas.openxmlformats.org/drawingml/2006/main" noGrp="1"/>
          </p:cNvSpPr>
          <p:nvPr/>
        </p:nvSpPr>
        <p:spPr>
          <a:xfrm xmlns:a="http://schemas.openxmlformats.org/drawingml/2006/main">
            <a:off x="3495675" y="3371850"/>
            <a:ext cx="2409825"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fall in arts GCSE entries since the EBacc was introduced.</a:t>
            </a:r>
          </a:p>
        </p:txBody>
      </p:sp>
      <p:sp>
        <p:nvSpPr>
          <p:cNvPr id="15" name="">
            <a:extLst xmlns:a="http://schemas.openxmlformats.org/drawingml/2006/main">
              <a:ext uri="{FF2B5EF4-FFF2-40B4-BE49-F238E27FC236}">
                <a16:creationId xmlns:a16="http://schemas.microsoft.com/office/drawing/2014/main" id="{2117A524-2B8D-458B-8A31-D54C12EE0EE7}"/>
              </a:ext>
            </a:extLst>
          </p:cNvPr>
          <p:cNvSpPr>
            <a:spLocks xmlns:a="http://schemas.openxmlformats.org/drawingml/2006/main" noGrp="1"/>
          </p:cNvSpPr>
          <p:nvPr/>
        </p:nvSpPr>
        <p:spPr>
          <a:xfrm xmlns:a="http://schemas.openxmlformats.org/drawingml/2006/main">
            <a:off x="6153150" y="2857500"/>
            <a:ext cx="263842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6" name="">
            <a:extLst xmlns:a="http://schemas.openxmlformats.org/drawingml/2006/main">
              <a:ext uri="{FF2B5EF4-FFF2-40B4-BE49-F238E27FC236}">
                <a16:creationId xmlns:a16="http://schemas.microsoft.com/office/drawing/2014/main" id="{D3EBFF95-5038-43CF-9BC6-98DE2C965444}"/>
              </a:ext>
            </a:extLst>
          </p:cNvPr>
          <p:cNvSpPr>
            <a:spLocks xmlns:a="http://schemas.openxmlformats.org/drawingml/2006/main" noGrp="1"/>
          </p:cNvSpPr>
          <p:nvPr/>
        </p:nvSpPr>
        <p:spPr>
          <a:xfrm xmlns:a="http://schemas.openxmlformats.org/drawingml/2006/main">
            <a:off x="6267450" y="2971800"/>
            <a:ext cx="240982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0F2A2E"/>
                </a:solidFill>
              </a:defRPr>
            </a:pPr>
            <a:r>
              <a:rPr sz="1800" b="1">
                <a:solidFill>
                  <a:srgbClr val="0F2A2E"/>
                </a:solidFill>
              </a:rPr>
              <a:t>1 in 8</a:t>
            </a:r>
          </a:p>
        </p:txBody>
      </p:sp>
      <p:sp>
        <p:nvSpPr>
          <p:cNvPr id="17" name="">
            <a:extLst xmlns:a="http://schemas.openxmlformats.org/drawingml/2006/main">
              <a:ext uri="{FF2B5EF4-FFF2-40B4-BE49-F238E27FC236}">
                <a16:creationId xmlns:a16="http://schemas.microsoft.com/office/drawing/2014/main" id="{087D339E-66E7-40FE-9798-40F0541D881F}"/>
              </a:ext>
            </a:extLst>
          </p:cNvPr>
          <p:cNvSpPr>
            <a:spLocks xmlns:a="http://schemas.openxmlformats.org/drawingml/2006/main" noGrp="1"/>
          </p:cNvSpPr>
          <p:nvPr/>
        </p:nvSpPr>
        <p:spPr>
          <a:xfrm xmlns:a="http://schemas.openxmlformats.org/drawingml/2006/main">
            <a:off x="6267450" y="3371850"/>
            <a:ext cx="2409825"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state primaries have no specialist music or drama provision at all.</a:t>
            </a:r>
          </a:p>
        </p:txBody>
      </p:sp>
      <p:sp>
        <p:nvSpPr>
          <p:cNvPr id="18" name="">
            <a:extLst xmlns:a="http://schemas.openxmlformats.org/drawingml/2006/main">
              <a:ext uri="{FF2B5EF4-FFF2-40B4-BE49-F238E27FC236}">
                <a16:creationId xmlns:a16="http://schemas.microsoft.com/office/drawing/2014/main" id="{AD7F2F1C-966E-4F58-AB78-1AAA45F6C7B1}"/>
              </a:ext>
            </a:extLst>
          </p:cNvPr>
          <p:cNvSpPr>
            <a:spLocks xmlns:a="http://schemas.openxmlformats.org/drawingml/2006/main" noGrp="1"/>
          </p:cNvSpPr>
          <p:nvPr/>
        </p:nvSpPr>
        <p:spPr>
          <a:xfrm xmlns:a="http://schemas.openxmlformats.org/drawingml/2006/main">
            <a:off x="8924925" y="2857500"/>
            <a:ext cx="263842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9" name="">
            <a:extLst xmlns:a="http://schemas.openxmlformats.org/drawingml/2006/main">
              <a:ext uri="{FF2B5EF4-FFF2-40B4-BE49-F238E27FC236}">
                <a16:creationId xmlns:a16="http://schemas.microsoft.com/office/drawing/2014/main" id="{0925393B-EEB0-4C5A-B82A-B3EDB40E3512}"/>
              </a:ext>
            </a:extLst>
          </p:cNvPr>
          <p:cNvSpPr>
            <a:spLocks xmlns:a="http://schemas.openxmlformats.org/drawingml/2006/main" noGrp="1"/>
          </p:cNvSpPr>
          <p:nvPr/>
        </p:nvSpPr>
        <p:spPr>
          <a:xfrm xmlns:a="http://schemas.openxmlformats.org/drawingml/2006/main">
            <a:off x="9039225" y="2971800"/>
            <a:ext cx="240982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0F2A2E"/>
                </a:solidFill>
              </a:defRPr>
            </a:pPr>
            <a:r>
              <a:rPr sz="1800" b="1">
                <a:solidFill>
                  <a:srgbClr val="0F2A2E"/>
                </a:solidFill>
              </a:rPr>
              <a:t>£126b</a:t>
            </a:r>
          </a:p>
        </p:txBody>
      </p:sp>
      <p:sp>
        <p:nvSpPr>
          <p:cNvPr id="20" name="">
            <a:extLst xmlns:a="http://schemas.openxmlformats.org/drawingml/2006/main">
              <a:ext uri="{FF2B5EF4-FFF2-40B4-BE49-F238E27FC236}">
                <a16:creationId xmlns:a16="http://schemas.microsoft.com/office/drawing/2014/main" id="{135C44B6-C20A-44BF-8C03-E9B0750F603E}"/>
              </a:ext>
            </a:extLst>
          </p:cNvPr>
          <p:cNvSpPr>
            <a:spLocks xmlns:a="http://schemas.openxmlformats.org/drawingml/2006/main" noGrp="1"/>
          </p:cNvSpPr>
          <p:nvPr/>
        </p:nvSpPr>
        <p:spPr>
          <a:xfrm xmlns:a="http://schemas.openxmlformats.org/drawingml/2006/main">
            <a:off x="9039225" y="3371850"/>
            <a:ext cx="2409825"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the UK creative industries — built on the artists our classrooms shape.</a:t>
            </a:r>
          </a:p>
        </p:txBody>
      </p:sp>
      <p:sp>
        <p:nvSpPr>
          <p:cNvPr id="21" name="">
            <a:extLst xmlns:a="http://schemas.openxmlformats.org/drawingml/2006/main">
              <a:ext uri="{FF2B5EF4-FFF2-40B4-BE49-F238E27FC236}">
                <a16:creationId xmlns:a16="http://schemas.microsoft.com/office/drawing/2014/main" id="{85FDA774-4762-4D0B-A53A-0F61AB2C4E6E}"/>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22" name="">
            <a:extLst xmlns:a="http://schemas.openxmlformats.org/drawingml/2006/main">
              <a:ext uri="{FF2B5EF4-FFF2-40B4-BE49-F238E27FC236}">
                <a16:creationId xmlns:a16="http://schemas.microsoft.com/office/drawing/2014/main" id="{9C36C4D2-BE09-47AA-8B38-95F4BB1237EE}"/>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04 / 25</a:t>
            </a:r>
          </a:p>
        </p:txBody>
      </p:sp>
    </p:spTree>
    <p:extLst>
      <p:ext uri="{BB962C8B-B14F-4D97-AF65-F5344CB8AC3E}">
        <p14:creationId xmlns:p14="http://schemas.microsoft.com/office/powerpoint/2010/main" val="282726213"/>
      </p:ext>
    </p:extLst>
  </p:cSld>
</p:sld>
</file>

<file path=ppt/slides/slide5.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D2939D37-79A0-4791-9AE8-4E41FF9D898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414C008-6C2F-470B-BA6A-4CAB1630A17F}"/>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39A84A7-EA39-40C3-A959-14CBBDDD121F}"/>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A4DEECA5-D2A5-4F75-ADAC-35BDF8E3029D}"/>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The solution</a:t>
            </a:r>
          </a:p>
        </p:txBody>
      </p:sp>
      <p:sp>
        <p:nvSpPr>
          <p:cNvPr id="6" name="">
            <a:extLst xmlns:a="http://schemas.openxmlformats.org/drawingml/2006/main">
              <a:ext uri="{FF2B5EF4-FFF2-40B4-BE49-F238E27FC236}">
                <a16:creationId xmlns:a16="http://schemas.microsoft.com/office/drawing/2014/main" id="{5F1267E0-90B3-4B94-9675-9F52BD7FC583}"/>
              </a:ext>
            </a:extLst>
          </p:cNvPr>
          <p:cNvSpPr>
            <a:spLocks xmlns:a="http://schemas.openxmlformats.org/drawingml/2006/main" noGrp="1"/>
          </p:cNvSpPr>
          <p:nvPr/>
        </p:nvSpPr>
        <p:spPr>
          <a:xfrm xmlns:a="http://schemas.openxmlformats.org/drawingml/2006/main">
            <a:off x="609600" y="647700"/>
            <a:ext cx="4762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002D24"/>
                </a:solidFill>
              </a:defRPr>
            </a:pPr>
            <a:r>
              <a:rPr sz="1950" b="1">
                <a:solidFill>
                  <a:srgbClr val="002D24"/>
                </a:solidFill>
              </a:rPr>
              <a:t>One living home for drama, dance and music.</a:t>
            </a:r>
          </a:p>
        </p:txBody>
      </p:sp>
      <p:sp>
        <p:nvSpPr>
          <p:cNvPr id="7" name="">
            <a:extLst xmlns:a="http://schemas.openxmlformats.org/drawingml/2006/main">
              <a:ext uri="{FF2B5EF4-FFF2-40B4-BE49-F238E27FC236}">
                <a16:creationId xmlns:a16="http://schemas.microsoft.com/office/drawing/2014/main" id="{273C37CA-D095-4DF8-AACF-52727525AD60}"/>
              </a:ext>
            </a:extLst>
          </p:cNvPr>
          <p:cNvSpPr>
            <a:spLocks xmlns:a="http://schemas.openxmlformats.org/drawingml/2006/main" noGrp="1"/>
          </p:cNvSpPr>
          <p:nvPr/>
        </p:nvSpPr>
        <p:spPr>
          <a:xfrm xmlns:a="http://schemas.openxmlformats.org/drawingml/2006/main">
            <a:off x="609600" y="1543050"/>
            <a:ext cx="476250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2A4548"/>
                </a:solidFill>
              </a:defRPr>
            </a:pPr>
            <a:r>
              <a:rPr sz="1050" b="0">
                <a:solidFill>
                  <a:srgbClr val="2A4548"/>
                </a:solidFill>
              </a:rPr>
              <a:t>Creative Curriculum Designer is a living workspace where great teaching ideas live, evolve and grow — purpose-built for performing arts education from EYFS through to KS5, and shared with the wider arts sector.</a:t>
            </a:r>
          </a:p>
        </p:txBody>
      </p:sp>
      <p:sp>
        <p:nvSpPr>
          <p:cNvPr id="8" name="">
            <a:extLst xmlns:a="http://schemas.openxmlformats.org/drawingml/2006/main">
              <a:ext uri="{FF2B5EF4-FFF2-40B4-BE49-F238E27FC236}">
                <a16:creationId xmlns:a16="http://schemas.microsoft.com/office/drawing/2014/main" id="{207027DC-97FB-417A-9B02-EA7397567FF2}"/>
              </a:ext>
            </a:extLst>
          </p:cNvPr>
          <p:cNvSpPr>
            <a:spLocks xmlns:a="http://schemas.openxmlformats.org/drawingml/2006/main" noGrp="1"/>
          </p:cNvSpPr>
          <p:nvPr/>
        </p:nvSpPr>
        <p:spPr>
          <a:xfrm xmlns:a="http://schemas.openxmlformats.org/drawingml/2006/main">
            <a:off x="5715000" y="76200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9" name="">
            <a:extLst xmlns:a="http://schemas.openxmlformats.org/drawingml/2006/main">
              <a:ext uri="{FF2B5EF4-FFF2-40B4-BE49-F238E27FC236}">
                <a16:creationId xmlns:a16="http://schemas.microsoft.com/office/drawing/2014/main" id="{22410F56-5571-4B4F-A623-3F060E70897F}"/>
              </a:ext>
            </a:extLst>
          </p:cNvPr>
          <p:cNvSpPr>
            <a:spLocks xmlns:a="http://schemas.openxmlformats.org/drawingml/2006/main" noGrp="1"/>
          </p:cNvSpPr>
          <p:nvPr/>
        </p:nvSpPr>
        <p:spPr>
          <a:xfrm xmlns:a="http://schemas.openxmlformats.org/drawingml/2006/main">
            <a:off x="5829300" y="87630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1</a:t>
            </a:r>
          </a:p>
        </p:txBody>
      </p:sp>
      <p:sp>
        <p:nvSpPr>
          <p:cNvPr id="10" name="">
            <a:extLst xmlns:a="http://schemas.openxmlformats.org/drawingml/2006/main">
              <a:ext uri="{FF2B5EF4-FFF2-40B4-BE49-F238E27FC236}">
                <a16:creationId xmlns:a16="http://schemas.microsoft.com/office/drawing/2014/main" id="{EAAC819D-59F3-479E-8D50-D0880DC6380F}"/>
              </a:ext>
            </a:extLst>
          </p:cNvPr>
          <p:cNvSpPr>
            <a:spLocks xmlns:a="http://schemas.openxmlformats.org/drawingml/2006/main" noGrp="1"/>
          </p:cNvSpPr>
          <p:nvPr/>
        </p:nvSpPr>
        <p:spPr>
          <a:xfrm xmlns:a="http://schemas.openxmlformats.org/drawingml/2006/main">
            <a:off x="5829300" y="10858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Half-term planner</a:t>
            </a:r>
          </a:p>
        </p:txBody>
      </p:sp>
      <p:sp>
        <p:nvSpPr>
          <p:cNvPr id="11" name="">
            <a:extLst xmlns:a="http://schemas.openxmlformats.org/drawingml/2006/main">
              <a:ext uri="{FF2B5EF4-FFF2-40B4-BE49-F238E27FC236}">
                <a16:creationId xmlns:a16="http://schemas.microsoft.com/office/drawing/2014/main" id="{4EA1BEDF-4E3C-4C47-AC8A-D14C322139D3}"/>
              </a:ext>
            </a:extLst>
          </p:cNvPr>
          <p:cNvSpPr>
            <a:spLocks xmlns:a="http://schemas.openxmlformats.org/drawingml/2006/main" noGrp="1"/>
          </p:cNvSpPr>
          <p:nvPr/>
        </p:nvSpPr>
        <p:spPr>
          <a:xfrm xmlns:a="http://schemas.openxmlformats.org/drawingml/2006/main">
            <a:off x="5829300" y="148590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See six half-terms at a glance. Drag, reorder, and shape the year before the year begins.</a:t>
            </a:r>
          </a:p>
        </p:txBody>
      </p:sp>
      <p:sp>
        <p:nvSpPr>
          <p:cNvPr id="12" name="">
            <a:extLst xmlns:a="http://schemas.openxmlformats.org/drawingml/2006/main">
              <a:ext uri="{FF2B5EF4-FFF2-40B4-BE49-F238E27FC236}">
                <a16:creationId xmlns:a16="http://schemas.microsoft.com/office/drawing/2014/main" id="{AE6B31FB-2157-4DB5-8CBB-9A35E8F30C96}"/>
              </a:ext>
            </a:extLst>
          </p:cNvPr>
          <p:cNvSpPr>
            <a:spLocks xmlns:a="http://schemas.openxmlformats.org/drawingml/2006/main" noGrp="1"/>
          </p:cNvSpPr>
          <p:nvPr/>
        </p:nvSpPr>
        <p:spPr>
          <a:xfrm xmlns:a="http://schemas.openxmlformats.org/drawingml/2006/main">
            <a:off x="8734425" y="76200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3" name="">
            <a:extLst xmlns:a="http://schemas.openxmlformats.org/drawingml/2006/main">
              <a:ext uri="{FF2B5EF4-FFF2-40B4-BE49-F238E27FC236}">
                <a16:creationId xmlns:a16="http://schemas.microsoft.com/office/drawing/2014/main" id="{6C619BAF-2C00-4331-99CA-E7BF2BA82FBE}"/>
              </a:ext>
            </a:extLst>
          </p:cNvPr>
          <p:cNvSpPr>
            <a:spLocks xmlns:a="http://schemas.openxmlformats.org/drawingml/2006/main" noGrp="1"/>
          </p:cNvSpPr>
          <p:nvPr/>
        </p:nvSpPr>
        <p:spPr>
          <a:xfrm xmlns:a="http://schemas.openxmlformats.org/drawingml/2006/main">
            <a:off x="8848725" y="87630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2</a:t>
            </a:r>
          </a:p>
        </p:txBody>
      </p:sp>
      <p:sp>
        <p:nvSpPr>
          <p:cNvPr id="14" name="">
            <a:extLst xmlns:a="http://schemas.openxmlformats.org/drawingml/2006/main">
              <a:ext uri="{FF2B5EF4-FFF2-40B4-BE49-F238E27FC236}">
                <a16:creationId xmlns:a16="http://schemas.microsoft.com/office/drawing/2014/main" id="{DCA8CA6A-1827-4C4A-B58F-DFD8C2474C01}"/>
              </a:ext>
            </a:extLst>
          </p:cNvPr>
          <p:cNvSpPr>
            <a:spLocks xmlns:a="http://schemas.openxmlformats.org/drawingml/2006/main" noGrp="1"/>
          </p:cNvSpPr>
          <p:nvPr/>
        </p:nvSpPr>
        <p:spPr>
          <a:xfrm xmlns:a="http://schemas.openxmlformats.org/drawingml/2006/main">
            <a:off x="8848725" y="10858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Lesson library</a:t>
            </a:r>
          </a:p>
        </p:txBody>
      </p:sp>
      <p:sp>
        <p:nvSpPr>
          <p:cNvPr id="15" name="">
            <a:extLst xmlns:a="http://schemas.openxmlformats.org/drawingml/2006/main">
              <a:ext uri="{FF2B5EF4-FFF2-40B4-BE49-F238E27FC236}">
                <a16:creationId xmlns:a16="http://schemas.microsoft.com/office/drawing/2014/main" id="{C6C90DB4-FFBD-4544-802B-A823C0F5C1F3}"/>
              </a:ext>
            </a:extLst>
          </p:cNvPr>
          <p:cNvSpPr>
            <a:spLocks xmlns:a="http://schemas.openxmlformats.org/drawingml/2006/main" noGrp="1"/>
          </p:cNvSpPr>
          <p:nvPr/>
        </p:nvSpPr>
        <p:spPr>
          <a:xfrm xmlns:a="http://schemas.openxmlformats.org/drawingml/2006/main">
            <a:off x="8848725" y="148590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Build, reuse and share lessons. Tag by year group and unit. Find the right one in seconds.</a:t>
            </a:r>
          </a:p>
        </p:txBody>
      </p:sp>
      <p:sp>
        <p:nvSpPr>
          <p:cNvPr id="16" name="">
            <a:extLst xmlns:a="http://schemas.openxmlformats.org/drawingml/2006/main">
              <a:ext uri="{FF2B5EF4-FFF2-40B4-BE49-F238E27FC236}">
                <a16:creationId xmlns:a16="http://schemas.microsoft.com/office/drawing/2014/main" id="{DD02AFFB-C4C5-434A-8E24-FC4175F4C518}"/>
              </a:ext>
            </a:extLst>
          </p:cNvPr>
          <p:cNvSpPr>
            <a:spLocks xmlns:a="http://schemas.openxmlformats.org/drawingml/2006/main" noGrp="1"/>
          </p:cNvSpPr>
          <p:nvPr/>
        </p:nvSpPr>
        <p:spPr>
          <a:xfrm xmlns:a="http://schemas.openxmlformats.org/drawingml/2006/main">
            <a:off x="5715000" y="241935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7" name="">
            <a:extLst xmlns:a="http://schemas.openxmlformats.org/drawingml/2006/main">
              <a:ext uri="{FF2B5EF4-FFF2-40B4-BE49-F238E27FC236}">
                <a16:creationId xmlns:a16="http://schemas.microsoft.com/office/drawing/2014/main" id="{B5F306BC-4205-4069-831D-48BA7F921C5D}"/>
              </a:ext>
            </a:extLst>
          </p:cNvPr>
          <p:cNvSpPr>
            <a:spLocks xmlns:a="http://schemas.openxmlformats.org/drawingml/2006/main" noGrp="1"/>
          </p:cNvSpPr>
          <p:nvPr/>
        </p:nvSpPr>
        <p:spPr>
          <a:xfrm xmlns:a="http://schemas.openxmlformats.org/drawingml/2006/main">
            <a:off x="5829300" y="253365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3</a:t>
            </a:r>
          </a:p>
        </p:txBody>
      </p:sp>
      <p:sp>
        <p:nvSpPr>
          <p:cNvPr id="18" name="">
            <a:extLst xmlns:a="http://schemas.openxmlformats.org/drawingml/2006/main">
              <a:ext uri="{FF2B5EF4-FFF2-40B4-BE49-F238E27FC236}">
                <a16:creationId xmlns:a16="http://schemas.microsoft.com/office/drawing/2014/main" id="{0346650A-A463-4CE8-923E-96920571C9B4}"/>
              </a:ext>
            </a:extLst>
          </p:cNvPr>
          <p:cNvSpPr>
            <a:spLocks xmlns:a="http://schemas.openxmlformats.org/drawingml/2006/main" noGrp="1"/>
          </p:cNvSpPr>
          <p:nvPr/>
        </p:nvSpPr>
        <p:spPr>
          <a:xfrm xmlns:a="http://schemas.openxmlformats.org/drawingml/2006/main">
            <a:off x="5829300" y="274320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Activity stacks</a:t>
            </a:r>
          </a:p>
        </p:txBody>
      </p:sp>
      <p:sp>
        <p:nvSpPr>
          <p:cNvPr id="19" name="">
            <a:extLst xmlns:a="http://schemas.openxmlformats.org/drawingml/2006/main">
              <a:ext uri="{FF2B5EF4-FFF2-40B4-BE49-F238E27FC236}">
                <a16:creationId xmlns:a16="http://schemas.microsoft.com/office/drawing/2014/main" id="{4E4E748B-A5DA-46EB-B7BE-DBFC2E11A561}"/>
              </a:ext>
            </a:extLst>
          </p:cNvPr>
          <p:cNvSpPr>
            <a:spLocks xmlns:a="http://schemas.openxmlformats.org/drawingml/2006/main" noGrp="1"/>
          </p:cNvSpPr>
          <p:nvPr/>
        </p:nvSpPr>
        <p:spPr>
          <a:xfrm xmlns:a="http://schemas.openxmlformats.org/drawingml/2006/main">
            <a:off x="5829300" y="314325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Group warm-ups, mains and plenaries into reusable stacks. Drop them straight into any lesson.</a:t>
            </a:r>
          </a:p>
        </p:txBody>
      </p:sp>
      <p:sp>
        <p:nvSpPr>
          <p:cNvPr id="20" name="">
            <a:extLst xmlns:a="http://schemas.openxmlformats.org/drawingml/2006/main">
              <a:ext uri="{FF2B5EF4-FFF2-40B4-BE49-F238E27FC236}">
                <a16:creationId xmlns:a16="http://schemas.microsoft.com/office/drawing/2014/main" id="{046B0B29-89C7-490C-9A98-ADD17E5ED101}"/>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21" name="">
            <a:extLst xmlns:a="http://schemas.openxmlformats.org/drawingml/2006/main">
              <a:ext uri="{FF2B5EF4-FFF2-40B4-BE49-F238E27FC236}">
                <a16:creationId xmlns:a16="http://schemas.microsoft.com/office/drawing/2014/main" id="{8DD9E747-207E-48C6-BF43-0140462829EE}"/>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05 / 25</a:t>
            </a:r>
          </a:p>
        </p:txBody>
      </p:sp>
    </p:spTree>
    <p:extLst>
      <p:ext uri="{BB962C8B-B14F-4D97-AF65-F5344CB8AC3E}">
        <p14:creationId xmlns:p14="http://schemas.microsoft.com/office/powerpoint/2010/main" val="353896343"/>
      </p:ext>
    </p:extLst>
  </p:cSld>
</p:sld>
</file>

<file path=ppt/slides/slide6.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23CDBB44-64AF-4F68-A94E-FEE909995A8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6396C90-73E6-458B-85B7-69C04CC199F4}"/>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BB2E6EE-B432-4A0C-B066-673ACAA77768}"/>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B0280AB-95C0-4A1E-A2CE-C425C8F3143D}"/>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Who it's for</a:t>
            </a:r>
          </a:p>
        </p:txBody>
      </p:sp>
      <p:sp>
        <p:nvSpPr>
          <p:cNvPr id="6" name="">
            <a:extLst xmlns:a="http://schemas.openxmlformats.org/drawingml/2006/main">
              <a:ext uri="{FF2B5EF4-FFF2-40B4-BE49-F238E27FC236}">
                <a16:creationId xmlns:a16="http://schemas.microsoft.com/office/drawing/2014/main" id="{972639D0-73BE-4354-B962-D07C62B06E61}"/>
              </a:ext>
            </a:extLst>
          </p:cNvPr>
          <p:cNvSpPr>
            <a:spLocks xmlns:a="http://schemas.openxmlformats.org/drawingml/2006/main" noGrp="1"/>
          </p:cNvSpPr>
          <p:nvPr/>
        </p:nvSpPr>
        <p:spPr>
          <a:xfrm xmlns:a="http://schemas.openxmlformats.org/drawingml/2006/main">
            <a:off x="609600" y="647700"/>
            <a:ext cx="109537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02D24"/>
                </a:solidFill>
              </a:defRPr>
            </a:pPr>
            <a:r>
              <a:rPr sz="2100" b="1">
                <a:solidFill>
                  <a:srgbClr val="002D24"/>
                </a:solidFill>
              </a:rPr>
              <a:t>Built with arts educators — every key stage, EYFS to KS5.</a:t>
            </a:r>
          </a:p>
        </p:txBody>
      </p:sp>
      <p:sp>
        <p:nvSpPr>
          <p:cNvPr id="7" name="">
            <a:extLst xmlns:a="http://schemas.openxmlformats.org/drawingml/2006/main">
              <a:ext uri="{FF2B5EF4-FFF2-40B4-BE49-F238E27FC236}">
                <a16:creationId xmlns:a16="http://schemas.microsoft.com/office/drawing/2014/main" id="{CB0FAC4E-5789-4794-ADA1-2B83F96B780B}"/>
              </a:ext>
            </a:extLst>
          </p:cNvPr>
          <p:cNvSpPr>
            <a:spLocks xmlns:a="http://schemas.openxmlformats.org/drawingml/2006/main" noGrp="1"/>
          </p:cNvSpPr>
          <p:nvPr/>
        </p:nvSpPr>
        <p:spPr>
          <a:xfrm xmlns:a="http://schemas.openxmlformats.org/drawingml/2006/main">
            <a:off x="609600" y="1428750"/>
            <a:ext cx="356235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D7E4DF"/>
            </a:solidFill>
            <a:prstDash val="solid"/>
          </a:ln>
        </p:spPr>
      </p:sp>
      <p:sp>
        <p:nvSpPr>
          <p:cNvPr id="8" name="">
            <a:extLst xmlns:a="http://schemas.openxmlformats.org/drawingml/2006/main">
              <a:ext uri="{FF2B5EF4-FFF2-40B4-BE49-F238E27FC236}">
                <a16:creationId xmlns:a16="http://schemas.microsoft.com/office/drawing/2014/main" id="{C803BF21-85D8-4316-8475-1FF0911064CD}"/>
              </a:ext>
            </a:extLst>
          </p:cNvPr>
          <p:cNvSpPr>
            <a:spLocks xmlns:a="http://schemas.openxmlformats.org/drawingml/2006/main" noGrp="1"/>
          </p:cNvSpPr>
          <p:nvPr/>
        </p:nvSpPr>
        <p:spPr>
          <a:xfrm xmlns:a="http://schemas.openxmlformats.org/drawingml/2006/main">
            <a:off x="723900" y="1543050"/>
            <a:ext cx="3333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Early Years &amp; Primary · EYFS · KS1 · KS2 · Ages 3–11</a:t>
            </a:r>
          </a:p>
        </p:txBody>
      </p:sp>
      <p:sp>
        <p:nvSpPr>
          <p:cNvPr id="9" name="">
            <a:extLst xmlns:a="http://schemas.openxmlformats.org/drawingml/2006/main">
              <a:ext uri="{FF2B5EF4-FFF2-40B4-BE49-F238E27FC236}">
                <a16:creationId xmlns:a16="http://schemas.microsoft.com/office/drawing/2014/main" id="{74CF98DD-E6A7-4FB9-81C8-ABCE592D8174}"/>
              </a:ext>
            </a:extLst>
          </p:cNvPr>
          <p:cNvSpPr>
            <a:spLocks xmlns:a="http://schemas.openxmlformats.org/drawingml/2006/main" noGrp="1"/>
          </p:cNvSpPr>
          <p:nvPr/>
        </p:nvSpPr>
        <p:spPr>
          <a:xfrm xmlns:a="http://schemas.openxmlformats.org/drawingml/2006/main">
            <a:off x="723900" y="1752600"/>
            <a:ext cx="3333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8919"/>
          </a:bodyPr>
          <a:lstStyle xmlns:a="http://schemas.openxmlformats.org/drawingml/2006/main"/>
          <a:p xmlns:a="http://schemas.openxmlformats.org/drawingml/2006/main">
            <a:pPr algn="l">
              <a:defRPr sz="1050" b="1">
                <a:solidFill>
                  <a:srgbClr val="0F2A2E"/>
                </a:solidFill>
              </a:defRPr>
            </a:pPr>
            <a:r>
              <a:rPr sz="1050" b="1">
                <a:solidFill>
                  <a:srgbClr val="0F2A2E"/>
                </a:solidFill>
              </a:rPr>
              <a:t>Reception leads, generalist teachers and primary arts specialists</a:t>
            </a:r>
          </a:p>
        </p:txBody>
      </p:sp>
      <p:sp>
        <p:nvSpPr>
          <p:cNvPr id="10" name="">
            <a:extLst xmlns:a="http://schemas.openxmlformats.org/drawingml/2006/main">
              <a:ext uri="{FF2B5EF4-FFF2-40B4-BE49-F238E27FC236}">
                <a16:creationId xmlns:a16="http://schemas.microsoft.com/office/drawing/2014/main" id="{2B39F5D5-789E-4697-A341-1B61573FBF5B}"/>
              </a:ext>
            </a:extLst>
          </p:cNvPr>
          <p:cNvSpPr>
            <a:spLocks xmlns:a="http://schemas.openxmlformats.org/drawingml/2006/main" noGrp="1"/>
          </p:cNvSpPr>
          <p:nvPr/>
        </p:nvSpPr>
        <p:spPr>
          <a:xfrm xmlns:a="http://schemas.openxmlformats.org/drawingml/2006/main">
            <a:off x="723900" y="2152650"/>
            <a:ext cx="33337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00" b="0">
                <a:solidFill>
                  <a:srgbClr val="2A4548"/>
                </a:solidFill>
              </a:defRPr>
            </a:pPr>
            <a:r>
              <a:rPr sz="900" b="0">
                <a:solidFill>
                  <a:srgbClr val="2A4548"/>
                </a:solidFill>
              </a:rPr>
              <a:t>Plan around continuous provision and adult-led inputs. Give non-specialist teachers the confidence to lead drama, dance and music — backed by activities they can actually run.</a:t>
            </a:r>
          </a:p>
          <a:p xmlns:a="http://schemas.openxmlformats.org/drawingml/2006/main">
            <a:pPr algn="l">
              <a:defRPr sz="900" b="0">
                <a:solidFill>
                  <a:srgbClr val="2A4548"/>
                </a:solidFill>
              </a:defRPr>
            </a:pPr>
            <a:r>
              <a:rPr sz="900" b="0">
                <a:solidFill>
                  <a:srgbClr val="2A4548"/>
                </a:solidFill>
              </a:rPr>
              <a:t>Continuous provision · non-specialist support</a:t>
            </a:r>
          </a:p>
        </p:txBody>
      </p:sp>
      <p:sp>
        <p:nvSpPr>
          <p:cNvPr id="11" name="">
            <a:extLst xmlns:a="http://schemas.openxmlformats.org/drawingml/2006/main">
              <a:ext uri="{FF2B5EF4-FFF2-40B4-BE49-F238E27FC236}">
                <a16:creationId xmlns:a16="http://schemas.microsoft.com/office/drawing/2014/main" id="{70C1F3BC-7032-4F10-9A0D-E8E79499DC7D}"/>
              </a:ext>
            </a:extLst>
          </p:cNvPr>
          <p:cNvSpPr>
            <a:spLocks xmlns:a="http://schemas.openxmlformats.org/drawingml/2006/main" noGrp="1"/>
          </p:cNvSpPr>
          <p:nvPr/>
        </p:nvSpPr>
        <p:spPr>
          <a:xfrm xmlns:a="http://schemas.openxmlformats.org/drawingml/2006/main">
            <a:off x="4305300" y="1428750"/>
            <a:ext cx="356235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D7E4DF"/>
            </a:solidFill>
            <a:prstDash val="solid"/>
          </a:ln>
        </p:spPr>
      </p:sp>
      <p:sp>
        <p:nvSpPr>
          <p:cNvPr id="12" name="">
            <a:extLst xmlns:a="http://schemas.openxmlformats.org/drawingml/2006/main">
              <a:ext uri="{FF2B5EF4-FFF2-40B4-BE49-F238E27FC236}">
                <a16:creationId xmlns:a16="http://schemas.microsoft.com/office/drawing/2014/main" id="{6829A459-940A-4ECD-A2B1-A131B428A0DC}"/>
              </a:ext>
            </a:extLst>
          </p:cNvPr>
          <p:cNvSpPr>
            <a:spLocks xmlns:a="http://schemas.openxmlformats.org/drawingml/2006/main" noGrp="1"/>
          </p:cNvSpPr>
          <p:nvPr/>
        </p:nvSpPr>
        <p:spPr>
          <a:xfrm xmlns:a="http://schemas.openxmlformats.org/drawingml/2006/main">
            <a:off x="4419600" y="1543050"/>
            <a:ext cx="3333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Secondary &amp; Sixth Form · KS3 · KS4 · KS5 · Ages 11–18</a:t>
            </a:r>
          </a:p>
        </p:txBody>
      </p:sp>
      <p:sp>
        <p:nvSpPr>
          <p:cNvPr id="13" name="">
            <a:extLst xmlns:a="http://schemas.openxmlformats.org/drawingml/2006/main">
              <a:ext uri="{FF2B5EF4-FFF2-40B4-BE49-F238E27FC236}">
                <a16:creationId xmlns:a16="http://schemas.microsoft.com/office/drawing/2014/main" id="{74ADC7E0-1832-4E14-86B4-54C39EDFDFA4}"/>
              </a:ext>
            </a:extLst>
          </p:cNvPr>
          <p:cNvSpPr>
            <a:spLocks xmlns:a="http://schemas.openxmlformats.org/drawingml/2006/main" noGrp="1"/>
          </p:cNvSpPr>
          <p:nvPr/>
        </p:nvSpPr>
        <p:spPr>
          <a:xfrm xmlns:a="http://schemas.openxmlformats.org/drawingml/2006/main">
            <a:off x="4419600" y="1752600"/>
            <a:ext cx="3333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1561"/>
          </a:bodyPr>
          <a:lstStyle xmlns:a="http://schemas.openxmlformats.org/drawingml/2006/main"/>
          <a:p xmlns:a="http://schemas.openxmlformats.org/drawingml/2006/main">
            <a:pPr algn="l">
              <a:defRPr sz="1050" b="1">
                <a:solidFill>
                  <a:srgbClr val="0F2A2E"/>
                </a:solidFill>
              </a:defRPr>
            </a:pPr>
            <a:r>
              <a:rPr sz="1050" b="1">
                <a:solidFill>
                  <a:srgbClr val="0F2A2E"/>
                </a:solidFill>
              </a:rPr>
              <a:t>Drama, dance and music subject leads &amp; departments</a:t>
            </a:r>
          </a:p>
        </p:txBody>
      </p:sp>
      <p:sp>
        <p:nvSpPr>
          <p:cNvPr id="14" name="">
            <a:extLst xmlns:a="http://schemas.openxmlformats.org/drawingml/2006/main">
              <a:ext uri="{FF2B5EF4-FFF2-40B4-BE49-F238E27FC236}">
                <a16:creationId xmlns:a16="http://schemas.microsoft.com/office/drawing/2014/main" id="{D63C924D-085B-49E0-AF33-1E50E0BBEBA3}"/>
              </a:ext>
            </a:extLst>
          </p:cNvPr>
          <p:cNvSpPr>
            <a:spLocks xmlns:a="http://schemas.openxmlformats.org/drawingml/2006/main" noGrp="1"/>
          </p:cNvSpPr>
          <p:nvPr/>
        </p:nvSpPr>
        <p:spPr>
          <a:xfrm xmlns:a="http://schemas.openxmlformats.org/drawingml/2006/main">
            <a:off x="4419600" y="2152650"/>
            <a:ext cx="33337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887"/>
          </a:bodyPr>
          <a:lstStyle xmlns:a="http://schemas.openxmlformats.org/drawingml/2006/main"/>
          <a:p xmlns:a="http://schemas.openxmlformats.org/drawingml/2006/main">
            <a:pPr algn="l">
              <a:defRPr sz="900" b="0">
                <a:solidFill>
                  <a:srgbClr val="2A4548"/>
                </a:solidFill>
              </a:defRPr>
            </a:pPr>
            <a:r>
              <a:rPr sz="900" b="0">
                <a:solidFill>
                  <a:srgbClr val="2A4548"/>
                </a:solidFill>
              </a:rPr>
              <a:t>Sequence units across years, key stages and qualifications — GCSE, A-Level, BTEC and beyond. Build a shared department library of rehearsal techniques, schemes of work and reflective practice, so a great unit is taught well by every teacher.</a:t>
            </a:r>
          </a:p>
          <a:p xmlns:a="http://schemas.openxmlformats.org/drawingml/2006/main">
            <a:pPr algn="l">
              <a:defRPr sz="900" b="0">
                <a:solidFill>
                  <a:srgbClr val="2A4548"/>
                </a:solidFill>
              </a:defRPr>
            </a:pPr>
            <a:r>
              <a:rPr sz="900" b="0">
                <a:solidFill>
                  <a:srgbClr val="2A4548"/>
                </a:solidFill>
              </a:rPr>
              <a:t>GCSE, A-Level &amp; BTEC frameworks · departmental sharing</a:t>
            </a:r>
          </a:p>
        </p:txBody>
      </p:sp>
      <p:sp>
        <p:nvSpPr>
          <p:cNvPr id="15" name="">
            <a:extLst xmlns:a="http://schemas.openxmlformats.org/drawingml/2006/main">
              <a:ext uri="{FF2B5EF4-FFF2-40B4-BE49-F238E27FC236}">
                <a16:creationId xmlns:a16="http://schemas.microsoft.com/office/drawing/2014/main" id="{B5A9EECC-A098-4A30-BF9D-329A9D81C931}"/>
              </a:ext>
            </a:extLst>
          </p:cNvPr>
          <p:cNvSpPr>
            <a:spLocks xmlns:a="http://schemas.openxmlformats.org/drawingml/2006/main" noGrp="1"/>
          </p:cNvSpPr>
          <p:nvPr/>
        </p:nvSpPr>
        <p:spPr>
          <a:xfrm xmlns:a="http://schemas.openxmlformats.org/drawingml/2006/main">
            <a:off x="8001000" y="1428750"/>
            <a:ext cx="356235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D7E4DF"/>
            </a:solidFill>
            <a:prstDash val="solid"/>
          </a:ln>
        </p:spPr>
      </p:sp>
      <p:sp>
        <p:nvSpPr>
          <p:cNvPr id="16" name="">
            <a:extLst xmlns:a="http://schemas.openxmlformats.org/drawingml/2006/main">
              <a:ext uri="{FF2B5EF4-FFF2-40B4-BE49-F238E27FC236}">
                <a16:creationId xmlns:a16="http://schemas.microsoft.com/office/drawing/2014/main" id="{EC8627C9-E3F8-4101-848C-B286EC7378D2}"/>
              </a:ext>
            </a:extLst>
          </p:cNvPr>
          <p:cNvSpPr>
            <a:spLocks xmlns:a="http://schemas.openxmlformats.org/drawingml/2006/main" noGrp="1"/>
          </p:cNvSpPr>
          <p:nvPr/>
        </p:nvSpPr>
        <p:spPr>
          <a:xfrm xmlns:a="http://schemas.openxmlformats.org/drawingml/2006/main">
            <a:off x="8115300" y="1543050"/>
            <a:ext cx="3333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Arts Sector Partners · Theatres · Orchestras · Dance companies · Universities</a:t>
            </a:r>
          </a:p>
        </p:txBody>
      </p:sp>
      <p:sp>
        <p:nvSpPr>
          <p:cNvPr id="17" name="">
            <a:extLst xmlns:a="http://schemas.openxmlformats.org/drawingml/2006/main">
              <a:ext uri="{FF2B5EF4-FFF2-40B4-BE49-F238E27FC236}">
                <a16:creationId xmlns:a16="http://schemas.microsoft.com/office/drawing/2014/main" id="{6DFC08E5-BF42-478C-AAB1-65BCBB0886E4}"/>
              </a:ext>
            </a:extLst>
          </p:cNvPr>
          <p:cNvSpPr>
            <a:spLocks xmlns:a="http://schemas.openxmlformats.org/drawingml/2006/main" noGrp="1"/>
          </p:cNvSpPr>
          <p:nvPr/>
        </p:nvSpPr>
        <p:spPr>
          <a:xfrm xmlns:a="http://schemas.openxmlformats.org/drawingml/2006/main">
            <a:off x="8115300" y="1752600"/>
            <a:ext cx="3333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8919"/>
          </a:bodyPr>
          <a:lstStyle xmlns:a="http://schemas.openxmlformats.org/drawingml/2006/main"/>
          <a:p xmlns:a="http://schemas.openxmlformats.org/drawingml/2006/main">
            <a:pPr algn="l">
              <a:defRPr sz="1050" b="1">
                <a:solidFill>
                  <a:srgbClr val="0F2A2E"/>
                </a:solidFill>
              </a:defRPr>
            </a:pPr>
            <a:r>
              <a:rPr sz="1050" b="1">
                <a:solidFill>
                  <a:srgbClr val="0F2A2E"/>
                </a:solidFill>
              </a:rPr>
              <a:t>Outreach teams, practitioners, training providers and university arts faculties</a:t>
            </a:r>
          </a:p>
        </p:txBody>
      </p:sp>
      <p:sp>
        <p:nvSpPr>
          <p:cNvPr id="18" name="">
            <a:extLst xmlns:a="http://schemas.openxmlformats.org/drawingml/2006/main">
              <a:ext uri="{FF2B5EF4-FFF2-40B4-BE49-F238E27FC236}">
                <a16:creationId xmlns:a16="http://schemas.microsoft.com/office/drawing/2014/main" id="{0CFF954B-ACA7-4676-9D2A-0E62F6F1672B}"/>
              </a:ext>
            </a:extLst>
          </p:cNvPr>
          <p:cNvSpPr>
            <a:spLocks xmlns:a="http://schemas.openxmlformats.org/drawingml/2006/main" noGrp="1"/>
          </p:cNvSpPr>
          <p:nvPr/>
        </p:nvSpPr>
        <p:spPr>
          <a:xfrm xmlns:a="http://schemas.openxmlformats.org/drawingml/2006/main">
            <a:off x="8115300" y="2152650"/>
            <a:ext cx="33337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00" b="0">
                <a:solidFill>
                  <a:srgbClr val="2A4548"/>
                </a:solidFill>
              </a:defRPr>
            </a:pPr>
            <a:r>
              <a:rPr sz="900" b="0">
                <a:solidFill>
                  <a:srgbClr val="2A4548"/>
                </a:solidFill>
              </a:rPr>
              <a:t>Contribute outreach resources, rehearsal techniques, research-informed frameworks and training pathways into the schools you partner with — strengthening creative practice from EYFS to KS5.</a:t>
            </a:r>
          </a:p>
          <a:p xmlns:a="http://schemas.openxmlformats.org/drawingml/2006/main">
            <a:pPr algn="l">
              <a:defRPr sz="900" b="0">
                <a:solidFill>
                  <a:srgbClr val="2A4548"/>
                </a:solidFill>
              </a:defRPr>
            </a:pPr>
            <a:r>
              <a:rPr sz="900" b="0">
                <a:solidFill>
                  <a:srgbClr val="2A4548"/>
                </a:solidFill>
              </a:rPr>
              <a:t>Outreach · training · sector-wide collaboration</a:t>
            </a:r>
          </a:p>
        </p:txBody>
      </p:sp>
      <p:sp>
        <p:nvSpPr>
          <p:cNvPr id="19" name="">
            <a:extLst xmlns:a="http://schemas.openxmlformats.org/drawingml/2006/main">
              <a:ext uri="{FF2B5EF4-FFF2-40B4-BE49-F238E27FC236}">
                <a16:creationId xmlns:a16="http://schemas.microsoft.com/office/drawing/2014/main" id="{3D828BAA-930C-42DC-97D3-DA297249869D}"/>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20" name="">
            <a:extLst xmlns:a="http://schemas.openxmlformats.org/drawingml/2006/main">
              <a:ext uri="{FF2B5EF4-FFF2-40B4-BE49-F238E27FC236}">
                <a16:creationId xmlns:a16="http://schemas.microsoft.com/office/drawing/2014/main" id="{BDCF7EF0-35CE-4632-9B36-B354255B1A81}"/>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06 / 25</a:t>
            </a:r>
          </a:p>
        </p:txBody>
      </p:sp>
    </p:spTree>
    <p:extLst>
      <p:ext uri="{BB962C8B-B14F-4D97-AF65-F5344CB8AC3E}">
        <p14:creationId xmlns:p14="http://schemas.microsoft.com/office/powerpoint/2010/main" val="1140380555"/>
      </p:ext>
    </p:extLst>
  </p:cSld>
</p:sld>
</file>

<file path=ppt/slides/slide7.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ADC4A3C-F56E-48E6-BB98-748D350B26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52F67B1-6FDF-487A-8C17-CE111F29916E}"/>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EE8B885-66FB-45B9-9D63-9B50D58E1B02}"/>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00D8643-2C8E-4C97-87F6-FA29489712E9}"/>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What it covers</a:t>
            </a:r>
          </a:p>
        </p:txBody>
      </p:sp>
      <p:sp>
        <p:nvSpPr>
          <p:cNvPr id="6" name="">
            <a:extLst xmlns:a="http://schemas.openxmlformats.org/drawingml/2006/main">
              <a:ext uri="{FF2B5EF4-FFF2-40B4-BE49-F238E27FC236}">
                <a16:creationId xmlns:a16="http://schemas.microsoft.com/office/drawing/2014/main" id="{0562BD83-2D7F-453B-A0EA-C824AAC2232C}"/>
              </a:ext>
            </a:extLst>
          </p:cNvPr>
          <p:cNvSpPr>
            <a:spLocks xmlns:a="http://schemas.openxmlformats.org/drawingml/2006/main" noGrp="1"/>
          </p:cNvSpPr>
          <p:nvPr/>
        </p:nvSpPr>
        <p:spPr>
          <a:xfrm xmlns:a="http://schemas.openxmlformats.org/drawingml/2006/main">
            <a:off x="609600" y="647700"/>
            <a:ext cx="4762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002D24"/>
                </a:solidFill>
              </a:defRPr>
            </a:pPr>
            <a:r>
              <a:rPr sz="1950" b="1">
                <a:solidFill>
                  <a:srgbClr val="002D24"/>
                </a:solidFill>
              </a:rPr>
              <a:t>Drama. Music. Dance. One workspace.</a:t>
            </a:r>
          </a:p>
        </p:txBody>
      </p:sp>
      <p:sp>
        <p:nvSpPr>
          <p:cNvPr id="7" name="">
            <a:extLst xmlns:a="http://schemas.openxmlformats.org/drawingml/2006/main">
              <a:ext uri="{FF2B5EF4-FFF2-40B4-BE49-F238E27FC236}">
                <a16:creationId xmlns:a16="http://schemas.microsoft.com/office/drawing/2014/main" id="{8A7A3C6F-1BA8-4C8E-9EC8-58FE6F854697}"/>
              </a:ext>
            </a:extLst>
          </p:cNvPr>
          <p:cNvSpPr>
            <a:spLocks xmlns:a="http://schemas.openxmlformats.org/drawingml/2006/main" noGrp="1"/>
          </p:cNvSpPr>
          <p:nvPr/>
        </p:nvSpPr>
        <p:spPr>
          <a:xfrm xmlns:a="http://schemas.openxmlformats.org/drawingml/2006/main">
            <a:off x="609600" y="1543050"/>
            <a:ext cx="476250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2A4548"/>
                </a:solidFill>
              </a:defRPr>
            </a:pPr>
            <a:r>
              <a:rPr sz="1050" b="0">
                <a:solidFill>
                  <a:srgbClr val="2A4548"/>
                </a:solidFill>
              </a:rPr>
              <a:t>Three disciplines that share the same rhythm of teaching — warm-up, main, plenary — modelled end-to-end with starter content across every key stage from EYFS to KS5. Designed so a non-specialist can step in confidently, and a specialist can build on top.</a:t>
            </a:r>
          </a:p>
        </p:txBody>
      </p:sp>
      <p:sp>
        <p:nvSpPr>
          <p:cNvPr id="8" name="">
            <a:extLst xmlns:a="http://schemas.openxmlformats.org/drawingml/2006/main">
              <a:ext uri="{FF2B5EF4-FFF2-40B4-BE49-F238E27FC236}">
                <a16:creationId xmlns:a16="http://schemas.microsoft.com/office/drawing/2014/main" id="{9A0C0E0B-7FA7-4C92-A12E-D53DB9323B6A}"/>
              </a:ext>
            </a:extLst>
          </p:cNvPr>
          <p:cNvSpPr>
            <a:spLocks xmlns:a="http://schemas.openxmlformats.org/drawingml/2006/main" noGrp="1"/>
          </p:cNvSpPr>
          <p:nvPr/>
        </p:nvSpPr>
        <p:spPr>
          <a:xfrm xmlns:a="http://schemas.openxmlformats.org/drawingml/2006/main">
            <a:off x="609600" y="2876550"/>
            <a:ext cx="4762500" cy="2095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0">
                <a:solidFill>
                  <a:srgbClr val="0F2A2E"/>
                </a:solidFill>
              </a:defRPr>
            </a:pPr>
            <a:r>
              <a:rPr sz="975" b="0">
                <a:solidFill>
                  <a:srgbClr val="0F2A2E"/>
                </a:solidFill>
              </a:rPr>
              <a:t>• Storytelling Through Drama</a:t>
            </a:r>
          </a:p>
          <a:p xmlns:a="http://schemas.openxmlformats.org/drawingml/2006/main">
            <a:pPr algn="l">
              <a:defRPr sz="975" b="0">
                <a:solidFill>
                  <a:srgbClr val="0F2A2E"/>
                </a:solidFill>
              </a:defRPr>
            </a:pPr>
            <a:r>
              <a:rPr sz="975" b="0">
                <a:solidFill>
                  <a:srgbClr val="0F2A2E"/>
                </a:solidFill>
              </a:rPr>
              <a:t>• Improvisation &amp; Status</a:t>
            </a:r>
          </a:p>
          <a:p xmlns:a="http://schemas.openxmlformats.org/drawingml/2006/main">
            <a:pPr algn="l">
              <a:defRPr sz="975" b="0">
                <a:solidFill>
                  <a:srgbClr val="0F2A2E"/>
                </a:solidFill>
              </a:defRPr>
            </a:pPr>
            <a:r>
              <a:rPr sz="975" b="0">
                <a:solidFill>
                  <a:srgbClr val="0F2A2E"/>
                </a:solidFill>
              </a:rPr>
              <a:t>• Scripted Scene Work</a:t>
            </a:r>
          </a:p>
          <a:p xmlns:a="http://schemas.openxmlformats.org/drawingml/2006/main">
            <a:pPr algn="l">
              <a:defRPr sz="975" b="0">
                <a:solidFill>
                  <a:srgbClr val="0F2A2E"/>
                </a:solidFill>
              </a:defRPr>
            </a:pPr>
            <a:r>
              <a:rPr sz="975" b="0">
                <a:solidFill>
                  <a:srgbClr val="0F2A2E"/>
                </a:solidFill>
              </a:rPr>
              <a:t>• Devising from Stimulus</a:t>
            </a:r>
          </a:p>
          <a:p xmlns:a="http://schemas.openxmlformats.org/drawingml/2006/main">
            <a:pPr algn="l">
              <a:defRPr sz="975" b="0">
                <a:solidFill>
                  <a:srgbClr val="0F2A2E"/>
                </a:solidFill>
              </a:defRPr>
            </a:pPr>
            <a:r>
              <a:rPr sz="975" b="0">
                <a:solidFill>
                  <a:srgbClr val="0F2A2E"/>
                </a:solidFill>
              </a:rPr>
              <a:t>• Rhythms of West Africa</a:t>
            </a:r>
          </a:p>
          <a:p xmlns:a="http://schemas.openxmlformats.org/drawingml/2006/main">
            <a:pPr algn="l">
              <a:defRPr sz="975" b="0">
                <a:solidFill>
                  <a:srgbClr val="0F2A2E"/>
                </a:solidFill>
              </a:defRPr>
            </a:pPr>
            <a:r>
              <a:rPr sz="975" b="0">
                <a:solidFill>
                  <a:srgbClr val="0F2A2E"/>
                </a:solidFill>
              </a:rPr>
              <a:t>• Singing &amp; Vocal Health</a:t>
            </a:r>
          </a:p>
          <a:p xmlns:a="http://schemas.openxmlformats.org/drawingml/2006/main">
            <a:pPr algn="l">
              <a:defRPr sz="975" b="0">
                <a:solidFill>
                  <a:srgbClr val="0F2A2E"/>
                </a:solidFill>
              </a:defRPr>
            </a:pPr>
            <a:r>
              <a:rPr sz="975" b="0">
                <a:solidFill>
                  <a:srgbClr val="0F2A2E"/>
                </a:solidFill>
              </a:rPr>
              <a:t>• Body Percussion</a:t>
            </a:r>
          </a:p>
          <a:p xmlns:a="http://schemas.openxmlformats.org/drawingml/2006/main">
            <a:pPr algn="l">
              <a:defRPr sz="975" b="0">
                <a:solidFill>
                  <a:srgbClr val="0F2A2E"/>
                </a:solidFill>
              </a:defRPr>
            </a:pPr>
            <a:r>
              <a:rPr sz="975" b="0">
                <a:solidFill>
                  <a:srgbClr val="0F2A2E"/>
                </a:solidFill>
              </a:rPr>
              <a:t>• Composing with Loops</a:t>
            </a:r>
          </a:p>
          <a:p xmlns:a="http://schemas.openxmlformats.org/drawingml/2006/main">
            <a:pPr algn="l">
              <a:defRPr sz="975" b="0">
                <a:solidFill>
                  <a:srgbClr val="0F2A2E"/>
                </a:solidFill>
              </a:defRPr>
            </a:pPr>
            <a:r>
              <a:rPr sz="975" b="0">
                <a:solidFill>
                  <a:srgbClr val="0F2A2E"/>
                </a:solidFill>
              </a:rPr>
              <a:t>• Motif &amp; Canon</a:t>
            </a:r>
          </a:p>
          <a:p xmlns:a="http://schemas.openxmlformats.org/drawingml/2006/main">
            <a:pPr algn="l">
              <a:defRPr sz="975" b="0">
                <a:solidFill>
                  <a:srgbClr val="0F2A2E"/>
                </a:solidFill>
              </a:defRPr>
            </a:pPr>
            <a:r>
              <a:rPr sz="975" b="0">
                <a:solidFill>
                  <a:srgbClr val="0F2A2E"/>
                </a:solidFill>
              </a:rPr>
              <a:t>• Contact &amp; Trust Work</a:t>
            </a:r>
          </a:p>
          <a:p xmlns:a="http://schemas.openxmlformats.org/drawingml/2006/main">
            <a:pPr algn="l">
              <a:defRPr sz="975" b="0">
                <a:solidFill>
                  <a:srgbClr val="0F2A2E"/>
                </a:solidFill>
              </a:defRPr>
            </a:pPr>
            <a:r>
              <a:rPr sz="975" b="0">
                <a:solidFill>
                  <a:srgbClr val="0F2A2E"/>
                </a:solidFill>
              </a:rPr>
              <a:t>• Storm &amp; Weather Studies</a:t>
            </a:r>
          </a:p>
          <a:p xmlns:a="http://schemas.openxmlformats.org/drawingml/2006/main">
            <a:pPr algn="l">
              <a:defRPr sz="975" b="0">
                <a:solidFill>
                  <a:srgbClr val="0F2A2E"/>
                </a:solidFill>
              </a:defRPr>
            </a:pPr>
            <a:r>
              <a:rPr sz="975" b="0">
                <a:solidFill>
                  <a:srgbClr val="0F2A2E"/>
                </a:solidFill>
              </a:rPr>
              <a:t>• Choreographing in Groups</a:t>
            </a:r>
          </a:p>
        </p:txBody>
      </p:sp>
      <p:sp>
        <p:nvSpPr>
          <p:cNvPr id="9" name="">
            <a:extLst xmlns:a="http://schemas.openxmlformats.org/drawingml/2006/main">
              <a:ext uri="{FF2B5EF4-FFF2-40B4-BE49-F238E27FC236}">
                <a16:creationId xmlns:a16="http://schemas.microsoft.com/office/drawing/2014/main" id="{D67471AE-4CAF-40FF-9649-FE5895CC021F}"/>
              </a:ext>
            </a:extLst>
          </p:cNvPr>
          <p:cNvSpPr>
            <a:spLocks xmlns:a="http://schemas.openxmlformats.org/drawingml/2006/main" noGrp="1"/>
          </p:cNvSpPr>
          <p:nvPr/>
        </p:nvSpPr>
        <p:spPr>
          <a:xfrm xmlns:a="http://schemas.openxmlformats.org/drawingml/2006/main">
            <a:off x="5715000" y="76200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0" name="">
            <a:extLst xmlns:a="http://schemas.openxmlformats.org/drawingml/2006/main">
              <a:ext uri="{FF2B5EF4-FFF2-40B4-BE49-F238E27FC236}">
                <a16:creationId xmlns:a16="http://schemas.microsoft.com/office/drawing/2014/main" id="{72FB0580-2435-41DC-9F48-0A559A9D2A33}"/>
              </a:ext>
            </a:extLst>
          </p:cNvPr>
          <p:cNvSpPr>
            <a:spLocks xmlns:a="http://schemas.openxmlformats.org/drawingml/2006/main" noGrp="1"/>
          </p:cNvSpPr>
          <p:nvPr/>
        </p:nvSpPr>
        <p:spPr>
          <a:xfrm xmlns:a="http://schemas.openxmlformats.org/drawingml/2006/main">
            <a:off x="5829300" y="87630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EYFS · KS1–KS2 · KS3–KS5</a:t>
            </a:r>
          </a:p>
        </p:txBody>
      </p:sp>
      <p:sp>
        <p:nvSpPr>
          <p:cNvPr id="11" name="">
            <a:extLst xmlns:a="http://schemas.openxmlformats.org/drawingml/2006/main">
              <a:ext uri="{FF2B5EF4-FFF2-40B4-BE49-F238E27FC236}">
                <a16:creationId xmlns:a16="http://schemas.microsoft.com/office/drawing/2014/main" id="{22343950-A110-48AE-B528-B2659A5367BB}"/>
              </a:ext>
            </a:extLst>
          </p:cNvPr>
          <p:cNvSpPr>
            <a:spLocks xmlns:a="http://schemas.openxmlformats.org/drawingml/2006/main" noGrp="1"/>
          </p:cNvSpPr>
          <p:nvPr/>
        </p:nvSpPr>
        <p:spPr>
          <a:xfrm xmlns:a="http://schemas.openxmlformats.org/drawingml/2006/main">
            <a:off x="5829300" y="10858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Drama</a:t>
            </a:r>
          </a:p>
        </p:txBody>
      </p:sp>
      <p:sp>
        <p:nvSpPr>
          <p:cNvPr id="12" name="">
            <a:extLst xmlns:a="http://schemas.openxmlformats.org/drawingml/2006/main">
              <a:ext uri="{FF2B5EF4-FFF2-40B4-BE49-F238E27FC236}">
                <a16:creationId xmlns:a16="http://schemas.microsoft.com/office/drawing/2014/main" id="{370ADDEB-F3DF-4ED1-B09C-764AAC7167BD}"/>
              </a:ext>
            </a:extLst>
          </p:cNvPr>
          <p:cNvSpPr>
            <a:spLocks xmlns:a="http://schemas.openxmlformats.org/drawingml/2006/main" noGrp="1"/>
          </p:cNvSpPr>
          <p:nvPr/>
        </p:nvSpPr>
        <p:spPr>
          <a:xfrm xmlns:a="http://schemas.openxmlformats.org/drawingml/2006/main">
            <a:off x="5829300" y="148590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5101"/>
          </a:bodyPr>
          <a:lstStyle xmlns:a="http://schemas.openxmlformats.org/drawingml/2006/main"/>
          <a:p xmlns:a="http://schemas.openxmlformats.org/drawingml/2006/main">
            <a:pPr algn="l">
              <a:defRPr sz="825" b="0">
                <a:solidFill>
                  <a:srgbClr val="2A4548"/>
                </a:solidFill>
              </a:defRPr>
            </a:pPr>
            <a:r>
              <a:rPr sz="825" b="0">
                <a:solidFill>
                  <a:srgbClr val="2A4548"/>
                </a:solidFill>
              </a:rPr>
              <a:t>Storytelling, voice, character &amp; physical theatre — built around ensemble work and clear performance moments.</a:t>
            </a:r>
          </a:p>
          <a:p xmlns:a="http://schemas.openxmlformats.org/drawingml/2006/main">
            <a:pPr algn="l">
              <a:defRPr sz="825" b="0">
                <a:solidFill>
                  <a:srgbClr val="2A4548"/>
                </a:solidFill>
              </a:defRPr>
            </a:pPr>
            <a:r>
              <a:rPr sz="825" b="0">
                <a:solidFill>
                  <a:srgbClr val="2A4548"/>
                </a:solidFill>
              </a:rPr>
              <a:t>Storytelling Through Drama · Improvisation &amp; Status · Scripted Scene Work · Devising from Stimulus</a:t>
            </a:r>
          </a:p>
        </p:txBody>
      </p:sp>
      <p:sp>
        <p:nvSpPr>
          <p:cNvPr id="13" name="">
            <a:extLst xmlns:a="http://schemas.openxmlformats.org/drawingml/2006/main">
              <a:ext uri="{FF2B5EF4-FFF2-40B4-BE49-F238E27FC236}">
                <a16:creationId xmlns:a16="http://schemas.microsoft.com/office/drawing/2014/main" id="{EFF41469-EC30-4A63-B918-8075657F90B5}"/>
              </a:ext>
            </a:extLst>
          </p:cNvPr>
          <p:cNvSpPr>
            <a:spLocks xmlns:a="http://schemas.openxmlformats.org/drawingml/2006/main" noGrp="1"/>
          </p:cNvSpPr>
          <p:nvPr/>
        </p:nvSpPr>
        <p:spPr>
          <a:xfrm xmlns:a="http://schemas.openxmlformats.org/drawingml/2006/main">
            <a:off x="8734425" y="76200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4" name="">
            <a:extLst xmlns:a="http://schemas.openxmlformats.org/drawingml/2006/main">
              <a:ext uri="{FF2B5EF4-FFF2-40B4-BE49-F238E27FC236}">
                <a16:creationId xmlns:a16="http://schemas.microsoft.com/office/drawing/2014/main" id="{8E99E00D-F6AB-441F-A046-D4EFB9B1799B}"/>
              </a:ext>
            </a:extLst>
          </p:cNvPr>
          <p:cNvSpPr>
            <a:spLocks xmlns:a="http://schemas.openxmlformats.org/drawingml/2006/main" noGrp="1"/>
          </p:cNvSpPr>
          <p:nvPr/>
        </p:nvSpPr>
        <p:spPr>
          <a:xfrm xmlns:a="http://schemas.openxmlformats.org/drawingml/2006/main">
            <a:off x="8848725" y="87630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EYFS · KS1–KS2 · KS3–KS5</a:t>
            </a:r>
          </a:p>
        </p:txBody>
      </p:sp>
      <p:sp>
        <p:nvSpPr>
          <p:cNvPr id="15" name="">
            <a:extLst xmlns:a="http://schemas.openxmlformats.org/drawingml/2006/main">
              <a:ext uri="{FF2B5EF4-FFF2-40B4-BE49-F238E27FC236}">
                <a16:creationId xmlns:a16="http://schemas.microsoft.com/office/drawing/2014/main" id="{AB2CE2E4-47C1-4DCC-86D3-E7A9392D9639}"/>
              </a:ext>
            </a:extLst>
          </p:cNvPr>
          <p:cNvSpPr>
            <a:spLocks xmlns:a="http://schemas.openxmlformats.org/drawingml/2006/main" noGrp="1"/>
          </p:cNvSpPr>
          <p:nvPr/>
        </p:nvSpPr>
        <p:spPr>
          <a:xfrm xmlns:a="http://schemas.openxmlformats.org/drawingml/2006/main">
            <a:off x="8848725" y="10858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Music</a:t>
            </a:r>
          </a:p>
        </p:txBody>
      </p:sp>
      <p:sp>
        <p:nvSpPr>
          <p:cNvPr id="16" name="">
            <a:extLst xmlns:a="http://schemas.openxmlformats.org/drawingml/2006/main">
              <a:ext uri="{FF2B5EF4-FFF2-40B4-BE49-F238E27FC236}">
                <a16:creationId xmlns:a16="http://schemas.microsoft.com/office/drawing/2014/main" id="{41254C68-87BA-4FDB-8B12-F82D36504B6B}"/>
              </a:ext>
            </a:extLst>
          </p:cNvPr>
          <p:cNvSpPr>
            <a:spLocks xmlns:a="http://schemas.openxmlformats.org/drawingml/2006/main" noGrp="1"/>
          </p:cNvSpPr>
          <p:nvPr/>
        </p:nvSpPr>
        <p:spPr>
          <a:xfrm xmlns:a="http://schemas.openxmlformats.org/drawingml/2006/main">
            <a:off x="8848725" y="148590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5101"/>
          </a:bodyPr>
          <a:lstStyle xmlns:a="http://schemas.openxmlformats.org/drawingml/2006/main"/>
          <a:p xmlns:a="http://schemas.openxmlformats.org/drawingml/2006/main">
            <a:pPr algn="l">
              <a:defRPr sz="825" b="0">
                <a:solidFill>
                  <a:srgbClr val="2A4548"/>
                </a:solidFill>
              </a:defRPr>
            </a:pPr>
            <a:r>
              <a:rPr sz="825" b="0">
                <a:solidFill>
                  <a:srgbClr val="2A4548"/>
                </a:solidFill>
              </a:rPr>
              <a:t>Rhythm, pitch, listening and singing — with backing tracks, vocal guides and resource links attached to every activity.</a:t>
            </a:r>
          </a:p>
          <a:p xmlns:a="http://schemas.openxmlformats.org/drawingml/2006/main">
            <a:pPr algn="l">
              <a:defRPr sz="825" b="0">
                <a:solidFill>
                  <a:srgbClr val="2A4548"/>
                </a:solidFill>
              </a:defRPr>
            </a:pPr>
            <a:r>
              <a:rPr sz="825" b="0">
                <a:solidFill>
                  <a:srgbClr val="2A4548"/>
                </a:solidFill>
              </a:rPr>
              <a:t>Rhythms of West Africa · Singing &amp; Vocal Health · Body Percussion · Composing with Loops</a:t>
            </a:r>
          </a:p>
        </p:txBody>
      </p:sp>
      <p:sp>
        <p:nvSpPr>
          <p:cNvPr id="17" name="">
            <a:extLst xmlns:a="http://schemas.openxmlformats.org/drawingml/2006/main">
              <a:ext uri="{FF2B5EF4-FFF2-40B4-BE49-F238E27FC236}">
                <a16:creationId xmlns:a16="http://schemas.microsoft.com/office/drawing/2014/main" id="{7A5D2706-7585-497B-88DD-057F5B0E5825}"/>
              </a:ext>
            </a:extLst>
          </p:cNvPr>
          <p:cNvSpPr>
            <a:spLocks xmlns:a="http://schemas.openxmlformats.org/drawingml/2006/main" noGrp="1"/>
          </p:cNvSpPr>
          <p:nvPr/>
        </p:nvSpPr>
        <p:spPr>
          <a:xfrm xmlns:a="http://schemas.openxmlformats.org/drawingml/2006/main">
            <a:off x="5715000" y="241935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8" name="">
            <a:extLst xmlns:a="http://schemas.openxmlformats.org/drawingml/2006/main">
              <a:ext uri="{FF2B5EF4-FFF2-40B4-BE49-F238E27FC236}">
                <a16:creationId xmlns:a16="http://schemas.microsoft.com/office/drawing/2014/main" id="{94185A44-21D1-4141-A487-4D5586868A54}"/>
              </a:ext>
            </a:extLst>
          </p:cNvPr>
          <p:cNvSpPr>
            <a:spLocks xmlns:a="http://schemas.openxmlformats.org/drawingml/2006/main" noGrp="1"/>
          </p:cNvSpPr>
          <p:nvPr/>
        </p:nvSpPr>
        <p:spPr>
          <a:xfrm xmlns:a="http://schemas.openxmlformats.org/drawingml/2006/main">
            <a:off x="5829300" y="253365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EYFS · KS1–KS2 · KS3–KS5</a:t>
            </a:r>
          </a:p>
        </p:txBody>
      </p:sp>
      <p:sp>
        <p:nvSpPr>
          <p:cNvPr id="19" name="">
            <a:extLst xmlns:a="http://schemas.openxmlformats.org/drawingml/2006/main">
              <a:ext uri="{FF2B5EF4-FFF2-40B4-BE49-F238E27FC236}">
                <a16:creationId xmlns:a16="http://schemas.microsoft.com/office/drawing/2014/main" id="{FE90D5F5-1D30-438B-9E38-16A12B4B4B85}"/>
              </a:ext>
            </a:extLst>
          </p:cNvPr>
          <p:cNvSpPr>
            <a:spLocks xmlns:a="http://schemas.openxmlformats.org/drawingml/2006/main" noGrp="1"/>
          </p:cNvSpPr>
          <p:nvPr/>
        </p:nvSpPr>
        <p:spPr>
          <a:xfrm xmlns:a="http://schemas.openxmlformats.org/drawingml/2006/main">
            <a:off x="5829300" y="274320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Dance</a:t>
            </a:r>
          </a:p>
        </p:txBody>
      </p:sp>
      <p:sp>
        <p:nvSpPr>
          <p:cNvPr id="20" name="">
            <a:extLst xmlns:a="http://schemas.openxmlformats.org/drawingml/2006/main">
              <a:ext uri="{FF2B5EF4-FFF2-40B4-BE49-F238E27FC236}">
                <a16:creationId xmlns:a16="http://schemas.microsoft.com/office/drawing/2014/main" id="{465DB4EB-A77C-4DC3-8C1F-9E3F3EDA8B10}"/>
              </a:ext>
            </a:extLst>
          </p:cNvPr>
          <p:cNvSpPr>
            <a:spLocks xmlns:a="http://schemas.openxmlformats.org/drawingml/2006/main" noGrp="1"/>
          </p:cNvSpPr>
          <p:nvPr/>
        </p:nvSpPr>
        <p:spPr>
          <a:xfrm xmlns:a="http://schemas.openxmlformats.org/drawingml/2006/main">
            <a:off x="5829300" y="314325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5101"/>
          </a:bodyPr>
          <a:lstStyle xmlns:a="http://schemas.openxmlformats.org/drawingml/2006/main"/>
          <a:p xmlns:a="http://schemas.openxmlformats.org/drawingml/2006/main">
            <a:pPr algn="l">
              <a:defRPr sz="825" b="0">
                <a:solidFill>
                  <a:srgbClr val="2A4548"/>
                </a:solidFill>
              </a:defRPr>
            </a:pPr>
            <a:r>
              <a:rPr sz="825" b="0">
                <a:solidFill>
                  <a:srgbClr val="2A4548"/>
                </a:solidFill>
              </a:rPr>
              <a:t>Motif, canon, contact and choreography — sequenced so a class can build a performance piece across a half-term.</a:t>
            </a:r>
          </a:p>
          <a:p xmlns:a="http://schemas.openxmlformats.org/drawingml/2006/main">
            <a:pPr algn="l">
              <a:defRPr sz="825" b="0">
                <a:solidFill>
                  <a:srgbClr val="2A4548"/>
                </a:solidFill>
              </a:defRPr>
            </a:pPr>
            <a:r>
              <a:rPr sz="825" b="0">
                <a:solidFill>
                  <a:srgbClr val="2A4548"/>
                </a:solidFill>
              </a:rPr>
              <a:t>Motif &amp; Canon · Contact &amp; Trust Work · Storm &amp; Weather Studies · Choreographing in Groups</a:t>
            </a:r>
          </a:p>
        </p:txBody>
      </p:sp>
      <p:sp>
        <p:nvSpPr>
          <p:cNvPr id="21" name="">
            <a:extLst xmlns:a="http://schemas.openxmlformats.org/drawingml/2006/main">
              <a:ext uri="{FF2B5EF4-FFF2-40B4-BE49-F238E27FC236}">
                <a16:creationId xmlns:a16="http://schemas.microsoft.com/office/drawing/2014/main" id="{FFD895B3-5F80-45DB-97E7-EEA63E14AFF0}"/>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22" name="">
            <a:extLst xmlns:a="http://schemas.openxmlformats.org/drawingml/2006/main">
              <a:ext uri="{FF2B5EF4-FFF2-40B4-BE49-F238E27FC236}">
                <a16:creationId xmlns:a16="http://schemas.microsoft.com/office/drawing/2014/main" id="{0E32E644-132E-4E2E-A843-A5F977772B54}"/>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07 / 25</a:t>
            </a:r>
          </a:p>
        </p:txBody>
      </p:sp>
    </p:spTree>
    <p:extLst>
      <p:ext uri="{BB962C8B-B14F-4D97-AF65-F5344CB8AC3E}">
        <p14:creationId xmlns:p14="http://schemas.microsoft.com/office/powerpoint/2010/main" val="1852179568"/>
      </p:ext>
    </p:extLst>
  </p:cSld>
</p:sld>
</file>

<file path=ppt/slides/slide8.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03421E4-86B9-4920-813F-AD0D2683DC3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51CF3A9-A3A9-452B-AAE5-52B902EE6BF1}"/>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52F0593-B57E-4D90-BA69-D60E0DD0AB50}"/>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B0FE210-DD7F-4D0D-B38F-7F85CBBA1E0E}"/>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Feature 02</a:t>
            </a:r>
          </a:p>
        </p:txBody>
      </p:sp>
      <p:sp>
        <p:nvSpPr>
          <p:cNvPr id="6" name="">
            <a:extLst xmlns:a="http://schemas.openxmlformats.org/drawingml/2006/main">
              <a:ext uri="{FF2B5EF4-FFF2-40B4-BE49-F238E27FC236}">
                <a16:creationId xmlns:a16="http://schemas.microsoft.com/office/drawing/2014/main" id="{982B7CD1-AF63-45E0-A9EA-CA68EEE8B5BE}"/>
              </a:ext>
            </a:extLst>
          </p:cNvPr>
          <p:cNvSpPr>
            <a:spLocks xmlns:a="http://schemas.openxmlformats.org/drawingml/2006/main" noGrp="1"/>
          </p:cNvSpPr>
          <p:nvPr/>
        </p:nvSpPr>
        <p:spPr>
          <a:xfrm xmlns:a="http://schemas.openxmlformats.org/drawingml/2006/main">
            <a:off x="609600" y="647700"/>
            <a:ext cx="4762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002D24"/>
                </a:solidFill>
              </a:defRPr>
            </a:pPr>
            <a:r>
              <a:rPr sz="1950" b="1">
                <a:solidFill>
                  <a:srgbClr val="002D24"/>
                </a:solidFill>
              </a:rPr>
              <a:t>Every good lesson, kept.</a:t>
            </a:r>
          </a:p>
        </p:txBody>
      </p:sp>
      <p:sp>
        <p:nvSpPr>
          <p:cNvPr id="7" name="">
            <a:extLst xmlns:a="http://schemas.openxmlformats.org/drawingml/2006/main">
              <a:ext uri="{FF2B5EF4-FFF2-40B4-BE49-F238E27FC236}">
                <a16:creationId xmlns:a16="http://schemas.microsoft.com/office/drawing/2014/main" id="{BD5D6E64-5F2F-4CFD-9A2A-1A6069D95359}"/>
              </a:ext>
            </a:extLst>
          </p:cNvPr>
          <p:cNvSpPr>
            <a:spLocks xmlns:a="http://schemas.openxmlformats.org/drawingml/2006/main" noGrp="1"/>
          </p:cNvSpPr>
          <p:nvPr/>
        </p:nvSpPr>
        <p:spPr>
          <a:xfrm xmlns:a="http://schemas.openxmlformats.org/drawingml/2006/main">
            <a:off x="609600" y="1485900"/>
            <a:ext cx="47625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2A4548"/>
                </a:solidFill>
              </a:defRPr>
            </a:pPr>
            <a:r>
              <a:rPr sz="1050" b="0">
                <a:solidFill>
                  <a:srgbClr val="2A4548"/>
                </a:solidFill>
              </a:rPr>
              <a:t>A searchable library of lessons your team builds together — and that grows beyond your team, with contributions from outreach teams, training providers and arts partners across the sector. Tag by year group, unit and objective. Open the right one when you need it.</a:t>
            </a:r>
          </a:p>
        </p:txBody>
      </p:sp>
      <p:sp>
        <p:nvSpPr>
          <p:cNvPr id="8" name="">
            <a:extLst xmlns:a="http://schemas.openxmlformats.org/drawingml/2006/main">
              <a:ext uri="{FF2B5EF4-FFF2-40B4-BE49-F238E27FC236}">
                <a16:creationId xmlns:a16="http://schemas.microsoft.com/office/drawing/2014/main" id="{C28A5E25-CAE8-416E-9306-6589464AF8B6}"/>
              </a:ext>
            </a:extLst>
          </p:cNvPr>
          <p:cNvSpPr>
            <a:spLocks xmlns:a="http://schemas.openxmlformats.org/drawingml/2006/main" noGrp="1"/>
          </p:cNvSpPr>
          <p:nvPr/>
        </p:nvSpPr>
        <p:spPr>
          <a:xfrm xmlns:a="http://schemas.openxmlformats.org/drawingml/2006/main">
            <a:off x="609600" y="2724150"/>
            <a:ext cx="2333625" cy="590550"/>
          </a:xfrm>
          <a:prstGeom xmlns:a="http://schemas.openxmlformats.org/drawingml/2006/main" prst="roundRect">
            <a:avLst>
              <a:gd name="adj" fmla="val 12903"/>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C08F47C-BC3F-42B2-9CBA-7E68EBBB84C5}"/>
              </a:ext>
            </a:extLst>
          </p:cNvPr>
          <p:cNvSpPr>
            <a:spLocks xmlns:a="http://schemas.openxmlformats.org/drawingml/2006/main" noGrp="1"/>
          </p:cNvSpPr>
          <p:nvPr/>
        </p:nvSpPr>
        <p:spPr>
          <a:xfrm xmlns:a="http://schemas.openxmlformats.org/drawingml/2006/main">
            <a:off x="685800" y="2800350"/>
            <a:ext cx="2181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3947"/>
          </a:bodyPr>
          <a:lstStyle xmlns:a="http://schemas.openxmlformats.org/drawingml/2006/main"/>
          <a:p xmlns:a="http://schemas.openxmlformats.org/drawingml/2006/main">
            <a:pPr algn="ctr">
              <a:defRPr sz="1200" b="1">
                <a:solidFill>
                  <a:srgbClr val="B6FF7E"/>
                </a:solidFill>
              </a:defRPr>
            </a:pPr>
            <a:r>
              <a:rPr sz="1200" b="1">
                <a:solidFill>
                  <a:srgbClr val="B6FF7E"/>
                </a:solidFill>
              </a:rPr>
              <a:t>200+</a:t>
            </a:r>
          </a:p>
        </p:txBody>
      </p:sp>
      <p:sp>
        <p:nvSpPr>
          <p:cNvPr id="10" name="">
            <a:extLst xmlns:a="http://schemas.openxmlformats.org/drawingml/2006/main">
              <a:ext uri="{FF2B5EF4-FFF2-40B4-BE49-F238E27FC236}">
                <a16:creationId xmlns:a16="http://schemas.microsoft.com/office/drawing/2014/main" id="{BEB10BFD-BD71-4D1A-A557-28BC50166C08}"/>
              </a:ext>
            </a:extLst>
          </p:cNvPr>
          <p:cNvSpPr>
            <a:spLocks xmlns:a="http://schemas.openxmlformats.org/drawingml/2006/main" noGrp="1"/>
          </p:cNvSpPr>
          <p:nvPr/>
        </p:nvSpPr>
        <p:spPr>
          <a:xfrm xmlns:a="http://schemas.openxmlformats.org/drawingml/2006/main">
            <a:off x="685800" y="3067050"/>
            <a:ext cx="21812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7176"/>
          </a:bodyPr>
          <a:lstStyle xmlns:a="http://schemas.openxmlformats.org/drawingml/2006/main"/>
          <a:p xmlns:a="http://schemas.openxmlformats.org/drawingml/2006/main">
            <a:pPr algn="ctr">
              <a:defRPr sz="750" b="0">
                <a:solidFill>
                  <a:srgbClr val="FFFFFF"/>
                </a:solidFill>
              </a:defRPr>
            </a:pPr>
            <a:r>
              <a:rPr sz="750" b="0">
                <a:solidFill>
                  <a:srgbClr val="FFFFFF"/>
                </a:solidFill>
              </a:rPr>
              <a:t>starter lessons included</a:t>
            </a:r>
          </a:p>
        </p:txBody>
      </p:sp>
      <p:sp>
        <p:nvSpPr>
          <p:cNvPr id="11" name="">
            <a:extLst xmlns:a="http://schemas.openxmlformats.org/drawingml/2006/main">
              <a:ext uri="{FF2B5EF4-FFF2-40B4-BE49-F238E27FC236}">
                <a16:creationId xmlns:a16="http://schemas.microsoft.com/office/drawing/2014/main" id="{847B76EC-63A5-494E-B694-B74F3FECF9DB}"/>
              </a:ext>
            </a:extLst>
          </p:cNvPr>
          <p:cNvSpPr>
            <a:spLocks xmlns:a="http://schemas.openxmlformats.org/drawingml/2006/main" noGrp="1"/>
          </p:cNvSpPr>
          <p:nvPr/>
        </p:nvSpPr>
        <p:spPr>
          <a:xfrm xmlns:a="http://schemas.openxmlformats.org/drawingml/2006/main">
            <a:off x="3038475" y="2724150"/>
            <a:ext cx="2333625" cy="590550"/>
          </a:xfrm>
          <a:prstGeom xmlns:a="http://schemas.openxmlformats.org/drawingml/2006/main" prst="roundRect">
            <a:avLst>
              <a:gd name="adj" fmla="val 12903"/>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35EFBCD2-E66E-4870-ABFA-8CB67A042162}"/>
              </a:ext>
            </a:extLst>
          </p:cNvPr>
          <p:cNvSpPr>
            <a:spLocks xmlns:a="http://schemas.openxmlformats.org/drawingml/2006/main" noGrp="1"/>
          </p:cNvSpPr>
          <p:nvPr/>
        </p:nvSpPr>
        <p:spPr>
          <a:xfrm xmlns:a="http://schemas.openxmlformats.org/drawingml/2006/main">
            <a:off x="3114675" y="2800350"/>
            <a:ext cx="2181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3947"/>
          </a:bodyPr>
          <a:lstStyle xmlns:a="http://schemas.openxmlformats.org/drawingml/2006/main"/>
          <a:p xmlns:a="http://schemas.openxmlformats.org/drawingml/2006/main">
            <a:pPr algn="ctr">
              <a:defRPr sz="1200" b="1">
                <a:solidFill>
                  <a:srgbClr val="B6FF7E"/>
                </a:solidFill>
              </a:defRPr>
            </a:pPr>
            <a:r>
              <a:rPr sz="1200" b="1">
                <a:solidFill>
                  <a:srgbClr val="B6FF7E"/>
                </a:solidFill>
              </a:rPr>
              <a:t>1-click</a:t>
            </a:r>
          </a:p>
        </p:txBody>
      </p:sp>
      <p:sp>
        <p:nvSpPr>
          <p:cNvPr id="13" name="">
            <a:extLst xmlns:a="http://schemas.openxmlformats.org/drawingml/2006/main">
              <a:ext uri="{FF2B5EF4-FFF2-40B4-BE49-F238E27FC236}">
                <a16:creationId xmlns:a16="http://schemas.microsoft.com/office/drawing/2014/main" id="{C2EB702B-3700-43E0-B690-3F37D93F807F}"/>
              </a:ext>
            </a:extLst>
          </p:cNvPr>
          <p:cNvSpPr>
            <a:spLocks xmlns:a="http://schemas.openxmlformats.org/drawingml/2006/main" noGrp="1"/>
          </p:cNvSpPr>
          <p:nvPr/>
        </p:nvSpPr>
        <p:spPr>
          <a:xfrm xmlns:a="http://schemas.openxmlformats.org/drawingml/2006/main">
            <a:off x="3114675" y="3067050"/>
            <a:ext cx="21812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7176"/>
          </a:bodyPr>
          <a:lstStyle xmlns:a="http://schemas.openxmlformats.org/drawingml/2006/main"/>
          <a:p xmlns:a="http://schemas.openxmlformats.org/drawingml/2006/main">
            <a:pPr algn="ctr">
              <a:defRPr sz="750" b="0">
                <a:solidFill>
                  <a:srgbClr val="FFFFFF"/>
                </a:solidFill>
              </a:defRPr>
            </a:pPr>
            <a:r>
              <a:rPr sz="750" b="0">
                <a:solidFill>
                  <a:srgbClr val="FFFFFF"/>
                </a:solidFill>
              </a:rPr>
              <a:t>duplicate, edit, share</a:t>
            </a:r>
          </a:p>
        </p:txBody>
      </p:sp>
      <p:sp>
        <p:nvSpPr>
          <p:cNvPr id="14" name="">
            <a:extLst xmlns:a="http://schemas.openxmlformats.org/drawingml/2006/main">
              <a:ext uri="{FF2B5EF4-FFF2-40B4-BE49-F238E27FC236}">
                <a16:creationId xmlns:a16="http://schemas.microsoft.com/office/drawing/2014/main" id="{7834573E-D016-4BC7-AF7F-220136B5A3E4}"/>
              </a:ext>
            </a:extLst>
          </p:cNvPr>
          <p:cNvSpPr>
            <a:spLocks xmlns:a="http://schemas.openxmlformats.org/drawingml/2006/main" noGrp="1"/>
          </p:cNvSpPr>
          <p:nvPr/>
        </p:nvSpPr>
        <p:spPr>
          <a:xfrm xmlns:a="http://schemas.openxmlformats.org/drawingml/2006/main">
            <a:off x="609600" y="5905500"/>
            <a:ext cx="11049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5E88FD9D-F12A-413E-8AA6-C45458F90C21}"/>
              </a:ext>
            </a:extLst>
          </p:cNvPr>
          <p:cNvSpPr>
            <a:spLocks xmlns:a="http://schemas.openxmlformats.org/drawingml/2006/main" noGrp="1"/>
          </p:cNvSpPr>
          <p:nvPr/>
        </p:nvSpPr>
        <p:spPr>
          <a:xfrm xmlns:a="http://schemas.openxmlformats.org/drawingml/2006/main">
            <a:off x="685800" y="5943600"/>
            <a:ext cx="95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214 lessons</a:t>
            </a:r>
          </a:p>
        </p:txBody>
      </p:sp>
      <p:sp>
        <p:nvSpPr>
          <p:cNvPr id="16" name="">
            <a:extLst xmlns:a="http://schemas.openxmlformats.org/drawingml/2006/main">
              <a:ext uri="{FF2B5EF4-FFF2-40B4-BE49-F238E27FC236}">
                <a16:creationId xmlns:a16="http://schemas.microsoft.com/office/drawing/2014/main" id="{D2A33650-BCEA-49C1-B18A-63CA48727956}"/>
              </a:ext>
            </a:extLst>
          </p:cNvPr>
          <p:cNvSpPr>
            <a:spLocks xmlns:a="http://schemas.openxmlformats.org/drawingml/2006/main" noGrp="1"/>
          </p:cNvSpPr>
          <p:nvPr/>
        </p:nvSpPr>
        <p:spPr>
          <a:xfrm xmlns:a="http://schemas.openxmlformats.org/drawingml/2006/main">
            <a:off x="5619750" y="666750"/>
            <a:ext cx="6000750" cy="5524500"/>
          </a:xfrm>
          <a:prstGeom xmlns:a="http://schemas.openxmlformats.org/drawingml/2006/main" prst="roundRect">
            <a:avLst>
              <a:gd name="adj" fmla="val 1379"/>
            </a:avLst>
          </a:prstGeom>
          <a:solidFill xmlns:a="http://schemas.openxmlformats.org/drawingml/2006/main">
            <a:srgbClr val="FFFFFF"/>
          </a:solidFill>
          <a:ln xmlns:a="http://schemas.openxmlformats.org/drawingml/2006/main" w="9525">
            <a:solidFill>
              <a:srgbClr val="D7E4DF"/>
            </a:solidFill>
            <a:prstDash val="solid"/>
          </a:ln>
        </p:spPr>
      </p:sp>
      <p:sp>
        <p:nvSpPr>
          <p:cNvPr id="17" name="">
            <a:extLst xmlns:a="http://schemas.openxmlformats.org/drawingml/2006/main">
              <a:ext uri="{FF2B5EF4-FFF2-40B4-BE49-F238E27FC236}">
                <a16:creationId xmlns:a16="http://schemas.microsoft.com/office/drawing/2014/main" id="{F222BE33-E4C8-4566-A450-C9C2540321C7}"/>
              </a:ext>
            </a:extLst>
          </p:cNvPr>
          <p:cNvSpPr>
            <a:spLocks xmlns:a="http://schemas.openxmlformats.org/drawingml/2006/main" noGrp="1"/>
          </p:cNvSpPr>
          <p:nvPr/>
        </p:nvSpPr>
        <p:spPr>
          <a:xfrm xmlns:a="http://schemas.openxmlformats.org/drawingml/2006/main">
            <a:off x="5772150" y="800100"/>
            <a:ext cx="3300413"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4184"/>
          </a:bodyPr>
          <a:lstStyle xmlns:a="http://schemas.openxmlformats.org/drawingml/2006/main"/>
          <a:p xmlns:a="http://schemas.openxmlformats.org/drawingml/2006/main">
            <a:pPr algn="l">
              <a:defRPr sz="1200" b="1">
                <a:solidFill>
                  <a:srgbClr val="0F2A2E"/>
                </a:solidFill>
              </a:defRPr>
            </a:pPr>
            <a:r>
              <a:rPr sz="1200" b="1">
                <a:solidFill>
                  <a:srgbClr val="0F2A2E"/>
                </a:solidFill>
              </a:rPr>
              <a:t>Lesson library</a:t>
            </a:r>
          </a:p>
        </p:txBody>
      </p:sp>
      <p:sp>
        <p:nvSpPr>
          <p:cNvPr id="18" name="">
            <a:extLst xmlns:a="http://schemas.openxmlformats.org/drawingml/2006/main">
              <a:ext uri="{FF2B5EF4-FFF2-40B4-BE49-F238E27FC236}">
                <a16:creationId xmlns:a16="http://schemas.microsoft.com/office/drawing/2014/main" id="{40A8B9C8-09C5-4A39-9FB3-797935DC2F1F}"/>
              </a:ext>
            </a:extLst>
          </p:cNvPr>
          <p:cNvSpPr>
            <a:spLocks xmlns:a="http://schemas.openxmlformats.org/drawingml/2006/main" noGrp="1"/>
          </p:cNvSpPr>
          <p:nvPr/>
        </p:nvSpPr>
        <p:spPr>
          <a:xfrm xmlns:a="http://schemas.openxmlformats.org/drawingml/2006/main">
            <a:off x="8920163" y="819150"/>
            <a:ext cx="2247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0">
                <a:solidFill>
                  <a:srgbClr val="5A7275"/>
                </a:solidFill>
              </a:defRPr>
            </a:pPr>
            <a:r>
              <a:rPr sz="900" b="0">
                <a:solidFill>
                  <a:srgbClr val="5A7275"/>
                </a:solidFill>
              </a:rPr>
              <a:t>214 lessons</a:t>
            </a:r>
          </a:p>
        </p:txBody>
      </p:sp>
      <p:sp>
        <p:nvSpPr>
          <p:cNvPr id="19" name="">
            <a:extLst xmlns:a="http://schemas.openxmlformats.org/drawingml/2006/main">
              <a:ext uri="{FF2B5EF4-FFF2-40B4-BE49-F238E27FC236}">
                <a16:creationId xmlns:a16="http://schemas.microsoft.com/office/drawing/2014/main" id="{614751E4-2CC5-45C0-831F-32A8573C1DCF}"/>
              </a:ext>
            </a:extLst>
          </p:cNvPr>
          <p:cNvSpPr>
            <a:spLocks xmlns:a="http://schemas.openxmlformats.org/drawingml/2006/main" noGrp="1"/>
          </p:cNvSpPr>
          <p:nvPr/>
        </p:nvSpPr>
        <p:spPr>
          <a:xfrm xmlns:a="http://schemas.openxmlformats.org/drawingml/2006/main">
            <a:off x="5772150" y="1143000"/>
            <a:ext cx="5695950" cy="323850"/>
          </a:xfrm>
          <a:prstGeom xmlns:a="http://schemas.openxmlformats.org/drawingml/2006/main" prst="roundRect">
            <a:avLst>
              <a:gd name="adj" fmla="val 23529"/>
            </a:avLst>
          </a:prstGeom>
          <a:solidFill xmlns:a="http://schemas.openxmlformats.org/drawingml/2006/main">
            <a:srgbClr val="FFFAF7"/>
          </a:solidFill>
          <a:ln xmlns:a="http://schemas.openxmlformats.org/drawingml/2006/main" w="9525">
            <a:solidFill>
              <a:srgbClr val="D7E4DF"/>
            </a:solidFill>
            <a:prstDash val="solid"/>
          </a:ln>
        </p:spPr>
      </p:sp>
      <p:sp>
        <p:nvSpPr>
          <p:cNvPr id="20" name="">
            <a:extLst xmlns:a="http://schemas.openxmlformats.org/drawingml/2006/main">
              <a:ext uri="{FF2B5EF4-FFF2-40B4-BE49-F238E27FC236}">
                <a16:creationId xmlns:a16="http://schemas.microsoft.com/office/drawing/2014/main" id="{2D5A233F-6AF5-4274-9388-AEC39740BF4F}"/>
              </a:ext>
            </a:extLst>
          </p:cNvPr>
          <p:cNvSpPr>
            <a:spLocks xmlns:a="http://schemas.openxmlformats.org/drawingml/2006/main" noGrp="1"/>
          </p:cNvSpPr>
          <p:nvPr/>
        </p:nvSpPr>
        <p:spPr>
          <a:xfrm xmlns:a="http://schemas.openxmlformats.org/drawingml/2006/main">
            <a:off x="5886450" y="1200150"/>
            <a:ext cx="5467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00" b="0">
                <a:solidFill>
                  <a:srgbClr val="5A7275"/>
                </a:solidFill>
              </a:defRPr>
            </a:pPr>
            <a:r>
              <a:rPr sz="900" b="0">
                <a:solidFill>
                  <a:srgbClr val="5A7275"/>
                </a:solidFill>
              </a:rPr>
              <a:t>Search by title, year, or unit…</a:t>
            </a:r>
          </a:p>
        </p:txBody>
      </p:sp>
      <p:sp>
        <p:nvSpPr>
          <p:cNvPr id="21" name="">
            <a:extLst xmlns:a="http://schemas.openxmlformats.org/drawingml/2006/main">
              <a:ext uri="{FF2B5EF4-FFF2-40B4-BE49-F238E27FC236}">
                <a16:creationId xmlns:a16="http://schemas.microsoft.com/office/drawing/2014/main" id="{99D5A7EE-695A-49CC-B41C-F9C9790280E7}"/>
              </a:ext>
            </a:extLst>
          </p:cNvPr>
          <p:cNvSpPr>
            <a:spLocks xmlns:a="http://schemas.openxmlformats.org/drawingml/2006/main" noGrp="1"/>
          </p:cNvSpPr>
          <p:nvPr/>
        </p:nvSpPr>
        <p:spPr>
          <a:xfrm xmlns:a="http://schemas.openxmlformats.org/drawingml/2006/main">
            <a:off x="5772150" y="1600200"/>
            <a:ext cx="2781300" cy="2114550"/>
          </a:xfrm>
          <a:prstGeom xmlns:a="http://schemas.openxmlformats.org/drawingml/2006/main" prst="roundRect">
            <a:avLst>
              <a:gd name="adj" fmla="val 3604"/>
            </a:avLst>
          </a:prstGeom>
          <a:solidFill xmlns:a="http://schemas.openxmlformats.org/drawingml/2006/main">
            <a:srgbClr val="FFFFFF"/>
          </a:solidFill>
          <a:ln xmlns:a="http://schemas.openxmlformats.org/drawingml/2006/main" w="9525">
            <a:solidFill>
              <a:srgbClr val="D7E4DF"/>
            </a:solidFill>
            <a:prstDash val="solid"/>
          </a:ln>
        </p:spPr>
      </p:sp>
      <p:sp>
        <p:nvSpPr>
          <p:cNvPr id="22" name="">
            <a:extLst xmlns:a="http://schemas.openxmlformats.org/drawingml/2006/main">
              <a:ext uri="{FF2B5EF4-FFF2-40B4-BE49-F238E27FC236}">
                <a16:creationId xmlns:a16="http://schemas.microsoft.com/office/drawing/2014/main" id="{520AB97F-7E09-4A6C-9FF7-C54934F950BC}"/>
              </a:ext>
            </a:extLst>
          </p:cNvPr>
          <p:cNvSpPr>
            <a:spLocks xmlns:a="http://schemas.openxmlformats.org/drawingml/2006/main" noGrp="1"/>
          </p:cNvSpPr>
          <p:nvPr/>
        </p:nvSpPr>
        <p:spPr>
          <a:xfrm xmlns:a="http://schemas.openxmlformats.org/drawingml/2006/main">
            <a:off x="5886450" y="1714500"/>
            <a:ext cx="2552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Drama · Y4 · 45 min</a:t>
            </a:r>
          </a:p>
        </p:txBody>
      </p:sp>
      <p:sp>
        <p:nvSpPr>
          <p:cNvPr id="23" name="">
            <a:extLst xmlns:a="http://schemas.openxmlformats.org/drawingml/2006/main">
              <a:ext uri="{FF2B5EF4-FFF2-40B4-BE49-F238E27FC236}">
                <a16:creationId xmlns:a16="http://schemas.microsoft.com/office/drawing/2014/main" id="{0FB794C6-6557-4EED-A9B6-31787A661295}"/>
              </a:ext>
            </a:extLst>
          </p:cNvPr>
          <p:cNvSpPr>
            <a:spLocks xmlns:a="http://schemas.openxmlformats.org/drawingml/2006/main" noGrp="1"/>
          </p:cNvSpPr>
          <p:nvPr/>
        </p:nvSpPr>
        <p:spPr>
          <a:xfrm xmlns:a="http://schemas.openxmlformats.org/drawingml/2006/main">
            <a:off x="5886450" y="1924050"/>
            <a:ext cx="2552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1">
                <a:solidFill>
                  <a:srgbClr val="0F2A2E"/>
                </a:solidFill>
              </a:defRPr>
            </a:pPr>
            <a:r>
              <a:rPr sz="975" b="1">
                <a:solidFill>
                  <a:srgbClr val="0F2A2E"/>
                </a:solidFill>
              </a:rPr>
              <a:t>Freeze-frame storytelling</a:t>
            </a:r>
          </a:p>
        </p:txBody>
      </p:sp>
      <p:sp>
        <p:nvSpPr>
          <p:cNvPr id="24" name="">
            <a:extLst xmlns:a="http://schemas.openxmlformats.org/drawingml/2006/main">
              <a:ext uri="{FF2B5EF4-FFF2-40B4-BE49-F238E27FC236}">
                <a16:creationId xmlns:a16="http://schemas.microsoft.com/office/drawing/2014/main" id="{5528796A-2D05-44A1-83B3-D2765D4BF7D8}"/>
              </a:ext>
            </a:extLst>
          </p:cNvPr>
          <p:cNvSpPr>
            <a:spLocks xmlns:a="http://schemas.openxmlformats.org/drawingml/2006/main" noGrp="1"/>
          </p:cNvSpPr>
          <p:nvPr/>
        </p:nvSpPr>
        <p:spPr>
          <a:xfrm xmlns:a="http://schemas.openxmlformats.org/drawingml/2006/main">
            <a:off x="5886450" y="2324100"/>
            <a:ext cx="2552700"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Three still images that retell a fable using levels, gesture and gaze.</a:t>
            </a:r>
          </a:p>
        </p:txBody>
      </p:sp>
      <p:sp>
        <p:nvSpPr>
          <p:cNvPr id="25" name="">
            <a:extLst xmlns:a="http://schemas.openxmlformats.org/drawingml/2006/main">
              <a:ext uri="{FF2B5EF4-FFF2-40B4-BE49-F238E27FC236}">
                <a16:creationId xmlns:a16="http://schemas.microsoft.com/office/drawing/2014/main" id="{A520CCEF-5132-4479-99D8-BB86B62D01CD}"/>
              </a:ext>
            </a:extLst>
          </p:cNvPr>
          <p:cNvSpPr>
            <a:spLocks xmlns:a="http://schemas.openxmlformats.org/drawingml/2006/main" noGrp="1"/>
          </p:cNvSpPr>
          <p:nvPr/>
        </p:nvSpPr>
        <p:spPr>
          <a:xfrm xmlns:a="http://schemas.openxmlformats.org/drawingml/2006/main">
            <a:off x="8686800" y="1600200"/>
            <a:ext cx="2781300" cy="2114550"/>
          </a:xfrm>
          <a:prstGeom xmlns:a="http://schemas.openxmlformats.org/drawingml/2006/main" prst="roundRect">
            <a:avLst>
              <a:gd name="adj" fmla="val 3604"/>
            </a:avLst>
          </a:prstGeom>
          <a:solidFill xmlns:a="http://schemas.openxmlformats.org/drawingml/2006/main">
            <a:srgbClr val="FFFFFF"/>
          </a:solidFill>
          <a:ln xmlns:a="http://schemas.openxmlformats.org/drawingml/2006/main" w="9525">
            <a:solidFill>
              <a:srgbClr val="D7E4DF"/>
            </a:solidFill>
            <a:prstDash val="solid"/>
          </a:ln>
        </p:spPr>
      </p:sp>
      <p:sp>
        <p:nvSpPr>
          <p:cNvPr id="26" name="">
            <a:extLst xmlns:a="http://schemas.openxmlformats.org/drawingml/2006/main">
              <a:ext uri="{FF2B5EF4-FFF2-40B4-BE49-F238E27FC236}">
                <a16:creationId xmlns:a16="http://schemas.microsoft.com/office/drawing/2014/main" id="{FAB1DD60-4832-48DB-A728-6564960E34E0}"/>
              </a:ext>
            </a:extLst>
          </p:cNvPr>
          <p:cNvSpPr>
            <a:spLocks xmlns:a="http://schemas.openxmlformats.org/drawingml/2006/main" noGrp="1"/>
          </p:cNvSpPr>
          <p:nvPr/>
        </p:nvSpPr>
        <p:spPr>
          <a:xfrm xmlns:a="http://schemas.openxmlformats.org/drawingml/2006/main">
            <a:off x="8801100" y="1714500"/>
            <a:ext cx="2552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Music · Y3 · 40 min</a:t>
            </a:r>
          </a:p>
        </p:txBody>
      </p:sp>
      <p:sp>
        <p:nvSpPr>
          <p:cNvPr id="27" name="">
            <a:extLst xmlns:a="http://schemas.openxmlformats.org/drawingml/2006/main">
              <a:ext uri="{FF2B5EF4-FFF2-40B4-BE49-F238E27FC236}">
                <a16:creationId xmlns:a16="http://schemas.microsoft.com/office/drawing/2014/main" id="{7970C96E-0BE5-4C0A-90ED-21380540BD59}"/>
              </a:ext>
            </a:extLst>
          </p:cNvPr>
          <p:cNvSpPr>
            <a:spLocks xmlns:a="http://schemas.openxmlformats.org/drawingml/2006/main" noGrp="1"/>
          </p:cNvSpPr>
          <p:nvPr/>
        </p:nvSpPr>
        <p:spPr>
          <a:xfrm xmlns:a="http://schemas.openxmlformats.org/drawingml/2006/main">
            <a:off x="8801100" y="1924050"/>
            <a:ext cx="2552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1">
                <a:solidFill>
                  <a:srgbClr val="0F2A2E"/>
                </a:solidFill>
              </a:defRPr>
            </a:pPr>
            <a:r>
              <a:rPr sz="975" b="1">
                <a:solidFill>
                  <a:srgbClr val="0F2A2E"/>
                </a:solidFill>
              </a:rPr>
              <a:t>Rhythms of West Africa</a:t>
            </a:r>
          </a:p>
        </p:txBody>
      </p:sp>
      <p:sp>
        <p:nvSpPr>
          <p:cNvPr id="28" name="">
            <a:extLst xmlns:a="http://schemas.openxmlformats.org/drawingml/2006/main">
              <a:ext uri="{FF2B5EF4-FFF2-40B4-BE49-F238E27FC236}">
                <a16:creationId xmlns:a16="http://schemas.microsoft.com/office/drawing/2014/main" id="{35A375C7-B029-4734-B86C-742D8A8F44D0}"/>
              </a:ext>
            </a:extLst>
          </p:cNvPr>
          <p:cNvSpPr>
            <a:spLocks xmlns:a="http://schemas.openxmlformats.org/drawingml/2006/main" noGrp="1"/>
          </p:cNvSpPr>
          <p:nvPr/>
        </p:nvSpPr>
        <p:spPr>
          <a:xfrm xmlns:a="http://schemas.openxmlformats.org/drawingml/2006/main">
            <a:off x="8801100" y="2324100"/>
            <a:ext cx="2552700"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Active listening, body percussion, then a class call-and-response.</a:t>
            </a:r>
          </a:p>
        </p:txBody>
      </p:sp>
      <p:sp>
        <p:nvSpPr>
          <p:cNvPr id="29" name="">
            <a:extLst xmlns:a="http://schemas.openxmlformats.org/drawingml/2006/main">
              <a:ext uri="{FF2B5EF4-FFF2-40B4-BE49-F238E27FC236}">
                <a16:creationId xmlns:a16="http://schemas.microsoft.com/office/drawing/2014/main" id="{C55B2DFD-EB49-40C8-8E57-A71685058AEA}"/>
              </a:ext>
            </a:extLst>
          </p:cNvPr>
          <p:cNvSpPr>
            <a:spLocks xmlns:a="http://schemas.openxmlformats.org/drawingml/2006/main" noGrp="1"/>
          </p:cNvSpPr>
          <p:nvPr/>
        </p:nvSpPr>
        <p:spPr>
          <a:xfrm xmlns:a="http://schemas.openxmlformats.org/drawingml/2006/main">
            <a:off x="5772150" y="3848100"/>
            <a:ext cx="2781300" cy="2114550"/>
          </a:xfrm>
          <a:prstGeom xmlns:a="http://schemas.openxmlformats.org/drawingml/2006/main" prst="roundRect">
            <a:avLst>
              <a:gd name="adj" fmla="val 3604"/>
            </a:avLst>
          </a:prstGeom>
          <a:solidFill xmlns:a="http://schemas.openxmlformats.org/drawingml/2006/main">
            <a:srgbClr val="FFFFFF"/>
          </a:solidFill>
          <a:ln xmlns:a="http://schemas.openxmlformats.org/drawingml/2006/main" w="9525">
            <a:solidFill>
              <a:srgbClr val="D7E4DF"/>
            </a:solidFill>
            <a:prstDash val="solid"/>
          </a:ln>
        </p:spPr>
      </p:sp>
      <p:sp>
        <p:nvSpPr>
          <p:cNvPr id="30" name="">
            <a:extLst xmlns:a="http://schemas.openxmlformats.org/drawingml/2006/main">
              <a:ext uri="{FF2B5EF4-FFF2-40B4-BE49-F238E27FC236}">
                <a16:creationId xmlns:a16="http://schemas.microsoft.com/office/drawing/2014/main" id="{C566D17E-0E72-4AD9-A6E4-07234A0447F2}"/>
              </a:ext>
            </a:extLst>
          </p:cNvPr>
          <p:cNvSpPr>
            <a:spLocks xmlns:a="http://schemas.openxmlformats.org/drawingml/2006/main" noGrp="1"/>
          </p:cNvSpPr>
          <p:nvPr/>
        </p:nvSpPr>
        <p:spPr>
          <a:xfrm xmlns:a="http://schemas.openxmlformats.org/drawingml/2006/main">
            <a:off x="5886450" y="3962400"/>
            <a:ext cx="2552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Dance · Y5 · 50 min</a:t>
            </a:r>
          </a:p>
        </p:txBody>
      </p:sp>
      <p:sp>
        <p:nvSpPr>
          <p:cNvPr id="31" name="">
            <a:extLst xmlns:a="http://schemas.openxmlformats.org/drawingml/2006/main">
              <a:ext uri="{FF2B5EF4-FFF2-40B4-BE49-F238E27FC236}">
                <a16:creationId xmlns:a16="http://schemas.microsoft.com/office/drawing/2014/main" id="{8B4A70B5-5BF4-4471-8DAE-34AE96696484}"/>
              </a:ext>
            </a:extLst>
          </p:cNvPr>
          <p:cNvSpPr>
            <a:spLocks xmlns:a="http://schemas.openxmlformats.org/drawingml/2006/main" noGrp="1"/>
          </p:cNvSpPr>
          <p:nvPr/>
        </p:nvSpPr>
        <p:spPr>
          <a:xfrm xmlns:a="http://schemas.openxmlformats.org/drawingml/2006/main">
            <a:off x="5886450" y="4171950"/>
            <a:ext cx="2552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1">
                <a:solidFill>
                  <a:srgbClr val="0F2A2E"/>
                </a:solidFill>
              </a:defRPr>
            </a:pPr>
            <a:r>
              <a:rPr sz="975" b="1">
                <a:solidFill>
                  <a:srgbClr val="0F2A2E"/>
                </a:solidFill>
              </a:rPr>
              <a:t>Storm motif &amp; canon</a:t>
            </a:r>
          </a:p>
        </p:txBody>
      </p:sp>
      <p:sp>
        <p:nvSpPr>
          <p:cNvPr id="32" name="">
            <a:extLst xmlns:a="http://schemas.openxmlformats.org/drawingml/2006/main">
              <a:ext uri="{FF2B5EF4-FFF2-40B4-BE49-F238E27FC236}">
                <a16:creationId xmlns:a16="http://schemas.microsoft.com/office/drawing/2014/main" id="{FFF0A956-22C2-4DB1-95CF-856345B753E3}"/>
              </a:ext>
            </a:extLst>
          </p:cNvPr>
          <p:cNvSpPr>
            <a:spLocks xmlns:a="http://schemas.openxmlformats.org/drawingml/2006/main" noGrp="1"/>
          </p:cNvSpPr>
          <p:nvPr/>
        </p:nvSpPr>
        <p:spPr>
          <a:xfrm xmlns:a="http://schemas.openxmlformats.org/drawingml/2006/main">
            <a:off x="5886450" y="4572000"/>
            <a:ext cx="2552700"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Build a 16-count motif, then layer it as a four-group canon.</a:t>
            </a:r>
          </a:p>
        </p:txBody>
      </p:sp>
      <p:sp>
        <p:nvSpPr>
          <p:cNvPr id="33" name="">
            <a:extLst xmlns:a="http://schemas.openxmlformats.org/drawingml/2006/main">
              <a:ext uri="{FF2B5EF4-FFF2-40B4-BE49-F238E27FC236}">
                <a16:creationId xmlns:a16="http://schemas.microsoft.com/office/drawing/2014/main" id="{38073352-3BF4-4F96-BED1-BCC950A7C97C}"/>
              </a:ext>
            </a:extLst>
          </p:cNvPr>
          <p:cNvSpPr>
            <a:spLocks xmlns:a="http://schemas.openxmlformats.org/drawingml/2006/main" noGrp="1"/>
          </p:cNvSpPr>
          <p:nvPr/>
        </p:nvSpPr>
        <p:spPr>
          <a:xfrm xmlns:a="http://schemas.openxmlformats.org/drawingml/2006/main">
            <a:off x="8686800" y="3848100"/>
            <a:ext cx="2781300" cy="2114550"/>
          </a:xfrm>
          <a:prstGeom xmlns:a="http://schemas.openxmlformats.org/drawingml/2006/main" prst="roundRect">
            <a:avLst>
              <a:gd name="adj" fmla="val 3604"/>
            </a:avLst>
          </a:prstGeom>
          <a:solidFill xmlns:a="http://schemas.openxmlformats.org/drawingml/2006/main">
            <a:srgbClr val="FFFFFF"/>
          </a:solidFill>
          <a:ln xmlns:a="http://schemas.openxmlformats.org/drawingml/2006/main" w="9525">
            <a:solidFill>
              <a:srgbClr val="D7E4DF"/>
            </a:solidFill>
            <a:prstDash val="solid"/>
          </a:ln>
        </p:spPr>
      </p:sp>
      <p:sp>
        <p:nvSpPr>
          <p:cNvPr id="34" name="">
            <a:extLst xmlns:a="http://schemas.openxmlformats.org/drawingml/2006/main">
              <a:ext uri="{FF2B5EF4-FFF2-40B4-BE49-F238E27FC236}">
                <a16:creationId xmlns:a16="http://schemas.microsoft.com/office/drawing/2014/main" id="{49B9A63D-0D27-49C3-A69F-3B6F72E30CA9}"/>
              </a:ext>
            </a:extLst>
          </p:cNvPr>
          <p:cNvSpPr>
            <a:spLocks xmlns:a="http://schemas.openxmlformats.org/drawingml/2006/main" noGrp="1"/>
          </p:cNvSpPr>
          <p:nvPr/>
        </p:nvSpPr>
        <p:spPr>
          <a:xfrm xmlns:a="http://schemas.openxmlformats.org/drawingml/2006/main">
            <a:off x="8801100" y="3962400"/>
            <a:ext cx="2552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Drama · EYFS · 20 min</a:t>
            </a:r>
          </a:p>
        </p:txBody>
      </p:sp>
      <p:sp>
        <p:nvSpPr>
          <p:cNvPr id="35" name="">
            <a:extLst xmlns:a="http://schemas.openxmlformats.org/drawingml/2006/main">
              <a:ext uri="{FF2B5EF4-FFF2-40B4-BE49-F238E27FC236}">
                <a16:creationId xmlns:a16="http://schemas.microsoft.com/office/drawing/2014/main" id="{BF4A6455-5828-4CAA-B9B1-2A48B5553CB8}"/>
              </a:ext>
            </a:extLst>
          </p:cNvPr>
          <p:cNvSpPr>
            <a:spLocks xmlns:a="http://schemas.openxmlformats.org/drawingml/2006/main" noGrp="1"/>
          </p:cNvSpPr>
          <p:nvPr/>
        </p:nvSpPr>
        <p:spPr>
          <a:xfrm xmlns:a="http://schemas.openxmlformats.org/drawingml/2006/main">
            <a:off x="8801100" y="4171950"/>
            <a:ext cx="2552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1">
                <a:solidFill>
                  <a:srgbClr val="0F2A2E"/>
                </a:solidFill>
              </a:defRPr>
            </a:pPr>
            <a:r>
              <a:rPr sz="975" b="1">
                <a:solidFill>
                  <a:srgbClr val="0F2A2E"/>
                </a:solidFill>
              </a:rPr>
              <a:t>Animal walks circle game</a:t>
            </a:r>
          </a:p>
        </p:txBody>
      </p:sp>
      <p:sp>
        <p:nvSpPr>
          <p:cNvPr id="36" name="">
            <a:extLst xmlns:a="http://schemas.openxmlformats.org/drawingml/2006/main">
              <a:ext uri="{FF2B5EF4-FFF2-40B4-BE49-F238E27FC236}">
                <a16:creationId xmlns:a16="http://schemas.microsoft.com/office/drawing/2014/main" id="{D3DC94F6-2C6C-4F82-B178-7343FD1DBB43}"/>
              </a:ext>
            </a:extLst>
          </p:cNvPr>
          <p:cNvSpPr>
            <a:spLocks xmlns:a="http://schemas.openxmlformats.org/drawingml/2006/main" noGrp="1"/>
          </p:cNvSpPr>
          <p:nvPr/>
        </p:nvSpPr>
        <p:spPr>
          <a:xfrm xmlns:a="http://schemas.openxmlformats.org/drawingml/2006/main">
            <a:off x="8801100" y="4572000"/>
            <a:ext cx="2552700"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Pretend movement and partner observation in a circle.</a:t>
            </a:r>
          </a:p>
        </p:txBody>
      </p:sp>
      <p:sp>
        <p:nvSpPr>
          <p:cNvPr id="37" name="">
            <a:extLst xmlns:a="http://schemas.openxmlformats.org/drawingml/2006/main">
              <a:ext uri="{FF2B5EF4-FFF2-40B4-BE49-F238E27FC236}">
                <a16:creationId xmlns:a16="http://schemas.microsoft.com/office/drawing/2014/main" id="{E784F6EB-084B-4424-B2B2-D49DEE7F4BA8}"/>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38" name="">
            <a:extLst xmlns:a="http://schemas.openxmlformats.org/drawingml/2006/main">
              <a:ext uri="{FF2B5EF4-FFF2-40B4-BE49-F238E27FC236}">
                <a16:creationId xmlns:a16="http://schemas.microsoft.com/office/drawing/2014/main" id="{AD817349-2DF5-4800-8BEE-F30059A3B85B}"/>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08 / 25</a:t>
            </a:r>
          </a:p>
        </p:txBody>
      </p:sp>
    </p:spTree>
    <p:extLst>
      <p:ext uri="{BB962C8B-B14F-4D97-AF65-F5344CB8AC3E}">
        <p14:creationId xmlns:p14="http://schemas.microsoft.com/office/powerpoint/2010/main" val="373549431"/>
      </p:ext>
    </p:extLst>
  </p:cSld>
</p:sld>
</file>

<file path=ppt/slides/slide9.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2750F603-9B37-4766-9139-9372173AED4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B9D4E66-BC7D-4B06-8255-EF832190982D}"/>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67B797F-6D68-4FCF-904D-3D0B8A151675}"/>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205E875-ACA9-4F67-B173-91EF625B2ABB}"/>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Feature 03</a:t>
            </a:r>
          </a:p>
        </p:txBody>
      </p:sp>
      <p:sp>
        <p:nvSpPr>
          <p:cNvPr id="6" name="">
            <a:extLst xmlns:a="http://schemas.openxmlformats.org/drawingml/2006/main">
              <a:ext uri="{FF2B5EF4-FFF2-40B4-BE49-F238E27FC236}">
                <a16:creationId xmlns:a16="http://schemas.microsoft.com/office/drawing/2014/main" id="{A6725DDC-37FC-4F37-B602-0E27B7E24D9B}"/>
              </a:ext>
            </a:extLst>
          </p:cNvPr>
          <p:cNvSpPr>
            <a:spLocks xmlns:a="http://schemas.openxmlformats.org/drawingml/2006/main" noGrp="1"/>
          </p:cNvSpPr>
          <p:nvPr/>
        </p:nvSpPr>
        <p:spPr>
          <a:xfrm xmlns:a="http://schemas.openxmlformats.org/drawingml/2006/main">
            <a:off x="609600" y="647700"/>
            <a:ext cx="4762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002D24"/>
                </a:solidFill>
              </a:defRPr>
            </a:pPr>
            <a:r>
              <a:rPr sz="1950" b="1">
                <a:solidFill>
                  <a:srgbClr val="002D24"/>
                </a:solidFill>
              </a:rPr>
              <a:t>Stack activities like Lego.</a:t>
            </a:r>
          </a:p>
        </p:txBody>
      </p:sp>
      <p:sp>
        <p:nvSpPr>
          <p:cNvPr id="7" name="">
            <a:extLst xmlns:a="http://schemas.openxmlformats.org/drawingml/2006/main">
              <a:ext uri="{FF2B5EF4-FFF2-40B4-BE49-F238E27FC236}">
                <a16:creationId xmlns:a16="http://schemas.microsoft.com/office/drawing/2014/main" id="{D1DE7894-812B-496C-BC95-26AD69448B32}"/>
              </a:ext>
            </a:extLst>
          </p:cNvPr>
          <p:cNvSpPr>
            <a:spLocks xmlns:a="http://schemas.openxmlformats.org/drawingml/2006/main" noGrp="1"/>
          </p:cNvSpPr>
          <p:nvPr/>
        </p:nvSpPr>
        <p:spPr>
          <a:xfrm xmlns:a="http://schemas.openxmlformats.org/drawingml/2006/main">
            <a:off x="609600" y="1543050"/>
            <a:ext cx="476250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2A4548"/>
                </a:solidFill>
              </a:defRPr>
            </a:pPr>
            <a:r>
              <a:rPr sz="1050" b="0">
                <a:solidFill>
                  <a:srgbClr val="2A4548"/>
                </a:solidFill>
              </a:rPr>
              <a:t>Group your favourite warm-ups, mains and plenaries into reusable stacks. Drop a whole stack into any lesson and adapt as you go — so brilliant practice survives the end of a project, a funding cycle, or a school year.</a:t>
            </a:r>
          </a:p>
        </p:txBody>
      </p:sp>
      <p:sp>
        <p:nvSpPr>
          <p:cNvPr id="8" name="">
            <a:extLst xmlns:a="http://schemas.openxmlformats.org/drawingml/2006/main">
              <a:ext uri="{FF2B5EF4-FFF2-40B4-BE49-F238E27FC236}">
                <a16:creationId xmlns:a16="http://schemas.microsoft.com/office/drawing/2014/main" id="{F03FF426-A693-433A-B2B0-B024D2938A69}"/>
              </a:ext>
            </a:extLst>
          </p:cNvPr>
          <p:cNvSpPr>
            <a:spLocks xmlns:a="http://schemas.openxmlformats.org/drawingml/2006/main" noGrp="1"/>
          </p:cNvSpPr>
          <p:nvPr/>
        </p:nvSpPr>
        <p:spPr>
          <a:xfrm xmlns:a="http://schemas.openxmlformats.org/drawingml/2006/main">
            <a:off x="609600" y="2876550"/>
            <a:ext cx="47625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0">
                <a:solidFill>
                  <a:srgbClr val="0F2A2E"/>
                </a:solidFill>
              </a:defRPr>
            </a:pPr>
            <a:r>
              <a:rPr sz="975" b="0">
                <a:solidFill>
                  <a:srgbClr val="0F2A2E"/>
                </a:solidFill>
              </a:rPr>
              <a:t>• A — Build once, reuse all year.</a:t>
            </a:r>
          </a:p>
          <a:p xmlns:a="http://schemas.openxmlformats.org/drawingml/2006/main">
            <a:pPr algn="l">
              <a:defRPr sz="975" b="0">
                <a:solidFill>
                  <a:srgbClr val="0F2A2E"/>
                </a:solidFill>
              </a:defRPr>
            </a:pPr>
            <a:r>
              <a:rPr sz="975" b="0">
                <a:solidFill>
                  <a:srgbClr val="0F2A2E"/>
                </a:solidFill>
              </a:rPr>
              <a:t>• B — Share stacks across the team.</a:t>
            </a:r>
          </a:p>
          <a:p xmlns:a="http://schemas.openxmlformats.org/drawingml/2006/main">
            <a:pPr algn="l">
              <a:defRPr sz="975" b="0">
                <a:solidFill>
                  <a:srgbClr val="0F2A2E"/>
                </a:solidFill>
              </a:defRPr>
            </a:pPr>
            <a:r>
              <a:rPr sz="975" b="0">
                <a:solidFill>
                  <a:srgbClr val="0F2A2E"/>
                </a:solidFill>
              </a:rPr>
              <a:t>• C — Drag straight into lesson plans.</a:t>
            </a:r>
          </a:p>
        </p:txBody>
      </p:sp>
      <p:sp>
        <p:nvSpPr>
          <p:cNvPr id="9" name="">
            <a:extLst xmlns:a="http://schemas.openxmlformats.org/drawingml/2006/main">
              <a:ext uri="{FF2B5EF4-FFF2-40B4-BE49-F238E27FC236}">
                <a16:creationId xmlns:a16="http://schemas.microsoft.com/office/drawing/2014/main" id="{B3856894-8FD1-4E57-9CED-B480ABB52CD7}"/>
              </a:ext>
            </a:extLst>
          </p:cNvPr>
          <p:cNvSpPr>
            <a:spLocks xmlns:a="http://schemas.openxmlformats.org/drawingml/2006/main" noGrp="1"/>
          </p:cNvSpPr>
          <p:nvPr/>
        </p:nvSpPr>
        <p:spPr>
          <a:xfrm xmlns:a="http://schemas.openxmlformats.org/drawingml/2006/main">
            <a:off x="5715000" y="762000"/>
            <a:ext cx="2886075"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7E4DF"/>
            </a:solidFill>
            <a:prstDash val="solid"/>
          </a:ln>
        </p:spPr>
      </p:sp>
      <p:sp>
        <p:nvSpPr>
          <p:cNvPr id="10" name="">
            <a:extLst xmlns:a="http://schemas.openxmlformats.org/drawingml/2006/main">
              <a:ext uri="{FF2B5EF4-FFF2-40B4-BE49-F238E27FC236}">
                <a16:creationId xmlns:a16="http://schemas.microsoft.com/office/drawing/2014/main" id="{7FF78386-D027-4C9E-84BD-756BC799B071}"/>
              </a:ext>
            </a:extLst>
          </p:cNvPr>
          <p:cNvSpPr>
            <a:spLocks xmlns:a="http://schemas.openxmlformats.org/drawingml/2006/main" noGrp="1"/>
          </p:cNvSpPr>
          <p:nvPr/>
        </p:nvSpPr>
        <p:spPr>
          <a:xfrm xmlns:a="http://schemas.openxmlformats.org/drawingml/2006/main">
            <a:off x="5829300" y="87630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5 items</a:t>
            </a:r>
          </a:p>
        </p:txBody>
      </p:sp>
      <p:sp>
        <p:nvSpPr>
          <p:cNvPr id="11" name="">
            <a:extLst xmlns:a="http://schemas.openxmlformats.org/drawingml/2006/main">
              <a:ext uri="{FF2B5EF4-FFF2-40B4-BE49-F238E27FC236}">
                <a16:creationId xmlns:a16="http://schemas.microsoft.com/office/drawing/2014/main" id="{1B494934-549A-4DF0-9648-C4509644F89A}"/>
              </a:ext>
            </a:extLst>
          </p:cNvPr>
          <p:cNvSpPr>
            <a:spLocks xmlns:a="http://schemas.openxmlformats.org/drawingml/2006/main" noGrp="1"/>
          </p:cNvSpPr>
          <p:nvPr/>
        </p:nvSpPr>
        <p:spPr>
          <a:xfrm xmlns:a="http://schemas.openxmlformats.org/drawingml/2006/main">
            <a:off x="5829300" y="10858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Drama · Storytelling</a:t>
            </a:r>
          </a:p>
        </p:txBody>
      </p:sp>
      <p:sp>
        <p:nvSpPr>
          <p:cNvPr id="12" name="">
            <a:extLst xmlns:a="http://schemas.openxmlformats.org/drawingml/2006/main">
              <a:ext uri="{FF2B5EF4-FFF2-40B4-BE49-F238E27FC236}">
                <a16:creationId xmlns:a16="http://schemas.microsoft.com/office/drawing/2014/main" id="{37B0B4B8-CC85-4733-B991-7E59E50675E8}"/>
              </a:ext>
            </a:extLst>
          </p:cNvPr>
          <p:cNvSpPr>
            <a:spLocks xmlns:a="http://schemas.openxmlformats.org/drawingml/2006/main" noGrp="1"/>
          </p:cNvSpPr>
          <p:nvPr/>
        </p:nvSpPr>
        <p:spPr>
          <a:xfrm xmlns:a="http://schemas.openxmlformats.org/drawingml/2006/main">
            <a:off x="5829300" y="1485900"/>
            <a:ext cx="2657475"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Mirror game warm-up</a:t>
            </a:r>
          </a:p>
          <a:p xmlns:a="http://schemas.openxmlformats.org/drawingml/2006/main">
            <a:pPr algn="l">
              <a:defRPr sz="825" b="0">
                <a:solidFill>
                  <a:srgbClr val="2A4548"/>
                </a:solidFill>
              </a:defRPr>
            </a:pPr>
            <a:r>
              <a:rPr sz="825" b="0">
                <a:solidFill>
                  <a:srgbClr val="2A4548"/>
                </a:solidFill>
              </a:rPr>
              <a:t>Story circle &amp; offers</a:t>
            </a:r>
          </a:p>
          <a:p xmlns:a="http://schemas.openxmlformats.org/drawingml/2006/main">
            <a:pPr algn="l">
              <a:defRPr sz="825" b="0">
                <a:solidFill>
                  <a:srgbClr val="2A4548"/>
                </a:solidFill>
              </a:defRPr>
            </a:pPr>
            <a:r>
              <a:rPr sz="825" b="0">
                <a:solidFill>
                  <a:srgbClr val="2A4548"/>
                </a:solidFill>
              </a:rPr>
              <a:t>Character hot-seating</a:t>
            </a:r>
          </a:p>
          <a:p xmlns:a="http://schemas.openxmlformats.org/drawingml/2006/main">
            <a:pPr algn="l">
              <a:defRPr sz="825" b="0">
                <a:solidFill>
                  <a:srgbClr val="2A4548"/>
                </a:solidFill>
              </a:defRPr>
            </a:pPr>
            <a:r>
              <a:rPr sz="825" b="0">
                <a:solidFill>
                  <a:srgbClr val="2A4548"/>
                </a:solidFill>
              </a:rPr>
              <a:t>Freeze-frame moments</a:t>
            </a:r>
          </a:p>
          <a:p xmlns:a="http://schemas.openxmlformats.org/drawingml/2006/main">
            <a:pPr algn="l">
              <a:defRPr sz="825" b="0">
                <a:solidFill>
                  <a:srgbClr val="2A4548"/>
                </a:solidFill>
              </a:defRPr>
            </a:pPr>
            <a:r>
              <a:rPr sz="825" b="0">
                <a:solidFill>
                  <a:srgbClr val="2A4548"/>
                </a:solidFill>
              </a:rPr>
              <a:t>Audience feedback circle</a:t>
            </a:r>
          </a:p>
        </p:txBody>
      </p:sp>
      <p:sp>
        <p:nvSpPr>
          <p:cNvPr id="13" name="">
            <a:extLst xmlns:a="http://schemas.openxmlformats.org/drawingml/2006/main">
              <a:ext uri="{FF2B5EF4-FFF2-40B4-BE49-F238E27FC236}">
                <a16:creationId xmlns:a16="http://schemas.microsoft.com/office/drawing/2014/main" id="{8FC219DD-2C80-4704-AF5D-13CFE4A7E29B}"/>
              </a:ext>
            </a:extLst>
          </p:cNvPr>
          <p:cNvSpPr>
            <a:spLocks xmlns:a="http://schemas.openxmlformats.org/drawingml/2006/main" noGrp="1"/>
          </p:cNvSpPr>
          <p:nvPr/>
        </p:nvSpPr>
        <p:spPr>
          <a:xfrm xmlns:a="http://schemas.openxmlformats.org/drawingml/2006/main">
            <a:off x="8734425" y="762000"/>
            <a:ext cx="2886075"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7E4DF"/>
            </a:solidFill>
            <a:prstDash val="solid"/>
          </a:ln>
        </p:spPr>
      </p:sp>
      <p:sp>
        <p:nvSpPr>
          <p:cNvPr id="14" name="">
            <a:extLst xmlns:a="http://schemas.openxmlformats.org/drawingml/2006/main">
              <a:ext uri="{FF2B5EF4-FFF2-40B4-BE49-F238E27FC236}">
                <a16:creationId xmlns:a16="http://schemas.microsoft.com/office/drawing/2014/main" id="{DAC792E6-2706-492D-9DF5-A38215D39423}"/>
              </a:ext>
            </a:extLst>
          </p:cNvPr>
          <p:cNvSpPr>
            <a:spLocks xmlns:a="http://schemas.openxmlformats.org/drawingml/2006/main" noGrp="1"/>
          </p:cNvSpPr>
          <p:nvPr/>
        </p:nvSpPr>
        <p:spPr>
          <a:xfrm xmlns:a="http://schemas.openxmlformats.org/drawingml/2006/main">
            <a:off x="8848725" y="87630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4 items</a:t>
            </a:r>
          </a:p>
        </p:txBody>
      </p:sp>
      <p:sp>
        <p:nvSpPr>
          <p:cNvPr id="15" name="">
            <a:extLst xmlns:a="http://schemas.openxmlformats.org/drawingml/2006/main">
              <a:ext uri="{FF2B5EF4-FFF2-40B4-BE49-F238E27FC236}">
                <a16:creationId xmlns:a16="http://schemas.microsoft.com/office/drawing/2014/main" id="{200162FD-47F9-4E2B-9F81-40A0C57A1C96}"/>
              </a:ext>
            </a:extLst>
          </p:cNvPr>
          <p:cNvSpPr>
            <a:spLocks xmlns:a="http://schemas.openxmlformats.org/drawingml/2006/main" noGrp="1"/>
          </p:cNvSpPr>
          <p:nvPr/>
        </p:nvSpPr>
        <p:spPr>
          <a:xfrm xmlns:a="http://schemas.openxmlformats.org/drawingml/2006/main">
            <a:off x="8848725" y="10858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Music · Rhythm &amp; voice</a:t>
            </a:r>
          </a:p>
        </p:txBody>
      </p:sp>
      <p:sp>
        <p:nvSpPr>
          <p:cNvPr id="16" name="">
            <a:extLst xmlns:a="http://schemas.openxmlformats.org/drawingml/2006/main">
              <a:ext uri="{FF2B5EF4-FFF2-40B4-BE49-F238E27FC236}">
                <a16:creationId xmlns:a16="http://schemas.microsoft.com/office/drawing/2014/main" id="{F8954137-163C-4311-961F-B034923B61A8}"/>
              </a:ext>
            </a:extLst>
          </p:cNvPr>
          <p:cNvSpPr>
            <a:spLocks xmlns:a="http://schemas.openxmlformats.org/drawingml/2006/main" noGrp="1"/>
          </p:cNvSpPr>
          <p:nvPr/>
        </p:nvSpPr>
        <p:spPr>
          <a:xfrm xmlns:a="http://schemas.openxmlformats.org/drawingml/2006/main">
            <a:off x="8848725" y="1485900"/>
            <a:ext cx="2657475"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Body-percussion warm-up</a:t>
            </a:r>
          </a:p>
          <a:p xmlns:a="http://schemas.openxmlformats.org/drawingml/2006/main">
            <a:pPr algn="l">
              <a:defRPr sz="825" b="0">
                <a:solidFill>
                  <a:srgbClr val="2A4548"/>
                </a:solidFill>
              </a:defRPr>
            </a:pPr>
            <a:r>
              <a:rPr sz="825" b="0">
                <a:solidFill>
                  <a:srgbClr val="2A4548"/>
                </a:solidFill>
              </a:rPr>
              <a:t>Active listening: West Africa</a:t>
            </a:r>
          </a:p>
          <a:p xmlns:a="http://schemas.openxmlformats.org/drawingml/2006/main">
            <a:pPr algn="l">
              <a:defRPr sz="825" b="0">
                <a:solidFill>
                  <a:srgbClr val="2A4548"/>
                </a:solidFill>
              </a:defRPr>
            </a:pPr>
            <a:r>
              <a:rPr sz="825" b="0">
                <a:solidFill>
                  <a:srgbClr val="2A4548"/>
                </a:solidFill>
              </a:rPr>
              <a:t>Call-and-response clapping</a:t>
            </a:r>
          </a:p>
          <a:p xmlns:a="http://schemas.openxmlformats.org/drawingml/2006/main">
            <a:pPr algn="l">
              <a:defRPr sz="825" b="0">
                <a:solidFill>
                  <a:srgbClr val="2A4548"/>
                </a:solidFill>
              </a:defRPr>
            </a:pPr>
            <a:r>
              <a:rPr sz="825" b="0">
                <a:solidFill>
                  <a:srgbClr val="2A4548"/>
                </a:solidFill>
              </a:rPr>
              <a:t>Sing &amp; sign reflection</a:t>
            </a:r>
          </a:p>
          <a:p xmlns:a="http://schemas.openxmlformats.org/drawingml/2006/main">
            <a:pPr algn="l">
              <a:defRPr sz="825" b="0">
                <a:solidFill>
                  <a:srgbClr val="2A4548"/>
                </a:solidFill>
              </a:defRPr>
            </a:pPr>
            <a:r>
              <a:rPr sz="825" b="0">
                <a:solidFill>
                  <a:srgbClr val="2A4548"/>
                </a:solidFill>
              </a:rPr>
              <a:t>Drop activity here</a:t>
            </a:r>
          </a:p>
        </p:txBody>
      </p:sp>
      <p:sp>
        <p:nvSpPr>
          <p:cNvPr id="17" name="">
            <a:extLst xmlns:a="http://schemas.openxmlformats.org/drawingml/2006/main">
              <a:ext uri="{FF2B5EF4-FFF2-40B4-BE49-F238E27FC236}">
                <a16:creationId xmlns:a16="http://schemas.microsoft.com/office/drawing/2014/main" id="{96114DB6-4519-4E11-B5DD-1BB92542E28A}"/>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18" name="">
            <a:extLst xmlns:a="http://schemas.openxmlformats.org/drawingml/2006/main">
              <a:ext uri="{FF2B5EF4-FFF2-40B4-BE49-F238E27FC236}">
                <a16:creationId xmlns:a16="http://schemas.microsoft.com/office/drawing/2014/main" id="{BEDD3546-B6A9-46A3-B44D-EBBD4BFF90A7}"/>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09 / 25</a:t>
            </a:r>
          </a:p>
        </p:txBody>
      </p:sp>
    </p:spTree>
    <p:extLst>
      <p:ext uri="{BB962C8B-B14F-4D97-AF65-F5344CB8AC3E}">
        <p14:creationId xmlns:p14="http://schemas.microsoft.com/office/powerpoint/2010/main" val="1954151191"/>
      </p:ext>
    </p:extLst>
  </p:cSld>
</p:sld>
</file>

<file path=ppt/slides/slide10.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22D25778-1010-4732-99AD-6CD080332BE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616DA90-2158-4AE4-AE2F-1AA6CA119116}"/>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78E00B1-B4B7-472A-9B7B-D5661CB4A58E}"/>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A483036-2E02-4984-943D-515607437053}"/>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Feature 04</a:t>
            </a:r>
          </a:p>
        </p:txBody>
      </p:sp>
      <p:sp>
        <p:nvSpPr>
          <p:cNvPr id="6" name="">
            <a:extLst xmlns:a="http://schemas.openxmlformats.org/drawingml/2006/main">
              <a:ext uri="{FF2B5EF4-FFF2-40B4-BE49-F238E27FC236}">
                <a16:creationId xmlns:a16="http://schemas.microsoft.com/office/drawing/2014/main" id="{9F9844A8-DAC3-4B22-88E6-0D22AB7ABDD2}"/>
              </a:ext>
            </a:extLst>
          </p:cNvPr>
          <p:cNvSpPr>
            <a:spLocks xmlns:a="http://schemas.openxmlformats.org/drawingml/2006/main" noGrp="1"/>
          </p:cNvSpPr>
          <p:nvPr/>
        </p:nvSpPr>
        <p:spPr>
          <a:xfrm xmlns:a="http://schemas.openxmlformats.org/drawingml/2006/main">
            <a:off x="609600" y="647700"/>
            <a:ext cx="4762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002D24"/>
                </a:solidFill>
              </a:defRPr>
            </a:pPr>
            <a:r>
              <a:rPr sz="1950" b="1">
                <a:solidFill>
                  <a:srgbClr val="002D24"/>
                </a:solidFill>
              </a:rPr>
              <a:t>Every resource, one tap away.</a:t>
            </a:r>
          </a:p>
        </p:txBody>
      </p:sp>
      <p:sp>
        <p:nvSpPr>
          <p:cNvPr id="7" name="">
            <a:extLst xmlns:a="http://schemas.openxmlformats.org/drawingml/2006/main">
              <a:ext uri="{FF2B5EF4-FFF2-40B4-BE49-F238E27FC236}">
                <a16:creationId xmlns:a16="http://schemas.microsoft.com/office/drawing/2014/main" id="{9D5020F2-96FC-4E24-8313-7D5C7FB8BB4C}"/>
              </a:ext>
            </a:extLst>
          </p:cNvPr>
          <p:cNvSpPr>
            <a:spLocks xmlns:a="http://schemas.openxmlformats.org/drawingml/2006/main" noGrp="1"/>
          </p:cNvSpPr>
          <p:nvPr/>
        </p:nvSpPr>
        <p:spPr>
          <a:xfrm xmlns:a="http://schemas.openxmlformats.org/drawingml/2006/main">
            <a:off x="609600" y="1543050"/>
            <a:ext cx="476250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2A4548"/>
                </a:solidFill>
              </a:defRPr>
            </a:pPr>
            <a:r>
              <a:rPr sz="1050" b="0">
                <a:solidFill>
                  <a:srgbClr val="2A4548"/>
                </a:solidFill>
              </a:rPr>
              <a:t>Activity cards carry the things you actually need in the room: a video demo, a backing track, a vocal guide, a worksheet, a web link. Pupils can see them on the smartboard. Teachers click straight through.</a:t>
            </a:r>
          </a:p>
        </p:txBody>
      </p:sp>
      <p:sp>
        <p:nvSpPr>
          <p:cNvPr id="8" name="">
            <a:extLst xmlns:a="http://schemas.openxmlformats.org/drawingml/2006/main">
              <a:ext uri="{FF2B5EF4-FFF2-40B4-BE49-F238E27FC236}">
                <a16:creationId xmlns:a16="http://schemas.microsoft.com/office/drawing/2014/main" id="{83C465B5-CD45-4E05-8324-9013942C8044}"/>
              </a:ext>
            </a:extLst>
          </p:cNvPr>
          <p:cNvSpPr>
            <a:spLocks xmlns:a="http://schemas.openxmlformats.org/drawingml/2006/main" noGrp="1"/>
          </p:cNvSpPr>
          <p:nvPr/>
        </p:nvSpPr>
        <p:spPr>
          <a:xfrm xmlns:a="http://schemas.openxmlformats.org/drawingml/2006/main">
            <a:off x="609600" y="2876550"/>
            <a:ext cx="476250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0">
                <a:solidFill>
                  <a:srgbClr val="0F2A2E"/>
                </a:solidFill>
              </a:defRPr>
            </a:pPr>
            <a:r>
              <a:rPr sz="975" b="0">
                <a:solidFill>
                  <a:srgbClr val="0F2A2E"/>
                </a:solidFill>
              </a:rPr>
              <a:t>• Video demos &amp; performance clips</a:t>
            </a:r>
          </a:p>
          <a:p xmlns:a="http://schemas.openxmlformats.org/drawingml/2006/main">
            <a:pPr algn="l">
              <a:defRPr sz="975" b="0">
                <a:solidFill>
                  <a:srgbClr val="0F2A2E"/>
                </a:solidFill>
              </a:defRPr>
            </a:pPr>
            <a:r>
              <a:rPr sz="975" b="0">
                <a:solidFill>
                  <a:srgbClr val="0F2A2E"/>
                </a:solidFill>
              </a:rPr>
              <a:t>• Backing tracks &amp; vocal guides</a:t>
            </a:r>
          </a:p>
          <a:p xmlns:a="http://schemas.openxmlformats.org/drawingml/2006/main">
            <a:pPr algn="l">
              <a:defRPr sz="975" b="0">
                <a:solidFill>
                  <a:srgbClr val="0F2A2E"/>
                </a:solidFill>
              </a:defRPr>
            </a:pPr>
            <a:r>
              <a:rPr sz="975" b="0">
                <a:solidFill>
                  <a:srgbClr val="0F2A2E"/>
                </a:solidFill>
              </a:rPr>
              <a:t>• Web links &amp; teaching ideas</a:t>
            </a:r>
          </a:p>
          <a:p xmlns:a="http://schemas.openxmlformats.org/drawingml/2006/main">
            <a:pPr algn="l">
              <a:defRPr sz="975" b="0">
                <a:solidFill>
                  <a:srgbClr val="0F2A2E"/>
                </a:solidFill>
              </a:defRPr>
            </a:pPr>
            <a:r>
              <a:rPr sz="975" b="0">
                <a:solidFill>
                  <a:srgbClr val="0F2A2E"/>
                </a:solidFill>
              </a:rPr>
              <a:t>• Worksheets &amp; printable resources</a:t>
            </a:r>
          </a:p>
        </p:txBody>
      </p:sp>
      <p:sp>
        <p:nvSpPr>
          <p:cNvPr id="9" name="">
            <a:extLst xmlns:a="http://schemas.openxmlformats.org/drawingml/2006/main">
              <a:ext uri="{FF2B5EF4-FFF2-40B4-BE49-F238E27FC236}">
                <a16:creationId xmlns:a16="http://schemas.microsoft.com/office/drawing/2014/main" id="{64104A28-F62B-4BF8-9164-280838D20B55}"/>
              </a:ext>
            </a:extLst>
          </p:cNvPr>
          <p:cNvSpPr>
            <a:spLocks xmlns:a="http://schemas.openxmlformats.org/drawingml/2006/main" noGrp="1"/>
          </p:cNvSpPr>
          <p:nvPr/>
        </p:nvSpPr>
        <p:spPr>
          <a:xfrm xmlns:a="http://schemas.openxmlformats.org/drawingml/2006/main">
            <a:off x="5715000" y="76200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0" name="">
            <a:extLst xmlns:a="http://schemas.openxmlformats.org/drawingml/2006/main">
              <a:ext uri="{FF2B5EF4-FFF2-40B4-BE49-F238E27FC236}">
                <a16:creationId xmlns:a16="http://schemas.microsoft.com/office/drawing/2014/main" id="{940F55B7-FED1-4E94-9FC2-353FB3A92261}"/>
              </a:ext>
            </a:extLst>
          </p:cNvPr>
          <p:cNvSpPr>
            <a:spLocks xmlns:a="http://schemas.openxmlformats.org/drawingml/2006/main" noGrp="1"/>
          </p:cNvSpPr>
          <p:nvPr/>
        </p:nvSpPr>
        <p:spPr>
          <a:xfrm xmlns:a="http://schemas.openxmlformats.org/drawingml/2006/main">
            <a:off x="5829300" y="87630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Drama · Y4 · 20 min · Main activity</a:t>
            </a:r>
          </a:p>
        </p:txBody>
      </p:sp>
      <p:sp>
        <p:nvSpPr>
          <p:cNvPr id="11" name="">
            <a:extLst xmlns:a="http://schemas.openxmlformats.org/drawingml/2006/main">
              <a:ext uri="{FF2B5EF4-FFF2-40B4-BE49-F238E27FC236}">
                <a16:creationId xmlns:a16="http://schemas.microsoft.com/office/drawing/2014/main" id="{FB8F4BEF-4CCD-420B-90EC-D6DECDB86EB8}"/>
              </a:ext>
            </a:extLst>
          </p:cNvPr>
          <p:cNvSpPr>
            <a:spLocks xmlns:a="http://schemas.openxmlformats.org/drawingml/2006/main" noGrp="1"/>
          </p:cNvSpPr>
          <p:nvPr/>
        </p:nvSpPr>
        <p:spPr>
          <a:xfrm xmlns:a="http://schemas.openxmlformats.org/drawingml/2006/main">
            <a:off x="5829300" y="10858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Freeze-Frame Storytelling</a:t>
            </a:r>
          </a:p>
        </p:txBody>
      </p:sp>
      <p:sp>
        <p:nvSpPr>
          <p:cNvPr id="12" name="">
            <a:extLst xmlns:a="http://schemas.openxmlformats.org/drawingml/2006/main">
              <a:ext uri="{FF2B5EF4-FFF2-40B4-BE49-F238E27FC236}">
                <a16:creationId xmlns:a16="http://schemas.microsoft.com/office/drawing/2014/main" id="{7DE72038-0A47-4726-867C-A7E4D8CB32CD}"/>
              </a:ext>
            </a:extLst>
          </p:cNvPr>
          <p:cNvSpPr>
            <a:spLocks xmlns:a="http://schemas.openxmlformats.org/drawingml/2006/main" noGrp="1"/>
          </p:cNvSpPr>
          <p:nvPr/>
        </p:nvSpPr>
        <p:spPr>
          <a:xfrm xmlns:a="http://schemas.openxmlformats.org/drawingml/2006/main">
            <a:off x="5829300" y="148590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5101"/>
          </a:bodyPr>
          <a:lstStyle xmlns:a="http://schemas.openxmlformats.org/drawingml/2006/main"/>
          <a:p xmlns:a="http://schemas.openxmlformats.org/drawingml/2006/main">
            <a:pPr algn="l">
              <a:defRPr sz="825" b="0">
                <a:solidFill>
                  <a:srgbClr val="2A4548"/>
                </a:solidFill>
              </a:defRPr>
            </a:pPr>
            <a:r>
              <a:rPr sz="825" b="0">
                <a:solidFill>
                  <a:srgbClr val="2A4548"/>
                </a:solidFill>
              </a:rPr>
              <a:t>Groups of four create three still images that retell a familiar fable. Encourage clear use of levels, facial expression, and gesture.</a:t>
            </a:r>
          </a:p>
          <a:p xmlns:a="http://schemas.openxmlformats.org/drawingml/2006/main">
            <a:pPr algn="l">
              <a:defRPr sz="825" b="0">
                <a:solidFill>
                  <a:srgbClr val="2A4548"/>
                </a:solidFill>
              </a:defRPr>
            </a:pPr>
            <a:r>
              <a:rPr sz="825" b="0">
                <a:solidFill>
                  <a:srgbClr val="2A4548"/>
                </a:solidFill>
              </a:rPr>
              <a:t>↗ BBC Bitesize: Drama warm-up games · ↗ Teaching Ideas: Freeze-frames</a:t>
            </a:r>
          </a:p>
        </p:txBody>
      </p:sp>
      <p:sp>
        <p:nvSpPr>
          <p:cNvPr id="13" name="">
            <a:extLst xmlns:a="http://schemas.openxmlformats.org/drawingml/2006/main">
              <a:ext uri="{FF2B5EF4-FFF2-40B4-BE49-F238E27FC236}">
                <a16:creationId xmlns:a16="http://schemas.microsoft.com/office/drawing/2014/main" id="{12A48CC1-C588-4F1E-9995-B70D3505A7A3}"/>
              </a:ext>
            </a:extLst>
          </p:cNvPr>
          <p:cNvSpPr>
            <a:spLocks xmlns:a="http://schemas.openxmlformats.org/drawingml/2006/main" noGrp="1"/>
          </p:cNvSpPr>
          <p:nvPr/>
        </p:nvSpPr>
        <p:spPr>
          <a:xfrm xmlns:a="http://schemas.openxmlformats.org/drawingml/2006/main">
            <a:off x="8734425" y="76200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4" name="">
            <a:extLst xmlns:a="http://schemas.openxmlformats.org/drawingml/2006/main">
              <a:ext uri="{FF2B5EF4-FFF2-40B4-BE49-F238E27FC236}">
                <a16:creationId xmlns:a16="http://schemas.microsoft.com/office/drawing/2014/main" id="{D3339AFE-E9AF-48AE-8F5F-20D8736770D3}"/>
              </a:ext>
            </a:extLst>
          </p:cNvPr>
          <p:cNvSpPr>
            <a:spLocks xmlns:a="http://schemas.openxmlformats.org/drawingml/2006/main" noGrp="1"/>
          </p:cNvSpPr>
          <p:nvPr/>
        </p:nvSpPr>
        <p:spPr>
          <a:xfrm xmlns:a="http://schemas.openxmlformats.org/drawingml/2006/main">
            <a:off x="8848725" y="87630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Music · Y3 · 15 min · Warm-up</a:t>
            </a:r>
          </a:p>
        </p:txBody>
      </p:sp>
      <p:sp>
        <p:nvSpPr>
          <p:cNvPr id="15" name="">
            <a:extLst xmlns:a="http://schemas.openxmlformats.org/drawingml/2006/main">
              <a:ext uri="{FF2B5EF4-FFF2-40B4-BE49-F238E27FC236}">
                <a16:creationId xmlns:a16="http://schemas.microsoft.com/office/drawing/2014/main" id="{D595FE76-D311-472E-BDA7-15E12817F3A0}"/>
              </a:ext>
            </a:extLst>
          </p:cNvPr>
          <p:cNvSpPr>
            <a:spLocks xmlns:a="http://schemas.openxmlformats.org/drawingml/2006/main" noGrp="1"/>
          </p:cNvSpPr>
          <p:nvPr/>
        </p:nvSpPr>
        <p:spPr>
          <a:xfrm xmlns:a="http://schemas.openxmlformats.org/drawingml/2006/main">
            <a:off x="8848725" y="10858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5996"/>
          </a:bodyPr>
          <a:lstStyle xmlns:a="http://schemas.openxmlformats.org/drawingml/2006/main"/>
          <a:p xmlns:a="http://schemas.openxmlformats.org/drawingml/2006/main">
            <a:pPr algn="l">
              <a:defRPr sz="1050" b="1">
                <a:solidFill>
                  <a:srgbClr val="0F2A2E"/>
                </a:solidFill>
              </a:defRPr>
            </a:pPr>
            <a:r>
              <a:rPr sz="1050" b="1">
                <a:solidFill>
                  <a:srgbClr val="0F2A2E"/>
                </a:solidFill>
              </a:rPr>
              <a:t>Active Listening: Rhythms of West Africa</a:t>
            </a:r>
          </a:p>
        </p:txBody>
      </p:sp>
      <p:sp>
        <p:nvSpPr>
          <p:cNvPr id="16" name="">
            <a:extLst xmlns:a="http://schemas.openxmlformats.org/drawingml/2006/main">
              <a:ext uri="{FF2B5EF4-FFF2-40B4-BE49-F238E27FC236}">
                <a16:creationId xmlns:a16="http://schemas.microsoft.com/office/drawing/2014/main" id="{448DE426-BA16-407B-9959-8FDC4B20E77C}"/>
              </a:ext>
            </a:extLst>
          </p:cNvPr>
          <p:cNvSpPr>
            <a:spLocks xmlns:a="http://schemas.openxmlformats.org/drawingml/2006/main" noGrp="1"/>
          </p:cNvSpPr>
          <p:nvPr/>
        </p:nvSpPr>
        <p:spPr>
          <a:xfrm xmlns:a="http://schemas.openxmlformats.org/drawingml/2006/main">
            <a:off x="8848725" y="148590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5101"/>
          </a:bodyPr>
          <a:lstStyle xmlns:a="http://schemas.openxmlformats.org/drawingml/2006/main"/>
          <a:p xmlns:a="http://schemas.openxmlformats.org/drawingml/2006/main">
            <a:pPr algn="l">
              <a:defRPr sz="825" b="0">
                <a:solidFill>
                  <a:srgbClr val="2A4548"/>
                </a:solidFill>
              </a:defRPr>
            </a:pPr>
            <a:r>
              <a:rPr sz="825" b="0">
                <a:solidFill>
                  <a:srgbClr val="2A4548"/>
                </a:solidFill>
              </a:rPr>
              <a:t>Play a short djembe ensemble recording. Pupils tap the underlying pulse, then identify the call-and-response pattern and shifting layers.</a:t>
            </a:r>
          </a:p>
          <a:p xmlns:a="http://schemas.openxmlformats.org/drawingml/2006/main">
            <a:pPr algn="l">
              <a:defRPr sz="825" b="0">
                <a:solidFill>
                  <a:srgbClr val="2A4548"/>
                </a:solidFill>
              </a:defRPr>
            </a:pPr>
            <a:r>
              <a:rPr sz="825" b="0">
                <a:solidFill>
                  <a:srgbClr val="2A4548"/>
                </a:solidFill>
              </a:rPr>
              <a:t>▶ Video demo · ♪ Backing track · ↗ BBC Teach: Djembe ensemble</a:t>
            </a:r>
          </a:p>
        </p:txBody>
      </p:sp>
      <p:sp>
        <p:nvSpPr>
          <p:cNvPr id="17" name="">
            <a:extLst xmlns:a="http://schemas.openxmlformats.org/drawingml/2006/main">
              <a:ext uri="{FF2B5EF4-FFF2-40B4-BE49-F238E27FC236}">
                <a16:creationId xmlns:a16="http://schemas.microsoft.com/office/drawing/2014/main" id="{72AE4C6A-ABE6-41AF-BF42-63F63D045716}"/>
              </a:ext>
            </a:extLst>
          </p:cNvPr>
          <p:cNvSpPr>
            <a:spLocks xmlns:a="http://schemas.openxmlformats.org/drawingml/2006/main" noGrp="1"/>
          </p:cNvSpPr>
          <p:nvPr/>
        </p:nvSpPr>
        <p:spPr>
          <a:xfrm xmlns:a="http://schemas.openxmlformats.org/drawingml/2006/main">
            <a:off x="5715000" y="241935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8" name="">
            <a:extLst xmlns:a="http://schemas.openxmlformats.org/drawingml/2006/main">
              <a:ext uri="{FF2B5EF4-FFF2-40B4-BE49-F238E27FC236}">
                <a16:creationId xmlns:a16="http://schemas.microsoft.com/office/drawing/2014/main" id="{8712E2AF-D23A-4C04-9DCD-12A2DF453937}"/>
              </a:ext>
            </a:extLst>
          </p:cNvPr>
          <p:cNvSpPr>
            <a:spLocks xmlns:a="http://schemas.openxmlformats.org/drawingml/2006/main" noGrp="1"/>
          </p:cNvSpPr>
          <p:nvPr/>
        </p:nvSpPr>
        <p:spPr>
          <a:xfrm xmlns:a="http://schemas.openxmlformats.org/drawingml/2006/main">
            <a:off x="5829300" y="253365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Dance · Y5 · 25 min · Main activity</a:t>
            </a:r>
          </a:p>
        </p:txBody>
      </p:sp>
      <p:sp>
        <p:nvSpPr>
          <p:cNvPr id="19" name="">
            <a:extLst xmlns:a="http://schemas.openxmlformats.org/drawingml/2006/main">
              <a:ext uri="{FF2B5EF4-FFF2-40B4-BE49-F238E27FC236}">
                <a16:creationId xmlns:a16="http://schemas.microsoft.com/office/drawing/2014/main" id="{3A1B7D9A-6DEF-4007-9952-0292BE4E51DC}"/>
              </a:ext>
            </a:extLst>
          </p:cNvPr>
          <p:cNvSpPr>
            <a:spLocks xmlns:a="http://schemas.openxmlformats.org/drawingml/2006/main" noGrp="1"/>
          </p:cNvSpPr>
          <p:nvPr/>
        </p:nvSpPr>
        <p:spPr>
          <a:xfrm xmlns:a="http://schemas.openxmlformats.org/drawingml/2006/main">
            <a:off x="5829300" y="274320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Storm Motif &amp; Canon</a:t>
            </a:r>
          </a:p>
        </p:txBody>
      </p:sp>
      <p:sp>
        <p:nvSpPr>
          <p:cNvPr id="20" name="">
            <a:extLst xmlns:a="http://schemas.openxmlformats.org/drawingml/2006/main">
              <a:ext uri="{FF2B5EF4-FFF2-40B4-BE49-F238E27FC236}">
                <a16:creationId xmlns:a16="http://schemas.microsoft.com/office/drawing/2014/main" id="{94A1B702-A2D5-4B71-BEC8-127DF476B7FA}"/>
              </a:ext>
            </a:extLst>
          </p:cNvPr>
          <p:cNvSpPr>
            <a:spLocks xmlns:a="http://schemas.openxmlformats.org/drawingml/2006/main" noGrp="1"/>
          </p:cNvSpPr>
          <p:nvPr/>
        </p:nvSpPr>
        <p:spPr>
          <a:xfrm xmlns:a="http://schemas.openxmlformats.org/drawingml/2006/main">
            <a:off x="5829300" y="314325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Build a 16-count motif inspired by a storm. In four groups, layer the motif as a canon, two counts apart.</a:t>
            </a:r>
          </a:p>
          <a:p xmlns:a="http://schemas.openxmlformats.org/drawingml/2006/main">
            <a:pPr algn="l">
              <a:defRPr sz="825" b="0">
                <a:solidFill>
                  <a:srgbClr val="2A4548"/>
                </a:solidFill>
              </a:defRPr>
            </a:pPr>
            <a:r>
              <a:rPr sz="825" b="0">
                <a:solidFill>
                  <a:srgbClr val="2A4548"/>
                </a:solidFill>
              </a:rPr>
              <a:t>▶ Choreography demo · ♪ Storm music · ≡ Counting worksheet</a:t>
            </a:r>
          </a:p>
        </p:txBody>
      </p:sp>
      <p:sp>
        <p:nvSpPr>
          <p:cNvPr id="21" name="">
            <a:extLst xmlns:a="http://schemas.openxmlformats.org/drawingml/2006/main">
              <a:ext uri="{FF2B5EF4-FFF2-40B4-BE49-F238E27FC236}">
                <a16:creationId xmlns:a16="http://schemas.microsoft.com/office/drawing/2014/main" id="{8AEC5187-6503-4012-AB77-ACB2D099EF6F}"/>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22" name="">
            <a:extLst xmlns:a="http://schemas.openxmlformats.org/drawingml/2006/main">
              <a:ext uri="{FF2B5EF4-FFF2-40B4-BE49-F238E27FC236}">
                <a16:creationId xmlns:a16="http://schemas.microsoft.com/office/drawing/2014/main" id="{914F111A-C228-41CB-B479-146CFF002289}"/>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10 / 25</a:t>
            </a:r>
          </a:p>
        </p:txBody>
      </p:sp>
    </p:spTree>
    <p:extLst>
      <p:ext uri="{BB962C8B-B14F-4D97-AF65-F5344CB8AC3E}">
        <p14:creationId xmlns:p14="http://schemas.microsoft.com/office/powerpoint/2010/main" val="774415767"/>
      </p:ext>
    </p:extLst>
  </p:cSld>
</p:sld>
</file>

<file path=ppt/slides/slide11.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7A6A090F-DB9F-4657-A63C-B4B9310BD8D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4C2A7ED-16D9-4A06-AB30-1753D210146E}"/>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C0B18E0-EF14-444C-A729-1A755130D347}"/>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311DB91-CD10-4E4F-81AB-9B235791ED20}"/>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Feature 05</a:t>
            </a:r>
          </a:p>
        </p:txBody>
      </p:sp>
      <p:sp>
        <p:nvSpPr>
          <p:cNvPr id="6" name="">
            <a:extLst xmlns:a="http://schemas.openxmlformats.org/drawingml/2006/main">
              <a:ext uri="{FF2B5EF4-FFF2-40B4-BE49-F238E27FC236}">
                <a16:creationId xmlns:a16="http://schemas.microsoft.com/office/drawing/2014/main" id="{EDDF738D-9039-4F8A-BBD0-E7F03C7D689B}"/>
              </a:ext>
            </a:extLst>
          </p:cNvPr>
          <p:cNvSpPr>
            <a:spLocks xmlns:a="http://schemas.openxmlformats.org/drawingml/2006/main" noGrp="1"/>
          </p:cNvSpPr>
          <p:nvPr/>
        </p:nvSpPr>
        <p:spPr>
          <a:xfrm xmlns:a="http://schemas.openxmlformats.org/drawingml/2006/main">
            <a:off x="609600" y="647700"/>
            <a:ext cx="4762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002D24"/>
                </a:solidFill>
              </a:defRPr>
            </a:pPr>
            <a:r>
              <a:rPr sz="1950" b="1">
                <a:solidFill>
                  <a:srgbClr val="002D24"/>
                </a:solidFill>
              </a:rPr>
              <a:t>Build an activity in two minutes.</a:t>
            </a:r>
          </a:p>
        </p:txBody>
      </p:sp>
      <p:sp>
        <p:nvSpPr>
          <p:cNvPr id="7" name="">
            <a:extLst xmlns:a="http://schemas.openxmlformats.org/drawingml/2006/main">
              <a:ext uri="{FF2B5EF4-FFF2-40B4-BE49-F238E27FC236}">
                <a16:creationId xmlns:a16="http://schemas.microsoft.com/office/drawing/2014/main" id="{2E2E7B57-D359-4393-BE76-93EDF776C7CA}"/>
              </a:ext>
            </a:extLst>
          </p:cNvPr>
          <p:cNvSpPr>
            <a:spLocks xmlns:a="http://schemas.openxmlformats.org/drawingml/2006/main" noGrp="1"/>
          </p:cNvSpPr>
          <p:nvPr/>
        </p:nvSpPr>
        <p:spPr>
          <a:xfrm xmlns:a="http://schemas.openxmlformats.org/drawingml/2006/main">
            <a:off x="609600" y="1485900"/>
            <a:ext cx="47625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2A4548"/>
                </a:solidFill>
              </a:defRPr>
            </a:pPr>
            <a:r>
              <a:rPr sz="1050" b="0">
                <a:solidFill>
                  <a:srgbClr val="2A4548"/>
                </a:solidFill>
              </a:rPr>
              <a:t>A focused form for the things that matter — name, year groups, time, instructions — with dedicated fields for the YouTube clip, the backing track, the worksheet and the web link you'd otherwise lose in a folder.</a:t>
            </a:r>
          </a:p>
        </p:txBody>
      </p:sp>
      <p:sp>
        <p:nvSpPr>
          <p:cNvPr id="8" name="">
            <a:extLst xmlns:a="http://schemas.openxmlformats.org/drawingml/2006/main">
              <a:ext uri="{FF2B5EF4-FFF2-40B4-BE49-F238E27FC236}">
                <a16:creationId xmlns:a16="http://schemas.microsoft.com/office/drawing/2014/main" id="{C921577F-A1F9-40D6-9F94-508854891AF3}"/>
              </a:ext>
            </a:extLst>
          </p:cNvPr>
          <p:cNvSpPr>
            <a:spLocks xmlns:a="http://schemas.openxmlformats.org/drawingml/2006/main" noGrp="1"/>
          </p:cNvSpPr>
          <p:nvPr/>
        </p:nvSpPr>
        <p:spPr>
          <a:xfrm xmlns:a="http://schemas.openxmlformats.org/drawingml/2006/main">
            <a:off x="609600" y="2724150"/>
            <a:ext cx="47625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7E4DF"/>
            </a:solidFill>
            <a:prstDash val="solid"/>
          </a:ln>
        </p:spPr>
      </p:sp>
      <p:sp>
        <p:nvSpPr>
          <p:cNvPr id="9" name="">
            <a:extLst xmlns:a="http://schemas.openxmlformats.org/drawingml/2006/main">
              <a:ext uri="{FF2B5EF4-FFF2-40B4-BE49-F238E27FC236}">
                <a16:creationId xmlns:a16="http://schemas.microsoft.com/office/drawing/2014/main" id="{B000BBA2-6B71-4B76-81E6-D84BE6C0B0C2}"/>
              </a:ext>
            </a:extLst>
          </p:cNvPr>
          <p:cNvSpPr>
            <a:spLocks xmlns:a="http://schemas.openxmlformats.org/drawingml/2006/main" noGrp="1"/>
          </p:cNvSpPr>
          <p:nvPr/>
        </p:nvSpPr>
        <p:spPr>
          <a:xfrm xmlns:a="http://schemas.openxmlformats.org/drawingml/2006/main">
            <a:off x="723900" y="2800350"/>
            <a:ext cx="4533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8120"/>
          </a:bodyPr>
          <a:lstStyle xmlns:a="http://schemas.openxmlformats.org/drawingml/2006/main"/>
          <a:p xmlns:a="http://schemas.openxmlformats.org/drawingml/2006/main">
            <a:pPr algn="l">
              <a:defRPr sz="975" b="1">
                <a:solidFill>
                  <a:srgbClr val="0F2A2E"/>
                </a:solidFill>
              </a:defRPr>
            </a:pPr>
            <a:r>
              <a:rPr sz="975" b="1">
                <a:solidFill>
                  <a:srgbClr val="0F2A2E"/>
                </a:solidFill>
              </a:rPr>
              <a:t>Tag once, find forever</a:t>
            </a:r>
          </a:p>
        </p:txBody>
      </p:sp>
      <p:sp>
        <p:nvSpPr>
          <p:cNvPr id="10" name="">
            <a:extLst xmlns:a="http://schemas.openxmlformats.org/drawingml/2006/main">
              <a:ext uri="{FF2B5EF4-FFF2-40B4-BE49-F238E27FC236}">
                <a16:creationId xmlns:a16="http://schemas.microsoft.com/office/drawing/2014/main" id="{4BBAC256-D171-4E75-A40E-870AB6110844}"/>
              </a:ext>
            </a:extLst>
          </p:cNvPr>
          <p:cNvSpPr>
            <a:spLocks xmlns:a="http://schemas.openxmlformats.org/drawingml/2006/main" noGrp="1"/>
          </p:cNvSpPr>
          <p:nvPr/>
        </p:nvSpPr>
        <p:spPr>
          <a:xfrm xmlns:a="http://schemas.openxmlformats.org/drawingml/2006/main">
            <a:off x="723900" y="3009900"/>
            <a:ext cx="4533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Subject, year groups and category attach instantly.</a:t>
            </a:r>
          </a:p>
        </p:txBody>
      </p:sp>
      <p:sp>
        <p:nvSpPr>
          <p:cNvPr id="11" name="">
            <a:extLst xmlns:a="http://schemas.openxmlformats.org/drawingml/2006/main">
              <a:ext uri="{FF2B5EF4-FFF2-40B4-BE49-F238E27FC236}">
                <a16:creationId xmlns:a16="http://schemas.microsoft.com/office/drawing/2014/main" id="{6E50A12E-3C6C-4FAB-A617-1BBEC582D839}"/>
              </a:ext>
            </a:extLst>
          </p:cNvPr>
          <p:cNvSpPr>
            <a:spLocks xmlns:a="http://schemas.openxmlformats.org/drawingml/2006/main" noGrp="1"/>
          </p:cNvSpPr>
          <p:nvPr/>
        </p:nvSpPr>
        <p:spPr>
          <a:xfrm xmlns:a="http://schemas.openxmlformats.org/drawingml/2006/main">
            <a:off x="609600" y="3409950"/>
            <a:ext cx="47625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7E4DF"/>
            </a:solidFill>
            <a:prstDash val="solid"/>
          </a:ln>
        </p:spPr>
      </p:sp>
      <p:sp>
        <p:nvSpPr>
          <p:cNvPr id="12" name="">
            <a:extLst xmlns:a="http://schemas.openxmlformats.org/drawingml/2006/main">
              <a:ext uri="{FF2B5EF4-FFF2-40B4-BE49-F238E27FC236}">
                <a16:creationId xmlns:a16="http://schemas.microsoft.com/office/drawing/2014/main" id="{8939CCE3-5EBB-433A-A823-95E2A87AF00E}"/>
              </a:ext>
            </a:extLst>
          </p:cNvPr>
          <p:cNvSpPr>
            <a:spLocks xmlns:a="http://schemas.openxmlformats.org/drawingml/2006/main" noGrp="1"/>
          </p:cNvSpPr>
          <p:nvPr/>
        </p:nvSpPr>
        <p:spPr>
          <a:xfrm xmlns:a="http://schemas.openxmlformats.org/drawingml/2006/main">
            <a:off x="723900" y="3486150"/>
            <a:ext cx="4533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8120"/>
          </a:bodyPr>
          <a:lstStyle xmlns:a="http://schemas.openxmlformats.org/drawingml/2006/main"/>
          <a:p xmlns:a="http://schemas.openxmlformats.org/drawingml/2006/main">
            <a:pPr algn="l">
              <a:defRPr sz="975" b="1">
                <a:solidFill>
                  <a:srgbClr val="0F2A2E"/>
                </a:solidFill>
              </a:defRPr>
            </a:pPr>
            <a:r>
              <a:rPr sz="975" b="1">
                <a:solidFill>
                  <a:srgbClr val="0F2A2E"/>
                </a:solidFill>
              </a:rPr>
              <a:t>Web links built in</a:t>
            </a:r>
          </a:p>
        </p:txBody>
      </p:sp>
      <p:sp>
        <p:nvSpPr>
          <p:cNvPr id="13" name="">
            <a:extLst xmlns:a="http://schemas.openxmlformats.org/drawingml/2006/main">
              <a:ext uri="{FF2B5EF4-FFF2-40B4-BE49-F238E27FC236}">
                <a16:creationId xmlns:a16="http://schemas.microsoft.com/office/drawing/2014/main" id="{9CCE2330-AED5-45E7-9B24-927697169403}"/>
              </a:ext>
            </a:extLst>
          </p:cNvPr>
          <p:cNvSpPr>
            <a:spLocks xmlns:a="http://schemas.openxmlformats.org/drawingml/2006/main" noGrp="1"/>
          </p:cNvSpPr>
          <p:nvPr/>
        </p:nvSpPr>
        <p:spPr>
          <a:xfrm xmlns:a="http://schemas.openxmlformats.org/drawingml/2006/main">
            <a:off x="723900" y="3695700"/>
            <a:ext cx="4533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Six labelled link slots — video, music, backing, vocals, worksheet, web.</a:t>
            </a:r>
          </a:p>
        </p:txBody>
      </p:sp>
      <p:sp>
        <p:nvSpPr>
          <p:cNvPr id="14" name="">
            <a:extLst xmlns:a="http://schemas.openxmlformats.org/drawingml/2006/main">
              <a:ext uri="{FF2B5EF4-FFF2-40B4-BE49-F238E27FC236}">
                <a16:creationId xmlns:a16="http://schemas.microsoft.com/office/drawing/2014/main" id="{6726FECD-8176-4A72-A6FA-CF61365DA030}"/>
              </a:ext>
            </a:extLst>
          </p:cNvPr>
          <p:cNvSpPr>
            <a:spLocks xmlns:a="http://schemas.openxmlformats.org/drawingml/2006/main" noGrp="1"/>
          </p:cNvSpPr>
          <p:nvPr/>
        </p:nvSpPr>
        <p:spPr>
          <a:xfrm xmlns:a="http://schemas.openxmlformats.org/drawingml/2006/main">
            <a:off x="609600" y="4095750"/>
            <a:ext cx="47625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7E4DF"/>
            </a:solidFill>
            <a:prstDash val="solid"/>
          </a:ln>
        </p:spPr>
      </p:sp>
      <p:sp>
        <p:nvSpPr>
          <p:cNvPr id="15" name="">
            <a:extLst xmlns:a="http://schemas.openxmlformats.org/drawingml/2006/main">
              <a:ext uri="{FF2B5EF4-FFF2-40B4-BE49-F238E27FC236}">
                <a16:creationId xmlns:a16="http://schemas.microsoft.com/office/drawing/2014/main" id="{AF72A053-BA06-455F-B06B-829BE65C52D7}"/>
              </a:ext>
            </a:extLst>
          </p:cNvPr>
          <p:cNvSpPr>
            <a:spLocks xmlns:a="http://schemas.openxmlformats.org/drawingml/2006/main" noGrp="1"/>
          </p:cNvSpPr>
          <p:nvPr/>
        </p:nvSpPr>
        <p:spPr>
          <a:xfrm xmlns:a="http://schemas.openxmlformats.org/drawingml/2006/main">
            <a:off x="723900" y="4171950"/>
            <a:ext cx="4533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8120"/>
          </a:bodyPr>
          <a:lstStyle xmlns:a="http://schemas.openxmlformats.org/drawingml/2006/main"/>
          <a:p xmlns:a="http://schemas.openxmlformats.org/drawingml/2006/main">
            <a:pPr algn="l">
              <a:defRPr sz="975" b="1">
                <a:solidFill>
                  <a:srgbClr val="0F2A2E"/>
                </a:solidFill>
              </a:defRPr>
            </a:pPr>
            <a:r>
              <a:rPr sz="975" b="1">
                <a:solidFill>
                  <a:srgbClr val="0F2A2E"/>
                </a:solidFill>
              </a:rPr>
              <a:t>Drag straight in</a:t>
            </a:r>
          </a:p>
        </p:txBody>
      </p:sp>
      <p:sp>
        <p:nvSpPr>
          <p:cNvPr id="16" name="">
            <a:extLst xmlns:a="http://schemas.openxmlformats.org/drawingml/2006/main">
              <a:ext uri="{FF2B5EF4-FFF2-40B4-BE49-F238E27FC236}">
                <a16:creationId xmlns:a16="http://schemas.microsoft.com/office/drawing/2014/main" id="{4286DCD3-4FB1-4B4A-9D00-CB8249B9C314}"/>
              </a:ext>
            </a:extLst>
          </p:cNvPr>
          <p:cNvSpPr>
            <a:spLocks xmlns:a="http://schemas.openxmlformats.org/drawingml/2006/main" noGrp="1"/>
          </p:cNvSpPr>
          <p:nvPr/>
        </p:nvSpPr>
        <p:spPr>
          <a:xfrm xmlns:a="http://schemas.openxmlformats.org/drawingml/2006/main">
            <a:off x="723900" y="4381500"/>
            <a:ext cx="4533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New activity drops into the lesson you're building.</a:t>
            </a:r>
          </a:p>
        </p:txBody>
      </p:sp>
      <p:sp>
        <p:nvSpPr>
          <p:cNvPr id="17" name="">
            <a:extLst xmlns:a="http://schemas.openxmlformats.org/drawingml/2006/main">
              <a:ext uri="{FF2B5EF4-FFF2-40B4-BE49-F238E27FC236}">
                <a16:creationId xmlns:a16="http://schemas.microsoft.com/office/drawing/2014/main" id="{35B29674-50CE-448C-8E40-7E79B9029EE3}"/>
              </a:ext>
            </a:extLst>
          </p:cNvPr>
          <p:cNvSpPr>
            <a:spLocks xmlns:a="http://schemas.openxmlformats.org/drawingml/2006/main" noGrp="1"/>
          </p:cNvSpPr>
          <p:nvPr/>
        </p:nvSpPr>
        <p:spPr>
          <a:xfrm xmlns:a="http://schemas.openxmlformats.org/drawingml/2006/main">
            <a:off x="5524500" y="476250"/>
            <a:ext cx="6096000" cy="5810250"/>
          </a:xfrm>
          <a:prstGeom xmlns:a="http://schemas.openxmlformats.org/drawingml/2006/main" prst="roundRect">
            <a:avLst>
              <a:gd name="adj" fmla="val 1311"/>
            </a:avLst>
          </a:prstGeom>
          <a:solidFill xmlns:a="http://schemas.openxmlformats.org/drawingml/2006/main">
            <a:srgbClr val="FFFFFF"/>
          </a:solidFill>
          <a:ln xmlns:a="http://schemas.openxmlformats.org/drawingml/2006/main" w="9525">
            <a:solidFill>
              <a:srgbClr val="D7E4DF"/>
            </a:solidFill>
            <a:prstDash val="solid"/>
          </a:ln>
        </p:spPr>
      </p:sp>
      <p:sp>
        <p:nvSpPr>
          <p:cNvPr id="18" name="">
            <a:extLst xmlns:a="http://schemas.openxmlformats.org/drawingml/2006/main">
              <a:ext uri="{FF2B5EF4-FFF2-40B4-BE49-F238E27FC236}">
                <a16:creationId xmlns:a16="http://schemas.microsoft.com/office/drawing/2014/main" id="{0103B32B-B126-45ED-93E3-40F6AFB701C9}"/>
              </a:ext>
            </a:extLst>
          </p:cNvPr>
          <p:cNvSpPr>
            <a:spLocks xmlns:a="http://schemas.openxmlformats.org/drawingml/2006/main" noGrp="1"/>
          </p:cNvSpPr>
          <p:nvPr/>
        </p:nvSpPr>
        <p:spPr>
          <a:xfrm xmlns:a="http://schemas.openxmlformats.org/drawingml/2006/main">
            <a:off x="5524500" y="476250"/>
            <a:ext cx="6096000" cy="419100"/>
          </a:xfrm>
          <a:prstGeom xmlns:a="http://schemas.openxmlformats.org/drawingml/2006/main" prst="rect">
            <a:avLst/>
          </a:prstGeom>
          <a:solidFill xmlns:a="http://schemas.openxmlformats.org/drawingml/2006/main">
            <a:srgbClr val="F3F7F5"/>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BA9EBCA9-8D21-4176-A79B-B6BAC50F048F}"/>
              </a:ext>
            </a:extLst>
          </p:cNvPr>
          <p:cNvSpPr>
            <a:spLocks xmlns:a="http://schemas.openxmlformats.org/drawingml/2006/main" noGrp="1"/>
          </p:cNvSpPr>
          <p:nvPr/>
        </p:nvSpPr>
        <p:spPr>
          <a:xfrm xmlns:a="http://schemas.openxmlformats.org/drawingml/2006/main">
            <a:off x="5676900" y="571500"/>
            <a:ext cx="2438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4240"/>
          </a:bodyPr>
          <a:lstStyle xmlns:a="http://schemas.openxmlformats.org/drawingml/2006/main"/>
          <a:p xmlns:a="http://schemas.openxmlformats.org/drawingml/2006/main">
            <a:pPr algn="l">
              <a:defRPr sz="1050" b="1">
                <a:solidFill>
                  <a:srgbClr val="0F2A2E"/>
                </a:solidFill>
              </a:defRPr>
            </a:pPr>
            <a:r>
              <a:rPr sz="1050" b="1">
                <a:solidFill>
                  <a:srgbClr val="0F2A2E"/>
                </a:solidFill>
              </a:rPr>
              <a:t>New activity</a:t>
            </a:r>
          </a:p>
        </p:txBody>
      </p:sp>
      <p:sp>
        <p:nvSpPr>
          <p:cNvPr id="20" name="">
            <a:extLst xmlns:a="http://schemas.openxmlformats.org/drawingml/2006/main">
              <a:ext uri="{FF2B5EF4-FFF2-40B4-BE49-F238E27FC236}">
                <a16:creationId xmlns:a16="http://schemas.microsoft.com/office/drawing/2014/main" id="{978965FF-0513-4DEB-9129-291EE2AAE685}"/>
              </a:ext>
            </a:extLst>
          </p:cNvPr>
          <p:cNvSpPr>
            <a:spLocks xmlns:a="http://schemas.openxmlformats.org/drawingml/2006/main" noGrp="1"/>
          </p:cNvSpPr>
          <p:nvPr/>
        </p:nvSpPr>
        <p:spPr>
          <a:xfrm xmlns:a="http://schemas.openxmlformats.org/drawingml/2006/main">
            <a:off x="7962900" y="590550"/>
            <a:ext cx="3200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4491"/>
          </a:bodyPr>
          <a:lstStyle xmlns:a="http://schemas.openxmlformats.org/drawingml/2006/main"/>
          <a:p xmlns:a="http://schemas.openxmlformats.org/drawingml/2006/main">
            <a:pPr algn="r">
              <a:defRPr sz="825" b="0">
                <a:solidFill>
                  <a:srgbClr val="5A7275"/>
                </a:solidFill>
              </a:defRPr>
            </a:pPr>
            <a:r>
              <a:rPr sz="825" b="0">
                <a:solidFill>
                  <a:srgbClr val="5A7275"/>
                </a:solidFill>
              </a:rPr>
              <a:t>Lesson 1 · Storytelling Through Drama</a:t>
            </a:r>
          </a:p>
        </p:txBody>
      </p:sp>
      <p:sp>
        <p:nvSpPr>
          <p:cNvPr id="21" name="">
            <a:extLst xmlns:a="http://schemas.openxmlformats.org/drawingml/2006/main">
              <a:ext uri="{FF2B5EF4-FFF2-40B4-BE49-F238E27FC236}">
                <a16:creationId xmlns:a16="http://schemas.microsoft.com/office/drawing/2014/main" id="{05579DF4-D44D-4F51-B784-CF87113F6E6E}"/>
              </a:ext>
            </a:extLst>
          </p:cNvPr>
          <p:cNvSpPr>
            <a:spLocks xmlns:a="http://schemas.openxmlformats.org/drawingml/2006/main" noGrp="1"/>
          </p:cNvSpPr>
          <p:nvPr/>
        </p:nvSpPr>
        <p:spPr>
          <a:xfrm xmlns:a="http://schemas.openxmlformats.org/drawingml/2006/main">
            <a:off x="5676900" y="1009650"/>
            <a:ext cx="5791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52416"/>
          </a:bodyPr>
          <a:lstStyle xmlns:a="http://schemas.openxmlformats.org/drawingml/2006/main"/>
          <a:p xmlns:a="http://schemas.openxmlformats.org/drawingml/2006/main">
            <a:pPr algn="l">
              <a:defRPr sz="750" b="1">
                <a:solidFill>
                  <a:srgbClr val="002D24"/>
                </a:solidFill>
              </a:defRPr>
            </a:pPr>
            <a:r>
              <a:rPr sz="750" b="1">
                <a:solidFill>
                  <a:srgbClr val="002D24"/>
                </a:solidFill>
              </a:rPr>
              <a:t>Activity name</a:t>
            </a:r>
          </a:p>
        </p:txBody>
      </p:sp>
      <p:sp>
        <p:nvSpPr>
          <p:cNvPr id="22" name="">
            <a:extLst xmlns:a="http://schemas.openxmlformats.org/drawingml/2006/main">
              <a:ext uri="{FF2B5EF4-FFF2-40B4-BE49-F238E27FC236}">
                <a16:creationId xmlns:a16="http://schemas.microsoft.com/office/drawing/2014/main" id="{6F767307-D2AA-4D25-9EF3-8E7C2CA1F4EF}"/>
              </a:ext>
            </a:extLst>
          </p:cNvPr>
          <p:cNvSpPr>
            <a:spLocks xmlns:a="http://schemas.openxmlformats.org/drawingml/2006/main" noGrp="1"/>
          </p:cNvSpPr>
          <p:nvPr/>
        </p:nvSpPr>
        <p:spPr>
          <a:xfrm xmlns:a="http://schemas.openxmlformats.org/drawingml/2006/main">
            <a:off x="5676900" y="1162050"/>
            <a:ext cx="5791200" cy="247650"/>
          </a:xfrm>
          <a:prstGeom xmlns:a="http://schemas.openxmlformats.org/drawingml/2006/main" prst="roundRect">
            <a:avLst>
              <a:gd name="adj" fmla="val 30769"/>
            </a:avLst>
          </a:prstGeom>
          <a:solidFill xmlns:a="http://schemas.openxmlformats.org/drawingml/2006/main">
            <a:srgbClr val="FFFFFF"/>
          </a:solidFill>
          <a:ln xmlns:a="http://schemas.openxmlformats.org/drawingml/2006/main" w="9525">
            <a:solidFill>
              <a:srgbClr val="D7E4DF"/>
            </a:solidFill>
            <a:prstDash val="solid"/>
          </a:ln>
        </p:spPr>
      </p:sp>
      <p:sp>
        <p:nvSpPr>
          <p:cNvPr id="23" name="">
            <a:extLst xmlns:a="http://schemas.openxmlformats.org/drawingml/2006/main">
              <a:ext uri="{FF2B5EF4-FFF2-40B4-BE49-F238E27FC236}">
                <a16:creationId xmlns:a16="http://schemas.microsoft.com/office/drawing/2014/main" id="{87654CF4-EF8D-4635-B5B7-EB9FBACD0EFD}"/>
              </a:ext>
            </a:extLst>
          </p:cNvPr>
          <p:cNvSpPr>
            <a:spLocks xmlns:a="http://schemas.openxmlformats.org/drawingml/2006/main" noGrp="1"/>
          </p:cNvSpPr>
          <p:nvPr/>
        </p:nvSpPr>
        <p:spPr>
          <a:xfrm xmlns:a="http://schemas.openxmlformats.org/drawingml/2006/main">
            <a:off x="5753100" y="1181100"/>
            <a:ext cx="5638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6617"/>
          </a:bodyPr>
          <a:lstStyle xmlns:a="http://schemas.openxmlformats.org/drawingml/2006/main"/>
          <a:p xmlns:a="http://schemas.openxmlformats.org/drawingml/2006/main">
            <a:pPr algn="l">
              <a:defRPr sz="900" b="0">
                <a:solidFill>
                  <a:srgbClr val="0F2A2E"/>
                </a:solidFill>
              </a:defRPr>
            </a:pPr>
            <a:r>
              <a:rPr sz="900" b="0">
                <a:solidFill>
                  <a:srgbClr val="0F2A2E"/>
                </a:solidFill>
              </a:rPr>
              <a:t>Freeze-Frame Storytelling</a:t>
            </a:r>
          </a:p>
        </p:txBody>
      </p:sp>
      <p:sp>
        <p:nvSpPr>
          <p:cNvPr id="24" name="">
            <a:extLst xmlns:a="http://schemas.openxmlformats.org/drawingml/2006/main">
              <a:ext uri="{FF2B5EF4-FFF2-40B4-BE49-F238E27FC236}">
                <a16:creationId xmlns:a16="http://schemas.microsoft.com/office/drawing/2014/main" id="{74BA63AF-D560-4E85-A960-C108DB08C05A}"/>
              </a:ext>
            </a:extLst>
          </p:cNvPr>
          <p:cNvSpPr>
            <a:spLocks xmlns:a="http://schemas.openxmlformats.org/drawingml/2006/main" noGrp="1"/>
          </p:cNvSpPr>
          <p:nvPr/>
        </p:nvSpPr>
        <p:spPr>
          <a:xfrm xmlns:a="http://schemas.openxmlformats.org/drawingml/2006/main">
            <a:off x="5676900" y="1466850"/>
            <a:ext cx="5791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52416"/>
          </a:bodyPr>
          <a:lstStyle xmlns:a="http://schemas.openxmlformats.org/drawingml/2006/main"/>
          <a:p xmlns:a="http://schemas.openxmlformats.org/drawingml/2006/main">
            <a:pPr algn="l">
              <a:defRPr sz="750" b="1">
                <a:solidFill>
                  <a:srgbClr val="002D24"/>
                </a:solidFill>
              </a:defRPr>
            </a:pPr>
            <a:r>
              <a:rPr sz="750" b="1">
                <a:solidFill>
                  <a:srgbClr val="002D24"/>
                </a:solidFill>
              </a:rPr>
              <a:t>Subject</a:t>
            </a:r>
          </a:p>
        </p:txBody>
      </p:sp>
      <p:sp>
        <p:nvSpPr>
          <p:cNvPr id="25" name="">
            <a:extLst xmlns:a="http://schemas.openxmlformats.org/drawingml/2006/main">
              <a:ext uri="{FF2B5EF4-FFF2-40B4-BE49-F238E27FC236}">
                <a16:creationId xmlns:a16="http://schemas.microsoft.com/office/drawing/2014/main" id="{FE885C94-C5B5-40EF-AE75-141AD1FB69F9}"/>
              </a:ext>
            </a:extLst>
          </p:cNvPr>
          <p:cNvSpPr>
            <a:spLocks xmlns:a="http://schemas.openxmlformats.org/drawingml/2006/main" noGrp="1"/>
          </p:cNvSpPr>
          <p:nvPr/>
        </p:nvSpPr>
        <p:spPr>
          <a:xfrm xmlns:a="http://schemas.openxmlformats.org/drawingml/2006/main">
            <a:off x="5676900" y="1619250"/>
            <a:ext cx="5791200" cy="247650"/>
          </a:xfrm>
          <a:prstGeom xmlns:a="http://schemas.openxmlformats.org/drawingml/2006/main" prst="roundRect">
            <a:avLst>
              <a:gd name="adj" fmla="val 30769"/>
            </a:avLst>
          </a:prstGeom>
          <a:solidFill xmlns:a="http://schemas.openxmlformats.org/drawingml/2006/main">
            <a:srgbClr val="FFFFFF"/>
          </a:solidFill>
          <a:ln xmlns:a="http://schemas.openxmlformats.org/drawingml/2006/main" w="9525">
            <a:solidFill>
              <a:srgbClr val="D7E4DF"/>
            </a:solidFill>
            <a:prstDash val="solid"/>
          </a:ln>
        </p:spPr>
      </p:sp>
      <p:sp>
        <p:nvSpPr>
          <p:cNvPr id="26" name="">
            <a:extLst xmlns:a="http://schemas.openxmlformats.org/drawingml/2006/main">
              <a:ext uri="{FF2B5EF4-FFF2-40B4-BE49-F238E27FC236}">
                <a16:creationId xmlns:a16="http://schemas.microsoft.com/office/drawing/2014/main" id="{444E7127-2480-4140-BD09-927BCA237C3B}"/>
              </a:ext>
            </a:extLst>
          </p:cNvPr>
          <p:cNvSpPr>
            <a:spLocks xmlns:a="http://schemas.openxmlformats.org/drawingml/2006/main" noGrp="1"/>
          </p:cNvSpPr>
          <p:nvPr/>
        </p:nvSpPr>
        <p:spPr>
          <a:xfrm xmlns:a="http://schemas.openxmlformats.org/drawingml/2006/main">
            <a:off x="5753100" y="1638300"/>
            <a:ext cx="5638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6617"/>
          </a:bodyPr>
          <a:lstStyle xmlns:a="http://schemas.openxmlformats.org/drawingml/2006/main"/>
          <a:p xmlns:a="http://schemas.openxmlformats.org/drawingml/2006/main">
            <a:pPr algn="l">
              <a:defRPr sz="900" b="0">
                <a:solidFill>
                  <a:srgbClr val="0F2A2E"/>
                </a:solidFill>
              </a:defRPr>
            </a:pPr>
            <a:r>
              <a:rPr sz="900" b="0">
                <a:solidFill>
                  <a:srgbClr val="0F2A2E"/>
                </a:solidFill>
              </a:rPr>
              <a:t>Drama</a:t>
            </a:r>
          </a:p>
        </p:txBody>
      </p:sp>
      <p:sp>
        <p:nvSpPr>
          <p:cNvPr id="27" name="">
            <a:extLst xmlns:a="http://schemas.openxmlformats.org/drawingml/2006/main">
              <a:ext uri="{FF2B5EF4-FFF2-40B4-BE49-F238E27FC236}">
                <a16:creationId xmlns:a16="http://schemas.microsoft.com/office/drawing/2014/main" id="{E34E21E3-1A96-427F-8B0E-175F06C6CEF8}"/>
              </a:ext>
            </a:extLst>
          </p:cNvPr>
          <p:cNvSpPr>
            <a:spLocks xmlns:a="http://schemas.openxmlformats.org/drawingml/2006/main" noGrp="1"/>
          </p:cNvSpPr>
          <p:nvPr/>
        </p:nvSpPr>
        <p:spPr>
          <a:xfrm xmlns:a="http://schemas.openxmlformats.org/drawingml/2006/main">
            <a:off x="5676900" y="1924050"/>
            <a:ext cx="5791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52416"/>
          </a:bodyPr>
          <a:lstStyle xmlns:a="http://schemas.openxmlformats.org/drawingml/2006/main"/>
          <a:p xmlns:a="http://schemas.openxmlformats.org/drawingml/2006/main">
            <a:pPr algn="l">
              <a:defRPr sz="750" b="1">
                <a:solidFill>
                  <a:srgbClr val="002D24"/>
                </a:solidFill>
              </a:defRPr>
            </a:pPr>
            <a:r>
              <a:rPr sz="750" b="1">
                <a:solidFill>
                  <a:srgbClr val="002D24"/>
                </a:solidFill>
              </a:rPr>
              <a:t>Category</a:t>
            </a:r>
          </a:p>
        </p:txBody>
      </p:sp>
      <p:sp>
        <p:nvSpPr>
          <p:cNvPr id="28" name="">
            <a:extLst xmlns:a="http://schemas.openxmlformats.org/drawingml/2006/main">
              <a:ext uri="{FF2B5EF4-FFF2-40B4-BE49-F238E27FC236}">
                <a16:creationId xmlns:a16="http://schemas.microsoft.com/office/drawing/2014/main" id="{CDCB68D1-5CC4-4A2E-92AF-74F07DD51F67}"/>
              </a:ext>
            </a:extLst>
          </p:cNvPr>
          <p:cNvSpPr>
            <a:spLocks xmlns:a="http://schemas.openxmlformats.org/drawingml/2006/main" noGrp="1"/>
          </p:cNvSpPr>
          <p:nvPr/>
        </p:nvSpPr>
        <p:spPr>
          <a:xfrm xmlns:a="http://schemas.openxmlformats.org/drawingml/2006/main">
            <a:off x="5676900" y="2076450"/>
            <a:ext cx="5791200" cy="247650"/>
          </a:xfrm>
          <a:prstGeom xmlns:a="http://schemas.openxmlformats.org/drawingml/2006/main" prst="roundRect">
            <a:avLst>
              <a:gd name="adj" fmla="val 30769"/>
            </a:avLst>
          </a:prstGeom>
          <a:solidFill xmlns:a="http://schemas.openxmlformats.org/drawingml/2006/main">
            <a:srgbClr val="FFFFFF"/>
          </a:solidFill>
          <a:ln xmlns:a="http://schemas.openxmlformats.org/drawingml/2006/main" w="9525">
            <a:solidFill>
              <a:srgbClr val="D7E4DF"/>
            </a:solidFill>
            <a:prstDash val="solid"/>
          </a:ln>
        </p:spPr>
      </p:sp>
      <p:sp>
        <p:nvSpPr>
          <p:cNvPr id="29" name="">
            <a:extLst xmlns:a="http://schemas.openxmlformats.org/drawingml/2006/main">
              <a:ext uri="{FF2B5EF4-FFF2-40B4-BE49-F238E27FC236}">
                <a16:creationId xmlns:a16="http://schemas.microsoft.com/office/drawing/2014/main" id="{3C6BE7B7-E8CE-498D-9F4C-F8053FB98F5A}"/>
              </a:ext>
            </a:extLst>
          </p:cNvPr>
          <p:cNvSpPr>
            <a:spLocks xmlns:a="http://schemas.openxmlformats.org/drawingml/2006/main" noGrp="1"/>
          </p:cNvSpPr>
          <p:nvPr/>
        </p:nvSpPr>
        <p:spPr>
          <a:xfrm xmlns:a="http://schemas.openxmlformats.org/drawingml/2006/main">
            <a:off x="5753100" y="2095500"/>
            <a:ext cx="5638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6617"/>
          </a:bodyPr>
          <a:lstStyle xmlns:a="http://schemas.openxmlformats.org/drawingml/2006/main"/>
          <a:p xmlns:a="http://schemas.openxmlformats.org/drawingml/2006/main">
            <a:pPr algn="l">
              <a:defRPr sz="900" b="0">
                <a:solidFill>
                  <a:srgbClr val="0F2A2E"/>
                </a:solidFill>
              </a:defRPr>
            </a:pPr>
            <a:r>
              <a:rPr sz="900" b="0">
                <a:solidFill>
                  <a:srgbClr val="0F2A2E"/>
                </a:solidFill>
              </a:rPr>
              <a:t>Main Activity</a:t>
            </a:r>
          </a:p>
        </p:txBody>
      </p:sp>
      <p:sp>
        <p:nvSpPr>
          <p:cNvPr id="30" name="">
            <a:extLst xmlns:a="http://schemas.openxmlformats.org/drawingml/2006/main">
              <a:ext uri="{FF2B5EF4-FFF2-40B4-BE49-F238E27FC236}">
                <a16:creationId xmlns:a16="http://schemas.microsoft.com/office/drawing/2014/main" id="{191F58D8-B398-44CB-8798-A297086F1B1C}"/>
              </a:ext>
            </a:extLst>
          </p:cNvPr>
          <p:cNvSpPr>
            <a:spLocks xmlns:a="http://schemas.openxmlformats.org/drawingml/2006/main" noGrp="1"/>
          </p:cNvSpPr>
          <p:nvPr/>
        </p:nvSpPr>
        <p:spPr>
          <a:xfrm xmlns:a="http://schemas.openxmlformats.org/drawingml/2006/main">
            <a:off x="5676900" y="2381250"/>
            <a:ext cx="5791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52416"/>
          </a:bodyPr>
          <a:lstStyle xmlns:a="http://schemas.openxmlformats.org/drawingml/2006/main"/>
          <a:p xmlns:a="http://schemas.openxmlformats.org/drawingml/2006/main">
            <a:pPr algn="l">
              <a:defRPr sz="750" b="1">
                <a:solidFill>
                  <a:srgbClr val="002D24"/>
                </a:solidFill>
              </a:defRPr>
            </a:pPr>
            <a:r>
              <a:rPr sz="750" b="1">
                <a:solidFill>
                  <a:srgbClr val="002D24"/>
                </a:solidFill>
              </a:rPr>
              <a:t>Time (min)</a:t>
            </a:r>
          </a:p>
        </p:txBody>
      </p:sp>
      <p:sp>
        <p:nvSpPr>
          <p:cNvPr id="31" name="">
            <a:extLst xmlns:a="http://schemas.openxmlformats.org/drawingml/2006/main">
              <a:ext uri="{FF2B5EF4-FFF2-40B4-BE49-F238E27FC236}">
                <a16:creationId xmlns:a16="http://schemas.microsoft.com/office/drawing/2014/main" id="{CB621CF0-43EC-42F0-8608-862549287C81}"/>
              </a:ext>
            </a:extLst>
          </p:cNvPr>
          <p:cNvSpPr>
            <a:spLocks xmlns:a="http://schemas.openxmlformats.org/drawingml/2006/main" noGrp="1"/>
          </p:cNvSpPr>
          <p:nvPr/>
        </p:nvSpPr>
        <p:spPr>
          <a:xfrm xmlns:a="http://schemas.openxmlformats.org/drawingml/2006/main">
            <a:off x="5676900" y="2533650"/>
            <a:ext cx="5791200" cy="247650"/>
          </a:xfrm>
          <a:prstGeom xmlns:a="http://schemas.openxmlformats.org/drawingml/2006/main" prst="roundRect">
            <a:avLst>
              <a:gd name="adj" fmla="val 30769"/>
            </a:avLst>
          </a:prstGeom>
          <a:solidFill xmlns:a="http://schemas.openxmlformats.org/drawingml/2006/main">
            <a:srgbClr val="FFFFFF"/>
          </a:solidFill>
          <a:ln xmlns:a="http://schemas.openxmlformats.org/drawingml/2006/main" w="9525">
            <a:solidFill>
              <a:srgbClr val="D7E4DF"/>
            </a:solidFill>
            <a:prstDash val="solid"/>
          </a:ln>
        </p:spPr>
      </p:sp>
      <p:sp>
        <p:nvSpPr>
          <p:cNvPr id="32" name="">
            <a:extLst xmlns:a="http://schemas.openxmlformats.org/drawingml/2006/main">
              <a:ext uri="{FF2B5EF4-FFF2-40B4-BE49-F238E27FC236}">
                <a16:creationId xmlns:a16="http://schemas.microsoft.com/office/drawing/2014/main" id="{43B393BE-9C36-40C8-9D95-F7BF7EC846BA}"/>
              </a:ext>
            </a:extLst>
          </p:cNvPr>
          <p:cNvSpPr>
            <a:spLocks xmlns:a="http://schemas.openxmlformats.org/drawingml/2006/main" noGrp="1"/>
          </p:cNvSpPr>
          <p:nvPr/>
        </p:nvSpPr>
        <p:spPr>
          <a:xfrm xmlns:a="http://schemas.openxmlformats.org/drawingml/2006/main">
            <a:off x="5753100" y="2552700"/>
            <a:ext cx="5638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6617"/>
          </a:bodyPr>
          <a:lstStyle xmlns:a="http://schemas.openxmlformats.org/drawingml/2006/main"/>
          <a:p xmlns:a="http://schemas.openxmlformats.org/drawingml/2006/main">
            <a:pPr algn="l">
              <a:defRPr sz="900" b="0">
                <a:solidFill>
                  <a:srgbClr val="0F2A2E"/>
                </a:solidFill>
              </a:defRPr>
            </a:pPr>
            <a:r>
              <a:rPr sz="900" b="0">
                <a:solidFill>
                  <a:srgbClr val="0F2A2E"/>
                </a:solidFill>
              </a:rPr>
              <a:t>20</a:t>
            </a:r>
          </a:p>
        </p:txBody>
      </p:sp>
      <p:sp>
        <p:nvSpPr>
          <p:cNvPr id="33" name="">
            <a:extLst xmlns:a="http://schemas.openxmlformats.org/drawingml/2006/main">
              <a:ext uri="{FF2B5EF4-FFF2-40B4-BE49-F238E27FC236}">
                <a16:creationId xmlns:a16="http://schemas.microsoft.com/office/drawing/2014/main" id="{304725CD-C146-4E27-A9EB-84A5412C04EB}"/>
              </a:ext>
            </a:extLst>
          </p:cNvPr>
          <p:cNvSpPr>
            <a:spLocks xmlns:a="http://schemas.openxmlformats.org/drawingml/2006/main" noGrp="1"/>
          </p:cNvSpPr>
          <p:nvPr/>
        </p:nvSpPr>
        <p:spPr>
          <a:xfrm xmlns:a="http://schemas.openxmlformats.org/drawingml/2006/main">
            <a:off x="5676900" y="2838450"/>
            <a:ext cx="5791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52416"/>
          </a:bodyPr>
          <a:lstStyle xmlns:a="http://schemas.openxmlformats.org/drawingml/2006/main"/>
          <a:p xmlns:a="http://schemas.openxmlformats.org/drawingml/2006/main">
            <a:pPr algn="l">
              <a:defRPr sz="750" b="1">
                <a:solidFill>
                  <a:srgbClr val="002D24"/>
                </a:solidFill>
              </a:defRPr>
            </a:pPr>
            <a:r>
              <a:rPr sz="750" b="1">
                <a:solidFill>
                  <a:srgbClr val="002D24"/>
                </a:solidFill>
              </a:rPr>
              <a:t>Year groups</a:t>
            </a:r>
          </a:p>
        </p:txBody>
      </p:sp>
      <p:sp>
        <p:nvSpPr>
          <p:cNvPr id="34" name="">
            <a:extLst xmlns:a="http://schemas.openxmlformats.org/drawingml/2006/main">
              <a:ext uri="{FF2B5EF4-FFF2-40B4-BE49-F238E27FC236}">
                <a16:creationId xmlns:a16="http://schemas.microsoft.com/office/drawing/2014/main" id="{D979B5F8-37D1-484A-B279-E127C2CAA02E}"/>
              </a:ext>
            </a:extLst>
          </p:cNvPr>
          <p:cNvSpPr>
            <a:spLocks xmlns:a="http://schemas.openxmlformats.org/drawingml/2006/main" noGrp="1"/>
          </p:cNvSpPr>
          <p:nvPr/>
        </p:nvSpPr>
        <p:spPr>
          <a:xfrm xmlns:a="http://schemas.openxmlformats.org/drawingml/2006/main">
            <a:off x="5676900" y="2990850"/>
            <a:ext cx="666750" cy="209550"/>
          </a:xfrm>
          <a:prstGeom xmlns:a="http://schemas.openxmlformats.org/drawingml/2006/main" prst="roundRect">
            <a:avLst>
              <a:gd name="adj" fmla="val 36364"/>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13D0A45F-BA3F-4651-B710-5810779D6977}"/>
              </a:ext>
            </a:extLst>
          </p:cNvPr>
          <p:cNvSpPr>
            <a:spLocks xmlns:a="http://schemas.openxmlformats.org/drawingml/2006/main" noGrp="1"/>
          </p:cNvSpPr>
          <p:nvPr/>
        </p:nvSpPr>
        <p:spPr>
          <a:xfrm xmlns:a="http://schemas.openxmlformats.org/drawingml/2006/main">
            <a:off x="5715000" y="30099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0411"/>
          </a:bodyPr>
          <a:lstStyle xmlns:a="http://schemas.openxmlformats.org/drawingml/2006/main"/>
          <a:p xmlns:a="http://schemas.openxmlformats.org/drawingml/2006/main">
            <a:pPr algn="ctr">
              <a:defRPr sz="750" b="0">
                <a:solidFill>
                  <a:srgbClr val="FFFFFF"/>
                </a:solidFill>
              </a:defRPr>
            </a:pPr>
            <a:r>
              <a:rPr sz="750" b="0">
                <a:solidFill>
                  <a:srgbClr val="FFFFFF"/>
                </a:solidFill>
              </a:rPr>
              <a:t>Year 9</a:t>
            </a:r>
          </a:p>
        </p:txBody>
      </p:sp>
      <p:sp>
        <p:nvSpPr>
          <p:cNvPr id="36" name="">
            <a:extLst xmlns:a="http://schemas.openxmlformats.org/drawingml/2006/main">
              <a:ext uri="{FF2B5EF4-FFF2-40B4-BE49-F238E27FC236}">
                <a16:creationId xmlns:a16="http://schemas.microsoft.com/office/drawing/2014/main" id="{071B52BE-ED0C-4EBB-A9AB-102A41CF5890}"/>
              </a:ext>
            </a:extLst>
          </p:cNvPr>
          <p:cNvSpPr>
            <a:spLocks xmlns:a="http://schemas.openxmlformats.org/drawingml/2006/main" noGrp="1"/>
          </p:cNvSpPr>
          <p:nvPr/>
        </p:nvSpPr>
        <p:spPr>
          <a:xfrm xmlns:a="http://schemas.openxmlformats.org/drawingml/2006/main">
            <a:off x="6400800" y="2990850"/>
            <a:ext cx="666750" cy="209550"/>
          </a:xfrm>
          <a:prstGeom xmlns:a="http://schemas.openxmlformats.org/drawingml/2006/main" prst="roundRect">
            <a:avLst>
              <a:gd name="adj" fmla="val 36364"/>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9B31D64F-E648-4F78-B69C-80B910BF0931}"/>
              </a:ext>
            </a:extLst>
          </p:cNvPr>
          <p:cNvSpPr>
            <a:spLocks xmlns:a="http://schemas.openxmlformats.org/drawingml/2006/main" noGrp="1"/>
          </p:cNvSpPr>
          <p:nvPr/>
        </p:nvSpPr>
        <p:spPr>
          <a:xfrm xmlns:a="http://schemas.openxmlformats.org/drawingml/2006/main">
            <a:off x="6438900" y="30099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0411"/>
          </a:bodyPr>
          <a:lstStyle xmlns:a="http://schemas.openxmlformats.org/drawingml/2006/main"/>
          <a:p xmlns:a="http://schemas.openxmlformats.org/drawingml/2006/main">
            <a:pPr algn="ctr">
              <a:defRPr sz="750" b="0">
                <a:solidFill>
                  <a:srgbClr val="FFFFFF"/>
                </a:solidFill>
              </a:defRPr>
            </a:pPr>
            <a:r>
              <a:rPr sz="750" b="0">
                <a:solidFill>
                  <a:srgbClr val="FFFFFF"/>
                </a:solidFill>
              </a:rPr>
              <a:t>Year 11</a:t>
            </a:r>
          </a:p>
        </p:txBody>
      </p:sp>
      <p:sp>
        <p:nvSpPr>
          <p:cNvPr id="38" name="">
            <a:extLst xmlns:a="http://schemas.openxmlformats.org/drawingml/2006/main">
              <a:ext uri="{FF2B5EF4-FFF2-40B4-BE49-F238E27FC236}">
                <a16:creationId xmlns:a16="http://schemas.microsoft.com/office/drawing/2014/main" id="{887B5621-3358-40DE-B095-760A33376CB6}"/>
              </a:ext>
            </a:extLst>
          </p:cNvPr>
          <p:cNvSpPr>
            <a:spLocks xmlns:a="http://schemas.openxmlformats.org/drawingml/2006/main" noGrp="1"/>
          </p:cNvSpPr>
          <p:nvPr/>
        </p:nvSpPr>
        <p:spPr>
          <a:xfrm xmlns:a="http://schemas.openxmlformats.org/drawingml/2006/main">
            <a:off x="7124700" y="2990850"/>
            <a:ext cx="666750" cy="209550"/>
          </a:xfrm>
          <a:prstGeom xmlns:a="http://schemas.openxmlformats.org/drawingml/2006/main" prst="roundRect">
            <a:avLst>
              <a:gd name="adj" fmla="val 36364"/>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B1056717-6915-48F9-95AB-A80A6B8EB6A9}"/>
              </a:ext>
            </a:extLst>
          </p:cNvPr>
          <p:cNvSpPr>
            <a:spLocks xmlns:a="http://schemas.openxmlformats.org/drawingml/2006/main" noGrp="1"/>
          </p:cNvSpPr>
          <p:nvPr/>
        </p:nvSpPr>
        <p:spPr>
          <a:xfrm xmlns:a="http://schemas.openxmlformats.org/drawingml/2006/main">
            <a:off x="7162800" y="30099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0411"/>
          </a:bodyPr>
          <a:lstStyle xmlns:a="http://schemas.openxmlformats.org/drawingml/2006/main"/>
          <a:p xmlns:a="http://schemas.openxmlformats.org/drawingml/2006/main">
            <a:pPr algn="ctr">
              <a:defRPr sz="750" b="0">
                <a:solidFill>
                  <a:srgbClr val="FFFFFF"/>
                </a:solidFill>
              </a:defRPr>
            </a:pPr>
            <a:r>
              <a:rPr sz="750" b="0">
                <a:solidFill>
                  <a:srgbClr val="FFFFFF"/>
                </a:solidFill>
              </a:rPr>
              <a:t>Year 12</a:t>
            </a:r>
          </a:p>
        </p:txBody>
      </p:sp>
      <p:sp>
        <p:nvSpPr>
          <p:cNvPr id="40" name="">
            <a:extLst xmlns:a="http://schemas.openxmlformats.org/drawingml/2006/main">
              <a:ext uri="{FF2B5EF4-FFF2-40B4-BE49-F238E27FC236}">
                <a16:creationId xmlns:a16="http://schemas.microsoft.com/office/drawing/2014/main" id="{FD35A2E0-146A-4A61-9DC3-1A9E79A4E59B}"/>
              </a:ext>
            </a:extLst>
          </p:cNvPr>
          <p:cNvSpPr>
            <a:spLocks xmlns:a="http://schemas.openxmlformats.org/drawingml/2006/main" noGrp="1"/>
          </p:cNvSpPr>
          <p:nvPr/>
        </p:nvSpPr>
        <p:spPr>
          <a:xfrm xmlns:a="http://schemas.openxmlformats.org/drawingml/2006/main">
            <a:off x="7848600" y="2990850"/>
            <a:ext cx="666750" cy="209550"/>
          </a:xfrm>
          <a:prstGeom xmlns:a="http://schemas.openxmlformats.org/drawingml/2006/main" prst="roundRect">
            <a:avLst>
              <a:gd name="adj" fmla="val 36364"/>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D0E4ED91-960B-4B65-B907-B4F450D7F1F4}"/>
              </a:ext>
            </a:extLst>
          </p:cNvPr>
          <p:cNvSpPr>
            <a:spLocks xmlns:a="http://schemas.openxmlformats.org/drawingml/2006/main" noGrp="1"/>
          </p:cNvSpPr>
          <p:nvPr/>
        </p:nvSpPr>
        <p:spPr>
          <a:xfrm xmlns:a="http://schemas.openxmlformats.org/drawingml/2006/main">
            <a:off x="7886700" y="30099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0411"/>
          </a:bodyPr>
          <a:lstStyle xmlns:a="http://schemas.openxmlformats.org/drawingml/2006/main"/>
          <a:p xmlns:a="http://schemas.openxmlformats.org/drawingml/2006/main">
            <a:pPr algn="ctr">
              <a:defRPr sz="750" b="0">
                <a:solidFill>
                  <a:srgbClr val="FFFFFF"/>
                </a:solidFill>
              </a:defRPr>
            </a:pPr>
            <a:r>
              <a:rPr sz="750" b="0">
                <a:solidFill>
                  <a:srgbClr val="FFFFFF"/>
                </a:solidFill>
              </a:rPr>
              <a:t>Year 13</a:t>
            </a:r>
          </a:p>
        </p:txBody>
      </p:sp>
      <p:sp>
        <p:nvSpPr>
          <p:cNvPr id="42" name="">
            <a:extLst xmlns:a="http://schemas.openxmlformats.org/drawingml/2006/main">
              <a:ext uri="{FF2B5EF4-FFF2-40B4-BE49-F238E27FC236}">
                <a16:creationId xmlns:a16="http://schemas.microsoft.com/office/drawing/2014/main" id="{EEE9B13F-9828-45A1-A06B-1EB96FB68EBA}"/>
              </a:ext>
            </a:extLst>
          </p:cNvPr>
          <p:cNvSpPr>
            <a:spLocks xmlns:a="http://schemas.openxmlformats.org/drawingml/2006/main" noGrp="1"/>
          </p:cNvSpPr>
          <p:nvPr/>
        </p:nvSpPr>
        <p:spPr>
          <a:xfrm xmlns:a="http://schemas.openxmlformats.org/drawingml/2006/main">
            <a:off x="5676900" y="3295650"/>
            <a:ext cx="5791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52416"/>
          </a:bodyPr>
          <a:lstStyle xmlns:a="http://schemas.openxmlformats.org/drawingml/2006/main"/>
          <a:p xmlns:a="http://schemas.openxmlformats.org/drawingml/2006/main">
            <a:pPr algn="l">
              <a:defRPr sz="750" b="1">
                <a:solidFill>
                  <a:srgbClr val="002D24"/>
                </a:solidFill>
              </a:defRPr>
            </a:pPr>
            <a:r>
              <a:rPr sz="750" b="1">
                <a:solidFill>
                  <a:srgbClr val="002D24"/>
                </a:solidFill>
              </a:rPr>
              <a:t>Instructions</a:t>
            </a:r>
          </a:p>
        </p:txBody>
      </p:sp>
      <p:sp>
        <p:nvSpPr>
          <p:cNvPr id="43" name="">
            <a:extLst xmlns:a="http://schemas.openxmlformats.org/drawingml/2006/main">
              <a:ext uri="{FF2B5EF4-FFF2-40B4-BE49-F238E27FC236}">
                <a16:creationId xmlns:a16="http://schemas.microsoft.com/office/drawing/2014/main" id="{B6AA1248-E2AC-4BFE-B71D-3B6FA0DF39FC}"/>
              </a:ext>
            </a:extLst>
          </p:cNvPr>
          <p:cNvSpPr>
            <a:spLocks xmlns:a="http://schemas.openxmlformats.org/drawingml/2006/main" noGrp="1"/>
          </p:cNvSpPr>
          <p:nvPr/>
        </p:nvSpPr>
        <p:spPr>
          <a:xfrm xmlns:a="http://schemas.openxmlformats.org/drawingml/2006/main">
            <a:off x="5676900" y="3448050"/>
            <a:ext cx="57912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7E4DF"/>
            </a:solidFill>
            <a:prstDash val="solid"/>
          </a:ln>
        </p:spPr>
      </p:sp>
      <p:sp>
        <p:nvSpPr>
          <p:cNvPr id="44" name="">
            <a:extLst xmlns:a="http://schemas.openxmlformats.org/drawingml/2006/main">
              <a:ext uri="{FF2B5EF4-FFF2-40B4-BE49-F238E27FC236}">
                <a16:creationId xmlns:a16="http://schemas.microsoft.com/office/drawing/2014/main" id="{8A506DD6-1A3E-4CFB-A4AF-EA4FF08D521C}"/>
              </a:ext>
            </a:extLst>
          </p:cNvPr>
          <p:cNvSpPr>
            <a:spLocks xmlns:a="http://schemas.openxmlformats.org/drawingml/2006/main" noGrp="1"/>
          </p:cNvSpPr>
          <p:nvPr/>
        </p:nvSpPr>
        <p:spPr>
          <a:xfrm xmlns:a="http://schemas.openxmlformats.org/drawingml/2006/main">
            <a:off x="5753100" y="3467100"/>
            <a:ext cx="56388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0F2A2E"/>
                </a:solidFill>
              </a:defRPr>
            </a:pPr>
            <a:r>
              <a:rPr sz="825" b="0">
                <a:solidFill>
                  <a:srgbClr val="0F2A2E"/>
                </a:solidFill>
              </a:rPr>
              <a:t>Groups of four create three still images that retell a familiar fable. Use levels, facial expression, and gesture.</a:t>
            </a:r>
          </a:p>
        </p:txBody>
      </p:sp>
      <p:sp>
        <p:nvSpPr>
          <p:cNvPr id="45" name="">
            <a:extLst xmlns:a="http://schemas.openxmlformats.org/drawingml/2006/main">
              <a:ext uri="{FF2B5EF4-FFF2-40B4-BE49-F238E27FC236}">
                <a16:creationId xmlns:a16="http://schemas.microsoft.com/office/drawing/2014/main" id="{993F053B-23C1-4780-909E-89FC8F110AF3}"/>
              </a:ext>
            </a:extLst>
          </p:cNvPr>
          <p:cNvSpPr>
            <a:spLocks xmlns:a="http://schemas.openxmlformats.org/drawingml/2006/main" noGrp="1"/>
          </p:cNvSpPr>
          <p:nvPr/>
        </p:nvSpPr>
        <p:spPr>
          <a:xfrm xmlns:a="http://schemas.openxmlformats.org/drawingml/2006/main">
            <a:off x="5676900" y="4038600"/>
            <a:ext cx="5791200" cy="1047750"/>
          </a:xfrm>
          <a:prstGeom xmlns:a="http://schemas.openxmlformats.org/drawingml/2006/main" prst="roundRect">
            <a:avLst>
              <a:gd name="adj" fmla="val 7273"/>
            </a:avLst>
          </a:prstGeom>
          <a:solidFill xmlns:a="http://schemas.openxmlformats.org/drawingml/2006/main">
            <a:srgbClr val="F4FFE8"/>
          </a:solidFill>
          <a:ln xmlns:a="http://schemas.openxmlformats.org/drawingml/2006/main" w="14288">
            <a:solidFill>
              <a:srgbClr val="B6FF7E"/>
            </a:solidFill>
            <a:prstDash val="solid"/>
          </a:ln>
        </p:spPr>
      </p:sp>
      <p:sp>
        <p:nvSpPr>
          <p:cNvPr id="46" name="">
            <a:extLst xmlns:a="http://schemas.openxmlformats.org/drawingml/2006/main">
              <a:ext uri="{FF2B5EF4-FFF2-40B4-BE49-F238E27FC236}">
                <a16:creationId xmlns:a16="http://schemas.microsoft.com/office/drawing/2014/main" id="{77800FC0-C3DF-4CE4-964E-09017CE5A771}"/>
              </a:ext>
            </a:extLst>
          </p:cNvPr>
          <p:cNvSpPr>
            <a:spLocks xmlns:a="http://schemas.openxmlformats.org/drawingml/2006/main" noGrp="1"/>
          </p:cNvSpPr>
          <p:nvPr/>
        </p:nvSpPr>
        <p:spPr>
          <a:xfrm xmlns:a="http://schemas.openxmlformats.org/drawingml/2006/main">
            <a:off x="5791200" y="4114800"/>
            <a:ext cx="3352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57330"/>
          </a:bodyPr>
          <a:lstStyle xmlns:a="http://schemas.openxmlformats.org/drawingml/2006/main"/>
          <a:p xmlns:a="http://schemas.openxmlformats.org/drawingml/2006/main">
            <a:pPr algn="l">
              <a:defRPr sz="900" b="1">
                <a:solidFill>
                  <a:srgbClr val="002D24"/>
                </a:solidFill>
              </a:defRPr>
            </a:pPr>
            <a:r>
              <a:rPr sz="900" b="1">
                <a:solidFill>
                  <a:srgbClr val="002D24"/>
                </a:solidFill>
              </a:rPr>
              <a:t>Web links &amp; resources</a:t>
            </a:r>
          </a:p>
        </p:txBody>
      </p:sp>
      <p:sp>
        <p:nvSpPr>
          <p:cNvPr id="47" name="">
            <a:extLst xmlns:a="http://schemas.openxmlformats.org/drawingml/2006/main">
              <a:ext uri="{FF2B5EF4-FFF2-40B4-BE49-F238E27FC236}">
                <a16:creationId xmlns:a16="http://schemas.microsoft.com/office/drawing/2014/main" id="{2132C9C8-2EE6-4998-BABA-9300149DE8BB}"/>
              </a:ext>
            </a:extLst>
          </p:cNvPr>
          <p:cNvSpPr>
            <a:spLocks xmlns:a="http://schemas.openxmlformats.org/drawingml/2006/main" noGrp="1"/>
          </p:cNvSpPr>
          <p:nvPr/>
        </p:nvSpPr>
        <p:spPr>
          <a:xfrm xmlns:a="http://schemas.openxmlformats.org/drawingml/2006/main">
            <a:off x="8877300" y="4114800"/>
            <a:ext cx="19431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0411"/>
          </a:bodyPr>
          <a:lstStyle xmlns:a="http://schemas.openxmlformats.org/drawingml/2006/main"/>
          <a:p xmlns:a="http://schemas.openxmlformats.org/drawingml/2006/main">
            <a:pPr algn="r">
              <a:defRPr sz="750" b="0">
                <a:solidFill>
                  <a:srgbClr val="002D24"/>
                </a:solidFill>
              </a:defRPr>
            </a:pPr>
            <a:r>
              <a:rPr sz="750" b="0">
                <a:solidFill>
                  <a:srgbClr val="002D24"/>
                </a:solidFill>
              </a:rPr>
              <a:t>All optional</a:t>
            </a:r>
          </a:p>
        </p:txBody>
      </p:sp>
      <p:sp>
        <p:nvSpPr>
          <p:cNvPr id="48" name="">
            <a:extLst xmlns:a="http://schemas.openxmlformats.org/drawingml/2006/main">
              <a:ext uri="{FF2B5EF4-FFF2-40B4-BE49-F238E27FC236}">
                <a16:creationId xmlns:a16="http://schemas.microsoft.com/office/drawing/2014/main" id="{413B2EAC-0FF4-4214-926E-0ED2938F6D84}"/>
              </a:ext>
            </a:extLst>
          </p:cNvPr>
          <p:cNvSpPr>
            <a:spLocks xmlns:a="http://schemas.openxmlformats.org/drawingml/2006/main" noGrp="1"/>
          </p:cNvSpPr>
          <p:nvPr/>
        </p:nvSpPr>
        <p:spPr>
          <a:xfrm xmlns:a="http://schemas.openxmlformats.org/drawingml/2006/main">
            <a:off x="5791200" y="4343400"/>
            <a:ext cx="2705100"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CFE8B8"/>
            </a:solidFill>
            <a:prstDash val="solid"/>
          </a:ln>
        </p:spPr>
      </p:sp>
      <p:sp>
        <p:nvSpPr>
          <p:cNvPr id="49" name="">
            <a:extLst xmlns:a="http://schemas.openxmlformats.org/drawingml/2006/main">
              <a:ext uri="{FF2B5EF4-FFF2-40B4-BE49-F238E27FC236}">
                <a16:creationId xmlns:a16="http://schemas.microsoft.com/office/drawing/2014/main" id="{61084286-7B2C-47E1-9F3E-D4A9EB9D5ACF}"/>
              </a:ext>
            </a:extLst>
          </p:cNvPr>
          <p:cNvSpPr>
            <a:spLocks xmlns:a="http://schemas.openxmlformats.org/drawingml/2006/main" noGrp="1"/>
          </p:cNvSpPr>
          <p:nvPr/>
        </p:nvSpPr>
        <p:spPr>
          <a:xfrm xmlns:a="http://schemas.openxmlformats.org/drawingml/2006/main">
            <a:off x="5867400" y="4362450"/>
            <a:ext cx="2552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5686"/>
          </a:bodyPr>
          <a:lstStyle xmlns:a="http://schemas.openxmlformats.org/drawingml/2006/main"/>
          <a:p xmlns:a="http://schemas.openxmlformats.org/drawingml/2006/main">
            <a:pPr algn="l">
              <a:defRPr sz="675" b="0">
                <a:solidFill>
                  <a:srgbClr val="0F2A2E"/>
                </a:solidFill>
              </a:defRPr>
            </a:pPr>
            <a:r>
              <a:rPr sz="675" b="0">
                <a:solidFill>
                  <a:srgbClr val="0F2A2E"/>
                </a:solidFill>
              </a:rPr>
              <a:t>Video link</a:t>
            </a:r>
          </a:p>
          <a:p xmlns:a="http://schemas.openxmlformats.org/drawingml/2006/main">
            <a:pPr algn="l">
              <a:defRPr sz="675" b="0">
                <a:solidFill>
                  <a:srgbClr val="0F2A2E"/>
                </a:solidFill>
              </a:defRPr>
            </a:pPr>
            <a:r>
              <a:rPr sz="675" b="0">
                <a:solidFill>
                  <a:srgbClr val="0F2A2E"/>
                </a:solidFill>
              </a:rPr>
              <a:t>youtube.com/watch?v=bP-hnB</a:t>
            </a:r>
          </a:p>
        </p:txBody>
      </p:sp>
      <p:sp>
        <p:nvSpPr>
          <p:cNvPr id="50" name="">
            <a:extLst xmlns:a="http://schemas.openxmlformats.org/drawingml/2006/main">
              <a:ext uri="{FF2B5EF4-FFF2-40B4-BE49-F238E27FC236}">
                <a16:creationId xmlns:a16="http://schemas.microsoft.com/office/drawing/2014/main" id="{CC06DD10-469D-4DC3-AF03-11E28B759CE4}"/>
              </a:ext>
            </a:extLst>
          </p:cNvPr>
          <p:cNvSpPr>
            <a:spLocks xmlns:a="http://schemas.openxmlformats.org/drawingml/2006/main" noGrp="1"/>
          </p:cNvSpPr>
          <p:nvPr/>
        </p:nvSpPr>
        <p:spPr>
          <a:xfrm xmlns:a="http://schemas.openxmlformats.org/drawingml/2006/main">
            <a:off x="8610600" y="4343400"/>
            <a:ext cx="2705100"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CFE8B8"/>
            </a:solidFill>
            <a:prstDash val="solid"/>
          </a:ln>
        </p:spPr>
      </p:sp>
      <p:sp>
        <p:nvSpPr>
          <p:cNvPr id="51" name="">
            <a:extLst xmlns:a="http://schemas.openxmlformats.org/drawingml/2006/main">
              <a:ext uri="{FF2B5EF4-FFF2-40B4-BE49-F238E27FC236}">
                <a16:creationId xmlns:a16="http://schemas.microsoft.com/office/drawing/2014/main" id="{01B6823B-3BA4-44C9-AB0A-0110D629180E}"/>
              </a:ext>
            </a:extLst>
          </p:cNvPr>
          <p:cNvSpPr>
            <a:spLocks xmlns:a="http://schemas.openxmlformats.org/drawingml/2006/main" noGrp="1"/>
          </p:cNvSpPr>
          <p:nvPr/>
        </p:nvSpPr>
        <p:spPr>
          <a:xfrm xmlns:a="http://schemas.openxmlformats.org/drawingml/2006/main">
            <a:off x="8686800" y="4362450"/>
            <a:ext cx="2552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5686"/>
          </a:bodyPr>
          <a:lstStyle xmlns:a="http://schemas.openxmlformats.org/drawingml/2006/main"/>
          <a:p xmlns:a="http://schemas.openxmlformats.org/drawingml/2006/main">
            <a:pPr algn="l">
              <a:defRPr sz="675" b="0">
                <a:solidFill>
                  <a:srgbClr val="0F2A2E"/>
                </a:solidFill>
              </a:defRPr>
            </a:pPr>
            <a:r>
              <a:rPr sz="675" b="0">
                <a:solidFill>
                  <a:srgbClr val="0F2A2E"/>
                </a:solidFill>
              </a:rPr>
              <a:t>Web resource</a:t>
            </a:r>
          </a:p>
          <a:p xmlns:a="http://schemas.openxmlformats.org/drawingml/2006/main">
            <a:pPr algn="l">
              <a:defRPr sz="675" b="0">
                <a:solidFill>
                  <a:srgbClr val="0F2A2E"/>
                </a:solidFill>
              </a:defRPr>
            </a:pPr>
            <a:r>
              <a:rPr sz="675" b="0">
                <a:solidFill>
                  <a:srgbClr val="0F2A2E"/>
                </a:solidFill>
              </a:rPr>
              <a:t>teachingideas.co.uk/drama</a:t>
            </a:r>
          </a:p>
        </p:txBody>
      </p:sp>
      <p:sp>
        <p:nvSpPr>
          <p:cNvPr id="52" name="">
            <a:extLst xmlns:a="http://schemas.openxmlformats.org/drawingml/2006/main">
              <a:ext uri="{FF2B5EF4-FFF2-40B4-BE49-F238E27FC236}">
                <a16:creationId xmlns:a16="http://schemas.microsoft.com/office/drawing/2014/main" id="{BF5E80D3-6790-4E51-A626-BD08EE878D2C}"/>
              </a:ext>
            </a:extLst>
          </p:cNvPr>
          <p:cNvSpPr>
            <a:spLocks xmlns:a="http://schemas.openxmlformats.org/drawingml/2006/main" noGrp="1"/>
          </p:cNvSpPr>
          <p:nvPr/>
        </p:nvSpPr>
        <p:spPr>
          <a:xfrm xmlns:a="http://schemas.openxmlformats.org/drawingml/2006/main">
            <a:off x="5791200" y="4667250"/>
            <a:ext cx="2705100"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CFE8B8"/>
            </a:solidFill>
            <a:prstDash val="solid"/>
          </a:ln>
        </p:spPr>
      </p:sp>
      <p:sp>
        <p:nvSpPr>
          <p:cNvPr id="53" name="">
            <a:extLst xmlns:a="http://schemas.openxmlformats.org/drawingml/2006/main">
              <a:ext uri="{FF2B5EF4-FFF2-40B4-BE49-F238E27FC236}">
                <a16:creationId xmlns:a16="http://schemas.microsoft.com/office/drawing/2014/main" id="{1C1D89CA-731F-46C7-A593-616575A4A4AA}"/>
              </a:ext>
            </a:extLst>
          </p:cNvPr>
          <p:cNvSpPr>
            <a:spLocks xmlns:a="http://schemas.openxmlformats.org/drawingml/2006/main" noGrp="1"/>
          </p:cNvSpPr>
          <p:nvPr/>
        </p:nvSpPr>
        <p:spPr>
          <a:xfrm xmlns:a="http://schemas.openxmlformats.org/drawingml/2006/main">
            <a:off x="5867400" y="4686300"/>
            <a:ext cx="2552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5686"/>
          </a:bodyPr>
          <a:lstStyle xmlns:a="http://schemas.openxmlformats.org/drawingml/2006/main"/>
          <a:p xmlns:a="http://schemas.openxmlformats.org/drawingml/2006/main">
            <a:pPr algn="l">
              <a:defRPr sz="675" b="0">
                <a:solidFill>
                  <a:srgbClr val="0F2A2E"/>
                </a:solidFill>
              </a:defRPr>
            </a:pPr>
            <a:r>
              <a:rPr sz="675" b="0">
                <a:solidFill>
                  <a:srgbClr val="0F2A2E"/>
                </a:solidFill>
              </a:rPr>
              <a:t>Backing track</a:t>
            </a:r>
          </a:p>
          <a:p xmlns:a="http://schemas.openxmlformats.org/drawingml/2006/main">
            <a:pPr algn="l">
              <a:defRPr sz="675" b="0">
                <a:solidFill>
                  <a:srgbClr val="0F2A2E"/>
                </a:solidFill>
              </a:defRPr>
            </a:pPr>
            <a:r>
              <a:rPr sz="675" b="0">
                <a:solidFill>
                  <a:srgbClr val="0F2A2E"/>
                </a:solidFill>
              </a:rPr>
              <a:t>spotify.com/track/...</a:t>
            </a:r>
          </a:p>
        </p:txBody>
      </p:sp>
      <p:sp>
        <p:nvSpPr>
          <p:cNvPr id="54" name="">
            <a:extLst xmlns:a="http://schemas.openxmlformats.org/drawingml/2006/main">
              <a:ext uri="{FF2B5EF4-FFF2-40B4-BE49-F238E27FC236}">
                <a16:creationId xmlns:a16="http://schemas.microsoft.com/office/drawing/2014/main" id="{F25D992E-2DA0-43E4-AC6C-5B9A993454BB}"/>
              </a:ext>
            </a:extLst>
          </p:cNvPr>
          <p:cNvSpPr>
            <a:spLocks xmlns:a="http://schemas.openxmlformats.org/drawingml/2006/main" noGrp="1"/>
          </p:cNvSpPr>
          <p:nvPr/>
        </p:nvSpPr>
        <p:spPr>
          <a:xfrm xmlns:a="http://schemas.openxmlformats.org/drawingml/2006/main">
            <a:off x="8610600" y="4667250"/>
            <a:ext cx="2705100"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CFE8B8"/>
            </a:solidFill>
            <a:prstDash val="solid"/>
          </a:ln>
        </p:spPr>
      </p:sp>
      <p:sp>
        <p:nvSpPr>
          <p:cNvPr id="55" name="">
            <a:extLst xmlns:a="http://schemas.openxmlformats.org/drawingml/2006/main">
              <a:ext uri="{FF2B5EF4-FFF2-40B4-BE49-F238E27FC236}">
                <a16:creationId xmlns:a16="http://schemas.microsoft.com/office/drawing/2014/main" id="{935067DC-65D0-4DD2-8F1A-57B65E730429}"/>
              </a:ext>
            </a:extLst>
          </p:cNvPr>
          <p:cNvSpPr>
            <a:spLocks xmlns:a="http://schemas.openxmlformats.org/drawingml/2006/main" noGrp="1"/>
          </p:cNvSpPr>
          <p:nvPr/>
        </p:nvSpPr>
        <p:spPr>
          <a:xfrm xmlns:a="http://schemas.openxmlformats.org/drawingml/2006/main">
            <a:off x="8686800" y="4686300"/>
            <a:ext cx="2552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5686"/>
          </a:bodyPr>
          <a:lstStyle xmlns:a="http://schemas.openxmlformats.org/drawingml/2006/main"/>
          <a:p xmlns:a="http://schemas.openxmlformats.org/drawingml/2006/main">
            <a:pPr algn="l">
              <a:defRPr sz="675" b="0">
                <a:solidFill>
                  <a:srgbClr val="0F2A2E"/>
                </a:solidFill>
              </a:defRPr>
            </a:pPr>
            <a:r>
              <a:rPr sz="675" b="0">
                <a:solidFill>
                  <a:srgbClr val="0F2A2E"/>
                </a:solidFill>
              </a:rPr>
              <a:t>Worksheet</a:t>
            </a:r>
          </a:p>
          <a:p xmlns:a="http://schemas.openxmlformats.org/drawingml/2006/main">
            <a:pPr algn="l">
              <a:defRPr sz="675" b="0">
                <a:solidFill>
                  <a:srgbClr val="0F2A2E"/>
                </a:solidFill>
              </a:defRPr>
            </a:pPr>
            <a:r>
              <a:rPr sz="675" b="0">
                <a:solidFill>
                  <a:srgbClr val="0F2A2E"/>
                </a:solidFill>
              </a:rPr>
              <a:t>+ Add link</a:t>
            </a:r>
          </a:p>
        </p:txBody>
      </p:sp>
      <p:sp>
        <p:nvSpPr>
          <p:cNvPr id="56" name="">
            <a:extLst xmlns:a="http://schemas.openxmlformats.org/drawingml/2006/main">
              <a:ext uri="{FF2B5EF4-FFF2-40B4-BE49-F238E27FC236}">
                <a16:creationId xmlns:a16="http://schemas.microsoft.com/office/drawing/2014/main" id="{5BAFB7F3-3CF8-4B2A-8CD1-8C3B2406A039}"/>
              </a:ext>
            </a:extLst>
          </p:cNvPr>
          <p:cNvSpPr>
            <a:spLocks xmlns:a="http://schemas.openxmlformats.org/drawingml/2006/main" noGrp="1"/>
          </p:cNvSpPr>
          <p:nvPr/>
        </p:nvSpPr>
        <p:spPr>
          <a:xfrm xmlns:a="http://schemas.openxmlformats.org/drawingml/2006/main">
            <a:off x="5676900" y="5905500"/>
            <a:ext cx="762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00" b="0">
                <a:solidFill>
                  <a:srgbClr val="5A7275"/>
                </a:solidFill>
              </a:defRPr>
            </a:pPr>
            <a:r>
              <a:rPr sz="900" b="0">
                <a:solidFill>
                  <a:srgbClr val="5A7275"/>
                </a:solidFill>
              </a:rPr>
              <a:t>Cancel</a:t>
            </a:r>
          </a:p>
        </p:txBody>
      </p:sp>
      <p:sp>
        <p:nvSpPr>
          <p:cNvPr id="57" name="">
            <a:extLst xmlns:a="http://schemas.openxmlformats.org/drawingml/2006/main">
              <a:ext uri="{FF2B5EF4-FFF2-40B4-BE49-F238E27FC236}">
                <a16:creationId xmlns:a16="http://schemas.microsoft.com/office/drawing/2014/main" id="{14BEB648-419B-465D-9CE2-2631825C4B83}"/>
              </a:ext>
            </a:extLst>
          </p:cNvPr>
          <p:cNvSpPr>
            <a:spLocks xmlns:a="http://schemas.openxmlformats.org/drawingml/2006/main" noGrp="1"/>
          </p:cNvSpPr>
          <p:nvPr/>
        </p:nvSpPr>
        <p:spPr>
          <a:xfrm xmlns:a="http://schemas.openxmlformats.org/drawingml/2006/main">
            <a:off x="10191750" y="5867400"/>
            <a:ext cx="1238250" cy="285750"/>
          </a:xfrm>
          <a:prstGeom xmlns:a="http://schemas.openxmlformats.org/drawingml/2006/main" prst="roundRect">
            <a:avLst>
              <a:gd name="adj" fmla="val 26667"/>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58" name="">
            <a:extLst xmlns:a="http://schemas.openxmlformats.org/drawingml/2006/main">
              <a:ext uri="{FF2B5EF4-FFF2-40B4-BE49-F238E27FC236}">
                <a16:creationId xmlns:a16="http://schemas.microsoft.com/office/drawing/2014/main" id="{556994A1-40EF-4F10-A290-E845F0E9D23A}"/>
              </a:ext>
            </a:extLst>
          </p:cNvPr>
          <p:cNvSpPr>
            <a:spLocks xmlns:a="http://schemas.openxmlformats.org/drawingml/2006/main" noGrp="1"/>
          </p:cNvSpPr>
          <p:nvPr/>
        </p:nvSpPr>
        <p:spPr>
          <a:xfrm xmlns:a="http://schemas.openxmlformats.org/drawingml/2006/main">
            <a:off x="10191750" y="5905500"/>
            <a:ext cx="1238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ctr">
              <a:defRPr sz="900" b="1">
                <a:solidFill>
                  <a:srgbClr val="FFFFFF"/>
                </a:solidFill>
              </a:defRPr>
            </a:pPr>
            <a:r>
              <a:rPr sz="900" b="1">
                <a:solidFill>
                  <a:srgbClr val="FFFFFF"/>
                </a:solidFill>
              </a:rPr>
              <a:t>Save activity</a:t>
            </a:r>
          </a:p>
        </p:txBody>
      </p:sp>
      <p:sp>
        <p:nvSpPr>
          <p:cNvPr id="59" name="">
            <a:extLst xmlns:a="http://schemas.openxmlformats.org/drawingml/2006/main">
              <a:ext uri="{FF2B5EF4-FFF2-40B4-BE49-F238E27FC236}">
                <a16:creationId xmlns:a16="http://schemas.microsoft.com/office/drawing/2014/main" id="{34EE9521-F2C6-43E1-B3EE-5602230A2766}"/>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60" name="">
            <a:extLst xmlns:a="http://schemas.openxmlformats.org/drawingml/2006/main">
              <a:ext uri="{FF2B5EF4-FFF2-40B4-BE49-F238E27FC236}">
                <a16:creationId xmlns:a16="http://schemas.microsoft.com/office/drawing/2014/main" id="{09CBF891-0CF3-4A0E-B12B-BB44F1A42ED5}"/>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11 / 25</a:t>
            </a:r>
          </a:p>
        </p:txBody>
      </p:sp>
    </p:spTree>
    <p:extLst>
      <p:ext uri="{BB962C8B-B14F-4D97-AF65-F5344CB8AC3E}">
        <p14:creationId xmlns:p14="http://schemas.microsoft.com/office/powerpoint/2010/main" val="1493164804"/>
      </p:ext>
    </p:extLst>
  </p:cSld>
</p:sld>
</file>

<file path=ppt/slides/slide12.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D10D49B1-7441-4981-90D4-99897278E23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B5F45DB-0935-43C9-8872-22EB2E001061}"/>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E4DD8F5-5580-4FC2-84DB-9C8F2D8C2A10}"/>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E220BAB-91B6-4DF7-BDB1-61D7641F9AE9}"/>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Key feature · Calendar</a:t>
            </a:r>
          </a:p>
        </p:txBody>
      </p:sp>
      <p:sp>
        <p:nvSpPr>
          <p:cNvPr id="6" name="">
            <a:extLst xmlns:a="http://schemas.openxmlformats.org/drawingml/2006/main">
              <a:ext uri="{FF2B5EF4-FFF2-40B4-BE49-F238E27FC236}">
                <a16:creationId xmlns:a16="http://schemas.microsoft.com/office/drawing/2014/main" id="{2396B587-54AC-4A52-82C9-46C93007D87A}"/>
              </a:ext>
            </a:extLst>
          </p:cNvPr>
          <p:cNvSpPr>
            <a:spLocks xmlns:a="http://schemas.openxmlformats.org/drawingml/2006/main" noGrp="1"/>
          </p:cNvSpPr>
          <p:nvPr/>
        </p:nvSpPr>
        <p:spPr>
          <a:xfrm xmlns:a="http://schemas.openxmlformats.org/drawingml/2006/main">
            <a:off x="609600" y="647700"/>
            <a:ext cx="4000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002D24"/>
                </a:solidFill>
              </a:defRPr>
            </a:pPr>
            <a:r>
              <a:rPr sz="1950" b="1">
                <a:solidFill>
                  <a:srgbClr val="002D24"/>
                </a:solidFill>
              </a:rPr>
              <a:t>Your school calendar, your timetable.</a:t>
            </a:r>
          </a:p>
        </p:txBody>
      </p:sp>
      <p:sp>
        <p:nvSpPr>
          <p:cNvPr id="7" name="">
            <a:extLst xmlns:a="http://schemas.openxmlformats.org/drawingml/2006/main">
              <a:ext uri="{FF2B5EF4-FFF2-40B4-BE49-F238E27FC236}">
                <a16:creationId xmlns:a16="http://schemas.microsoft.com/office/drawing/2014/main" id="{0034DF2F-C2E7-47B9-96BD-3E2372EA4E87}"/>
              </a:ext>
            </a:extLst>
          </p:cNvPr>
          <p:cNvSpPr>
            <a:spLocks xmlns:a="http://schemas.openxmlformats.org/drawingml/2006/main" noGrp="1"/>
          </p:cNvSpPr>
          <p:nvPr/>
        </p:nvSpPr>
        <p:spPr>
          <a:xfrm xmlns:a="http://schemas.openxmlformats.org/drawingml/2006/main">
            <a:off x="609600" y="1485900"/>
            <a:ext cx="4000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2A4548"/>
                </a:solidFill>
              </a:defRPr>
            </a:pPr>
            <a:r>
              <a:rPr sz="1050" b="0">
                <a:solidFill>
                  <a:srgbClr val="2A4548"/>
                </a:solidFill>
              </a:rPr>
              <a:t>Set term dates to match your school year. Then drag lessons or whole stacks straight into the slots where you actually teach.</a:t>
            </a:r>
          </a:p>
        </p:txBody>
      </p:sp>
      <p:sp>
        <p:nvSpPr>
          <p:cNvPr id="8" name="">
            <a:extLst xmlns:a="http://schemas.openxmlformats.org/drawingml/2006/main">
              <a:ext uri="{FF2B5EF4-FFF2-40B4-BE49-F238E27FC236}">
                <a16:creationId xmlns:a16="http://schemas.microsoft.com/office/drawing/2014/main" id="{0294320B-F738-4C34-B03F-548EA89B34E1}"/>
              </a:ext>
            </a:extLst>
          </p:cNvPr>
          <p:cNvSpPr>
            <a:spLocks xmlns:a="http://schemas.openxmlformats.org/drawingml/2006/main" noGrp="1"/>
          </p:cNvSpPr>
          <p:nvPr/>
        </p:nvSpPr>
        <p:spPr>
          <a:xfrm xmlns:a="http://schemas.openxmlformats.org/drawingml/2006/main">
            <a:off x="609600" y="2343150"/>
            <a:ext cx="40005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7E4DF"/>
            </a:solidFill>
            <a:prstDash val="solid"/>
          </a:ln>
        </p:spPr>
      </p:sp>
      <p:sp>
        <p:nvSpPr>
          <p:cNvPr id="9" name="">
            <a:extLst xmlns:a="http://schemas.openxmlformats.org/drawingml/2006/main">
              <a:ext uri="{FF2B5EF4-FFF2-40B4-BE49-F238E27FC236}">
                <a16:creationId xmlns:a16="http://schemas.microsoft.com/office/drawing/2014/main" id="{1294859D-540C-4C6E-BFA6-78010BF8F7A5}"/>
              </a:ext>
            </a:extLst>
          </p:cNvPr>
          <p:cNvSpPr>
            <a:spLocks xmlns:a="http://schemas.openxmlformats.org/drawingml/2006/main" noGrp="1"/>
          </p:cNvSpPr>
          <p:nvPr/>
        </p:nvSpPr>
        <p:spPr>
          <a:xfrm xmlns:a="http://schemas.openxmlformats.org/drawingml/2006/main">
            <a:off x="723900" y="2419350"/>
            <a:ext cx="3771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8120"/>
          </a:bodyPr>
          <a:lstStyle xmlns:a="http://schemas.openxmlformats.org/drawingml/2006/main"/>
          <a:p xmlns:a="http://schemas.openxmlformats.org/drawingml/2006/main">
            <a:pPr algn="l">
              <a:defRPr sz="975" b="1">
                <a:solidFill>
                  <a:srgbClr val="0F2A2E"/>
                </a:solidFill>
              </a:defRPr>
            </a:pPr>
            <a:r>
              <a:rPr sz="975" b="1">
                <a:solidFill>
                  <a:srgbClr val="0F2A2E"/>
                </a:solidFill>
              </a:rPr>
              <a:t>Term dates you control</a:t>
            </a:r>
          </a:p>
        </p:txBody>
      </p:sp>
      <p:sp>
        <p:nvSpPr>
          <p:cNvPr id="10" name="">
            <a:extLst xmlns:a="http://schemas.openxmlformats.org/drawingml/2006/main">
              <a:ext uri="{FF2B5EF4-FFF2-40B4-BE49-F238E27FC236}">
                <a16:creationId xmlns:a16="http://schemas.microsoft.com/office/drawing/2014/main" id="{5E3D5CB9-19B7-48A7-BE75-88552F9AFA6F}"/>
              </a:ext>
            </a:extLst>
          </p:cNvPr>
          <p:cNvSpPr>
            <a:spLocks xmlns:a="http://schemas.openxmlformats.org/drawingml/2006/main" noGrp="1"/>
          </p:cNvSpPr>
          <p:nvPr/>
        </p:nvSpPr>
        <p:spPr>
          <a:xfrm xmlns:a="http://schemas.openxmlformats.org/drawingml/2006/main">
            <a:off x="723900" y="2628900"/>
            <a:ext cx="3771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Autumn, spring and summer blocks align to your inset days and holidays.</a:t>
            </a:r>
          </a:p>
        </p:txBody>
      </p:sp>
      <p:sp>
        <p:nvSpPr>
          <p:cNvPr id="11" name="">
            <a:extLst xmlns:a="http://schemas.openxmlformats.org/drawingml/2006/main">
              <a:ext uri="{FF2B5EF4-FFF2-40B4-BE49-F238E27FC236}">
                <a16:creationId xmlns:a16="http://schemas.microsoft.com/office/drawing/2014/main" id="{EA018D4B-CA3A-42B0-959C-A8A6A9EF40B5}"/>
              </a:ext>
            </a:extLst>
          </p:cNvPr>
          <p:cNvSpPr>
            <a:spLocks xmlns:a="http://schemas.openxmlformats.org/drawingml/2006/main" noGrp="1"/>
          </p:cNvSpPr>
          <p:nvPr/>
        </p:nvSpPr>
        <p:spPr>
          <a:xfrm xmlns:a="http://schemas.openxmlformats.org/drawingml/2006/main">
            <a:off x="609600" y="3028950"/>
            <a:ext cx="40005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7E4DF"/>
            </a:solidFill>
            <a:prstDash val="solid"/>
          </a:ln>
        </p:spPr>
      </p:sp>
      <p:sp>
        <p:nvSpPr>
          <p:cNvPr id="12" name="">
            <a:extLst xmlns:a="http://schemas.openxmlformats.org/drawingml/2006/main">
              <a:ext uri="{FF2B5EF4-FFF2-40B4-BE49-F238E27FC236}">
                <a16:creationId xmlns:a16="http://schemas.microsoft.com/office/drawing/2014/main" id="{95B5392D-25B7-4B8C-AAB9-24DB937FE74F}"/>
              </a:ext>
            </a:extLst>
          </p:cNvPr>
          <p:cNvSpPr>
            <a:spLocks xmlns:a="http://schemas.openxmlformats.org/drawingml/2006/main" noGrp="1"/>
          </p:cNvSpPr>
          <p:nvPr/>
        </p:nvSpPr>
        <p:spPr>
          <a:xfrm xmlns:a="http://schemas.openxmlformats.org/drawingml/2006/main">
            <a:off x="723900" y="3105150"/>
            <a:ext cx="3771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8120"/>
          </a:bodyPr>
          <a:lstStyle xmlns:a="http://schemas.openxmlformats.org/drawingml/2006/main"/>
          <a:p xmlns:a="http://schemas.openxmlformats.org/drawingml/2006/main">
            <a:pPr algn="l">
              <a:defRPr sz="975" b="1">
                <a:solidFill>
                  <a:srgbClr val="0F2A2E"/>
                </a:solidFill>
              </a:defRPr>
            </a:pPr>
            <a:r>
              <a:rPr sz="975" b="1">
                <a:solidFill>
                  <a:srgbClr val="0F2A2E"/>
                </a:solidFill>
              </a:rPr>
              <a:t>Drag lessons into slots</a:t>
            </a:r>
          </a:p>
        </p:txBody>
      </p:sp>
      <p:sp>
        <p:nvSpPr>
          <p:cNvPr id="13" name="">
            <a:extLst xmlns:a="http://schemas.openxmlformats.org/drawingml/2006/main">
              <a:ext uri="{FF2B5EF4-FFF2-40B4-BE49-F238E27FC236}">
                <a16:creationId xmlns:a16="http://schemas.microsoft.com/office/drawing/2014/main" id="{AF2718F9-C6BC-4525-B756-8440567FC907}"/>
              </a:ext>
            </a:extLst>
          </p:cNvPr>
          <p:cNvSpPr>
            <a:spLocks xmlns:a="http://schemas.openxmlformats.org/drawingml/2006/main" noGrp="1"/>
          </p:cNvSpPr>
          <p:nvPr/>
        </p:nvSpPr>
        <p:spPr>
          <a:xfrm xmlns:a="http://schemas.openxmlformats.org/drawingml/2006/main">
            <a:off x="723900" y="3314700"/>
            <a:ext cx="3771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Drop a single lesson from the library onto any teaching day.</a:t>
            </a:r>
          </a:p>
        </p:txBody>
      </p:sp>
      <p:sp>
        <p:nvSpPr>
          <p:cNvPr id="14" name="">
            <a:extLst xmlns:a="http://schemas.openxmlformats.org/drawingml/2006/main">
              <a:ext uri="{FF2B5EF4-FFF2-40B4-BE49-F238E27FC236}">
                <a16:creationId xmlns:a16="http://schemas.microsoft.com/office/drawing/2014/main" id="{98448966-D301-4264-AE66-6C3080DAAD26}"/>
              </a:ext>
            </a:extLst>
          </p:cNvPr>
          <p:cNvSpPr>
            <a:spLocks xmlns:a="http://schemas.openxmlformats.org/drawingml/2006/main" noGrp="1"/>
          </p:cNvSpPr>
          <p:nvPr/>
        </p:nvSpPr>
        <p:spPr>
          <a:xfrm xmlns:a="http://schemas.openxmlformats.org/drawingml/2006/main">
            <a:off x="609600" y="3714750"/>
            <a:ext cx="40005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7E4DF"/>
            </a:solidFill>
            <a:prstDash val="solid"/>
          </a:ln>
        </p:spPr>
      </p:sp>
      <p:sp>
        <p:nvSpPr>
          <p:cNvPr id="15" name="">
            <a:extLst xmlns:a="http://schemas.openxmlformats.org/drawingml/2006/main">
              <a:ext uri="{FF2B5EF4-FFF2-40B4-BE49-F238E27FC236}">
                <a16:creationId xmlns:a16="http://schemas.microsoft.com/office/drawing/2014/main" id="{D4C2BB0C-1CCE-4F85-AC99-BD2B4F983FF6}"/>
              </a:ext>
            </a:extLst>
          </p:cNvPr>
          <p:cNvSpPr>
            <a:spLocks xmlns:a="http://schemas.openxmlformats.org/drawingml/2006/main" noGrp="1"/>
          </p:cNvSpPr>
          <p:nvPr/>
        </p:nvSpPr>
        <p:spPr>
          <a:xfrm xmlns:a="http://schemas.openxmlformats.org/drawingml/2006/main">
            <a:off x="723900" y="3790950"/>
            <a:ext cx="3771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8120"/>
          </a:bodyPr>
          <a:lstStyle xmlns:a="http://schemas.openxmlformats.org/drawingml/2006/main"/>
          <a:p xmlns:a="http://schemas.openxmlformats.org/drawingml/2006/main">
            <a:pPr algn="l">
              <a:defRPr sz="975" b="1">
                <a:solidFill>
                  <a:srgbClr val="0F2A2E"/>
                </a:solidFill>
              </a:defRPr>
            </a:pPr>
            <a:r>
              <a:rPr sz="975" b="1">
                <a:solidFill>
                  <a:srgbClr val="0F2A2E"/>
                </a:solidFill>
              </a:rPr>
              <a:t>Drop whole stacks</a:t>
            </a:r>
          </a:p>
        </p:txBody>
      </p:sp>
      <p:sp>
        <p:nvSpPr>
          <p:cNvPr id="16" name="">
            <a:extLst xmlns:a="http://schemas.openxmlformats.org/drawingml/2006/main">
              <a:ext uri="{FF2B5EF4-FFF2-40B4-BE49-F238E27FC236}">
                <a16:creationId xmlns:a16="http://schemas.microsoft.com/office/drawing/2014/main" id="{B3CADD6B-CCF9-4F76-8851-489F235E1F75}"/>
              </a:ext>
            </a:extLst>
          </p:cNvPr>
          <p:cNvSpPr>
            <a:spLocks xmlns:a="http://schemas.openxmlformats.org/drawingml/2006/main" noGrp="1"/>
          </p:cNvSpPr>
          <p:nvPr/>
        </p:nvSpPr>
        <p:spPr>
          <a:xfrm xmlns:a="http://schemas.openxmlformats.org/drawingml/2006/main">
            <a:off x="723900" y="4000500"/>
            <a:ext cx="3771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A stack spreads across your timetable days — one lesson per session.</a:t>
            </a:r>
          </a:p>
        </p:txBody>
      </p:sp>
      <p:sp>
        <p:nvSpPr>
          <p:cNvPr id="17" name="">
            <a:extLst xmlns:a="http://schemas.openxmlformats.org/drawingml/2006/main">
              <a:ext uri="{FF2B5EF4-FFF2-40B4-BE49-F238E27FC236}">
                <a16:creationId xmlns:a16="http://schemas.microsoft.com/office/drawing/2014/main" id="{1F9D8BC0-C07B-473A-BAFF-4B2E837A5042}"/>
              </a:ext>
            </a:extLst>
          </p:cNvPr>
          <p:cNvSpPr>
            <a:spLocks xmlns:a="http://schemas.openxmlformats.org/drawingml/2006/main" noGrp="1"/>
          </p:cNvSpPr>
          <p:nvPr/>
        </p:nvSpPr>
        <p:spPr>
          <a:xfrm xmlns:a="http://schemas.openxmlformats.org/drawingml/2006/main">
            <a:off x="609600" y="4400550"/>
            <a:ext cx="1952625" cy="590550"/>
          </a:xfrm>
          <a:prstGeom xmlns:a="http://schemas.openxmlformats.org/drawingml/2006/main" prst="roundRect">
            <a:avLst>
              <a:gd name="adj" fmla="val 12903"/>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1A6F724F-6F2B-4419-9E8C-716CC49E4E35}"/>
              </a:ext>
            </a:extLst>
          </p:cNvPr>
          <p:cNvSpPr>
            <a:spLocks xmlns:a="http://schemas.openxmlformats.org/drawingml/2006/main" noGrp="1"/>
          </p:cNvSpPr>
          <p:nvPr/>
        </p:nvSpPr>
        <p:spPr>
          <a:xfrm xmlns:a="http://schemas.openxmlformats.org/drawingml/2006/main">
            <a:off x="685800" y="4476750"/>
            <a:ext cx="1800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3947"/>
          </a:bodyPr>
          <a:lstStyle xmlns:a="http://schemas.openxmlformats.org/drawingml/2006/main"/>
          <a:p xmlns:a="http://schemas.openxmlformats.org/drawingml/2006/main">
            <a:pPr algn="ctr">
              <a:defRPr sz="1200" b="1">
                <a:solidFill>
                  <a:srgbClr val="B6FF7E"/>
                </a:solidFill>
              </a:defRPr>
            </a:pPr>
            <a:r>
              <a:rPr sz="1200" b="1">
                <a:solidFill>
                  <a:srgbClr val="B6FF7E"/>
                </a:solidFill>
              </a:rPr>
              <a:t>Month</a:t>
            </a:r>
          </a:p>
        </p:txBody>
      </p:sp>
      <p:sp>
        <p:nvSpPr>
          <p:cNvPr id="19" name="">
            <a:extLst xmlns:a="http://schemas.openxmlformats.org/drawingml/2006/main">
              <a:ext uri="{FF2B5EF4-FFF2-40B4-BE49-F238E27FC236}">
                <a16:creationId xmlns:a16="http://schemas.microsoft.com/office/drawing/2014/main" id="{52E27E31-E6EA-40F1-A1ED-BDFC7D71947D}"/>
              </a:ext>
            </a:extLst>
          </p:cNvPr>
          <p:cNvSpPr>
            <a:spLocks xmlns:a="http://schemas.openxmlformats.org/drawingml/2006/main" noGrp="1"/>
          </p:cNvSpPr>
          <p:nvPr/>
        </p:nvSpPr>
        <p:spPr>
          <a:xfrm xmlns:a="http://schemas.openxmlformats.org/drawingml/2006/main">
            <a:off x="685800" y="4743450"/>
            <a:ext cx="18002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7176"/>
          </a:bodyPr>
          <a:lstStyle xmlns:a="http://schemas.openxmlformats.org/drawingml/2006/main"/>
          <a:p xmlns:a="http://schemas.openxmlformats.org/drawingml/2006/main">
            <a:pPr algn="ctr">
              <a:defRPr sz="750" b="0">
                <a:solidFill>
                  <a:srgbClr val="FFFFFF"/>
                </a:solidFill>
              </a:defRPr>
            </a:pPr>
            <a:r>
              <a:rPr sz="750" b="0">
                <a:solidFill>
                  <a:srgbClr val="FFFFFF"/>
                </a:solidFill>
              </a:rPr>
              <a:t>term overview</a:t>
            </a:r>
          </a:p>
        </p:txBody>
      </p:sp>
      <p:sp>
        <p:nvSpPr>
          <p:cNvPr id="20" name="">
            <a:extLst xmlns:a="http://schemas.openxmlformats.org/drawingml/2006/main">
              <a:ext uri="{FF2B5EF4-FFF2-40B4-BE49-F238E27FC236}">
                <a16:creationId xmlns:a16="http://schemas.microsoft.com/office/drawing/2014/main" id="{03356A2B-06B7-4222-8958-635529F91455}"/>
              </a:ext>
            </a:extLst>
          </p:cNvPr>
          <p:cNvSpPr>
            <a:spLocks xmlns:a="http://schemas.openxmlformats.org/drawingml/2006/main" noGrp="1"/>
          </p:cNvSpPr>
          <p:nvPr/>
        </p:nvSpPr>
        <p:spPr>
          <a:xfrm xmlns:a="http://schemas.openxmlformats.org/drawingml/2006/main">
            <a:off x="2657475" y="4400550"/>
            <a:ext cx="1952625" cy="590550"/>
          </a:xfrm>
          <a:prstGeom xmlns:a="http://schemas.openxmlformats.org/drawingml/2006/main" prst="roundRect">
            <a:avLst>
              <a:gd name="adj" fmla="val 12903"/>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B0AE92AA-5A45-4EEE-833F-7D5B460BB6AF}"/>
              </a:ext>
            </a:extLst>
          </p:cNvPr>
          <p:cNvSpPr>
            <a:spLocks xmlns:a="http://schemas.openxmlformats.org/drawingml/2006/main" noGrp="1"/>
          </p:cNvSpPr>
          <p:nvPr/>
        </p:nvSpPr>
        <p:spPr>
          <a:xfrm xmlns:a="http://schemas.openxmlformats.org/drawingml/2006/main">
            <a:off x="2733675" y="4476750"/>
            <a:ext cx="1800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3947"/>
          </a:bodyPr>
          <a:lstStyle xmlns:a="http://schemas.openxmlformats.org/drawingml/2006/main"/>
          <a:p xmlns:a="http://schemas.openxmlformats.org/drawingml/2006/main">
            <a:pPr algn="ctr">
              <a:defRPr sz="1200" b="1">
                <a:solidFill>
                  <a:srgbClr val="B6FF7E"/>
                </a:solidFill>
              </a:defRPr>
            </a:pPr>
            <a:r>
              <a:rPr sz="1200" b="1">
                <a:solidFill>
                  <a:srgbClr val="B6FF7E"/>
                </a:solidFill>
              </a:rPr>
              <a:t>Timetable</a:t>
            </a:r>
          </a:p>
        </p:txBody>
      </p:sp>
      <p:sp>
        <p:nvSpPr>
          <p:cNvPr id="22" name="">
            <a:extLst xmlns:a="http://schemas.openxmlformats.org/drawingml/2006/main">
              <a:ext uri="{FF2B5EF4-FFF2-40B4-BE49-F238E27FC236}">
                <a16:creationId xmlns:a16="http://schemas.microsoft.com/office/drawing/2014/main" id="{B74A7D18-8926-426F-9ABA-469F250D519C}"/>
              </a:ext>
            </a:extLst>
          </p:cNvPr>
          <p:cNvSpPr>
            <a:spLocks xmlns:a="http://schemas.openxmlformats.org/drawingml/2006/main" noGrp="1"/>
          </p:cNvSpPr>
          <p:nvPr/>
        </p:nvSpPr>
        <p:spPr>
          <a:xfrm xmlns:a="http://schemas.openxmlformats.org/drawingml/2006/main">
            <a:off x="2733675" y="4743450"/>
            <a:ext cx="18002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7176"/>
          </a:bodyPr>
          <a:lstStyle xmlns:a="http://schemas.openxmlformats.org/drawingml/2006/main"/>
          <a:p xmlns:a="http://schemas.openxmlformats.org/drawingml/2006/main">
            <a:pPr algn="ctr">
              <a:defRPr sz="750" b="0">
                <a:solidFill>
                  <a:srgbClr val="FFFFFF"/>
                </a:solidFill>
              </a:defRPr>
            </a:pPr>
            <a:r>
              <a:rPr sz="750" b="0">
                <a:solidFill>
                  <a:srgbClr val="FFFFFF"/>
                </a:solidFill>
              </a:rPr>
              <a:t>slot-by-slot</a:t>
            </a:r>
          </a:p>
        </p:txBody>
      </p:sp>
      <p:sp>
        <p:nvSpPr>
          <p:cNvPr id="23" name="">
            <a:extLst xmlns:a="http://schemas.openxmlformats.org/drawingml/2006/main">
              <a:ext uri="{FF2B5EF4-FFF2-40B4-BE49-F238E27FC236}">
                <a16:creationId xmlns:a16="http://schemas.microsoft.com/office/drawing/2014/main" id="{CBAE5C70-7D09-4219-96B8-D776B31B3B0C}"/>
              </a:ext>
            </a:extLst>
          </p:cNvPr>
          <p:cNvSpPr>
            <a:spLocks xmlns:a="http://schemas.openxmlformats.org/drawingml/2006/main" noGrp="1"/>
          </p:cNvSpPr>
          <p:nvPr/>
        </p:nvSpPr>
        <p:spPr>
          <a:xfrm xmlns:a="http://schemas.openxmlformats.org/drawingml/2006/main">
            <a:off x="4762500" y="666750"/>
            <a:ext cx="3771900" cy="5524500"/>
          </a:xfrm>
          <a:prstGeom xmlns:a="http://schemas.openxmlformats.org/drawingml/2006/main" prst="roundRect">
            <a:avLst>
              <a:gd name="adj" fmla="val 2020"/>
            </a:avLst>
          </a:prstGeom>
          <a:solidFill xmlns:a="http://schemas.openxmlformats.org/drawingml/2006/main">
            <a:srgbClr val="FFFFFF"/>
          </a:solidFill>
          <a:ln xmlns:a="http://schemas.openxmlformats.org/drawingml/2006/main" w="9525">
            <a:solidFill>
              <a:srgbClr val="D7E4DF"/>
            </a:solidFill>
            <a:prstDash val="solid"/>
          </a:ln>
        </p:spPr>
      </p:sp>
      <p:sp>
        <p:nvSpPr>
          <p:cNvPr id="24" name="">
            <a:extLst xmlns:a="http://schemas.openxmlformats.org/drawingml/2006/main">
              <a:ext uri="{FF2B5EF4-FFF2-40B4-BE49-F238E27FC236}">
                <a16:creationId xmlns:a16="http://schemas.microsoft.com/office/drawing/2014/main" id="{6238B608-BD7B-4EB2-88D2-72A81CF48C17}"/>
              </a:ext>
            </a:extLst>
          </p:cNvPr>
          <p:cNvSpPr>
            <a:spLocks xmlns:a="http://schemas.openxmlformats.org/drawingml/2006/main" noGrp="1"/>
          </p:cNvSpPr>
          <p:nvPr/>
        </p:nvSpPr>
        <p:spPr>
          <a:xfrm xmlns:a="http://schemas.openxmlformats.org/drawingml/2006/main">
            <a:off x="4762500" y="666750"/>
            <a:ext cx="3771900" cy="400050"/>
          </a:xfrm>
          <a:prstGeom xmlns:a="http://schemas.openxmlformats.org/drawingml/2006/main" prst="rect">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412F8D2B-3DC2-4FD9-9C25-C2AE5AA576D5}"/>
              </a:ext>
            </a:extLst>
          </p:cNvPr>
          <p:cNvSpPr>
            <a:spLocks xmlns:a="http://schemas.openxmlformats.org/drawingml/2006/main" noGrp="1"/>
          </p:cNvSpPr>
          <p:nvPr/>
        </p:nvSpPr>
        <p:spPr>
          <a:xfrm xmlns:a="http://schemas.openxmlformats.org/drawingml/2006/main">
            <a:off x="4876800" y="762000"/>
            <a:ext cx="207454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FFFFFF"/>
                </a:solidFill>
              </a:defRPr>
            </a:pPr>
            <a:r>
              <a:rPr sz="900" b="1">
                <a:solidFill>
                  <a:srgbClr val="FFFFFF"/>
                </a:solidFill>
              </a:rPr>
              <a:t>October 2025 · Year 4 Drama</a:t>
            </a:r>
          </a:p>
        </p:txBody>
      </p:sp>
      <p:sp>
        <p:nvSpPr>
          <p:cNvPr id="26" name="">
            <a:extLst xmlns:a="http://schemas.openxmlformats.org/drawingml/2006/main">
              <a:ext uri="{FF2B5EF4-FFF2-40B4-BE49-F238E27FC236}">
                <a16:creationId xmlns:a16="http://schemas.microsoft.com/office/drawing/2014/main" id="{41241D2A-7728-4B0F-A732-93553873BC5B}"/>
              </a:ext>
            </a:extLst>
          </p:cNvPr>
          <p:cNvSpPr>
            <a:spLocks xmlns:a="http://schemas.openxmlformats.org/drawingml/2006/main" noGrp="1"/>
          </p:cNvSpPr>
          <p:nvPr/>
        </p:nvSpPr>
        <p:spPr>
          <a:xfrm xmlns:a="http://schemas.openxmlformats.org/drawingml/2006/main">
            <a:off x="6723888" y="762000"/>
            <a:ext cx="514350" cy="209550"/>
          </a:xfrm>
          <a:prstGeom xmlns:a="http://schemas.openxmlformats.org/drawingml/2006/main" prst="roundRect">
            <a:avLst>
              <a:gd name="adj" fmla="val 36364"/>
            </a:avLst>
          </a:prstGeom>
          <a:solidFill xmlns:a="http://schemas.openxmlformats.org/drawingml/2006/main">
            <a:srgbClr val="FFFFFF">
              <a:alpha val="13333"/>
            </a:srgbClr>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0C3DCDBB-6D3C-40F7-8EEF-97B304B5D615}"/>
              </a:ext>
            </a:extLst>
          </p:cNvPr>
          <p:cNvSpPr>
            <a:spLocks xmlns:a="http://schemas.openxmlformats.org/drawingml/2006/main" noGrp="1"/>
          </p:cNvSpPr>
          <p:nvPr/>
        </p:nvSpPr>
        <p:spPr>
          <a:xfrm xmlns:a="http://schemas.openxmlformats.org/drawingml/2006/main">
            <a:off x="6723888" y="781050"/>
            <a:ext cx="514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6439"/>
          </a:bodyPr>
          <a:lstStyle xmlns:a="http://schemas.openxmlformats.org/drawingml/2006/main"/>
          <a:p xmlns:a="http://schemas.openxmlformats.org/drawingml/2006/main">
            <a:pPr algn="ctr">
              <a:defRPr sz="675" b="1">
                <a:solidFill>
                  <a:srgbClr val="FFFFFF"/>
                </a:solidFill>
              </a:defRPr>
            </a:pPr>
            <a:r>
              <a:rPr sz="675" b="1">
                <a:solidFill>
                  <a:srgbClr val="FFFFFF"/>
                </a:solidFill>
              </a:rPr>
              <a:t>Month</a:t>
            </a:r>
          </a:p>
        </p:txBody>
      </p:sp>
      <p:sp>
        <p:nvSpPr>
          <p:cNvPr id="28" name="">
            <a:extLst xmlns:a="http://schemas.openxmlformats.org/drawingml/2006/main">
              <a:ext uri="{FF2B5EF4-FFF2-40B4-BE49-F238E27FC236}">
                <a16:creationId xmlns:a16="http://schemas.microsoft.com/office/drawing/2014/main" id="{18E18BFB-C952-4245-9901-8471AE0D0B42}"/>
              </a:ext>
            </a:extLst>
          </p:cNvPr>
          <p:cNvSpPr>
            <a:spLocks xmlns:a="http://schemas.openxmlformats.org/drawingml/2006/main" noGrp="1"/>
          </p:cNvSpPr>
          <p:nvPr/>
        </p:nvSpPr>
        <p:spPr>
          <a:xfrm xmlns:a="http://schemas.openxmlformats.org/drawingml/2006/main">
            <a:off x="7276338" y="762000"/>
            <a:ext cx="514350" cy="209550"/>
          </a:xfrm>
          <a:prstGeom xmlns:a="http://schemas.openxmlformats.org/drawingml/2006/main" prst="roundRect">
            <a:avLst>
              <a:gd name="adj" fmla="val 36364"/>
            </a:avLst>
          </a:prstGeom>
          <a:solidFill xmlns:a="http://schemas.openxmlformats.org/drawingml/2006/main">
            <a:srgbClr val="FFFFFF">
              <a:alpha val="13333"/>
            </a:srgbClr>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2BB277D3-8B9A-461B-803B-698D505227B0}"/>
              </a:ext>
            </a:extLst>
          </p:cNvPr>
          <p:cNvSpPr>
            <a:spLocks xmlns:a="http://schemas.openxmlformats.org/drawingml/2006/main" noGrp="1"/>
          </p:cNvSpPr>
          <p:nvPr/>
        </p:nvSpPr>
        <p:spPr>
          <a:xfrm xmlns:a="http://schemas.openxmlformats.org/drawingml/2006/main">
            <a:off x="7276338" y="781050"/>
            <a:ext cx="514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6439"/>
          </a:bodyPr>
          <a:lstStyle xmlns:a="http://schemas.openxmlformats.org/drawingml/2006/main"/>
          <a:p xmlns:a="http://schemas.openxmlformats.org/drawingml/2006/main">
            <a:pPr algn="ctr">
              <a:defRPr sz="675" b="1">
                <a:solidFill>
                  <a:srgbClr val="FFFFFF"/>
                </a:solidFill>
              </a:defRPr>
            </a:pPr>
            <a:r>
              <a:rPr sz="675" b="1">
                <a:solidFill>
                  <a:srgbClr val="FFFFFF"/>
                </a:solidFill>
              </a:rPr>
              <a:t>Week</a:t>
            </a:r>
          </a:p>
        </p:txBody>
      </p:sp>
      <p:sp>
        <p:nvSpPr>
          <p:cNvPr id="30" name="">
            <a:extLst xmlns:a="http://schemas.openxmlformats.org/drawingml/2006/main">
              <a:ext uri="{FF2B5EF4-FFF2-40B4-BE49-F238E27FC236}">
                <a16:creationId xmlns:a16="http://schemas.microsoft.com/office/drawing/2014/main" id="{8FC7EE98-9DEB-4D1A-A972-BDF052F8954C}"/>
              </a:ext>
            </a:extLst>
          </p:cNvPr>
          <p:cNvSpPr>
            <a:spLocks xmlns:a="http://schemas.openxmlformats.org/drawingml/2006/main" noGrp="1"/>
          </p:cNvSpPr>
          <p:nvPr/>
        </p:nvSpPr>
        <p:spPr>
          <a:xfrm xmlns:a="http://schemas.openxmlformats.org/drawingml/2006/main">
            <a:off x="7828788" y="762000"/>
            <a:ext cx="514350"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D77B973A-0D51-4195-899F-9A8E2D86E92D}"/>
              </a:ext>
            </a:extLst>
          </p:cNvPr>
          <p:cNvSpPr>
            <a:spLocks xmlns:a="http://schemas.openxmlformats.org/drawingml/2006/main" noGrp="1"/>
          </p:cNvSpPr>
          <p:nvPr/>
        </p:nvSpPr>
        <p:spPr>
          <a:xfrm xmlns:a="http://schemas.openxmlformats.org/drawingml/2006/main">
            <a:off x="7828788" y="781050"/>
            <a:ext cx="514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6439"/>
          </a:bodyPr>
          <a:lstStyle xmlns:a="http://schemas.openxmlformats.org/drawingml/2006/main"/>
          <a:p xmlns:a="http://schemas.openxmlformats.org/drawingml/2006/main">
            <a:pPr algn="ctr">
              <a:defRPr sz="675" b="1">
                <a:solidFill>
                  <a:srgbClr val="002D24"/>
                </a:solidFill>
              </a:defRPr>
            </a:pPr>
            <a:r>
              <a:rPr sz="675" b="1">
                <a:solidFill>
                  <a:srgbClr val="002D24"/>
                </a:solidFill>
              </a:rPr>
              <a:t>Timetable</a:t>
            </a:r>
          </a:p>
        </p:txBody>
      </p:sp>
      <p:sp>
        <p:nvSpPr>
          <p:cNvPr id="32" name="">
            <a:extLst xmlns:a="http://schemas.openxmlformats.org/drawingml/2006/main">
              <a:ext uri="{FF2B5EF4-FFF2-40B4-BE49-F238E27FC236}">
                <a16:creationId xmlns:a16="http://schemas.microsoft.com/office/drawing/2014/main" id="{6E4DA740-13C2-4000-8237-C0211BD96F96}"/>
              </a:ext>
            </a:extLst>
          </p:cNvPr>
          <p:cNvSpPr>
            <a:spLocks xmlns:a="http://schemas.openxmlformats.org/drawingml/2006/main" noGrp="1"/>
          </p:cNvSpPr>
          <p:nvPr/>
        </p:nvSpPr>
        <p:spPr>
          <a:xfrm xmlns:a="http://schemas.openxmlformats.org/drawingml/2006/main">
            <a:off x="4857750" y="1162050"/>
            <a:ext cx="511629"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58240"/>
          </a:bodyPr>
          <a:lstStyle xmlns:a="http://schemas.openxmlformats.org/drawingml/2006/main"/>
          <a:p xmlns:a="http://schemas.openxmlformats.org/drawingml/2006/main">
            <a:pPr algn="ctr">
              <a:defRPr sz="675" b="1">
                <a:solidFill>
                  <a:srgbClr val="5A7275"/>
                </a:solidFill>
              </a:defRPr>
            </a:pPr>
            <a:r>
              <a:rPr sz="675" b="1">
                <a:solidFill>
                  <a:srgbClr val="5A7275"/>
                </a:solidFill>
              </a:rPr>
              <a:t>Mon</a:t>
            </a:r>
          </a:p>
        </p:txBody>
      </p:sp>
      <p:sp>
        <p:nvSpPr>
          <p:cNvPr id="33" name="">
            <a:extLst xmlns:a="http://schemas.openxmlformats.org/drawingml/2006/main">
              <a:ext uri="{FF2B5EF4-FFF2-40B4-BE49-F238E27FC236}">
                <a16:creationId xmlns:a16="http://schemas.microsoft.com/office/drawing/2014/main" id="{8A891D18-353B-49C7-B4C5-3D66A85CAB80}"/>
              </a:ext>
            </a:extLst>
          </p:cNvPr>
          <p:cNvSpPr>
            <a:spLocks xmlns:a="http://schemas.openxmlformats.org/drawingml/2006/main" noGrp="1"/>
          </p:cNvSpPr>
          <p:nvPr/>
        </p:nvSpPr>
        <p:spPr>
          <a:xfrm xmlns:a="http://schemas.openxmlformats.org/drawingml/2006/main">
            <a:off x="5369379" y="1162050"/>
            <a:ext cx="511629"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58240"/>
          </a:bodyPr>
          <a:lstStyle xmlns:a="http://schemas.openxmlformats.org/drawingml/2006/main"/>
          <a:p xmlns:a="http://schemas.openxmlformats.org/drawingml/2006/main">
            <a:pPr algn="ctr">
              <a:defRPr sz="675" b="1">
                <a:solidFill>
                  <a:srgbClr val="5A7275"/>
                </a:solidFill>
              </a:defRPr>
            </a:pPr>
            <a:r>
              <a:rPr sz="675" b="1">
                <a:solidFill>
                  <a:srgbClr val="5A7275"/>
                </a:solidFill>
              </a:rPr>
              <a:t>Tue</a:t>
            </a:r>
          </a:p>
        </p:txBody>
      </p:sp>
      <p:sp>
        <p:nvSpPr>
          <p:cNvPr id="34" name="">
            <a:extLst xmlns:a="http://schemas.openxmlformats.org/drawingml/2006/main">
              <a:ext uri="{FF2B5EF4-FFF2-40B4-BE49-F238E27FC236}">
                <a16:creationId xmlns:a16="http://schemas.microsoft.com/office/drawing/2014/main" id="{0E54CF35-5117-405B-BFC2-54C5A93FBCAD}"/>
              </a:ext>
            </a:extLst>
          </p:cNvPr>
          <p:cNvSpPr>
            <a:spLocks xmlns:a="http://schemas.openxmlformats.org/drawingml/2006/main" noGrp="1"/>
          </p:cNvSpPr>
          <p:nvPr/>
        </p:nvSpPr>
        <p:spPr>
          <a:xfrm xmlns:a="http://schemas.openxmlformats.org/drawingml/2006/main">
            <a:off x="5881007" y="1162050"/>
            <a:ext cx="511629"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58240"/>
          </a:bodyPr>
          <a:lstStyle xmlns:a="http://schemas.openxmlformats.org/drawingml/2006/main"/>
          <a:p xmlns:a="http://schemas.openxmlformats.org/drawingml/2006/main">
            <a:pPr algn="ctr">
              <a:defRPr sz="675" b="1">
                <a:solidFill>
                  <a:srgbClr val="5A7275"/>
                </a:solidFill>
              </a:defRPr>
            </a:pPr>
            <a:r>
              <a:rPr sz="675" b="1">
                <a:solidFill>
                  <a:srgbClr val="5A7275"/>
                </a:solidFill>
              </a:rPr>
              <a:t>Wed</a:t>
            </a:r>
          </a:p>
        </p:txBody>
      </p:sp>
      <p:sp>
        <p:nvSpPr>
          <p:cNvPr id="35" name="">
            <a:extLst xmlns:a="http://schemas.openxmlformats.org/drawingml/2006/main">
              <a:ext uri="{FF2B5EF4-FFF2-40B4-BE49-F238E27FC236}">
                <a16:creationId xmlns:a16="http://schemas.microsoft.com/office/drawing/2014/main" id="{82403501-F72B-453D-9C64-5C2C10E06CC2}"/>
              </a:ext>
            </a:extLst>
          </p:cNvPr>
          <p:cNvSpPr>
            <a:spLocks xmlns:a="http://schemas.openxmlformats.org/drawingml/2006/main" noGrp="1"/>
          </p:cNvSpPr>
          <p:nvPr/>
        </p:nvSpPr>
        <p:spPr>
          <a:xfrm xmlns:a="http://schemas.openxmlformats.org/drawingml/2006/main">
            <a:off x="6392636" y="1162050"/>
            <a:ext cx="511629"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58240"/>
          </a:bodyPr>
          <a:lstStyle xmlns:a="http://schemas.openxmlformats.org/drawingml/2006/main"/>
          <a:p xmlns:a="http://schemas.openxmlformats.org/drawingml/2006/main">
            <a:pPr algn="ctr">
              <a:defRPr sz="675" b="1">
                <a:solidFill>
                  <a:srgbClr val="5A7275"/>
                </a:solidFill>
              </a:defRPr>
            </a:pPr>
            <a:r>
              <a:rPr sz="675" b="1">
                <a:solidFill>
                  <a:srgbClr val="5A7275"/>
                </a:solidFill>
              </a:rPr>
              <a:t>Thu</a:t>
            </a:r>
          </a:p>
        </p:txBody>
      </p:sp>
      <p:sp>
        <p:nvSpPr>
          <p:cNvPr id="36" name="">
            <a:extLst xmlns:a="http://schemas.openxmlformats.org/drawingml/2006/main">
              <a:ext uri="{FF2B5EF4-FFF2-40B4-BE49-F238E27FC236}">
                <a16:creationId xmlns:a16="http://schemas.microsoft.com/office/drawing/2014/main" id="{3AE8D7E7-9B29-41D4-BC97-F75401703935}"/>
              </a:ext>
            </a:extLst>
          </p:cNvPr>
          <p:cNvSpPr>
            <a:spLocks xmlns:a="http://schemas.openxmlformats.org/drawingml/2006/main" noGrp="1"/>
          </p:cNvSpPr>
          <p:nvPr/>
        </p:nvSpPr>
        <p:spPr>
          <a:xfrm xmlns:a="http://schemas.openxmlformats.org/drawingml/2006/main">
            <a:off x="6904264" y="1162050"/>
            <a:ext cx="511629"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58240"/>
          </a:bodyPr>
          <a:lstStyle xmlns:a="http://schemas.openxmlformats.org/drawingml/2006/main"/>
          <a:p xmlns:a="http://schemas.openxmlformats.org/drawingml/2006/main">
            <a:pPr algn="ctr">
              <a:defRPr sz="675" b="1">
                <a:solidFill>
                  <a:srgbClr val="5A7275"/>
                </a:solidFill>
              </a:defRPr>
            </a:pPr>
            <a:r>
              <a:rPr sz="675" b="1">
                <a:solidFill>
                  <a:srgbClr val="5A7275"/>
                </a:solidFill>
              </a:rPr>
              <a:t>Fri</a:t>
            </a:r>
          </a:p>
        </p:txBody>
      </p:sp>
      <p:sp>
        <p:nvSpPr>
          <p:cNvPr id="37" name="">
            <a:extLst xmlns:a="http://schemas.openxmlformats.org/drawingml/2006/main">
              <a:ext uri="{FF2B5EF4-FFF2-40B4-BE49-F238E27FC236}">
                <a16:creationId xmlns:a16="http://schemas.microsoft.com/office/drawing/2014/main" id="{ED5F00F2-15E0-47AD-B62B-CB62C0EBD490}"/>
              </a:ext>
            </a:extLst>
          </p:cNvPr>
          <p:cNvSpPr>
            <a:spLocks xmlns:a="http://schemas.openxmlformats.org/drawingml/2006/main" noGrp="1"/>
          </p:cNvSpPr>
          <p:nvPr/>
        </p:nvSpPr>
        <p:spPr>
          <a:xfrm xmlns:a="http://schemas.openxmlformats.org/drawingml/2006/main">
            <a:off x="7415893" y="1162050"/>
            <a:ext cx="511629"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58240"/>
          </a:bodyPr>
          <a:lstStyle xmlns:a="http://schemas.openxmlformats.org/drawingml/2006/main"/>
          <a:p xmlns:a="http://schemas.openxmlformats.org/drawingml/2006/main">
            <a:pPr algn="ctr">
              <a:defRPr sz="675" b="1">
                <a:solidFill>
                  <a:srgbClr val="5A7275"/>
                </a:solidFill>
              </a:defRPr>
            </a:pPr>
            <a:r>
              <a:rPr sz="675" b="1">
                <a:solidFill>
                  <a:srgbClr val="5A7275"/>
                </a:solidFill>
              </a:rPr>
              <a:t>Sat</a:t>
            </a:r>
          </a:p>
        </p:txBody>
      </p:sp>
      <p:sp>
        <p:nvSpPr>
          <p:cNvPr id="38" name="">
            <a:extLst xmlns:a="http://schemas.openxmlformats.org/drawingml/2006/main">
              <a:ext uri="{FF2B5EF4-FFF2-40B4-BE49-F238E27FC236}">
                <a16:creationId xmlns:a16="http://schemas.microsoft.com/office/drawing/2014/main" id="{2BBF80C6-3EB2-40F8-B188-E3DB698D90CA}"/>
              </a:ext>
            </a:extLst>
          </p:cNvPr>
          <p:cNvSpPr>
            <a:spLocks xmlns:a="http://schemas.openxmlformats.org/drawingml/2006/main" noGrp="1"/>
          </p:cNvSpPr>
          <p:nvPr/>
        </p:nvSpPr>
        <p:spPr>
          <a:xfrm xmlns:a="http://schemas.openxmlformats.org/drawingml/2006/main">
            <a:off x="7927521" y="1162050"/>
            <a:ext cx="511629"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58240"/>
          </a:bodyPr>
          <a:lstStyle xmlns:a="http://schemas.openxmlformats.org/drawingml/2006/main"/>
          <a:p xmlns:a="http://schemas.openxmlformats.org/drawingml/2006/main">
            <a:pPr algn="ctr">
              <a:defRPr sz="675" b="1">
                <a:solidFill>
                  <a:srgbClr val="5A7275"/>
                </a:solidFill>
              </a:defRPr>
            </a:pPr>
            <a:r>
              <a:rPr sz="675" b="1">
                <a:solidFill>
                  <a:srgbClr val="5A7275"/>
                </a:solidFill>
              </a:rPr>
              <a:t>Sun</a:t>
            </a:r>
          </a:p>
        </p:txBody>
      </p:sp>
      <p:sp>
        <p:nvSpPr>
          <p:cNvPr id="39" name="">
            <a:extLst xmlns:a="http://schemas.openxmlformats.org/drawingml/2006/main">
              <a:ext uri="{FF2B5EF4-FFF2-40B4-BE49-F238E27FC236}">
                <a16:creationId xmlns:a16="http://schemas.microsoft.com/office/drawing/2014/main" id="{2173309E-272B-40C6-8A7A-F1FA15B07631}"/>
              </a:ext>
            </a:extLst>
          </p:cNvPr>
          <p:cNvSpPr>
            <a:spLocks xmlns:a="http://schemas.openxmlformats.org/drawingml/2006/main" noGrp="1"/>
          </p:cNvSpPr>
          <p:nvPr/>
        </p:nvSpPr>
        <p:spPr>
          <a:xfrm xmlns:a="http://schemas.openxmlformats.org/drawingml/2006/main">
            <a:off x="4895850" y="1409700"/>
            <a:ext cx="35052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0F2A2E"/>
                </a:solidFill>
              </a:defRPr>
            </a:pPr>
            <a:r>
              <a:rPr sz="825" b="0">
                <a:solidFill>
                  <a:srgbClr val="0F2A2E"/>
                </a:solidFill>
              </a:rPr>
              <a:t>Term: Autumn 1</a:t>
            </a:r>
          </a:p>
          <a:p xmlns:a="http://schemas.openxmlformats.org/drawingml/2006/main">
            <a:pPr algn="l">
              <a:defRPr sz="825" b="0">
                <a:solidFill>
                  <a:srgbClr val="0F2A2E"/>
                </a:solidFill>
              </a:defRPr>
            </a:pPr>
            <a:r>
              <a:rPr sz="825" b="0">
                <a:solidFill>
                  <a:srgbClr val="0F2A2E"/>
                </a:solidFill>
              </a:rPr>
              <a:t>Holiday: Inset</a:t>
            </a:r>
          </a:p>
          <a:p xmlns:a="http://schemas.openxmlformats.org/drawingml/2006/main">
            <a:pPr algn="l">
              <a:defRPr sz="825" b="0">
                <a:solidFill>
                  <a:srgbClr val="0F2A2E"/>
                </a:solidFill>
              </a:defRPr>
            </a:pPr>
            <a:r>
              <a:rPr sz="825" b="0">
                <a:solidFill>
                  <a:srgbClr val="0F2A2E"/>
                </a:solidFill>
              </a:rPr>
              <a:t>Lessons: Freeze-frames · Hot-seating · Devising · Motif build</a:t>
            </a:r>
          </a:p>
          <a:p xmlns:a="http://schemas.openxmlformats.org/drawingml/2006/main">
            <a:pPr algn="l">
              <a:defRPr sz="825" b="0">
                <a:solidFill>
                  <a:srgbClr val="0F2A2E"/>
                </a:solidFill>
              </a:defRPr>
            </a:pPr>
            <a:r>
              <a:rPr sz="825" b="0">
                <a:solidFill>
                  <a:srgbClr val="0F2A2E"/>
                </a:solidFill>
              </a:rPr>
              <a:t>Drop stack</a:t>
            </a:r>
          </a:p>
        </p:txBody>
      </p:sp>
      <p:sp>
        <p:nvSpPr>
          <p:cNvPr id="40" name="">
            <a:extLst xmlns:a="http://schemas.openxmlformats.org/drawingml/2006/main">
              <a:ext uri="{FF2B5EF4-FFF2-40B4-BE49-F238E27FC236}">
                <a16:creationId xmlns:a16="http://schemas.microsoft.com/office/drawing/2014/main" id="{FF787307-C5F3-4075-9A9A-FE5710C1B631}"/>
              </a:ext>
            </a:extLst>
          </p:cNvPr>
          <p:cNvSpPr>
            <a:spLocks xmlns:a="http://schemas.openxmlformats.org/drawingml/2006/main" noGrp="1"/>
          </p:cNvSpPr>
          <p:nvPr/>
        </p:nvSpPr>
        <p:spPr>
          <a:xfrm xmlns:a="http://schemas.openxmlformats.org/drawingml/2006/main">
            <a:off x="4895850" y="5734050"/>
            <a:ext cx="226314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750" b="0">
                <a:solidFill>
                  <a:srgbClr val="5A7275"/>
                </a:solidFill>
              </a:defRPr>
            </a:pPr>
            <a:r>
              <a:rPr sz="750" b="0">
                <a:solidFill>
                  <a:srgbClr val="5A7275"/>
                </a:solidFill>
              </a:rPr>
              <a:t>Term dates synced · Autumn 1 ends 24 Oct</a:t>
            </a:r>
          </a:p>
        </p:txBody>
      </p:sp>
      <p:sp>
        <p:nvSpPr>
          <p:cNvPr id="41" name="">
            <a:extLst xmlns:a="http://schemas.openxmlformats.org/drawingml/2006/main">
              <a:ext uri="{FF2B5EF4-FFF2-40B4-BE49-F238E27FC236}">
                <a16:creationId xmlns:a16="http://schemas.microsoft.com/office/drawing/2014/main" id="{937D43FC-1735-49E8-AF35-20E256AA5F1D}"/>
              </a:ext>
            </a:extLst>
          </p:cNvPr>
          <p:cNvSpPr>
            <a:spLocks xmlns:a="http://schemas.openxmlformats.org/drawingml/2006/main" noGrp="1"/>
          </p:cNvSpPr>
          <p:nvPr/>
        </p:nvSpPr>
        <p:spPr>
          <a:xfrm xmlns:a="http://schemas.openxmlformats.org/drawingml/2006/main">
            <a:off x="6837045" y="5734050"/>
            <a:ext cx="1584198"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750" b="1">
                <a:solidFill>
                  <a:srgbClr val="002D24"/>
                </a:solidFill>
              </a:defRPr>
            </a:pPr>
            <a:r>
              <a:rPr sz="750" b="1">
                <a:solidFill>
                  <a:srgbClr val="002D24"/>
                </a:solidFill>
              </a:rPr>
              <a:t>Edit term dates →</a:t>
            </a:r>
          </a:p>
        </p:txBody>
      </p:sp>
      <p:sp>
        <p:nvSpPr>
          <p:cNvPr id="42" name="">
            <a:extLst xmlns:a="http://schemas.openxmlformats.org/drawingml/2006/main">
              <a:ext uri="{FF2B5EF4-FFF2-40B4-BE49-F238E27FC236}">
                <a16:creationId xmlns:a16="http://schemas.microsoft.com/office/drawing/2014/main" id="{C49F3B7F-1D3D-4774-BFCA-6FF2D5A8AAF9}"/>
              </a:ext>
            </a:extLst>
          </p:cNvPr>
          <p:cNvSpPr>
            <a:spLocks xmlns:a="http://schemas.openxmlformats.org/drawingml/2006/main" noGrp="1"/>
          </p:cNvSpPr>
          <p:nvPr/>
        </p:nvSpPr>
        <p:spPr>
          <a:xfrm xmlns:a="http://schemas.openxmlformats.org/drawingml/2006/main">
            <a:off x="8648700" y="666750"/>
            <a:ext cx="2971800" cy="5524500"/>
          </a:xfrm>
          <a:prstGeom xmlns:a="http://schemas.openxmlformats.org/drawingml/2006/main" prst="roundRect">
            <a:avLst>
              <a:gd name="adj" fmla="val 2564"/>
            </a:avLst>
          </a:prstGeom>
          <a:solidFill xmlns:a="http://schemas.openxmlformats.org/drawingml/2006/main">
            <a:srgbClr val="FFFFFF"/>
          </a:solidFill>
          <a:ln xmlns:a="http://schemas.openxmlformats.org/drawingml/2006/main" w="9525">
            <a:solidFill>
              <a:srgbClr val="D7E4DF"/>
            </a:solidFill>
            <a:prstDash val="solid"/>
          </a:ln>
        </p:spPr>
      </p:sp>
      <p:sp>
        <p:nvSpPr>
          <p:cNvPr id="43" name="">
            <a:extLst xmlns:a="http://schemas.openxmlformats.org/drawingml/2006/main">
              <a:ext uri="{FF2B5EF4-FFF2-40B4-BE49-F238E27FC236}">
                <a16:creationId xmlns:a16="http://schemas.microsoft.com/office/drawing/2014/main" id="{CC30AB37-8D9C-4ED7-9416-59E8FF95F756}"/>
              </a:ext>
            </a:extLst>
          </p:cNvPr>
          <p:cNvSpPr>
            <a:spLocks xmlns:a="http://schemas.openxmlformats.org/drawingml/2006/main" noGrp="1"/>
          </p:cNvSpPr>
          <p:nvPr/>
        </p:nvSpPr>
        <p:spPr>
          <a:xfrm xmlns:a="http://schemas.openxmlformats.org/drawingml/2006/main">
            <a:off x="8648700" y="666750"/>
            <a:ext cx="2971800" cy="514350"/>
          </a:xfrm>
          <a:prstGeom xmlns:a="http://schemas.openxmlformats.org/drawingml/2006/main" prst="rect">
            <a:avLst/>
          </a:prstGeom>
          <a:solidFill xmlns:a="http://schemas.openxmlformats.org/drawingml/2006/main">
            <a:srgbClr val="0D9488"/>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1CDAB8C7-5BE6-4ABB-9D98-E1A28BB5D012}"/>
              </a:ext>
            </a:extLst>
          </p:cNvPr>
          <p:cNvSpPr>
            <a:spLocks xmlns:a="http://schemas.openxmlformats.org/drawingml/2006/main" noGrp="1"/>
          </p:cNvSpPr>
          <p:nvPr/>
        </p:nvSpPr>
        <p:spPr>
          <a:xfrm xmlns:a="http://schemas.openxmlformats.org/drawingml/2006/main">
            <a:off x="8763000" y="742950"/>
            <a:ext cx="27432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2540"/>
          </a:bodyPr>
          <a:lstStyle xmlns:a="http://schemas.openxmlformats.org/drawingml/2006/main"/>
          <a:p xmlns:a="http://schemas.openxmlformats.org/drawingml/2006/main">
            <a:pPr algn="l">
              <a:defRPr sz="1050" b="1">
                <a:solidFill>
                  <a:srgbClr val="FFFFFF"/>
                </a:solidFill>
              </a:defRPr>
            </a:pPr>
            <a:r>
              <a:rPr sz="1050" b="1">
                <a:solidFill>
                  <a:srgbClr val="FFFFFF"/>
                </a:solidFill>
              </a:rPr>
              <a:t>Add to Calendar</a:t>
            </a:r>
          </a:p>
        </p:txBody>
      </p:sp>
      <p:sp>
        <p:nvSpPr>
          <p:cNvPr id="45" name="">
            <a:extLst xmlns:a="http://schemas.openxmlformats.org/drawingml/2006/main">
              <a:ext uri="{FF2B5EF4-FFF2-40B4-BE49-F238E27FC236}">
                <a16:creationId xmlns:a16="http://schemas.microsoft.com/office/drawing/2014/main" id="{D2E4D29B-0F0F-45DF-BE78-A914729AD01A}"/>
              </a:ext>
            </a:extLst>
          </p:cNvPr>
          <p:cNvSpPr>
            <a:spLocks xmlns:a="http://schemas.openxmlformats.org/drawingml/2006/main" noGrp="1"/>
          </p:cNvSpPr>
          <p:nvPr/>
        </p:nvSpPr>
        <p:spPr>
          <a:xfrm xmlns:a="http://schemas.openxmlformats.org/drawingml/2006/main">
            <a:off x="8763000" y="952500"/>
            <a:ext cx="2743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64010"/>
          </a:bodyPr>
          <a:lstStyle xmlns:a="http://schemas.openxmlformats.org/drawingml/2006/main"/>
          <a:p xmlns:a="http://schemas.openxmlformats.org/drawingml/2006/main">
            <a:pPr algn="l">
              <a:defRPr sz="825" b="0">
                <a:solidFill>
                  <a:srgbClr val="E8FFFA"/>
                </a:solidFill>
              </a:defRPr>
            </a:pPr>
            <a:r>
              <a:rPr sz="825" b="0">
                <a:solidFill>
                  <a:srgbClr val="E8FFFA"/>
                </a:solidFill>
              </a:rPr>
              <a:t>Sunday, October 12, 2025</a:t>
            </a:r>
          </a:p>
        </p:txBody>
      </p:sp>
      <p:sp>
        <p:nvSpPr>
          <p:cNvPr id="46" name="">
            <a:extLst xmlns:a="http://schemas.openxmlformats.org/drawingml/2006/main">
              <a:ext uri="{FF2B5EF4-FFF2-40B4-BE49-F238E27FC236}">
                <a16:creationId xmlns:a16="http://schemas.microsoft.com/office/drawing/2014/main" id="{6A83B0FE-E7C0-46FB-9027-C2E34F037903}"/>
              </a:ext>
            </a:extLst>
          </p:cNvPr>
          <p:cNvSpPr>
            <a:spLocks xmlns:a="http://schemas.openxmlformats.org/drawingml/2006/main" noGrp="1"/>
          </p:cNvSpPr>
          <p:nvPr/>
        </p:nvSpPr>
        <p:spPr>
          <a:xfrm xmlns:a="http://schemas.openxmlformats.org/drawingml/2006/main">
            <a:off x="8763000" y="1276350"/>
            <a:ext cx="274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Lesson from Library   |   Stack</a:t>
            </a:r>
          </a:p>
        </p:txBody>
      </p:sp>
      <p:sp>
        <p:nvSpPr>
          <p:cNvPr id="47" name="">
            <a:extLst xmlns:a="http://schemas.openxmlformats.org/drawingml/2006/main">
              <a:ext uri="{FF2B5EF4-FFF2-40B4-BE49-F238E27FC236}">
                <a16:creationId xmlns:a16="http://schemas.microsoft.com/office/drawing/2014/main" id="{5B5EE14D-C45D-4996-ADCC-F19FB993F70F}"/>
              </a:ext>
            </a:extLst>
          </p:cNvPr>
          <p:cNvSpPr>
            <a:spLocks xmlns:a="http://schemas.openxmlformats.org/drawingml/2006/main" noGrp="1"/>
          </p:cNvSpPr>
          <p:nvPr/>
        </p:nvSpPr>
        <p:spPr>
          <a:xfrm xmlns:a="http://schemas.openxmlformats.org/drawingml/2006/main">
            <a:off x="8763000" y="1543050"/>
            <a:ext cx="2743200" cy="266700"/>
          </a:xfrm>
          <a:prstGeom xmlns:a="http://schemas.openxmlformats.org/drawingml/2006/main" prst="roundRect">
            <a:avLst>
              <a:gd name="adj" fmla="val 28571"/>
            </a:avLst>
          </a:prstGeom>
          <a:solidFill xmlns:a="http://schemas.openxmlformats.org/drawingml/2006/main">
            <a:srgbClr val="FFFAF7"/>
          </a:solidFill>
          <a:ln xmlns:a="http://schemas.openxmlformats.org/drawingml/2006/main" w="9525">
            <a:solidFill>
              <a:srgbClr val="D7E4DF"/>
            </a:solidFill>
            <a:prstDash val="solid"/>
          </a:ln>
        </p:spPr>
      </p:sp>
      <p:sp>
        <p:nvSpPr>
          <p:cNvPr id="48" name="">
            <a:extLst xmlns:a="http://schemas.openxmlformats.org/drawingml/2006/main">
              <a:ext uri="{FF2B5EF4-FFF2-40B4-BE49-F238E27FC236}">
                <a16:creationId xmlns:a16="http://schemas.microsoft.com/office/drawing/2014/main" id="{355246FF-BD5A-4F8A-85B9-668C828825FE}"/>
              </a:ext>
            </a:extLst>
          </p:cNvPr>
          <p:cNvSpPr>
            <a:spLocks xmlns:a="http://schemas.openxmlformats.org/drawingml/2006/main" noGrp="1"/>
          </p:cNvSpPr>
          <p:nvPr/>
        </p:nvSpPr>
        <p:spPr>
          <a:xfrm xmlns:a="http://schemas.openxmlformats.org/drawingml/2006/main">
            <a:off x="8839200" y="1581150"/>
            <a:ext cx="2590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4491"/>
          </a:bodyPr>
          <a:lstStyle xmlns:a="http://schemas.openxmlformats.org/drawingml/2006/main"/>
          <a:p xmlns:a="http://schemas.openxmlformats.org/drawingml/2006/main">
            <a:pPr algn="l">
              <a:defRPr sz="825" b="0">
                <a:solidFill>
                  <a:srgbClr val="5A7275"/>
                </a:solidFill>
              </a:defRPr>
            </a:pPr>
            <a:r>
              <a:rPr sz="825" b="0">
                <a:solidFill>
                  <a:srgbClr val="5A7275"/>
                </a:solidFill>
              </a:rPr>
              <a:t>Search lessons…</a:t>
            </a:r>
          </a:p>
        </p:txBody>
      </p:sp>
      <p:sp>
        <p:nvSpPr>
          <p:cNvPr id="49" name="">
            <a:extLst xmlns:a="http://schemas.openxmlformats.org/drawingml/2006/main">
              <a:ext uri="{FF2B5EF4-FFF2-40B4-BE49-F238E27FC236}">
                <a16:creationId xmlns:a16="http://schemas.microsoft.com/office/drawing/2014/main" id="{E2C185E8-2E32-4348-B570-B5B52EA89502}"/>
              </a:ext>
            </a:extLst>
          </p:cNvPr>
          <p:cNvSpPr>
            <a:spLocks xmlns:a="http://schemas.openxmlformats.org/drawingml/2006/main" noGrp="1"/>
          </p:cNvSpPr>
          <p:nvPr/>
        </p:nvSpPr>
        <p:spPr>
          <a:xfrm xmlns:a="http://schemas.openxmlformats.org/drawingml/2006/main">
            <a:off x="8763000" y="1905000"/>
            <a:ext cx="2743200" cy="666750"/>
          </a:xfrm>
          <a:prstGeom xmlns:a="http://schemas.openxmlformats.org/drawingml/2006/main" prst="roundRect">
            <a:avLst>
              <a:gd name="adj" fmla="val 11429"/>
            </a:avLst>
          </a:prstGeom>
          <a:solidFill xmlns:a="http://schemas.openxmlformats.org/drawingml/2006/main">
            <a:srgbClr val="E8FAF6"/>
          </a:solidFill>
          <a:ln xmlns:a="http://schemas.openxmlformats.org/drawingml/2006/main" w="14288">
            <a:solidFill>
              <a:srgbClr val="002D24"/>
            </a:solidFill>
            <a:prstDash val="solid"/>
          </a:ln>
        </p:spPr>
      </p:sp>
      <p:sp>
        <p:nvSpPr>
          <p:cNvPr id="50" name="">
            <a:extLst xmlns:a="http://schemas.openxmlformats.org/drawingml/2006/main">
              <a:ext uri="{FF2B5EF4-FFF2-40B4-BE49-F238E27FC236}">
                <a16:creationId xmlns:a16="http://schemas.microsoft.com/office/drawing/2014/main" id="{DEB4AF17-A387-4266-BB68-0BC4D1FB7491}"/>
              </a:ext>
            </a:extLst>
          </p:cNvPr>
          <p:cNvSpPr>
            <a:spLocks xmlns:a="http://schemas.openxmlformats.org/drawingml/2006/main" noGrp="1"/>
          </p:cNvSpPr>
          <p:nvPr/>
        </p:nvSpPr>
        <p:spPr>
          <a:xfrm xmlns:a="http://schemas.openxmlformats.org/drawingml/2006/main">
            <a:off x="8839200" y="1962150"/>
            <a:ext cx="2019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8120"/>
          </a:bodyPr>
          <a:lstStyle xmlns:a="http://schemas.openxmlformats.org/drawingml/2006/main"/>
          <a:p xmlns:a="http://schemas.openxmlformats.org/drawingml/2006/main">
            <a:pPr algn="l">
              <a:defRPr sz="975" b="1">
                <a:solidFill>
                  <a:srgbClr val="0F2A2E"/>
                </a:solidFill>
              </a:defRPr>
            </a:pPr>
            <a:r>
              <a:rPr sz="975" b="1">
                <a:solidFill>
                  <a:srgbClr val="0F2A2E"/>
                </a:solidFill>
              </a:rPr>
              <a:t>Commedia KS3 unit</a:t>
            </a:r>
          </a:p>
        </p:txBody>
      </p:sp>
      <p:sp>
        <p:nvSpPr>
          <p:cNvPr id="51" name="">
            <a:extLst xmlns:a="http://schemas.openxmlformats.org/drawingml/2006/main">
              <a:ext uri="{FF2B5EF4-FFF2-40B4-BE49-F238E27FC236}">
                <a16:creationId xmlns:a16="http://schemas.microsoft.com/office/drawing/2014/main" id="{1764B812-2A3C-4B82-A933-D5EADD21E230}"/>
              </a:ext>
            </a:extLst>
          </p:cNvPr>
          <p:cNvSpPr>
            <a:spLocks xmlns:a="http://schemas.openxmlformats.org/drawingml/2006/main" noGrp="1"/>
          </p:cNvSpPr>
          <p:nvPr/>
        </p:nvSpPr>
        <p:spPr>
          <a:xfrm xmlns:a="http://schemas.openxmlformats.org/drawingml/2006/main">
            <a:off x="10477500" y="1962150"/>
            <a:ext cx="95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5175"/>
          </a:bodyPr>
          <a:lstStyle xmlns:a="http://schemas.openxmlformats.org/drawingml/2006/main"/>
          <a:p xmlns:a="http://schemas.openxmlformats.org/drawingml/2006/main">
            <a:pPr algn="r">
              <a:defRPr sz="750" b="1">
                <a:solidFill>
                  <a:srgbClr val="002D24"/>
                </a:solidFill>
              </a:defRPr>
            </a:pPr>
            <a:r>
              <a:rPr sz="750" b="1">
                <a:solidFill>
                  <a:srgbClr val="002D24"/>
                </a:solidFill>
              </a:rPr>
              <a:t>Stack · 4 lessons</a:t>
            </a:r>
          </a:p>
        </p:txBody>
      </p:sp>
      <p:sp>
        <p:nvSpPr>
          <p:cNvPr id="52" name="">
            <a:extLst xmlns:a="http://schemas.openxmlformats.org/drawingml/2006/main">
              <a:ext uri="{FF2B5EF4-FFF2-40B4-BE49-F238E27FC236}">
                <a16:creationId xmlns:a16="http://schemas.microsoft.com/office/drawing/2014/main" id="{E85F2501-554A-4F33-8049-865DA0841104}"/>
              </a:ext>
            </a:extLst>
          </p:cNvPr>
          <p:cNvSpPr>
            <a:spLocks xmlns:a="http://schemas.openxmlformats.org/drawingml/2006/main" noGrp="1"/>
          </p:cNvSpPr>
          <p:nvPr/>
        </p:nvSpPr>
        <p:spPr>
          <a:xfrm xmlns:a="http://schemas.openxmlformats.org/drawingml/2006/main">
            <a:off x="8839200" y="2209800"/>
            <a:ext cx="2590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Spreads across your Mon &amp; Thu timetable slots</a:t>
            </a:r>
          </a:p>
        </p:txBody>
      </p:sp>
      <p:sp>
        <p:nvSpPr>
          <p:cNvPr id="53" name="">
            <a:extLst xmlns:a="http://schemas.openxmlformats.org/drawingml/2006/main">
              <a:ext uri="{FF2B5EF4-FFF2-40B4-BE49-F238E27FC236}">
                <a16:creationId xmlns:a16="http://schemas.microsoft.com/office/drawing/2014/main" id="{2250BEBF-A62A-48B4-AB81-23973F672067}"/>
              </a:ext>
            </a:extLst>
          </p:cNvPr>
          <p:cNvSpPr>
            <a:spLocks xmlns:a="http://schemas.openxmlformats.org/drawingml/2006/main" noGrp="1"/>
          </p:cNvSpPr>
          <p:nvPr/>
        </p:nvSpPr>
        <p:spPr>
          <a:xfrm xmlns:a="http://schemas.openxmlformats.org/drawingml/2006/main">
            <a:off x="8763000" y="2705100"/>
            <a:ext cx="274320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4DF"/>
            </a:solidFill>
            <a:prstDash val="solid"/>
          </a:ln>
        </p:spPr>
      </p:sp>
      <p:sp>
        <p:nvSpPr>
          <p:cNvPr id="54" name="">
            <a:extLst xmlns:a="http://schemas.openxmlformats.org/drawingml/2006/main">
              <a:ext uri="{FF2B5EF4-FFF2-40B4-BE49-F238E27FC236}">
                <a16:creationId xmlns:a16="http://schemas.microsoft.com/office/drawing/2014/main" id="{D33E44D2-A3F8-46E5-93AA-2CAF0E575F9B}"/>
              </a:ext>
            </a:extLst>
          </p:cNvPr>
          <p:cNvSpPr>
            <a:spLocks xmlns:a="http://schemas.openxmlformats.org/drawingml/2006/main" noGrp="1"/>
          </p:cNvSpPr>
          <p:nvPr/>
        </p:nvSpPr>
        <p:spPr>
          <a:xfrm xmlns:a="http://schemas.openxmlformats.org/drawingml/2006/main">
            <a:off x="8839200" y="2762250"/>
            <a:ext cx="2590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0980"/>
          </a:bodyPr>
          <a:lstStyle xmlns:a="http://schemas.openxmlformats.org/drawingml/2006/main"/>
          <a:p xmlns:a="http://schemas.openxmlformats.org/drawingml/2006/main">
            <a:pPr algn="l">
              <a:defRPr sz="900" b="1">
                <a:solidFill>
                  <a:srgbClr val="0F2A2E"/>
                </a:solidFill>
              </a:defRPr>
            </a:pPr>
            <a:r>
              <a:rPr sz="900" b="1">
                <a:solidFill>
                  <a:srgbClr val="0F2A2E"/>
                </a:solidFill>
              </a:rPr>
              <a:t>Freeze-frame storytelling</a:t>
            </a:r>
          </a:p>
        </p:txBody>
      </p:sp>
      <p:sp>
        <p:nvSpPr>
          <p:cNvPr id="55" name="">
            <a:extLst xmlns:a="http://schemas.openxmlformats.org/drawingml/2006/main">
              <a:ext uri="{FF2B5EF4-FFF2-40B4-BE49-F238E27FC236}">
                <a16:creationId xmlns:a16="http://schemas.microsoft.com/office/drawing/2014/main" id="{86ABFD35-22C1-41D7-9E0B-D74AFA7809C8}"/>
              </a:ext>
            </a:extLst>
          </p:cNvPr>
          <p:cNvSpPr>
            <a:spLocks xmlns:a="http://schemas.openxmlformats.org/drawingml/2006/main" noGrp="1"/>
          </p:cNvSpPr>
          <p:nvPr/>
        </p:nvSpPr>
        <p:spPr>
          <a:xfrm xmlns:a="http://schemas.openxmlformats.org/drawingml/2006/main">
            <a:off x="8839200" y="2952750"/>
            <a:ext cx="2590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53647"/>
          </a:bodyPr>
          <a:lstStyle xmlns:a="http://schemas.openxmlformats.org/drawingml/2006/main"/>
          <a:p xmlns:a="http://schemas.openxmlformats.org/drawingml/2006/main">
            <a:pPr algn="l">
              <a:defRPr sz="750" b="0">
                <a:solidFill>
                  <a:srgbClr val="5A7275"/>
                </a:solidFill>
              </a:defRPr>
            </a:pPr>
            <a:r>
              <a:rPr sz="750" b="0">
                <a:solidFill>
                  <a:srgbClr val="5A7275"/>
                </a:solidFill>
              </a:rPr>
              <a:t>Drama · Year 4 · 45 min</a:t>
            </a:r>
          </a:p>
        </p:txBody>
      </p:sp>
      <p:sp>
        <p:nvSpPr>
          <p:cNvPr id="56" name="">
            <a:extLst xmlns:a="http://schemas.openxmlformats.org/drawingml/2006/main">
              <a:ext uri="{FF2B5EF4-FFF2-40B4-BE49-F238E27FC236}">
                <a16:creationId xmlns:a16="http://schemas.microsoft.com/office/drawing/2014/main" id="{B4D6CDF6-81AF-42B1-8C42-E1BFD79B3954}"/>
              </a:ext>
            </a:extLst>
          </p:cNvPr>
          <p:cNvSpPr>
            <a:spLocks xmlns:a="http://schemas.openxmlformats.org/drawingml/2006/main" noGrp="1"/>
          </p:cNvSpPr>
          <p:nvPr/>
        </p:nvSpPr>
        <p:spPr>
          <a:xfrm xmlns:a="http://schemas.openxmlformats.org/drawingml/2006/main">
            <a:off x="8763000" y="3238500"/>
            <a:ext cx="274320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4DF"/>
            </a:solidFill>
            <a:prstDash val="solid"/>
          </a:ln>
        </p:spPr>
      </p:sp>
      <p:sp>
        <p:nvSpPr>
          <p:cNvPr id="57" name="">
            <a:extLst xmlns:a="http://schemas.openxmlformats.org/drawingml/2006/main">
              <a:ext uri="{FF2B5EF4-FFF2-40B4-BE49-F238E27FC236}">
                <a16:creationId xmlns:a16="http://schemas.microsoft.com/office/drawing/2014/main" id="{376758F6-86C7-45F0-B5B8-E4D3E616F6B7}"/>
              </a:ext>
            </a:extLst>
          </p:cNvPr>
          <p:cNvSpPr>
            <a:spLocks xmlns:a="http://schemas.openxmlformats.org/drawingml/2006/main" noGrp="1"/>
          </p:cNvSpPr>
          <p:nvPr/>
        </p:nvSpPr>
        <p:spPr>
          <a:xfrm xmlns:a="http://schemas.openxmlformats.org/drawingml/2006/main">
            <a:off x="8839200" y="3295650"/>
            <a:ext cx="2590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0980"/>
          </a:bodyPr>
          <a:lstStyle xmlns:a="http://schemas.openxmlformats.org/drawingml/2006/main"/>
          <a:p xmlns:a="http://schemas.openxmlformats.org/drawingml/2006/main">
            <a:pPr algn="l">
              <a:defRPr sz="900" b="1">
                <a:solidFill>
                  <a:srgbClr val="0F2A2E"/>
                </a:solidFill>
              </a:defRPr>
            </a:pPr>
            <a:r>
              <a:rPr sz="900" b="1">
                <a:solidFill>
                  <a:srgbClr val="0F2A2E"/>
                </a:solidFill>
              </a:rPr>
              <a:t>Rhythms of West Africa</a:t>
            </a:r>
          </a:p>
        </p:txBody>
      </p:sp>
      <p:sp>
        <p:nvSpPr>
          <p:cNvPr id="58" name="">
            <a:extLst xmlns:a="http://schemas.openxmlformats.org/drawingml/2006/main">
              <a:ext uri="{FF2B5EF4-FFF2-40B4-BE49-F238E27FC236}">
                <a16:creationId xmlns:a16="http://schemas.microsoft.com/office/drawing/2014/main" id="{1C434E05-DA8F-426D-A1DD-3FFC5A2FF883}"/>
              </a:ext>
            </a:extLst>
          </p:cNvPr>
          <p:cNvSpPr>
            <a:spLocks xmlns:a="http://schemas.openxmlformats.org/drawingml/2006/main" noGrp="1"/>
          </p:cNvSpPr>
          <p:nvPr/>
        </p:nvSpPr>
        <p:spPr>
          <a:xfrm xmlns:a="http://schemas.openxmlformats.org/drawingml/2006/main">
            <a:off x="8839200" y="3486150"/>
            <a:ext cx="2590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53647"/>
          </a:bodyPr>
          <a:lstStyle xmlns:a="http://schemas.openxmlformats.org/drawingml/2006/main"/>
          <a:p xmlns:a="http://schemas.openxmlformats.org/drawingml/2006/main">
            <a:pPr algn="l">
              <a:defRPr sz="750" b="0">
                <a:solidFill>
                  <a:srgbClr val="5A7275"/>
                </a:solidFill>
              </a:defRPr>
            </a:pPr>
            <a:r>
              <a:rPr sz="750" b="0">
                <a:solidFill>
                  <a:srgbClr val="5A7275"/>
                </a:solidFill>
              </a:rPr>
              <a:t>Music · Year 3 · 40 min</a:t>
            </a:r>
          </a:p>
        </p:txBody>
      </p:sp>
      <p:sp>
        <p:nvSpPr>
          <p:cNvPr id="59" name="">
            <a:extLst xmlns:a="http://schemas.openxmlformats.org/drawingml/2006/main">
              <a:ext uri="{FF2B5EF4-FFF2-40B4-BE49-F238E27FC236}">
                <a16:creationId xmlns:a16="http://schemas.microsoft.com/office/drawing/2014/main" id="{73E5F324-67B8-46AD-AE78-276696F64B9A}"/>
              </a:ext>
            </a:extLst>
          </p:cNvPr>
          <p:cNvSpPr>
            <a:spLocks xmlns:a="http://schemas.openxmlformats.org/drawingml/2006/main" noGrp="1"/>
          </p:cNvSpPr>
          <p:nvPr/>
        </p:nvSpPr>
        <p:spPr>
          <a:xfrm xmlns:a="http://schemas.openxmlformats.org/drawingml/2006/main">
            <a:off x="8763000" y="5791200"/>
            <a:ext cx="133731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750" b="0">
                <a:solidFill>
                  <a:srgbClr val="5A7275"/>
                </a:solidFill>
              </a:defRPr>
            </a:pPr>
            <a:r>
              <a:rPr sz="750" b="0">
                <a:solidFill>
                  <a:srgbClr val="5A7275"/>
                </a:solidFill>
              </a:rPr>
              <a:t>4 sessions from start date</a:t>
            </a:r>
          </a:p>
        </p:txBody>
      </p:sp>
      <p:sp>
        <p:nvSpPr>
          <p:cNvPr id="60" name="">
            <a:extLst xmlns:a="http://schemas.openxmlformats.org/drawingml/2006/main">
              <a:ext uri="{FF2B5EF4-FFF2-40B4-BE49-F238E27FC236}">
                <a16:creationId xmlns:a16="http://schemas.microsoft.com/office/drawing/2014/main" id="{06BD7547-AD3B-43E3-BCA1-E5D82B5BC8FC}"/>
              </a:ext>
            </a:extLst>
          </p:cNvPr>
          <p:cNvSpPr>
            <a:spLocks xmlns:a="http://schemas.openxmlformats.org/drawingml/2006/main" noGrp="1"/>
          </p:cNvSpPr>
          <p:nvPr/>
        </p:nvSpPr>
        <p:spPr>
          <a:xfrm xmlns:a="http://schemas.openxmlformats.org/drawingml/2006/main">
            <a:off x="10191750" y="5753100"/>
            <a:ext cx="1238250" cy="285750"/>
          </a:xfrm>
          <a:prstGeom xmlns:a="http://schemas.openxmlformats.org/drawingml/2006/main" prst="roundRect">
            <a:avLst>
              <a:gd name="adj" fmla="val 26667"/>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61" name="">
            <a:extLst xmlns:a="http://schemas.openxmlformats.org/drawingml/2006/main">
              <a:ext uri="{FF2B5EF4-FFF2-40B4-BE49-F238E27FC236}">
                <a16:creationId xmlns:a16="http://schemas.microsoft.com/office/drawing/2014/main" id="{3ABAC5ED-73A8-4FDB-AED8-4F8107BF1BBB}"/>
              </a:ext>
            </a:extLst>
          </p:cNvPr>
          <p:cNvSpPr>
            <a:spLocks xmlns:a="http://schemas.openxmlformats.org/drawingml/2006/main" noGrp="1"/>
          </p:cNvSpPr>
          <p:nvPr/>
        </p:nvSpPr>
        <p:spPr>
          <a:xfrm xmlns:a="http://schemas.openxmlformats.org/drawingml/2006/main">
            <a:off x="10191750" y="5791200"/>
            <a:ext cx="1238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825" b="1">
                <a:solidFill>
                  <a:srgbClr val="FFFFFF"/>
                </a:solidFill>
              </a:defRPr>
            </a:pPr>
            <a:r>
              <a:rPr sz="825" b="1">
                <a:solidFill>
                  <a:srgbClr val="FFFFFF"/>
                </a:solidFill>
              </a:rPr>
              <a:t>Add to Calendar</a:t>
            </a:r>
          </a:p>
        </p:txBody>
      </p:sp>
      <p:sp>
        <p:nvSpPr>
          <p:cNvPr id="62" name="">
            <a:extLst xmlns:a="http://schemas.openxmlformats.org/drawingml/2006/main">
              <a:ext uri="{FF2B5EF4-FFF2-40B4-BE49-F238E27FC236}">
                <a16:creationId xmlns:a16="http://schemas.microsoft.com/office/drawing/2014/main" id="{8E3FCE8B-6766-4BEE-AC97-6E7690296868}"/>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63" name="">
            <a:extLst xmlns:a="http://schemas.openxmlformats.org/drawingml/2006/main">
              <a:ext uri="{FF2B5EF4-FFF2-40B4-BE49-F238E27FC236}">
                <a16:creationId xmlns:a16="http://schemas.microsoft.com/office/drawing/2014/main" id="{81B7ABC7-6B3B-416E-AC26-080E9D3CC5DC}"/>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12 / 25</a:t>
            </a:r>
          </a:p>
        </p:txBody>
      </p:sp>
    </p:spTree>
    <p:extLst>
      <p:ext uri="{BB962C8B-B14F-4D97-AF65-F5344CB8AC3E}">
        <p14:creationId xmlns:p14="http://schemas.microsoft.com/office/powerpoint/2010/main" val="20385775"/>
      </p:ext>
    </p:extLst>
  </p:cSld>
</p:sld>
</file>

<file path=ppt/slides/slide13.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231F9C5B-57CF-478E-81D5-F75BB67BF11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81B29C8-15C2-4A79-AA74-C44DEF0C2AF5}"/>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DA3819B-07CB-4443-A29A-3F3F6BEE6DDF}"/>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7F50CE6-7C6D-4AA8-96F2-0DEFCBB6A7AE}"/>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How it works</a:t>
            </a:r>
          </a:p>
        </p:txBody>
      </p:sp>
      <p:sp>
        <p:nvSpPr>
          <p:cNvPr id="6" name="">
            <a:extLst xmlns:a="http://schemas.openxmlformats.org/drawingml/2006/main">
              <a:ext uri="{FF2B5EF4-FFF2-40B4-BE49-F238E27FC236}">
                <a16:creationId xmlns:a16="http://schemas.microsoft.com/office/drawing/2014/main" id="{44E19062-7BF5-44DB-87A0-06F67B0ADFDC}"/>
              </a:ext>
            </a:extLst>
          </p:cNvPr>
          <p:cNvSpPr>
            <a:spLocks xmlns:a="http://schemas.openxmlformats.org/drawingml/2006/main" noGrp="1"/>
          </p:cNvSpPr>
          <p:nvPr/>
        </p:nvSpPr>
        <p:spPr>
          <a:xfrm xmlns:a="http://schemas.openxmlformats.org/drawingml/2006/main">
            <a:off x="609600" y="647700"/>
            <a:ext cx="109537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02D24"/>
                </a:solidFill>
              </a:defRPr>
            </a:pPr>
            <a:r>
              <a:rPr sz="2100" b="1">
                <a:solidFill>
                  <a:srgbClr val="002D24"/>
                </a:solidFill>
              </a:rPr>
              <a:t>From empty term to ready-to-teach.</a:t>
            </a:r>
          </a:p>
        </p:txBody>
      </p:sp>
      <p:sp>
        <p:nvSpPr>
          <p:cNvPr id="7" name="">
            <a:extLst xmlns:a="http://schemas.openxmlformats.org/drawingml/2006/main">
              <a:ext uri="{FF2B5EF4-FFF2-40B4-BE49-F238E27FC236}">
                <a16:creationId xmlns:a16="http://schemas.microsoft.com/office/drawing/2014/main" id="{B0E9318F-9165-4CBB-9C9A-EC7C2316EEBE}"/>
              </a:ext>
            </a:extLst>
          </p:cNvPr>
          <p:cNvSpPr>
            <a:spLocks xmlns:a="http://schemas.openxmlformats.org/drawingml/2006/main" noGrp="1"/>
          </p:cNvSpPr>
          <p:nvPr/>
        </p:nvSpPr>
        <p:spPr>
          <a:xfrm xmlns:a="http://schemas.openxmlformats.org/drawingml/2006/main">
            <a:off x="609600" y="1428750"/>
            <a:ext cx="2657475" cy="19050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7E4DF"/>
            </a:solidFill>
            <a:prstDash val="solid"/>
          </a:ln>
        </p:spPr>
      </p:sp>
      <p:sp>
        <p:nvSpPr>
          <p:cNvPr id="8" name="">
            <a:extLst xmlns:a="http://schemas.openxmlformats.org/drawingml/2006/main">
              <a:ext uri="{FF2B5EF4-FFF2-40B4-BE49-F238E27FC236}">
                <a16:creationId xmlns:a16="http://schemas.microsoft.com/office/drawing/2014/main" id="{8F39E02C-AF0F-4D99-9727-F942E55AD761}"/>
              </a:ext>
            </a:extLst>
          </p:cNvPr>
          <p:cNvSpPr>
            <a:spLocks xmlns:a="http://schemas.openxmlformats.org/drawingml/2006/main" noGrp="1"/>
          </p:cNvSpPr>
          <p:nvPr/>
        </p:nvSpPr>
        <p:spPr>
          <a:xfrm xmlns:a="http://schemas.openxmlformats.org/drawingml/2006/main">
            <a:off x="723900" y="1543050"/>
            <a:ext cx="24288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3947"/>
          </a:bodyPr>
          <a:lstStyle xmlns:a="http://schemas.openxmlformats.org/drawingml/2006/main"/>
          <a:p xmlns:a="http://schemas.openxmlformats.org/drawingml/2006/main">
            <a:pPr algn="l">
              <a:defRPr sz="1200" b="1">
                <a:solidFill>
                  <a:srgbClr val="002D24"/>
                </a:solidFill>
              </a:defRPr>
            </a:pPr>
            <a:r>
              <a:rPr sz="1200" b="1">
                <a:solidFill>
                  <a:srgbClr val="002D24"/>
                </a:solidFill>
              </a:rPr>
              <a:t>01</a:t>
            </a:r>
          </a:p>
        </p:txBody>
      </p:sp>
      <p:sp>
        <p:nvSpPr>
          <p:cNvPr id="9" name="">
            <a:extLst xmlns:a="http://schemas.openxmlformats.org/drawingml/2006/main">
              <a:ext uri="{FF2B5EF4-FFF2-40B4-BE49-F238E27FC236}">
                <a16:creationId xmlns:a16="http://schemas.microsoft.com/office/drawing/2014/main" id="{DEDF380C-086B-4913-8C02-50B5B558049A}"/>
              </a:ext>
            </a:extLst>
          </p:cNvPr>
          <p:cNvSpPr>
            <a:spLocks xmlns:a="http://schemas.openxmlformats.org/drawingml/2006/main" noGrp="1"/>
          </p:cNvSpPr>
          <p:nvPr/>
        </p:nvSpPr>
        <p:spPr>
          <a:xfrm xmlns:a="http://schemas.openxmlformats.org/drawingml/2006/main">
            <a:off x="723900" y="1847850"/>
            <a:ext cx="24288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Map the year</a:t>
            </a:r>
          </a:p>
        </p:txBody>
      </p:sp>
      <p:sp>
        <p:nvSpPr>
          <p:cNvPr id="10" name="">
            <a:extLst xmlns:a="http://schemas.openxmlformats.org/drawingml/2006/main">
              <a:ext uri="{FF2B5EF4-FFF2-40B4-BE49-F238E27FC236}">
                <a16:creationId xmlns:a16="http://schemas.microsoft.com/office/drawing/2014/main" id="{8D7174B8-A977-44A0-941A-CBA9AF00EE75}"/>
              </a:ext>
            </a:extLst>
          </p:cNvPr>
          <p:cNvSpPr>
            <a:spLocks xmlns:a="http://schemas.openxmlformats.org/drawingml/2006/main" noGrp="1"/>
          </p:cNvSpPr>
          <p:nvPr/>
        </p:nvSpPr>
        <p:spPr>
          <a:xfrm xmlns:a="http://schemas.openxmlformats.org/drawingml/2006/main">
            <a:off x="723900" y="2343150"/>
            <a:ext cx="2428875"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Open the half-term planner and sketch the arc of your year. Themes, units and topic windows.</a:t>
            </a:r>
          </a:p>
        </p:txBody>
      </p:sp>
      <p:sp>
        <p:nvSpPr>
          <p:cNvPr id="11" name="">
            <a:extLst xmlns:a="http://schemas.openxmlformats.org/drawingml/2006/main">
              <a:ext uri="{FF2B5EF4-FFF2-40B4-BE49-F238E27FC236}">
                <a16:creationId xmlns:a16="http://schemas.microsoft.com/office/drawing/2014/main" id="{7BDB81CE-4A66-4113-BE58-15409759861D}"/>
              </a:ext>
            </a:extLst>
          </p:cNvPr>
          <p:cNvSpPr>
            <a:spLocks xmlns:a="http://schemas.openxmlformats.org/drawingml/2006/main" noGrp="1"/>
          </p:cNvSpPr>
          <p:nvPr/>
        </p:nvSpPr>
        <p:spPr>
          <a:xfrm xmlns:a="http://schemas.openxmlformats.org/drawingml/2006/main">
            <a:off x="3381375" y="1428750"/>
            <a:ext cx="2657475" cy="19050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7E4DF"/>
            </a:solidFill>
            <a:prstDash val="solid"/>
          </a:ln>
        </p:spPr>
      </p:sp>
      <p:sp>
        <p:nvSpPr>
          <p:cNvPr id="12" name="">
            <a:extLst xmlns:a="http://schemas.openxmlformats.org/drawingml/2006/main">
              <a:ext uri="{FF2B5EF4-FFF2-40B4-BE49-F238E27FC236}">
                <a16:creationId xmlns:a16="http://schemas.microsoft.com/office/drawing/2014/main" id="{90C57668-D5C8-41D9-A5EC-656F6E743185}"/>
              </a:ext>
            </a:extLst>
          </p:cNvPr>
          <p:cNvSpPr>
            <a:spLocks xmlns:a="http://schemas.openxmlformats.org/drawingml/2006/main" noGrp="1"/>
          </p:cNvSpPr>
          <p:nvPr/>
        </p:nvSpPr>
        <p:spPr>
          <a:xfrm xmlns:a="http://schemas.openxmlformats.org/drawingml/2006/main">
            <a:off x="3495675" y="1543050"/>
            <a:ext cx="24288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3947"/>
          </a:bodyPr>
          <a:lstStyle xmlns:a="http://schemas.openxmlformats.org/drawingml/2006/main"/>
          <a:p xmlns:a="http://schemas.openxmlformats.org/drawingml/2006/main">
            <a:pPr algn="l">
              <a:defRPr sz="1200" b="1">
                <a:solidFill>
                  <a:srgbClr val="002D24"/>
                </a:solidFill>
              </a:defRPr>
            </a:pPr>
            <a:r>
              <a:rPr sz="1200" b="1">
                <a:solidFill>
                  <a:srgbClr val="002D24"/>
                </a:solidFill>
              </a:rPr>
              <a:t>02</a:t>
            </a:r>
          </a:p>
        </p:txBody>
      </p:sp>
      <p:sp>
        <p:nvSpPr>
          <p:cNvPr id="13" name="">
            <a:extLst xmlns:a="http://schemas.openxmlformats.org/drawingml/2006/main">
              <a:ext uri="{FF2B5EF4-FFF2-40B4-BE49-F238E27FC236}">
                <a16:creationId xmlns:a16="http://schemas.microsoft.com/office/drawing/2014/main" id="{148E7F50-0BAD-40A6-8075-1035E1B9B54C}"/>
              </a:ext>
            </a:extLst>
          </p:cNvPr>
          <p:cNvSpPr>
            <a:spLocks xmlns:a="http://schemas.openxmlformats.org/drawingml/2006/main" noGrp="1"/>
          </p:cNvSpPr>
          <p:nvPr/>
        </p:nvSpPr>
        <p:spPr>
          <a:xfrm xmlns:a="http://schemas.openxmlformats.org/drawingml/2006/main">
            <a:off x="3495675" y="1847850"/>
            <a:ext cx="24288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Pull from the library</a:t>
            </a:r>
          </a:p>
        </p:txBody>
      </p:sp>
      <p:sp>
        <p:nvSpPr>
          <p:cNvPr id="14" name="">
            <a:extLst xmlns:a="http://schemas.openxmlformats.org/drawingml/2006/main">
              <a:ext uri="{FF2B5EF4-FFF2-40B4-BE49-F238E27FC236}">
                <a16:creationId xmlns:a16="http://schemas.microsoft.com/office/drawing/2014/main" id="{DDC5507C-2557-479A-A494-D9ADD2F55D42}"/>
              </a:ext>
            </a:extLst>
          </p:cNvPr>
          <p:cNvSpPr>
            <a:spLocks xmlns:a="http://schemas.openxmlformats.org/drawingml/2006/main" noGrp="1"/>
          </p:cNvSpPr>
          <p:nvPr/>
        </p:nvSpPr>
        <p:spPr>
          <a:xfrm xmlns:a="http://schemas.openxmlformats.org/drawingml/2006/main">
            <a:off x="3495675" y="2343150"/>
            <a:ext cx="2428875"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Drop existing lessons into each half-term or duplicate one and tweak it for a new year group.</a:t>
            </a:r>
          </a:p>
        </p:txBody>
      </p:sp>
      <p:sp>
        <p:nvSpPr>
          <p:cNvPr id="15" name="">
            <a:extLst xmlns:a="http://schemas.openxmlformats.org/drawingml/2006/main">
              <a:ext uri="{FF2B5EF4-FFF2-40B4-BE49-F238E27FC236}">
                <a16:creationId xmlns:a16="http://schemas.microsoft.com/office/drawing/2014/main" id="{EE397049-D14B-44D9-BD04-AF5EDE65BA82}"/>
              </a:ext>
            </a:extLst>
          </p:cNvPr>
          <p:cNvSpPr>
            <a:spLocks xmlns:a="http://schemas.openxmlformats.org/drawingml/2006/main" noGrp="1"/>
          </p:cNvSpPr>
          <p:nvPr/>
        </p:nvSpPr>
        <p:spPr>
          <a:xfrm xmlns:a="http://schemas.openxmlformats.org/drawingml/2006/main">
            <a:off x="6153150" y="1428750"/>
            <a:ext cx="2657475" cy="19050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7E4DF"/>
            </a:solidFill>
            <a:prstDash val="solid"/>
          </a:ln>
        </p:spPr>
      </p:sp>
      <p:sp>
        <p:nvSpPr>
          <p:cNvPr id="16" name="">
            <a:extLst xmlns:a="http://schemas.openxmlformats.org/drawingml/2006/main">
              <a:ext uri="{FF2B5EF4-FFF2-40B4-BE49-F238E27FC236}">
                <a16:creationId xmlns:a16="http://schemas.microsoft.com/office/drawing/2014/main" id="{E3D01991-16D5-4178-B0E7-B233B21D87D0}"/>
              </a:ext>
            </a:extLst>
          </p:cNvPr>
          <p:cNvSpPr>
            <a:spLocks xmlns:a="http://schemas.openxmlformats.org/drawingml/2006/main" noGrp="1"/>
          </p:cNvSpPr>
          <p:nvPr/>
        </p:nvSpPr>
        <p:spPr>
          <a:xfrm xmlns:a="http://schemas.openxmlformats.org/drawingml/2006/main">
            <a:off x="6267450" y="1543050"/>
            <a:ext cx="24288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3947"/>
          </a:bodyPr>
          <a:lstStyle xmlns:a="http://schemas.openxmlformats.org/drawingml/2006/main"/>
          <a:p xmlns:a="http://schemas.openxmlformats.org/drawingml/2006/main">
            <a:pPr algn="l">
              <a:defRPr sz="1200" b="1">
                <a:solidFill>
                  <a:srgbClr val="002D24"/>
                </a:solidFill>
              </a:defRPr>
            </a:pPr>
            <a:r>
              <a:rPr sz="1200" b="1">
                <a:solidFill>
                  <a:srgbClr val="002D24"/>
                </a:solidFill>
              </a:rPr>
              <a:t>03</a:t>
            </a:r>
          </a:p>
        </p:txBody>
      </p:sp>
      <p:sp>
        <p:nvSpPr>
          <p:cNvPr id="17" name="">
            <a:extLst xmlns:a="http://schemas.openxmlformats.org/drawingml/2006/main">
              <a:ext uri="{FF2B5EF4-FFF2-40B4-BE49-F238E27FC236}">
                <a16:creationId xmlns:a16="http://schemas.microsoft.com/office/drawing/2014/main" id="{F83CDA52-33CB-444E-A3D9-50FE814A28B3}"/>
              </a:ext>
            </a:extLst>
          </p:cNvPr>
          <p:cNvSpPr>
            <a:spLocks xmlns:a="http://schemas.openxmlformats.org/drawingml/2006/main" noGrp="1"/>
          </p:cNvSpPr>
          <p:nvPr/>
        </p:nvSpPr>
        <p:spPr>
          <a:xfrm xmlns:a="http://schemas.openxmlformats.org/drawingml/2006/main">
            <a:off x="6267450" y="1847850"/>
            <a:ext cx="24288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Stack the activities</a:t>
            </a:r>
          </a:p>
        </p:txBody>
      </p:sp>
      <p:sp>
        <p:nvSpPr>
          <p:cNvPr id="18" name="">
            <a:extLst xmlns:a="http://schemas.openxmlformats.org/drawingml/2006/main">
              <a:ext uri="{FF2B5EF4-FFF2-40B4-BE49-F238E27FC236}">
                <a16:creationId xmlns:a16="http://schemas.microsoft.com/office/drawing/2014/main" id="{F92A59FB-BFA5-41F9-B6DA-C2A53ABD6835}"/>
              </a:ext>
            </a:extLst>
          </p:cNvPr>
          <p:cNvSpPr>
            <a:spLocks xmlns:a="http://schemas.openxmlformats.org/drawingml/2006/main" noGrp="1"/>
          </p:cNvSpPr>
          <p:nvPr/>
        </p:nvSpPr>
        <p:spPr>
          <a:xfrm xmlns:a="http://schemas.openxmlformats.org/drawingml/2006/main">
            <a:off x="6267450" y="2343150"/>
            <a:ext cx="2428875"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Add warm-ups, mains and plenaries. Save winning combinations as reusable stacks.</a:t>
            </a:r>
          </a:p>
        </p:txBody>
      </p:sp>
      <p:sp>
        <p:nvSpPr>
          <p:cNvPr id="19" name="">
            <a:extLst xmlns:a="http://schemas.openxmlformats.org/drawingml/2006/main">
              <a:ext uri="{FF2B5EF4-FFF2-40B4-BE49-F238E27FC236}">
                <a16:creationId xmlns:a16="http://schemas.microsoft.com/office/drawing/2014/main" id="{C442A6E0-5D6D-4C82-B7B5-A03E0449D7AF}"/>
              </a:ext>
            </a:extLst>
          </p:cNvPr>
          <p:cNvSpPr>
            <a:spLocks xmlns:a="http://schemas.openxmlformats.org/drawingml/2006/main" noGrp="1"/>
          </p:cNvSpPr>
          <p:nvPr/>
        </p:nvSpPr>
        <p:spPr>
          <a:xfrm xmlns:a="http://schemas.openxmlformats.org/drawingml/2006/main">
            <a:off x="8924925" y="1428750"/>
            <a:ext cx="2657475" cy="19050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7E4DF"/>
            </a:solidFill>
            <a:prstDash val="solid"/>
          </a:ln>
        </p:spPr>
      </p:sp>
      <p:sp>
        <p:nvSpPr>
          <p:cNvPr id="20" name="">
            <a:extLst xmlns:a="http://schemas.openxmlformats.org/drawingml/2006/main">
              <a:ext uri="{FF2B5EF4-FFF2-40B4-BE49-F238E27FC236}">
                <a16:creationId xmlns:a16="http://schemas.microsoft.com/office/drawing/2014/main" id="{4E0826D3-7F9C-4CBA-9258-8554561B50CD}"/>
              </a:ext>
            </a:extLst>
          </p:cNvPr>
          <p:cNvSpPr>
            <a:spLocks xmlns:a="http://schemas.openxmlformats.org/drawingml/2006/main" noGrp="1"/>
          </p:cNvSpPr>
          <p:nvPr/>
        </p:nvSpPr>
        <p:spPr>
          <a:xfrm xmlns:a="http://schemas.openxmlformats.org/drawingml/2006/main">
            <a:off x="9039225" y="1543050"/>
            <a:ext cx="24288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3947"/>
          </a:bodyPr>
          <a:lstStyle xmlns:a="http://schemas.openxmlformats.org/drawingml/2006/main"/>
          <a:p xmlns:a="http://schemas.openxmlformats.org/drawingml/2006/main">
            <a:pPr algn="l">
              <a:defRPr sz="1200" b="1">
                <a:solidFill>
                  <a:srgbClr val="002D24"/>
                </a:solidFill>
              </a:defRPr>
            </a:pPr>
            <a:r>
              <a:rPr sz="1200" b="1">
                <a:solidFill>
                  <a:srgbClr val="002D24"/>
                </a:solidFill>
              </a:rPr>
              <a:t>04</a:t>
            </a:r>
          </a:p>
        </p:txBody>
      </p:sp>
      <p:sp>
        <p:nvSpPr>
          <p:cNvPr id="21" name="">
            <a:extLst xmlns:a="http://schemas.openxmlformats.org/drawingml/2006/main">
              <a:ext uri="{FF2B5EF4-FFF2-40B4-BE49-F238E27FC236}">
                <a16:creationId xmlns:a16="http://schemas.microsoft.com/office/drawing/2014/main" id="{0FE5F4A0-9150-470F-81CB-24AF87673C03}"/>
              </a:ext>
            </a:extLst>
          </p:cNvPr>
          <p:cNvSpPr>
            <a:spLocks xmlns:a="http://schemas.openxmlformats.org/drawingml/2006/main" noGrp="1"/>
          </p:cNvSpPr>
          <p:nvPr/>
        </p:nvSpPr>
        <p:spPr>
          <a:xfrm xmlns:a="http://schemas.openxmlformats.org/drawingml/2006/main">
            <a:off x="9039225" y="1847850"/>
            <a:ext cx="24288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Teach, refine &amp; share</a:t>
            </a:r>
          </a:p>
        </p:txBody>
      </p:sp>
      <p:sp>
        <p:nvSpPr>
          <p:cNvPr id="22" name="">
            <a:extLst xmlns:a="http://schemas.openxmlformats.org/drawingml/2006/main">
              <a:ext uri="{FF2B5EF4-FFF2-40B4-BE49-F238E27FC236}">
                <a16:creationId xmlns:a16="http://schemas.microsoft.com/office/drawing/2014/main" id="{33DE406D-1FB1-4403-9AB9-C2F2C77686FA}"/>
              </a:ext>
            </a:extLst>
          </p:cNvPr>
          <p:cNvSpPr>
            <a:spLocks xmlns:a="http://schemas.openxmlformats.org/drawingml/2006/main" noGrp="1"/>
          </p:cNvSpPr>
          <p:nvPr/>
        </p:nvSpPr>
        <p:spPr>
          <a:xfrm xmlns:a="http://schemas.openxmlformats.org/drawingml/2006/main">
            <a:off x="9039225" y="2343150"/>
            <a:ext cx="2428875"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Print, project, or share with the team — and contribute back to a wider creative archive the whole sector can draw on.</a:t>
            </a:r>
          </a:p>
        </p:txBody>
      </p:sp>
      <p:sp>
        <p:nvSpPr>
          <p:cNvPr id="23" name="">
            <a:extLst xmlns:a="http://schemas.openxmlformats.org/drawingml/2006/main">
              <a:ext uri="{FF2B5EF4-FFF2-40B4-BE49-F238E27FC236}">
                <a16:creationId xmlns:a16="http://schemas.microsoft.com/office/drawing/2014/main" id="{691C464B-DB3D-4688-A9F3-16C6EB0319A2}"/>
              </a:ext>
            </a:extLst>
          </p:cNvPr>
          <p:cNvSpPr>
            <a:spLocks xmlns:a="http://schemas.openxmlformats.org/drawingml/2006/main" noGrp="1"/>
          </p:cNvSpPr>
          <p:nvPr/>
        </p:nvSpPr>
        <p:spPr>
          <a:xfrm xmlns:a="http://schemas.openxmlformats.org/drawingml/2006/main">
            <a:off x="609600" y="5905500"/>
            <a:ext cx="9525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B8F9D767-9F73-4925-9BF2-4A86D9368CE6}"/>
              </a:ext>
            </a:extLst>
          </p:cNvPr>
          <p:cNvSpPr>
            <a:spLocks xmlns:a="http://schemas.openxmlformats.org/drawingml/2006/main" noGrp="1"/>
          </p:cNvSpPr>
          <p:nvPr/>
        </p:nvSpPr>
        <p:spPr>
          <a:xfrm xmlns:a="http://schemas.openxmlformats.org/drawingml/2006/main">
            <a:off x="685800" y="5943600"/>
            <a:ext cx="800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Web &amp; PWA</a:t>
            </a:r>
          </a:p>
        </p:txBody>
      </p:sp>
      <p:sp>
        <p:nvSpPr>
          <p:cNvPr id="25" name="">
            <a:extLst xmlns:a="http://schemas.openxmlformats.org/drawingml/2006/main">
              <a:ext uri="{FF2B5EF4-FFF2-40B4-BE49-F238E27FC236}">
                <a16:creationId xmlns:a16="http://schemas.microsoft.com/office/drawing/2014/main" id="{91DEA217-4B00-4460-83EA-28D2F3F151BE}"/>
              </a:ext>
            </a:extLst>
          </p:cNvPr>
          <p:cNvSpPr>
            <a:spLocks xmlns:a="http://schemas.openxmlformats.org/drawingml/2006/main" noGrp="1"/>
          </p:cNvSpPr>
          <p:nvPr/>
        </p:nvSpPr>
        <p:spPr>
          <a:xfrm xmlns:a="http://schemas.openxmlformats.org/drawingml/2006/main">
            <a:off x="1638300" y="5905500"/>
            <a:ext cx="14859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47844282-8ACE-47E6-812F-3B84BC157271}"/>
              </a:ext>
            </a:extLst>
          </p:cNvPr>
          <p:cNvSpPr>
            <a:spLocks xmlns:a="http://schemas.openxmlformats.org/drawingml/2006/main" noGrp="1"/>
          </p:cNvSpPr>
          <p:nvPr/>
        </p:nvSpPr>
        <p:spPr>
          <a:xfrm xmlns:a="http://schemas.openxmlformats.org/drawingml/2006/main">
            <a:off x="1714500" y="59436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Offline-friendly</a:t>
            </a:r>
          </a:p>
        </p:txBody>
      </p:sp>
      <p:sp>
        <p:nvSpPr>
          <p:cNvPr id="27" name="">
            <a:extLst xmlns:a="http://schemas.openxmlformats.org/drawingml/2006/main">
              <a:ext uri="{FF2B5EF4-FFF2-40B4-BE49-F238E27FC236}">
                <a16:creationId xmlns:a16="http://schemas.microsoft.com/office/drawing/2014/main" id="{22AE9908-15FB-41A9-B560-5BE6D6C1E6AE}"/>
              </a:ext>
            </a:extLst>
          </p:cNvPr>
          <p:cNvSpPr>
            <a:spLocks xmlns:a="http://schemas.openxmlformats.org/drawingml/2006/main" noGrp="1"/>
          </p:cNvSpPr>
          <p:nvPr/>
        </p:nvSpPr>
        <p:spPr>
          <a:xfrm xmlns:a="http://schemas.openxmlformats.org/drawingml/2006/main">
            <a:off x="3200400" y="5905500"/>
            <a:ext cx="11049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A0F465C7-E0F8-4740-9139-A4A4F7FBCB2D}"/>
              </a:ext>
            </a:extLst>
          </p:cNvPr>
          <p:cNvSpPr>
            <a:spLocks xmlns:a="http://schemas.openxmlformats.org/drawingml/2006/main" noGrp="1"/>
          </p:cNvSpPr>
          <p:nvPr/>
        </p:nvSpPr>
        <p:spPr>
          <a:xfrm xmlns:a="http://schemas.openxmlformats.org/drawingml/2006/main">
            <a:off x="3276600" y="5943600"/>
            <a:ext cx="95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Print-ready</a:t>
            </a:r>
          </a:p>
        </p:txBody>
      </p:sp>
      <p:sp>
        <p:nvSpPr>
          <p:cNvPr id="29" name="">
            <a:extLst xmlns:a="http://schemas.openxmlformats.org/drawingml/2006/main">
              <a:ext uri="{FF2B5EF4-FFF2-40B4-BE49-F238E27FC236}">
                <a16:creationId xmlns:a16="http://schemas.microsoft.com/office/drawing/2014/main" id="{E704F0C0-A718-41BC-990A-07F86EB81AAA}"/>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30" name="">
            <a:extLst xmlns:a="http://schemas.openxmlformats.org/drawingml/2006/main">
              <a:ext uri="{FF2B5EF4-FFF2-40B4-BE49-F238E27FC236}">
                <a16:creationId xmlns:a16="http://schemas.microsoft.com/office/drawing/2014/main" id="{D82C4293-4B54-4C69-9233-CACDA640DD12}"/>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13 / 25</a:t>
            </a:r>
          </a:p>
        </p:txBody>
      </p:sp>
    </p:spTree>
    <p:extLst>
      <p:ext uri="{BB962C8B-B14F-4D97-AF65-F5344CB8AC3E}">
        <p14:creationId xmlns:p14="http://schemas.microsoft.com/office/powerpoint/2010/main" val="579453174"/>
      </p:ext>
    </p:extLst>
  </p:cSld>
</p:sld>
</file>

<file path=ppt/slides/slide14.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07E8A5EB-AF0F-40F8-A3BF-40001B251D8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2927473-B389-4A55-856A-862B0B18276A}"/>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B9D80E9-EEF6-460F-AA54-D1DC4D0C72BF}"/>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11EDFD8-257A-4B9B-B1D6-519942A2ABB5}"/>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Partner &amp; teacher resources</a:t>
            </a:r>
          </a:p>
        </p:txBody>
      </p:sp>
      <p:sp>
        <p:nvSpPr>
          <p:cNvPr id="6" name="">
            <a:extLst xmlns:a="http://schemas.openxmlformats.org/drawingml/2006/main">
              <a:ext uri="{FF2B5EF4-FFF2-40B4-BE49-F238E27FC236}">
                <a16:creationId xmlns:a16="http://schemas.microsoft.com/office/drawing/2014/main" id="{463AD1D6-012B-44C8-82C3-F94702179057}"/>
              </a:ext>
            </a:extLst>
          </p:cNvPr>
          <p:cNvSpPr>
            <a:spLocks xmlns:a="http://schemas.openxmlformats.org/drawingml/2006/main" noGrp="1"/>
          </p:cNvSpPr>
          <p:nvPr/>
        </p:nvSpPr>
        <p:spPr>
          <a:xfrm xmlns:a="http://schemas.openxmlformats.org/drawingml/2006/main">
            <a:off x="609600" y="647700"/>
            <a:ext cx="109537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002D24"/>
                </a:solidFill>
              </a:defRPr>
            </a:pPr>
            <a:r>
              <a:rPr sz="1950" b="1">
                <a:solidFill>
                  <a:srgbClr val="002D24"/>
                </a:solidFill>
              </a:rPr>
              <a:t>Expert content from partners — and a place for yours.</a:t>
            </a:r>
          </a:p>
        </p:txBody>
      </p:sp>
      <p:sp>
        <p:nvSpPr>
          <p:cNvPr id="7" name="">
            <a:extLst xmlns:a="http://schemas.openxmlformats.org/drawingml/2006/main">
              <a:ext uri="{FF2B5EF4-FFF2-40B4-BE49-F238E27FC236}">
                <a16:creationId xmlns:a16="http://schemas.microsoft.com/office/drawing/2014/main" id="{673A9C9D-1612-45B9-954C-EE685BCD4F2B}"/>
              </a:ext>
            </a:extLst>
          </p:cNvPr>
          <p:cNvSpPr>
            <a:spLocks xmlns:a="http://schemas.openxmlformats.org/drawingml/2006/main" noGrp="1"/>
          </p:cNvSpPr>
          <p:nvPr/>
        </p:nvSpPr>
        <p:spPr>
          <a:xfrm xmlns:a="http://schemas.openxmlformats.org/drawingml/2006/main">
            <a:off x="609600" y="1428750"/>
            <a:ext cx="109537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2A4548"/>
                </a:solidFill>
              </a:defRPr>
            </a:pPr>
            <a:r>
              <a:rPr sz="1125" b="0">
                <a:solidFill>
                  <a:srgbClr val="2A4548"/>
                </a:solidFill>
              </a:rPr>
              <a:t>Curated packs from leading arts organisations sit alongside your school library. Teachers can share packs with colleagues — or sell their own lesson plans to others.</a:t>
            </a:r>
          </a:p>
        </p:txBody>
      </p:sp>
      <p:sp>
        <p:nvSpPr>
          <p:cNvPr id="8" name="">
            <a:extLst xmlns:a="http://schemas.openxmlformats.org/drawingml/2006/main">
              <a:ext uri="{FF2B5EF4-FFF2-40B4-BE49-F238E27FC236}">
                <a16:creationId xmlns:a16="http://schemas.microsoft.com/office/drawing/2014/main" id="{098B7F61-14AF-4A56-9D75-4BC84125D0CB}"/>
              </a:ext>
            </a:extLst>
          </p:cNvPr>
          <p:cNvSpPr>
            <a:spLocks xmlns:a="http://schemas.openxmlformats.org/drawingml/2006/main" noGrp="1"/>
          </p:cNvSpPr>
          <p:nvPr/>
        </p:nvSpPr>
        <p:spPr>
          <a:xfrm xmlns:a="http://schemas.openxmlformats.org/drawingml/2006/main">
            <a:off x="609600" y="2247900"/>
            <a:ext cx="1095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4240"/>
          </a:bodyPr>
          <a:lstStyle xmlns:a="http://schemas.openxmlformats.org/drawingml/2006/main"/>
          <a:p xmlns:a="http://schemas.openxmlformats.org/drawingml/2006/main">
            <a:pPr algn="l">
              <a:defRPr sz="1050" b="1">
                <a:solidFill>
                  <a:srgbClr val="002D24"/>
                </a:solidFill>
              </a:defRPr>
            </a:pPr>
            <a:r>
              <a:rPr sz="1050" b="1">
                <a:solidFill>
                  <a:srgbClr val="002D24"/>
                </a:solidFill>
              </a:rPr>
              <a:t>Partner activity packs</a:t>
            </a:r>
          </a:p>
        </p:txBody>
      </p:sp>
      <p:sp>
        <p:nvSpPr>
          <p:cNvPr id="9" name="">
            <a:extLst xmlns:a="http://schemas.openxmlformats.org/drawingml/2006/main">
              <a:ext uri="{FF2B5EF4-FFF2-40B4-BE49-F238E27FC236}">
                <a16:creationId xmlns:a16="http://schemas.microsoft.com/office/drawing/2014/main" id="{222833F5-8775-49E3-A40B-1F3A21304EE1}"/>
              </a:ext>
            </a:extLst>
          </p:cNvPr>
          <p:cNvSpPr>
            <a:spLocks xmlns:a="http://schemas.openxmlformats.org/drawingml/2006/main" noGrp="1"/>
          </p:cNvSpPr>
          <p:nvPr/>
        </p:nvSpPr>
        <p:spPr>
          <a:xfrm xmlns:a="http://schemas.openxmlformats.org/drawingml/2006/main">
            <a:off x="609600" y="2552700"/>
            <a:ext cx="17907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7B9D88F-0001-42E8-94AB-E5EE9BBE610A}"/>
              </a:ext>
            </a:extLst>
          </p:cNvPr>
          <p:cNvSpPr>
            <a:spLocks xmlns:a="http://schemas.openxmlformats.org/drawingml/2006/main" noGrp="1"/>
          </p:cNvSpPr>
          <p:nvPr/>
        </p:nvSpPr>
        <p:spPr>
          <a:xfrm xmlns:a="http://schemas.openxmlformats.org/drawingml/2006/main">
            <a:off x="685800" y="2590800"/>
            <a:ext cx="1638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Arts Council England</a:t>
            </a:r>
          </a:p>
        </p:txBody>
      </p:sp>
      <p:sp>
        <p:nvSpPr>
          <p:cNvPr id="11" name="">
            <a:extLst xmlns:a="http://schemas.openxmlformats.org/drawingml/2006/main">
              <a:ext uri="{FF2B5EF4-FFF2-40B4-BE49-F238E27FC236}">
                <a16:creationId xmlns:a16="http://schemas.microsoft.com/office/drawing/2014/main" id="{7A00D56C-334F-4472-A0BF-7AFED9EB5C65}"/>
              </a:ext>
            </a:extLst>
          </p:cNvPr>
          <p:cNvSpPr>
            <a:spLocks xmlns:a="http://schemas.openxmlformats.org/drawingml/2006/main" noGrp="1"/>
          </p:cNvSpPr>
          <p:nvPr/>
        </p:nvSpPr>
        <p:spPr>
          <a:xfrm xmlns:a="http://schemas.openxmlformats.org/drawingml/2006/main">
            <a:off x="2476500" y="2552700"/>
            <a:ext cx="15621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A3C29D54-11E4-4D00-BCA1-A9E6C8522F1F}"/>
              </a:ext>
            </a:extLst>
          </p:cNvPr>
          <p:cNvSpPr>
            <a:spLocks xmlns:a="http://schemas.openxmlformats.org/drawingml/2006/main" noGrp="1"/>
          </p:cNvSpPr>
          <p:nvPr/>
        </p:nvSpPr>
        <p:spPr>
          <a:xfrm xmlns:a="http://schemas.openxmlformats.org/drawingml/2006/main">
            <a:off x="2552700" y="2590800"/>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Royal Opera House</a:t>
            </a:r>
          </a:p>
        </p:txBody>
      </p:sp>
      <p:sp>
        <p:nvSpPr>
          <p:cNvPr id="13" name="">
            <a:extLst xmlns:a="http://schemas.openxmlformats.org/drawingml/2006/main">
              <a:ext uri="{FF2B5EF4-FFF2-40B4-BE49-F238E27FC236}">
                <a16:creationId xmlns:a16="http://schemas.microsoft.com/office/drawing/2014/main" id="{BB5312A4-3963-46F2-A977-F38808130C93}"/>
              </a:ext>
            </a:extLst>
          </p:cNvPr>
          <p:cNvSpPr>
            <a:spLocks xmlns:a="http://schemas.openxmlformats.org/drawingml/2006/main" noGrp="1"/>
          </p:cNvSpPr>
          <p:nvPr/>
        </p:nvSpPr>
        <p:spPr>
          <a:xfrm xmlns:a="http://schemas.openxmlformats.org/drawingml/2006/main">
            <a:off x="4114800" y="2552700"/>
            <a:ext cx="21717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5F481BE7-CC97-4199-8263-F8D411902A02}"/>
              </a:ext>
            </a:extLst>
          </p:cNvPr>
          <p:cNvSpPr>
            <a:spLocks xmlns:a="http://schemas.openxmlformats.org/drawingml/2006/main" noGrp="1"/>
          </p:cNvSpPr>
          <p:nvPr/>
        </p:nvSpPr>
        <p:spPr>
          <a:xfrm xmlns:a="http://schemas.openxmlformats.org/drawingml/2006/main">
            <a:off x="4191000" y="2590800"/>
            <a:ext cx="2019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London Symphony Orchestra</a:t>
            </a:r>
          </a:p>
        </p:txBody>
      </p:sp>
      <p:sp>
        <p:nvSpPr>
          <p:cNvPr id="15" name="">
            <a:extLst xmlns:a="http://schemas.openxmlformats.org/drawingml/2006/main">
              <a:ext uri="{FF2B5EF4-FFF2-40B4-BE49-F238E27FC236}">
                <a16:creationId xmlns:a16="http://schemas.microsoft.com/office/drawing/2014/main" id="{BC526C1E-0293-4F16-8E25-1911E6F2F4CB}"/>
              </a:ext>
            </a:extLst>
          </p:cNvPr>
          <p:cNvSpPr>
            <a:spLocks xmlns:a="http://schemas.openxmlformats.org/drawingml/2006/main" noGrp="1"/>
          </p:cNvSpPr>
          <p:nvPr/>
        </p:nvSpPr>
        <p:spPr>
          <a:xfrm xmlns:a="http://schemas.openxmlformats.org/drawingml/2006/main">
            <a:off x="6362700" y="2552700"/>
            <a:ext cx="14859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FC5998B4-DC4E-4134-9682-1FCA3EFD712E}"/>
              </a:ext>
            </a:extLst>
          </p:cNvPr>
          <p:cNvSpPr>
            <a:spLocks xmlns:a="http://schemas.openxmlformats.org/drawingml/2006/main" noGrp="1"/>
          </p:cNvSpPr>
          <p:nvPr/>
        </p:nvSpPr>
        <p:spPr>
          <a:xfrm xmlns:a="http://schemas.openxmlformats.org/drawingml/2006/main">
            <a:off x="6438900" y="25908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National Theatre</a:t>
            </a:r>
          </a:p>
        </p:txBody>
      </p:sp>
      <p:sp>
        <p:nvSpPr>
          <p:cNvPr id="17" name="">
            <a:extLst xmlns:a="http://schemas.openxmlformats.org/drawingml/2006/main">
              <a:ext uri="{FF2B5EF4-FFF2-40B4-BE49-F238E27FC236}">
                <a16:creationId xmlns:a16="http://schemas.microsoft.com/office/drawing/2014/main" id="{FC426CB3-72E8-4DE0-907B-25F78E427C56}"/>
              </a:ext>
            </a:extLst>
          </p:cNvPr>
          <p:cNvSpPr>
            <a:spLocks xmlns:a="http://schemas.openxmlformats.org/drawingml/2006/main" noGrp="1"/>
          </p:cNvSpPr>
          <p:nvPr/>
        </p:nvSpPr>
        <p:spPr>
          <a:xfrm xmlns:a="http://schemas.openxmlformats.org/drawingml/2006/main">
            <a:off x="7924800" y="2552700"/>
            <a:ext cx="13335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C46EB6B7-D6B8-4380-B445-B07D3F0237E1}"/>
              </a:ext>
            </a:extLst>
          </p:cNvPr>
          <p:cNvSpPr>
            <a:spLocks xmlns:a="http://schemas.openxmlformats.org/drawingml/2006/main" noGrp="1"/>
          </p:cNvSpPr>
          <p:nvPr/>
        </p:nvSpPr>
        <p:spPr>
          <a:xfrm xmlns:a="http://schemas.openxmlformats.org/drawingml/2006/main">
            <a:off x="8001000" y="2590800"/>
            <a:ext cx="1181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BBC Ten Pieces</a:t>
            </a:r>
          </a:p>
        </p:txBody>
      </p:sp>
      <p:sp>
        <p:nvSpPr>
          <p:cNvPr id="19" name="">
            <a:extLst xmlns:a="http://schemas.openxmlformats.org/drawingml/2006/main">
              <a:ext uri="{FF2B5EF4-FFF2-40B4-BE49-F238E27FC236}">
                <a16:creationId xmlns:a16="http://schemas.microsoft.com/office/drawing/2014/main" id="{7944AA64-8B5E-4FC3-8DD2-4CB13EBDD063}"/>
              </a:ext>
            </a:extLst>
          </p:cNvPr>
          <p:cNvSpPr>
            <a:spLocks xmlns:a="http://schemas.openxmlformats.org/drawingml/2006/main" noGrp="1"/>
          </p:cNvSpPr>
          <p:nvPr/>
        </p:nvSpPr>
        <p:spPr>
          <a:xfrm xmlns:a="http://schemas.openxmlformats.org/drawingml/2006/main">
            <a:off x="9334500" y="2552700"/>
            <a:ext cx="5715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002862E3-CC70-4B57-B94B-778F7930062F}"/>
              </a:ext>
            </a:extLst>
          </p:cNvPr>
          <p:cNvSpPr>
            <a:spLocks xmlns:a="http://schemas.openxmlformats.org/drawingml/2006/main" noGrp="1"/>
          </p:cNvSpPr>
          <p:nvPr/>
        </p:nvSpPr>
        <p:spPr>
          <a:xfrm xmlns:a="http://schemas.openxmlformats.org/drawingml/2006/main">
            <a:off x="9410700" y="259080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Tate</a:t>
            </a:r>
          </a:p>
        </p:txBody>
      </p:sp>
      <p:sp>
        <p:nvSpPr>
          <p:cNvPr id="21" name="">
            <a:extLst xmlns:a="http://schemas.openxmlformats.org/drawingml/2006/main">
              <a:ext uri="{FF2B5EF4-FFF2-40B4-BE49-F238E27FC236}">
                <a16:creationId xmlns:a16="http://schemas.microsoft.com/office/drawing/2014/main" id="{6DD39E43-8B62-40EC-9367-949FF8DA8D2F}"/>
              </a:ext>
            </a:extLst>
          </p:cNvPr>
          <p:cNvSpPr>
            <a:spLocks xmlns:a="http://schemas.openxmlformats.org/drawingml/2006/main" noGrp="1"/>
          </p:cNvSpPr>
          <p:nvPr/>
        </p:nvSpPr>
        <p:spPr>
          <a:xfrm xmlns:a="http://schemas.openxmlformats.org/drawingml/2006/main">
            <a:off x="9982200" y="2552700"/>
            <a:ext cx="13335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0148D948-EFEA-43B5-91EE-8FC86586D7AA}"/>
              </a:ext>
            </a:extLst>
          </p:cNvPr>
          <p:cNvSpPr>
            <a:spLocks xmlns:a="http://schemas.openxmlformats.org/drawingml/2006/main" noGrp="1"/>
          </p:cNvSpPr>
          <p:nvPr/>
        </p:nvSpPr>
        <p:spPr>
          <a:xfrm xmlns:a="http://schemas.openxmlformats.org/drawingml/2006/main">
            <a:off x="10058400" y="2590800"/>
            <a:ext cx="1181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Sadler's Wells</a:t>
            </a:r>
          </a:p>
        </p:txBody>
      </p:sp>
      <p:sp>
        <p:nvSpPr>
          <p:cNvPr id="23" name="">
            <a:extLst xmlns:a="http://schemas.openxmlformats.org/drawingml/2006/main">
              <a:ext uri="{FF2B5EF4-FFF2-40B4-BE49-F238E27FC236}">
                <a16:creationId xmlns:a16="http://schemas.microsoft.com/office/drawing/2014/main" id="{6DBEEE73-4043-49F0-A3F7-57BE42082448}"/>
              </a:ext>
            </a:extLst>
          </p:cNvPr>
          <p:cNvSpPr>
            <a:spLocks xmlns:a="http://schemas.openxmlformats.org/drawingml/2006/main" noGrp="1"/>
          </p:cNvSpPr>
          <p:nvPr/>
        </p:nvSpPr>
        <p:spPr>
          <a:xfrm xmlns:a="http://schemas.openxmlformats.org/drawingml/2006/main">
            <a:off x="609600" y="2914650"/>
            <a:ext cx="21336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7E4DF"/>
            </a:solidFill>
            <a:prstDash val="solid"/>
          </a:ln>
        </p:spPr>
      </p:sp>
      <p:sp>
        <p:nvSpPr>
          <p:cNvPr id="24" name="">
            <a:extLst xmlns:a="http://schemas.openxmlformats.org/drawingml/2006/main">
              <a:ext uri="{FF2B5EF4-FFF2-40B4-BE49-F238E27FC236}">
                <a16:creationId xmlns:a16="http://schemas.microsoft.com/office/drawing/2014/main" id="{225E8DEA-82F2-4F31-8274-D944A9E14F2D}"/>
              </a:ext>
            </a:extLst>
          </p:cNvPr>
          <p:cNvSpPr>
            <a:spLocks xmlns:a="http://schemas.openxmlformats.org/drawingml/2006/main" noGrp="1"/>
          </p:cNvSpPr>
          <p:nvPr/>
        </p:nvSpPr>
        <p:spPr>
          <a:xfrm xmlns:a="http://schemas.openxmlformats.org/drawingml/2006/main">
            <a:off x="723900" y="3028950"/>
            <a:ext cx="190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Included</a:t>
            </a:r>
          </a:p>
        </p:txBody>
      </p:sp>
      <p:sp>
        <p:nvSpPr>
          <p:cNvPr id="25" name="">
            <a:extLst xmlns:a="http://schemas.openxmlformats.org/drawingml/2006/main">
              <a:ext uri="{FF2B5EF4-FFF2-40B4-BE49-F238E27FC236}">
                <a16:creationId xmlns:a16="http://schemas.microsoft.com/office/drawing/2014/main" id="{AC88C424-0001-4C5F-98F8-8F6E799BE3B4}"/>
              </a:ext>
            </a:extLst>
          </p:cNvPr>
          <p:cNvSpPr>
            <a:spLocks xmlns:a="http://schemas.openxmlformats.org/drawingml/2006/main" noGrp="1"/>
          </p:cNvSpPr>
          <p:nvPr/>
        </p:nvSpPr>
        <p:spPr>
          <a:xfrm xmlns:a="http://schemas.openxmlformats.org/drawingml/2006/main">
            <a:off x="723900" y="3238500"/>
            <a:ext cx="1905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Royal Opera House</a:t>
            </a:r>
          </a:p>
        </p:txBody>
      </p:sp>
      <p:sp>
        <p:nvSpPr>
          <p:cNvPr id="26" name="">
            <a:extLst xmlns:a="http://schemas.openxmlformats.org/drawingml/2006/main">
              <a:ext uri="{FF2B5EF4-FFF2-40B4-BE49-F238E27FC236}">
                <a16:creationId xmlns:a16="http://schemas.microsoft.com/office/drawing/2014/main" id="{6FBFFA34-2C63-4E5B-AD75-17D9B8AEE565}"/>
              </a:ext>
            </a:extLst>
          </p:cNvPr>
          <p:cNvSpPr>
            <a:spLocks xmlns:a="http://schemas.openxmlformats.org/drawingml/2006/main" noGrp="1"/>
          </p:cNvSpPr>
          <p:nvPr/>
        </p:nvSpPr>
        <p:spPr>
          <a:xfrm xmlns:a="http://schemas.openxmlformats.org/drawingml/2006/main">
            <a:off x="723900" y="3638550"/>
            <a:ext cx="1905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9825"/>
          </a:bodyPr>
          <a:lstStyle xmlns:a="http://schemas.openxmlformats.org/drawingml/2006/main"/>
          <a:p xmlns:a="http://schemas.openxmlformats.org/drawingml/2006/main">
            <a:pPr algn="l">
              <a:defRPr sz="825" b="0">
                <a:solidFill>
                  <a:srgbClr val="2A4548"/>
                </a:solidFill>
              </a:defRPr>
            </a:pPr>
            <a:r>
              <a:rPr sz="825" b="0">
                <a:solidFill>
                  <a:srgbClr val="2A4548"/>
                </a:solidFill>
              </a:rPr>
              <a:t>Opera, ballet and vocal warm-ups — specialist expertise ready to drop into your timetable.</a:t>
            </a:r>
          </a:p>
          <a:p xmlns:a="http://schemas.openxmlformats.org/drawingml/2006/main">
            <a:pPr algn="l">
              <a:defRPr sz="825" b="0">
                <a:solidFill>
                  <a:srgbClr val="2A4548"/>
                </a:solidFill>
              </a:defRPr>
            </a:pPr>
            <a:r>
              <a:rPr sz="825" b="0">
                <a:solidFill>
                  <a:srgbClr val="2A4548"/>
                </a:solidFill>
              </a:rPr>
              <a:t>12 lesson stacks · video links</a:t>
            </a:r>
          </a:p>
        </p:txBody>
      </p:sp>
      <p:sp>
        <p:nvSpPr>
          <p:cNvPr id="27" name="">
            <a:extLst xmlns:a="http://schemas.openxmlformats.org/drawingml/2006/main">
              <a:ext uri="{FF2B5EF4-FFF2-40B4-BE49-F238E27FC236}">
                <a16:creationId xmlns:a16="http://schemas.microsoft.com/office/drawing/2014/main" id="{D78145BE-4066-4C97-8CD8-DD9510DDB221}"/>
              </a:ext>
            </a:extLst>
          </p:cNvPr>
          <p:cNvSpPr>
            <a:spLocks xmlns:a="http://schemas.openxmlformats.org/drawingml/2006/main" noGrp="1"/>
          </p:cNvSpPr>
          <p:nvPr/>
        </p:nvSpPr>
        <p:spPr>
          <a:xfrm xmlns:a="http://schemas.openxmlformats.org/drawingml/2006/main">
            <a:off x="2876550" y="2914650"/>
            <a:ext cx="21336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7E4DF"/>
            </a:solidFill>
            <a:prstDash val="solid"/>
          </a:ln>
        </p:spPr>
      </p:sp>
      <p:sp>
        <p:nvSpPr>
          <p:cNvPr id="28" name="">
            <a:extLst xmlns:a="http://schemas.openxmlformats.org/drawingml/2006/main">
              <a:ext uri="{FF2B5EF4-FFF2-40B4-BE49-F238E27FC236}">
                <a16:creationId xmlns:a16="http://schemas.microsoft.com/office/drawing/2014/main" id="{D7F7D5E1-DE9A-4EAD-A493-4EBE85C94B70}"/>
              </a:ext>
            </a:extLst>
          </p:cNvPr>
          <p:cNvSpPr>
            <a:spLocks xmlns:a="http://schemas.openxmlformats.org/drawingml/2006/main" noGrp="1"/>
          </p:cNvSpPr>
          <p:nvPr/>
        </p:nvSpPr>
        <p:spPr>
          <a:xfrm xmlns:a="http://schemas.openxmlformats.org/drawingml/2006/main">
            <a:off x="2990850" y="3028950"/>
            <a:ext cx="190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Included</a:t>
            </a:r>
          </a:p>
        </p:txBody>
      </p:sp>
      <p:sp>
        <p:nvSpPr>
          <p:cNvPr id="29" name="">
            <a:extLst xmlns:a="http://schemas.openxmlformats.org/drawingml/2006/main">
              <a:ext uri="{FF2B5EF4-FFF2-40B4-BE49-F238E27FC236}">
                <a16:creationId xmlns:a16="http://schemas.microsoft.com/office/drawing/2014/main" id="{619ABF4B-7FB2-4B02-BB17-3A1CF5FEE18F}"/>
              </a:ext>
            </a:extLst>
          </p:cNvPr>
          <p:cNvSpPr>
            <a:spLocks xmlns:a="http://schemas.openxmlformats.org/drawingml/2006/main" noGrp="1"/>
          </p:cNvSpPr>
          <p:nvPr/>
        </p:nvSpPr>
        <p:spPr>
          <a:xfrm xmlns:a="http://schemas.openxmlformats.org/drawingml/2006/main">
            <a:off x="2990850" y="3238500"/>
            <a:ext cx="1905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National Theatre</a:t>
            </a:r>
          </a:p>
        </p:txBody>
      </p:sp>
      <p:sp>
        <p:nvSpPr>
          <p:cNvPr id="30" name="">
            <a:extLst xmlns:a="http://schemas.openxmlformats.org/drawingml/2006/main">
              <a:ext uri="{FF2B5EF4-FFF2-40B4-BE49-F238E27FC236}">
                <a16:creationId xmlns:a16="http://schemas.microsoft.com/office/drawing/2014/main" id="{AFC02651-C854-420F-A5B7-453858FE15F0}"/>
              </a:ext>
            </a:extLst>
          </p:cNvPr>
          <p:cNvSpPr>
            <a:spLocks xmlns:a="http://schemas.openxmlformats.org/drawingml/2006/main" noGrp="1"/>
          </p:cNvSpPr>
          <p:nvPr/>
        </p:nvSpPr>
        <p:spPr>
          <a:xfrm xmlns:a="http://schemas.openxmlformats.org/drawingml/2006/main">
            <a:off x="2990850" y="3638550"/>
            <a:ext cx="1905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9825"/>
          </a:bodyPr>
          <a:lstStyle xmlns:a="http://schemas.openxmlformats.org/drawingml/2006/main"/>
          <a:p xmlns:a="http://schemas.openxmlformats.org/drawingml/2006/main">
            <a:pPr algn="l">
              <a:defRPr sz="825" b="0">
                <a:solidFill>
                  <a:srgbClr val="2A4548"/>
                </a:solidFill>
              </a:defRPr>
            </a:pPr>
            <a:r>
              <a:rPr sz="825" b="0">
                <a:solidFill>
                  <a:srgbClr val="2A4548"/>
                </a:solidFill>
              </a:rPr>
              <a:t>Devising, text work and ensemble drama — classroom-ready units from NT Learning.</a:t>
            </a:r>
          </a:p>
          <a:p xmlns:a="http://schemas.openxmlformats.org/drawingml/2006/main">
            <a:pPr algn="l">
              <a:defRPr sz="825" b="0">
                <a:solidFill>
                  <a:srgbClr val="2A4548"/>
                </a:solidFill>
              </a:defRPr>
            </a:pPr>
            <a:r>
              <a:rPr sz="825" b="0">
                <a:solidFill>
                  <a:srgbClr val="2A4548"/>
                </a:solidFill>
              </a:rPr>
              <a:t>GCSE &amp; A-level · exam-aligned</a:t>
            </a:r>
          </a:p>
        </p:txBody>
      </p:sp>
      <p:sp>
        <p:nvSpPr>
          <p:cNvPr id="31" name="">
            <a:extLst xmlns:a="http://schemas.openxmlformats.org/drawingml/2006/main">
              <a:ext uri="{FF2B5EF4-FFF2-40B4-BE49-F238E27FC236}">
                <a16:creationId xmlns:a16="http://schemas.microsoft.com/office/drawing/2014/main" id="{7ADE6B73-7BF1-48D8-9F41-8F445515ACD9}"/>
              </a:ext>
            </a:extLst>
          </p:cNvPr>
          <p:cNvSpPr>
            <a:spLocks xmlns:a="http://schemas.openxmlformats.org/drawingml/2006/main" noGrp="1"/>
          </p:cNvSpPr>
          <p:nvPr/>
        </p:nvSpPr>
        <p:spPr>
          <a:xfrm xmlns:a="http://schemas.openxmlformats.org/drawingml/2006/main">
            <a:off x="5143500" y="2914650"/>
            <a:ext cx="21336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7E4DF"/>
            </a:solidFill>
            <a:prstDash val="solid"/>
          </a:ln>
        </p:spPr>
      </p:sp>
      <p:sp>
        <p:nvSpPr>
          <p:cNvPr id="32" name="">
            <a:extLst xmlns:a="http://schemas.openxmlformats.org/drawingml/2006/main">
              <a:ext uri="{FF2B5EF4-FFF2-40B4-BE49-F238E27FC236}">
                <a16:creationId xmlns:a16="http://schemas.microsoft.com/office/drawing/2014/main" id="{0D7F1D02-D85F-4416-B076-AC2A8D578E10}"/>
              </a:ext>
            </a:extLst>
          </p:cNvPr>
          <p:cNvSpPr>
            <a:spLocks xmlns:a="http://schemas.openxmlformats.org/drawingml/2006/main" noGrp="1"/>
          </p:cNvSpPr>
          <p:nvPr/>
        </p:nvSpPr>
        <p:spPr>
          <a:xfrm xmlns:a="http://schemas.openxmlformats.org/drawingml/2006/main">
            <a:off x="5257800" y="3028950"/>
            <a:ext cx="190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Growing library</a:t>
            </a:r>
          </a:p>
        </p:txBody>
      </p:sp>
      <p:sp>
        <p:nvSpPr>
          <p:cNvPr id="33" name="">
            <a:extLst xmlns:a="http://schemas.openxmlformats.org/drawingml/2006/main">
              <a:ext uri="{FF2B5EF4-FFF2-40B4-BE49-F238E27FC236}">
                <a16:creationId xmlns:a16="http://schemas.microsoft.com/office/drawing/2014/main" id="{AE8B8BA7-C4BE-4218-ADAF-3D05D71FE606}"/>
              </a:ext>
            </a:extLst>
          </p:cNvPr>
          <p:cNvSpPr>
            <a:spLocks xmlns:a="http://schemas.openxmlformats.org/drawingml/2006/main" noGrp="1"/>
          </p:cNvSpPr>
          <p:nvPr/>
        </p:nvSpPr>
        <p:spPr>
          <a:xfrm xmlns:a="http://schemas.openxmlformats.org/drawingml/2006/main">
            <a:off x="5257800" y="3238500"/>
            <a:ext cx="1905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More partners joining</a:t>
            </a:r>
          </a:p>
        </p:txBody>
      </p:sp>
      <p:sp>
        <p:nvSpPr>
          <p:cNvPr id="34" name="">
            <a:extLst xmlns:a="http://schemas.openxmlformats.org/drawingml/2006/main">
              <a:ext uri="{FF2B5EF4-FFF2-40B4-BE49-F238E27FC236}">
                <a16:creationId xmlns:a16="http://schemas.microsoft.com/office/drawing/2014/main" id="{6251858B-8595-47F8-AACF-FE89CC13C701}"/>
              </a:ext>
            </a:extLst>
          </p:cNvPr>
          <p:cNvSpPr>
            <a:spLocks xmlns:a="http://schemas.openxmlformats.org/drawingml/2006/main" noGrp="1"/>
          </p:cNvSpPr>
          <p:nvPr/>
        </p:nvSpPr>
        <p:spPr>
          <a:xfrm xmlns:a="http://schemas.openxmlformats.org/drawingml/2006/main">
            <a:off x="5257800" y="3638550"/>
            <a:ext cx="1905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Trinity, ABRSM, Rambert and other specialists — their content accessible inside CCD.</a:t>
            </a:r>
          </a:p>
        </p:txBody>
      </p:sp>
      <p:sp>
        <p:nvSpPr>
          <p:cNvPr id="35" name="">
            <a:extLst xmlns:a="http://schemas.openxmlformats.org/drawingml/2006/main">
              <a:ext uri="{FF2B5EF4-FFF2-40B4-BE49-F238E27FC236}">
                <a16:creationId xmlns:a16="http://schemas.microsoft.com/office/drawing/2014/main" id="{7562EB68-5E4F-4942-8614-2B1A7A21EFE1}"/>
              </a:ext>
            </a:extLst>
          </p:cNvPr>
          <p:cNvSpPr>
            <a:spLocks xmlns:a="http://schemas.openxmlformats.org/drawingml/2006/main" noGrp="1"/>
          </p:cNvSpPr>
          <p:nvPr/>
        </p:nvSpPr>
        <p:spPr>
          <a:xfrm xmlns:a="http://schemas.openxmlformats.org/drawingml/2006/main">
            <a:off x="7524750" y="2914650"/>
            <a:ext cx="4095750" cy="3048000"/>
          </a:xfrm>
          <a:prstGeom xmlns:a="http://schemas.openxmlformats.org/drawingml/2006/main" prst="roundRect">
            <a:avLst>
              <a:gd name="adj" fmla="val 2500"/>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4A7AE1A3-A31A-45E0-BF10-6BF208591B51}"/>
              </a:ext>
            </a:extLst>
          </p:cNvPr>
          <p:cNvSpPr>
            <a:spLocks xmlns:a="http://schemas.openxmlformats.org/drawingml/2006/main" noGrp="1"/>
          </p:cNvSpPr>
          <p:nvPr/>
        </p:nvSpPr>
        <p:spPr>
          <a:xfrm xmlns:a="http://schemas.openxmlformats.org/drawingml/2006/main">
            <a:off x="7715250" y="3067050"/>
            <a:ext cx="3714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B6FF7E"/>
                </a:solidFill>
              </a:defRPr>
            </a:pPr>
            <a:r>
              <a:rPr sz="1050" b="1">
                <a:solidFill>
                  <a:srgbClr val="B6FF7E"/>
                </a:solidFill>
              </a:rPr>
              <a:t>Teacher marketplace · £24.99</a:t>
            </a:r>
          </a:p>
        </p:txBody>
      </p:sp>
      <p:sp>
        <p:nvSpPr>
          <p:cNvPr id="37" name="">
            <a:extLst xmlns:a="http://schemas.openxmlformats.org/drawingml/2006/main">
              <a:ext uri="{FF2B5EF4-FFF2-40B4-BE49-F238E27FC236}">
                <a16:creationId xmlns:a16="http://schemas.microsoft.com/office/drawing/2014/main" id="{3E74107C-920B-4103-B2E3-95B932B23529}"/>
              </a:ext>
            </a:extLst>
          </p:cNvPr>
          <p:cNvSpPr>
            <a:spLocks xmlns:a="http://schemas.openxmlformats.org/drawingml/2006/main" noGrp="1"/>
          </p:cNvSpPr>
          <p:nvPr/>
        </p:nvSpPr>
        <p:spPr>
          <a:xfrm xmlns:a="http://schemas.openxmlformats.org/drawingml/2006/main">
            <a:off x="7715250" y="3409950"/>
            <a:ext cx="3714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FFFFFF"/>
                </a:solidFill>
              </a:defRPr>
            </a:pPr>
            <a:r>
              <a:rPr sz="1200" b="1">
                <a:solidFill>
                  <a:srgbClr val="FFFFFF"/>
                </a:solidFill>
              </a:rPr>
              <a:t>Share free. Sell what you've built.</a:t>
            </a:r>
          </a:p>
        </p:txBody>
      </p:sp>
      <p:sp>
        <p:nvSpPr>
          <p:cNvPr id="38" name="">
            <a:extLst xmlns:a="http://schemas.openxmlformats.org/drawingml/2006/main">
              <a:ext uri="{FF2B5EF4-FFF2-40B4-BE49-F238E27FC236}">
                <a16:creationId xmlns:a16="http://schemas.microsoft.com/office/drawing/2014/main" id="{D8BF75AD-0B0E-4A37-B642-4674F8E26DEA}"/>
              </a:ext>
            </a:extLst>
          </p:cNvPr>
          <p:cNvSpPr>
            <a:spLocks xmlns:a="http://schemas.openxmlformats.org/drawingml/2006/main" noGrp="1"/>
          </p:cNvSpPr>
          <p:nvPr/>
        </p:nvSpPr>
        <p:spPr>
          <a:xfrm xmlns:a="http://schemas.openxmlformats.org/drawingml/2006/main">
            <a:off x="7715250" y="3867150"/>
            <a:ext cx="371475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00" b="0">
                <a:solidFill>
                  <a:srgbClr val="CFE3DC"/>
                </a:solidFill>
              </a:defRPr>
            </a:pPr>
            <a:r>
              <a:rPr sz="900" b="0">
                <a:solidFill>
                  <a:srgbClr val="CFE3DC"/>
                </a:solidFill>
              </a:rPr>
              <a:t>Package your lesson stacks into activity packs. Assign them to your department, share with partner schools, or list them for purchase.</a:t>
            </a:r>
          </a:p>
          <a:p xmlns:a="http://schemas.openxmlformats.org/drawingml/2006/main">
            <a:pPr algn="l">
              <a:defRPr sz="900" b="0">
                <a:solidFill>
                  <a:srgbClr val="CFE3DC"/>
                </a:solidFill>
              </a:defRPr>
            </a:pPr>
            <a:r>
              <a:rPr sz="900" b="0">
                <a:solidFill>
                  <a:srgbClr val="CFE3DC"/>
                </a:solidFill>
              </a:rPr>
              <a:t>Commedia KS3 pack · By Sarah M. · 8 lessons · Drama · £24.99</a:t>
            </a:r>
          </a:p>
        </p:txBody>
      </p:sp>
      <p:sp>
        <p:nvSpPr>
          <p:cNvPr id="39" name="">
            <a:extLst xmlns:a="http://schemas.openxmlformats.org/drawingml/2006/main">
              <a:ext uri="{FF2B5EF4-FFF2-40B4-BE49-F238E27FC236}">
                <a16:creationId xmlns:a16="http://schemas.microsoft.com/office/drawing/2014/main" id="{DF6070F1-0CC3-420C-9ADE-FC0672C52C9B}"/>
              </a:ext>
            </a:extLst>
          </p:cNvPr>
          <p:cNvSpPr>
            <a:spLocks xmlns:a="http://schemas.openxmlformats.org/drawingml/2006/main" noGrp="1"/>
          </p:cNvSpPr>
          <p:nvPr/>
        </p:nvSpPr>
        <p:spPr>
          <a:xfrm xmlns:a="http://schemas.openxmlformats.org/drawingml/2006/main">
            <a:off x="7715250" y="5105400"/>
            <a:ext cx="37147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00" b="0">
                <a:solidFill>
                  <a:srgbClr val="FFFFFF"/>
                </a:solidFill>
              </a:defRPr>
            </a:pPr>
            <a:r>
              <a:rPr sz="900" b="0">
                <a:solidFill>
                  <a:srgbClr val="FFFFFF"/>
                </a:solidFill>
              </a:rPr>
              <a:t>• Share packs with your team at no cost</a:t>
            </a:r>
          </a:p>
          <a:p xmlns:a="http://schemas.openxmlformats.org/drawingml/2006/main">
            <a:pPr algn="l">
              <a:defRPr sz="900" b="0">
                <a:solidFill>
                  <a:srgbClr val="FFFFFF"/>
                </a:solidFill>
              </a:defRPr>
            </a:pPr>
            <a:r>
              <a:rPr sz="900" b="0">
                <a:solidFill>
                  <a:srgbClr val="FFFFFF"/>
                </a:solidFill>
              </a:rPr>
              <a:t>• Sell to other schools and keep creating</a:t>
            </a:r>
          </a:p>
          <a:p xmlns:a="http://schemas.openxmlformats.org/drawingml/2006/main">
            <a:pPr algn="l">
              <a:defRPr sz="900" b="0">
                <a:solidFill>
                  <a:srgbClr val="FFFFFF"/>
                </a:solidFill>
              </a:defRPr>
            </a:pPr>
            <a:r>
              <a:rPr sz="900" b="0">
                <a:solidFill>
                  <a:srgbClr val="FFFFFF"/>
                </a:solidFill>
              </a:rPr>
              <a:t>• Partner content always one click away</a:t>
            </a:r>
          </a:p>
        </p:txBody>
      </p:sp>
      <p:sp>
        <p:nvSpPr>
          <p:cNvPr id="40" name="">
            <a:extLst xmlns:a="http://schemas.openxmlformats.org/drawingml/2006/main">
              <a:ext uri="{FF2B5EF4-FFF2-40B4-BE49-F238E27FC236}">
                <a16:creationId xmlns:a16="http://schemas.microsoft.com/office/drawing/2014/main" id="{98E93E52-8678-4CEB-AF55-790EA149290D}"/>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41" name="">
            <a:extLst xmlns:a="http://schemas.openxmlformats.org/drawingml/2006/main">
              <a:ext uri="{FF2B5EF4-FFF2-40B4-BE49-F238E27FC236}">
                <a16:creationId xmlns:a16="http://schemas.microsoft.com/office/drawing/2014/main" id="{8B92E02B-B0EB-4D29-9842-C27558764BE6}"/>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14 / 25</a:t>
            </a:r>
          </a:p>
        </p:txBody>
      </p:sp>
    </p:spTree>
    <p:extLst>
      <p:ext uri="{BB962C8B-B14F-4D97-AF65-F5344CB8AC3E}">
        <p14:creationId xmlns:p14="http://schemas.microsoft.com/office/powerpoint/2010/main" val="1642768259"/>
      </p:ext>
    </p:extLst>
  </p:cSld>
</p:sld>
</file>

<file path=ppt/slides/slide15.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32042A76-4F1F-4366-AA08-F00CEADAD50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E0A506C-6787-4115-9C2E-50A1094D4133}"/>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E239C4F-0C20-4ACF-A374-206B324C2590}"/>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3EF7595-81AA-4BF1-8E18-7DA6A4F3A437}"/>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Partner Hubs</a:t>
            </a:r>
          </a:p>
        </p:txBody>
      </p:sp>
      <p:sp>
        <p:nvSpPr>
          <p:cNvPr id="6" name="">
            <a:extLst xmlns:a="http://schemas.openxmlformats.org/drawingml/2006/main">
              <a:ext uri="{FF2B5EF4-FFF2-40B4-BE49-F238E27FC236}">
                <a16:creationId xmlns:a16="http://schemas.microsoft.com/office/drawing/2014/main" id="{9E2E2CE0-A6AC-4169-969E-4B159A30D82B}"/>
              </a:ext>
            </a:extLst>
          </p:cNvPr>
          <p:cNvSpPr>
            <a:spLocks xmlns:a="http://schemas.openxmlformats.org/drawingml/2006/main" noGrp="1"/>
          </p:cNvSpPr>
          <p:nvPr/>
        </p:nvSpPr>
        <p:spPr>
          <a:xfrm xmlns:a="http://schemas.openxmlformats.org/drawingml/2006/main">
            <a:off x="609600" y="647700"/>
            <a:ext cx="4762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002D24"/>
                </a:solidFill>
              </a:defRPr>
            </a:pPr>
            <a:r>
              <a:rPr sz="1950" b="1">
                <a:solidFill>
                  <a:srgbClr val="002D24"/>
                </a:solidFill>
              </a:rPr>
              <a:t>Music hubs in one Partner Hubs home.</a:t>
            </a:r>
          </a:p>
        </p:txBody>
      </p:sp>
      <p:sp>
        <p:nvSpPr>
          <p:cNvPr id="7" name="">
            <a:extLst xmlns:a="http://schemas.openxmlformats.org/drawingml/2006/main">
              <a:ext uri="{FF2B5EF4-FFF2-40B4-BE49-F238E27FC236}">
                <a16:creationId xmlns:a16="http://schemas.microsoft.com/office/drawing/2014/main" id="{BC97448C-D612-498E-B410-4A2BA6610E47}"/>
              </a:ext>
            </a:extLst>
          </p:cNvPr>
          <p:cNvSpPr>
            <a:spLocks xmlns:a="http://schemas.openxmlformats.org/drawingml/2006/main" noGrp="1"/>
          </p:cNvSpPr>
          <p:nvPr/>
        </p:nvSpPr>
        <p:spPr>
          <a:xfrm xmlns:a="http://schemas.openxmlformats.org/drawingml/2006/main">
            <a:off x="609600" y="1543050"/>
            <a:ext cx="47625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2A4548"/>
                </a:solidFill>
              </a:defRPr>
            </a:pPr>
            <a:r>
              <a:rPr sz="1050" b="0">
                <a:solidFill>
                  <a:srgbClr val="2A4548"/>
                </a:solidFill>
              </a:rPr>
              <a:t>Dashboard → Partner Hubs → Music section. EMS, Tri-Borough and LSO sit together so teachers find the right organisation in one place.</a:t>
            </a:r>
          </a:p>
        </p:txBody>
      </p:sp>
      <p:sp>
        <p:nvSpPr>
          <p:cNvPr id="8" name="">
            <a:extLst xmlns:a="http://schemas.openxmlformats.org/drawingml/2006/main">
              <a:ext uri="{FF2B5EF4-FFF2-40B4-BE49-F238E27FC236}">
                <a16:creationId xmlns:a16="http://schemas.microsoft.com/office/drawing/2014/main" id="{4F5741E6-9218-469F-8C8C-074B0C5F5C6D}"/>
              </a:ext>
            </a:extLst>
          </p:cNvPr>
          <p:cNvSpPr>
            <a:spLocks xmlns:a="http://schemas.openxmlformats.org/drawingml/2006/main" noGrp="1"/>
          </p:cNvSpPr>
          <p:nvPr/>
        </p:nvSpPr>
        <p:spPr>
          <a:xfrm xmlns:a="http://schemas.openxmlformats.org/drawingml/2006/main">
            <a:off x="5715000" y="76200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9" name="">
            <a:extLst xmlns:a="http://schemas.openxmlformats.org/drawingml/2006/main">
              <a:ext uri="{FF2B5EF4-FFF2-40B4-BE49-F238E27FC236}">
                <a16:creationId xmlns:a16="http://schemas.microsoft.com/office/drawing/2014/main" id="{BFB99AAA-7E68-44DF-BDA7-D7DF64579A36}"/>
              </a:ext>
            </a:extLst>
          </p:cNvPr>
          <p:cNvSpPr>
            <a:spLocks xmlns:a="http://schemas.openxmlformats.org/drawingml/2006/main" noGrp="1"/>
          </p:cNvSpPr>
          <p:nvPr/>
        </p:nvSpPr>
        <p:spPr>
          <a:xfrm xmlns:a="http://schemas.openxmlformats.org/drawingml/2006/main">
            <a:off x="5829300" y="87630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Interactive</a:t>
            </a:r>
          </a:p>
        </p:txBody>
      </p:sp>
      <p:sp>
        <p:nvSpPr>
          <p:cNvPr id="10" name="">
            <a:extLst xmlns:a="http://schemas.openxmlformats.org/drawingml/2006/main">
              <a:ext uri="{FF2B5EF4-FFF2-40B4-BE49-F238E27FC236}">
                <a16:creationId xmlns:a16="http://schemas.microsoft.com/office/drawing/2014/main" id="{90707078-502F-4A71-9461-C6299DFB3241}"/>
              </a:ext>
            </a:extLst>
          </p:cNvPr>
          <p:cNvSpPr>
            <a:spLocks xmlns:a="http://schemas.openxmlformats.org/drawingml/2006/main" noGrp="1"/>
          </p:cNvSpPr>
          <p:nvPr/>
        </p:nvSpPr>
        <p:spPr>
          <a:xfrm xmlns:a="http://schemas.openxmlformats.org/drawingml/2006/main">
            <a:off x="5829300" y="10858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EMS Music Hub</a:t>
            </a:r>
          </a:p>
        </p:txBody>
      </p:sp>
      <p:sp>
        <p:nvSpPr>
          <p:cNvPr id="11" name="">
            <a:extLst xmlns:a="http://schemas.openxmlformats.org/drawingml/2006/main">
              <a:ext uri="{FF2B5EF4-FFF2-40B4-BE49-F238E27FC236}">
                <a16:creationId xmlns:a16="http://schemas.microsoft.com/office/drawing/2014/main" id="{061F9DC2-FC89-47CD-A2BB-5771852DE936}"/>
              </a:ext>
            </a:extLst>
          </p:cNvPr>
          <p:cNvSpPr>
            <a:spLocks xmlns:a="http://schemas.openxmlformats.org/drawingml/2006/main" noGrp="1"/>
          </p:cNvSpPr>
          <p:nvPr/>
        </p:nvSpPr>
        <p:spPr>
          <a:xfrm xmlns:a="http://schemas.openxmlformats.org/drawingml/2006/main">
            <a:off x="5829300" y="148590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Browse resources · Add to CCDesigner</a:t>
            </a:r>
          </a:p>
        </p:txBody>
      </p:sp>
      <p:sp>
        <p:nvSpPr>
          <p:cNvPr id="12" name="">
            <a:extLst xmlns:a="http://schemas.openxmlformats.org/drawingml/2006/main">
              <a:ext uri="{FF2B5EF4-FFF2-40B4-BE49-F238E27FC236}">
                <a16:creationId xmlns:a16="http://schemas.microsoft.com/office/drawing/2014/main" id="{2B0D6015-136C-4479-8B13-10B34D548B59}"/>
              </a:ext>
            </a:extLst>
          </p:cNvPr>
          <p:cNvSpPr>
            <a:spLocks xmlns:a="http://schemas.openxmlformats.org/drawingml/2006/main" noGrp="1"/>
          </p:cNvSpPr>
          <p:nvPr/>
        </p:nvSpPr>
        <p:spPr>
          <a:xfrm xmlns:a="http://schemas.openxmlformats.org/drawingml/2006/main">
            <a:off x="8734425" y="76200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3" name="">
            <a:extLst xmlns:a="http://schemas.openxmlformats.org/drawingml/2006/main">
              <a:ext uri="{FF2B5EF4-FFF2-40B4-BE49-F238E27FC236}">
                <a16:creationId xmlns:a16="http://schemas.microsoft.com/office/drawing/2014/main" id="{31B913B5-10B2-422F-A5AE-DA83382D2514}"/>
              </a:ext>
            </a:extLst>
          </p:cNvPr>
          <p:cNvSpPr>
            <a:spLocks xmlns:a="http://schemas.openxmlformats.org/drawingml/2006/main" noGrp="1"/>
          </p:cNvSpPr>
          <p:nvPr/>
        </p:nvSpPr>
        <p:spPr>
          <a:xfrm xmlns:a="http://schemas.openxmlformats.org/drawingml/2006/main">
            <a:off x="8848725" y="87630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Links hub</a:t>
            </a:r>
          </a:p>
        </p:txBody>
      </p:sp>
      <p:sp>
        <p:nvSpPr>
          <p:cNvPr id="14" name="">
            <a:extLst xmlns:a="http://schemas.openxmlformats.org/drawingml/2006/main">
              <a:ext uri="{FF2B5EF4-FFF2-40B4-BE49-F238E27FC236}">
                <a16:creationId xmlns:a16="http://schemas.microsoft.com/office/drawing/2014/main" id="{72E20626-5047-454C-99CF-B1CEE8A30740}"/>
              </a:ext>
            </a:extLst>
          </p:cNvPr>
          <p:cNvSpPr>
            <a:spLocks xmlns:a="http://schemas.openxmlformats.org/drawingml/2006/main" noGrp="1"/>
          </p:cNvSpPr>
          <p:nvPr/>
        </p:nvSpPr>
        <p:spPr>
          <a:xfrm xmlns:a="http://schemas.openxmlformats.org/drawingml/2006/main">
            <a:off x="8848725" y="10858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Tri-Borough</a:t>
            </a:r>
          </a:p>
        </p:txBody>
      </p:sp>
      <p:sp>
        <p:nvSpPr>
          <p:cNvPr id="15" name="">
            <a:extLst xmlns:a="http://schemas.openxmlformats.org/drawingml/2006/main">
              <a:ext uri="{FF2B5EF4-FFF2-40B4-BE49-F238E27FC236}">
                <a16:creationId xmlns:a16="http://schemas.microsoft.com/office/drawing/2014/main" id="{44F3A4F3-121A-4A47-8BCA-4620A1D7067C}"/>
              </a:ext>
            </a:extLst>
          </p:cNvPr>
          <p:cNvSpPr>
            <a:spLocks xmlns:a="http://schemas.openxmlformats.org/drawingml/2006/main" noGrp="1"/>
          </p:cNvSpPr>
          <p:nvPr/>
        </p:nvSpPr>
        <p:spPr>
          <a:xfrm xmlns:a="http://schemas.openxmlformats.org/drawingml/2006/main">
            <a:off x="8848725" y="148590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Music education pathways &amp; partner links</a:t>
            </a:r>
          </a:p>
        </p:txBody>
      </p:sp>
      <p:sp>
        <p:nvSpPr>
          <p:cNvPr id="16" name="">
            <a:extLst xmlns:a="http://schemas.openxmlformats.org/drawingml/2006/main">
              <a:ext uri="{FF2B5EF4-FFF2-40B4-BE49-F238E27FC236}">
                <a16:creationId xmlns:a16="http://schemas.microsoft.com/office/drawing/2014/main" id="{B88FFED5-4850-4711-A6A9-CC818DE483A3}"/>
              </a:ext>
            </a:extLst>
          </p:cNvPr>
          <p:cNvSpPr>
            <a:spLocks xmlns:a="http://schemas.openxmlformats.org/drawingml/2006/main" noGrp="1"/>
          </p:cNvSpPr>
          <p:nvPr/>
        </p:nvSpPr>
        <p:spPr>
          <a:xfrm xmlns:a="http://schemas.openxmlformats.org/drawingml/2006/main">
            <a:off x="5715000" y="241935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7" name="">
            <a:extLst xmlns:a="http://schemas.openxmlformats.org/drawingml/2006/main">
              <a:ext uri="{FF2B5EF4-FFF2-40B4-BE49-F238E27FC236}">
                <a16:creationId xmlns:a16="http://schemas.microsoft.com/office/drawing/2014/main" id="{BAA790EC-5191-4E67-85BA-81BDC0CEE6D4}"/>
              </a:ext>
            </a:extLst>
          </p:cNvPr>
          <p:cNvSpPr>
            <a:spLocks xmlns:a="http://schemas.openxmlformats.org/drawingml/2006/main" noGrp="1"/>
          </p:cNvSpPr>
          <p:nvPr/>
        </p:nvSpPr>
        <p:spPr>
          <a:xfrm xmlns:a="http://schemas.openxmlformats.org/drawingml/2006/main">
            <a:off x="5829300" y="253365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Interactive</a:t>
            </a:r>
          </a:p>
        </p:txBody>
      </p:sp>
      <p:sp>
        <p:nvSpPr>
          <p:cNvPr id="18" name="">
            <a:extLst xmlns:a="http://schemas.openxmlformats.org/drawingml/2006/main">
              <a:ext uri="{FF2B5EF4-FFF2-40B4-BE49-F238E27FC236}">
                <a16:creationId xmlns:a16="http://schemas.microsoft.com/office/drawing/2014/main" id="{ECECFC1C-5F8F-4299-8E88-B354DED4ED90}"/>
              </a:ext>
            </a:extLst>
          </p:cNvPr>
          <p:cNvSpPr>
            <a:spLocks xmlns:a="http://schemas.openxmlformats.org/drawingml/2006/main" noGrp="1"/>
          </p:cNvSpPr>
          <p:nvPr/>
        </p:nvSpPr>
        <p:spPr>
          <a:xfrm xmlns:a="http://schemas.openxmlformats.org/drawingml/2006/main">
            <a:off x="5829300" y="274320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LSO hub</a:t>
            </a:r>
          </a:p>
        </p:txBody>
      </p:sp>
      <p:sp>
        <p:nvSpPr>
          <p:cNvPr id="19" name="">
            <a:extLst xmlns:a="http://schemas.openxmlformats.org/drawingml/2006/main">
              <a:ext uri="{FF2B5EF4-FFF2-40B4-BE49-F238E27FC236}">
                <a16:creationId xmlns:a16="http://schemas.microsoft.com/office/drawing/2014/main" id="{AB10D602-0BBA-48C6-9DF8-B0029B75A638}"/>
              </a:ext>
            </a:extLst>
          </p:cNvPr>
          <p:cNvSpPr>
            <a:spLocks xmlns:a="http://schemas.openxmlformats.org/drawingml/2006/main" noGrp="1"/>
          </p:cNvSpPr>
          <p:nvPr/>
        </p:nvSpPr>
        <p:spPr>
          <a:xfrm xmlns:a="http://schemas.openxmlformats.org/drawingml/2006/main">
            <a:off x="5829300" y="314325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Choose a pack · Add to CCDesigner</a:t>
            </a:r>
          </a:p>
        </p:txBody>
      </p:sp>
      <p:sp>
        <p:nvSpPr>
          <p:cNvPr id="20" name="">
            <a:extLst xmlns:a="http://schemas.openxmlformats.org/drawingml/2006/main">
              <a:ext uri="{FF2B5EF4-FFF2-40B4-BE49-F238E27FC236}">
                <a16:creationId xmlns:a16="http://schemas.microsoft.com/office/drawing/2014/main" id="{036D271C-4664-4612-9341-746E0D33EBC5}"/>
              </a:ext>
            </a:extLst>
          </p:cNvPr>
          <p:cNvSpPr>
            <a:spLocks xmlns:a="http://schemas.openxmlformats.org/drawingml/2006/main" noGrp="1"/>
          </p:cNvSpPr>
          <p:nvPr/>
        </p:nvSpPr>
        <p:spPr>
          <a:xfrm xmlns:a="http://schemas.openxmlformats.org/drawingml/2006/main">
            <a:off x="609600" y="6096000"/>
            <a:ext cx="11811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6F3FAA01-7AC8-4809-8FA3-570FD6E3B005}"/>
              </a:ext>
            </a:extLst>
          </p:cNvPr>
          <p:cNvSpPr>
            <a:spLocks xmlns:a="http://schemas.openxmlformats.org/drawingml/2006/main" noGrp="1"/>
          </p:cNvSpPr>
          <p:nvPr/>
        </p:nvSpPr>
        <p:spPr>
          <a:xfrm xmlns:a="http://schemas.openxmlformats.org/drawingml/2006/main">
            <a:off x="685800" y="6134100"/>
            <a:ext cx="1028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Partner Hubs</a:t>
            </a:r>
          </a:p>
        </p:txBody>
      </p:sp>
      <p:sp>
        <p:nvSpPr>
          <p:cNvPr id="22" name="">
            <a:extLst xmlns:a="http://schemas.openxmlformats.org/drawingml/2006/main">
              <a:ext uri="{FF2B5EF4-FFF2-40B4-BE49-F238E27FC236}">
                <a16:creationId xmlns:a16="http://schemas.microsoft.com/office/drawing/2014/main" id="{77D86E94-5C02-4A49-92EF-BC87B16F627A}"/>
              </a:ext>
            </a:extLst>
          </p:cNvPr>
          <p:cNvSpPr>
            <a:spLocks xmlns:a="http://schemas.openxmlformats.org/drawingml/2006/main" noGrp="1"/>
          </p:cNvSpPr>
          <p:nvPr/>
        </p:nvSpPr>
        <p:spPr>
          <a:xfrm xmlns:a="http://schemas.openxmlformats.org/drawingml/2006/main">
            <a:off x="1866900" y="6096000"/>
            <a:ext cx="6477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B90418A1-F44A-42A5-8E7C-7E61D53370BA}"/>
              </a:ext>
            </a:extLst>
          </p:cNvPr>
          <p:cNvSpPr>
            <a:spLocks xmlns:a="http://schemas.openxmlformats.org/drawingml/2006/main" noGrp="1"/>
          </p:cNvSpPr>
          <p:nvPr/>
        </p:nvSpPr>
        <p:spPr>
          <a:xfrm xmlns:a="http://schemas.openxmlformats.org/drawingml/2006/main">
            <a:off x="1943100" y="613410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Music</a:t>
            </a:r>
          </a:p>
        </p:txBody>
      </p:sp>
      <p:sp>
        <p:nvSpPr>
          <p:cNvPr id="24" name="">
            <a:extLst xmlns:a="http://schemas.openxmlformats.org/drawingml/2006/main">
              <a:ext uri="{FF2B5EF4-FFF2-40B4-BE49-F238E27FC236}">
                <a16:creationId xmlns:a16="http://schemas.microsoft.com/office/drawing/2014/main" id="{5918982B-397E-4DAA-A1D3-79EFF8D45116}"/>
              </a:ext>
            </a:extLst>
          </p:cNvPr>
          <p:cNvSpPr>
            <a:spLocks xmlns:a="http://schemas.openxmlformats.org/drawingml/2006/main" noGrp="1"/>
          </p:cNvSpPr>
          <p:nvPr/>
        </p:nvSpPr>
        <p:spPr>
          <a:xfrm xmlns:a="http://schemas.openxmlformats.org/drawingml/2006/main">
            <a:off x="2590800" y="6096000"/>
            <a:ext cx="20193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F93258F8-7525-4C90-BB9C-FC489310D625}"/>
              </a:ext>
            </a:extLst>
          </p:cNvPr>
          <p:cNvSpPr>
            <a:spLocks xmlns:a="http://schemas.openxmlformats.org/drawingml/2006/main" noGrp="1"/>
          </p:cNvSpPr>
          <p:nvPr/>
        </p:nvSpPr>
        <p:spPr>
          <a:xfrm xmlns:a="http://schemas.openxmlformats.org/drawingml/2006/main">
            <a:off x="2667000" y="6134100"/>
            <a:ext cx="1866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EMS · Tri-Borough · LSO</a:t>
            </a:r>
          </a:p>
        </p:txBody>
      </p:sp>
      <p:sp>
        <p:nvSpPr>
          <p:cNvPr id="26" name="">
            <a:extLst xmlns:a="http://schemas.openxmlformats.org/drawingml/2006/main">
              <a:ext uri="{FF2B5EF4-FFF2-40B4-BE49-F238E27FC236}">
                <a16:creationId xmlns:a16="http://schemas.microsoft.com/office/drawing/2014/main" id="{2922559B-596E-40A7-818F-4B2DFC6F157D}"/>
              </a:ext>
            </a:extLst>
          </p:cNvPr>
          <p:cNvSpPr>
            <a:spLocks xmlns:a="http://schemas.openxmlformats.org/drawingml/2006/main" noGrp="1"/>
          </p:cNvSpPr>
          <p:nvPr/>
        </p:nvSpPr>
        <p:spPr>
          <a:xfrm xmlns:a="http://schemas.openxmlformats.org/drawingml/2006/main">
            <a:off x="609600" y="5905500"/>
            <a:ext cx="2667000" cy="342900"/>
          </a:xfrm>
          <a:prstGeom xmlns:a="http://schemas.openxmlformats.org/drawingml/2006/main" prst="roundRect">
            <a:avLst>
              <a:gd name="adj" fmla="val 22222"/>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6B736D53-6FDB-4CEF-8F2F-AA69C6CEECEB}"/>
              </a:ext>
            </a:extLst>
          </p:cNvPr>
          <p:cNvSpPr>
            <a:spLocks xmlns:a="http://schemas.openxmlformats.org/drawingml/2006/main" noGrp="1"/>
          </p:cNvSpPr>
          <p:nvPr/>
        </p:nvSpPr>
        <p:spPr>
          <a:xfrm xmlns:a="http://schemas.openxmlformats.org/drawingml/2006/main">
            <a:off x="723900" y="5962650"/>
            <a:ext cx="323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0719"/>
          </a:bodyPr>
          <a:lstStyle xmlns:a="http://schemas.openxmlformats.org/drawingml/2006/main"/>
          <a:p xmlns:a="http://schemas.openxmlformats.org/drawingml/2006/main">
            <a:pPr algn="l">
              <a:defRPr sz="975" b="1">
                <a:solidFill>
                  <a:srgbClr val="002D24"/>
                </a:solidFill>
              </a:defRPr>
            </a:pPr>
            <a:r>
              <a:rPr sz="975" b="1">
                <a:solidFill>
                  <a:srgbClr val="002D24"/>
                </a:solidFill>
              </a:rPr>
              <a:t>Open from Partner Hubs →</a:t>
            </a:r>
          </a:p>
        </p:txBody>
      </p:sp>
      <p:sp>
        <p:nvSpPr>
          <p:cNvPr id="28" name="">
            <a:extLst xmlns:a="http://schemas.openxmlformats.org/drawingml/2006/main">
              <a:ext uri="{FF2B5EF4-FFF2-40B4-BE49-F238E27FC236}">
                <a16:creationId xmlns:a16="http://schemas.microsoft.com/office/drawing/2014/main" id="{87E05FF9-F583-405D-9F8B-250E346263C7}"/>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29" name="">
            <a:extLst xmlns:a="http://schemas.openxmlformats.org/drawingml/2006/main">
              <a:ext uri="{FF2B5EF4-FFF2-40B4-BE49-F238E27FC236}">
                <a16:creationId xmlns:a16="http://schemas.microsoft.com/office/drawing/2014/main" id="{DDE11178-E547-44AB-8FAF-B2645D944C10}"/>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15 / 25</a:t>
            </a:r>
          </a:p>
        </p:txBody>
      </p:sp>
    </p:spTree>
    <p:extLst>
      <p:ext uri="{BB962C8B-B14F-4D97-AF65-F5344CB8AC3E}">
        <p14:creationId xmlns:p14="http://schemas.microsoft.com/office/powerpoint/2010/main" val="1908161892"/>
      </p:ext>
    </p:extLst>
  </p:cSld>
</p:sld>
</file>

<file path=ppt/slides/slide16.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99BEEE6C-0BE3-41D5-AD74-5851DE17154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6EAAA11-045E-42B5-A945-ECE1F909449D}"/>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80BE651-9619-4F2F-89AE-7221D7BE7313}"/>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2B6F244-025E-49EA-A47C-2A284EE600DF}"/>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LSO hub</a:t>
            </a:r>
          </a:p>
        </p:txBody>
      </p:sp>
      <p:sp>
        <p:nvSpPr>
          <p:cNvPr id="6" name="">
            <a:extLst xmlns:a="http://schemas.openxmlformats.org/drawingml/2006/main">
              <a:ext uri="{FF2B5EF4-FFF2-40B4-BE49-F238E27FC236}">
                <a16:creationId xmlns:a16="http://schemas.microsoft.com/office/drawing/2014/main" id="{E2FF8AFB-7949-4A8F-A31F-A9DE02DB3EE0}"/>
              </a:ext>
            </a:extLst>
          </p:cNvPr>
          <p:cNvSpPr>
            <a:spLocks xmlns:a="http://schemas.openxmlformats.org/drawingml/2006/main" noGrp="1"/>
          </p:cNvSpPr>
          <p:nvPr/>
        </p:nvSpPr>
        <p:spPr>
          <a:xfrm xmlns:a="http://schemas.openxmlformats.org/drawingml/2006/main">
            <a:off x="609600" y="647700"/>
            <a:ext cx="4762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002D24"/>
                </a:solidFill>
              </a:defRPr>
            </a:pPr>
            <a:r>
              <a:rPr sz="1950" b="1">
                <a:solidFill>
                  <a:srgbClr val="002D24"/>
                </a:solidFill>
              </a:rPr>
              <a:t>Choose a resource. Add it to CCDesigner.</a:t>
            </a:r>
          </a:p>
        </p:txBody>
      </p:sp>
      <p:sp>
        <p:nvSpPr>
          <p:cNvPr id="7" name="">
            <a:extLst xmlns:a="http://schemas.openxmlformats.org/drawingml/2006/main">
              <a:ext uri="{FF2B5EF4-FFF2-40B4-BE49-F238E27FC236}">
                <a16:creationId xmlns:a16="http://schemas.microsoft.com/office/drawing/2014/main" id="{24ADD214-248C-4081-AC58-C41D5B85B2B9}"/>
              </a:ext>
            </a:extLst>
          </p:cNvPr>
          <p:cNvSpPr>
            <a:spLocks xmlns:a="http://schemas.openxmlformats.org/drawingml/2006/main" noGrp="1"/>
          </p:cNvSpPr>
          <p:nvPr/>
        </p:nvSpPr>
        <p:spPr>
          <a:xfrm xmlns:a="http://schemas.openxmlformats.org/drawingml/2006/main">
            <a:off x="609600" y="1485900"/>
            <a:ext cx="47625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2A4548"/>
                </a:solidFill>
              </a:defRPr>
            </a:pPr>
            <a:r>
              <a:rPr sz="1050" b="0">
                <a:solidFill>
                  <a:srgbClr val="2A4548"/>
                </a:solidFill>
              </a:rPr>
              <a:t>Open the London Symphony Orchestra hub, pick a classroom pack such as How to Build an Orchestra, then bring those activities straight into your library — or select Partner Planning for the term.</a:t>
            </a:r>
          </a:p>
        </p:txBody>
      </p:sp>
      <p:sp>
        <p:nvSpPr>
          <p:cNvPr id="8" name="">
            <a:extLst xmlns:a="http://schemas.openxmlformats.org/drawingml/2006/main">
              <a:ext uri="{FF2B5EF4-FFF2-40B4-BE49-F238E27FC236}">
                <a16:creationId xmlns:a16="http://schemas.microsoft.com/office/drawing/2014/main" id="{4ABE4839-DB9B-4352-AA1C-F6F169663DAD}"/>
              </a:ext>
            </a:extLst>
          </p:cNvPr>
          <p:cNvSpPr>
            <a:spLocks xmlns:a="http://schemas.openxmlformats.org/drawingml/2006/main" noGrp="1"/>
          </p:cNvSpPr>
          <p:nvPr/>
        </p:nvSpPr>
        <p:spPr>
          <a:xfrm xmlns:a="http://schemas.openxmlformats.org/drawingml/2006/main">
            <a:off x="609600" y="2724150"/>
            <a:ext cx="47625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0">
                <a:solidFill>
                  <a:srgbClr val="0F2A2E"/>
                </a:solidFill>
              </a:defRPr>
            </a:pPr>
            <a:r>
              <a:rPr sz="975" b="0">
                <a:solidFill>
                  <a:srgbClr val="0F2A2E"/>
                </a:solidFill>
              </a:rPr>
              <a:t>• Browse LSO learning resources</a:t>
            </a:r>
          </a:p>
          <a:p xmlns:a="http://schemas.openxmlformats.org/drawingml/2006/main">
            <a:pPr algn="l">
              <a:defRPr sz="975" b="0">
                <a:solidFill>
                  <a:srgbClr val="0F2A2E"/>
                </a:solidFill>
              </a:defRPr>
            </a:pPr>
            <a:r>
              <a:rPr sz="975" b="0">
                <a:solidFill>
                  <a:srgbClr val="0F2A2E"/>
                </a:solidFill>
              </a:rPr>
              <a:t>• Select a pack for your year group</a:t>
            </a:r>
          </a:p>
          <a:p xmlns:a="http://schemas.openxmlformats.org/drawingml/2006/main">
            <a:pPr algn="l">
              <a:defRPr sz="975" b="0">
                <a:solidFill>
                  <a:srgbClr val="0F2A2E"/>
                </a:solidFill>
              </a:defRPr>
            </a:pPr>
            <a:r>
              <a:rPr sz="975" b="0">
                <a:solidFill>
                  <a:srgbClr val="0F2A2E"/>
                </a:solidFill>
              </a:rPr>
              <a:t>• Add to CCDesigner — activities appear in your library</a:t>
            </a:r>
          </a:p>
        </p:txBody>
      </p:sp>
      <p:sp>
        <p:nvSpPr>
          <p:cNvPr id="9" name="">
            <a:extLst xmlns:a="http://schemas.openxmlformats.org/drawingml/2006/main">
              <a:ext uri="{FF2B5EF4-FFF2-40B4-BE49-F238E27FC236}">
                <a16:creationId xmlns:a16="http://schemas.microsoft.com/office/drawing/2014/main" id="{6DBA10A4-F8A1-4CAF-8334-9AD458646CB0}"/>
              </a:ext>
            </a:extLst>
          </p:cNvPr>
          <p:cNvSpPr>
            <a:spLocks xmlns:a="http://schemas.openxmlformats.org/drawingml/2006/main" noGrp="1"/>
          </p:cNvSpPr>
          <p:nvPr/>
        </p:nvSpPr>
        <p:spPr>
          <a:xfrm xmlns:a="http://schemas.openxmlformats.org/drawingml/2006/main">
            <a:off x="5619750" y="666750"/>
            <a:ext cx="6000750" cy="5524500"/>
          </a:xfrm>
          <a:prstGeom xmlns:a="http://schemas.openxmlformats.org/drawingml/2006/main" prst="roundRect">
            <a:avLst>
              <a:gd name="adj" fmla="val 1379"/>
            </a:avLst>
          </a:prstGeom>
          <a:solidFill xmlns:a="http://schemas.openxmlformats.org/drawingml/2006/main">
            <a:srgbClr val="FFFFFF"/>
          </a:solidFill>
          <a:ln xmlns:a="http://schemas.openxmlformats.org/drawingml/2006/main" w="9525">
            <a:solidFill>
              <a:srgbClr val="D7E4DF"/>
            </a:solidFill>
            <a:prstDash val="solid"/>
          </a:ln>
        </p:spPr>
      </p:sp>
      <p:sp>
        <p:nvSpPr>
          <p:cNvPr id="10" name="">
            <a:extLst xmlns:a="http://schemas.openxmlformats.org/drawingml/2006/main">
              <a:ext uri="{FF2B5EF4-FFF2-40B4-BE49-F238E27FC236}">
                <a16:creationId xmlns:a16="http://schemas.microsoft.com/office/drawing/2014/main" id="{10A738F0-3E70-41D3-805E-F6D696F7C7E3}"/>
              </a:ext>
            </a:extLst>
          </p:cNvPr>
          <p:cNvSpPr>
            <a:spLocks xmlns:a="http://schemas.openxmlformats.org/drawingml/2006/main" noGrp="1"/>
          </p:cNvSpPr>
          <p:nvPr/>
        </p:nvSpPr>
        <p:spPr>
          <a:xfrm xmlns:a="http://schemas.openxmlformats.org/drawingml/2006/main">
            <a:off x="5619750" y="666750"/>
            <a:ext cx="6000750" cy="609600"/>
          </a:xfrm>
          <a:prstGeom xmlns:a="http://schemas.openxmlformats.org/drawingml/2006/main" prst="rect">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4C199BEA-119A-4D74-A868-81D89A2B9A6F}"/>
              </a:ext>
            </a:extLst>
          </p:cNvPr>
          <p:cNvSpPr>
            <a:spLocks xmlns:a="http://schemas.openxmlformats.org/drawingml/2006/main" noGrp="1"/>
          </p:cNvSpPr>
          <p:nvPr/>
        </p:nvSpPr>
        <p:spPr>
          <a:xfrm xmlns:a="http://schemas.openxmlformats.org/drawingml/2006/main">
            <a:off x="5772150" y="762000"/>
            <a:ext cx="3900488"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3947"/>
          </a:bodyPr>
          <a:lstStyle xmlns:a="http://schemas.openxmlformats.org/drawingml/2006/main"/>
          <a:p xmlns:a="http://schemas.openxmlformats.org/drawingml/2006/main">
            <a:pPr algn="l">
              <a:defRPr sz="1200" b="1">
                <a:solidFill>
                  <a:srgbClr val="FFFFFF"/>
                </a:solidFill>
              </a:defRPr>
            </a:pPr>
            <a:r>
              <a:rPr sz="1200" b="1">
                <a:solidFill>
                  <a:srgbClr val="FFFFFF"/>
                </a:solidFill>
              </a:rPr>
              <a:t>London Symphony Orchestra</a:t>
            </a:r>
          </a:p>
        </p:txBody>
      </p:sp>
      <p:sp>
        <p:nvSpPr>
          <p:cNvPr id="12" name="">
            <a:extLst xmlns:a="http://schemas.openxmlformats.org/drawingml/2006/main">
              <a:ext uri="{FF2B5EF4-FFF2-40B4-BE49-F238E27FC236}">
                <a16:creationId xmlns:a16="http://schemas.microsoft.com/office/drawing/2014/main" id="{3E041128-3785-4296-A178-7DA553CC47CA}"/>
              </a:ext>
            </a:extLst>
          </p:cNvPr>
          <p:cNvSpPr>
            <a:spLocks xmlns:a="http://schemas.openxmlformats.org/drawingml/2006/main" noGrp="1"/>
          </p:cNvSpPr>
          <p:nvPr/>
        </p:nvSpPr>
        <p:spPr>
          <a:xfrm xmlns:a="http://schemas.openxmlformats.org/drawingml/2006/main">
            <a:off x="5772150" y="1009650"/>
            <a:ext cx="3900488"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CFE3DC"/>
                </a:solidFill>
              </a:defRPr>
            </a:pPr>
            <a:r>
              <a:rPr sz="825" b="0">
                <a:solidFill>
                  <a:srgbClr val="CFE3DC"/>
                </a:solidFill>
              </a:rPr>
              <a:t>Partner hub · Music</a:t>
            </a:r>
          </a:p>
        </p:txBody>
      </p:sp>
      <p:sp>
        <p:nvSpPr>
          <p:cNvPr id="13" name="">
            <a:extLst xmlns:a="http://schemas.openxmlformats.org/drawingml/2006/main">
              <a:ext uri="{FF2B5EF4-FFF2-40B4-BE49-F238E27FC236}">
                <a16:creationId xmlns:a16="http://schemas.microsoft.com/office/drawing/2014/main" id="{4B7A2F43-C3C8-4485-8F33-53123680CF61}"/>
              </a:ext>
            </a:extLst>
          </p:cNvPr>
          <p:cNvSpPr>
            <a:spLocks xmlns:a="http://schemas.openxmlformats.org/drawingml/2006/main" noGrp="1"/>
          </p:cNvSpPr>
          <p:nvPr/>
        </p:nvSpPr>
        <p:spPr>
          <a:xfrm xmlns:a="http://schemas.openxmlformats.org/drawingml/2006/main">
            <a:off x="10477500" y="838200"/>
            <a:ext cx="952500" cy="266700"/>
          </a:xfrm>
          <a:prstGeom xmlns:a="http://schemas.openxmlformats.org/drawingml/2006/main" prst="roundRect">
            <a:avLst>
              <a:gd name="adj" fmla="val 28571"/>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9A82A861-2D77-4129-AE5B-565127B489C0}"/>
              </a:ext>
            </a:extLst>
          </p:cNvPr>
          <p:cNvSpPr>
            <a:spLocks xmlns:a="http://schemas.openxmlformats.org/drawingml/2006/main" noGrp="1"/>
          </p:cNvSpPr>
          <p:nvPr/>
        </p:nvSpPr>
        <p:spPr>
          <a:xfrm xmlns:a="http://schemas.openxmlformats.org/drawingml/2006/main">
            <a:off x="10477500" y="876300"/>
            <a:ext cx="95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2323"/>
          </a:bodyPr>
          <a:lstStyle xmlns:a="http://schemas.openxmlformats.org/drawingml/2006/main"/>
          <a:p xmlns:a="http://schemas.openxmlformats.org/drawingml/2006/main">
            <a:pPr algn="ctr">
              <a:defRPr sz="825" b="1">
                <a:solidFill>
                  <a:srgbClr val="002D24"/>
                </a:solidFill>
              </a:defRPr>
            </a:pPr>
            <a:r>
              <a:rPr sz="825" b="1">
                <a:solidFill>
                  <a:srgbClr val="002D24"/>
                </a:solidFill>
              </a:rPr>
              <a:t>Interactive</a:t>
            </a:r>
          </a:p>
        </p:txBody>
      </p:sp>
      <p:sp>
        <p:nvSpPr>
          <p:cNvPr id="15" name="">
            <a:extLst xmlns:a="http://schemas.openxmlformats.org/drawingml/2006/main">
              <a:ext uri="{FF2B5EF4-FFF2-40B4-BE49-F238E27FC236}">
                <a16:creationId xmlns:a16="http://schemas.microsoft.com/office/drawing/2014/main" id="{F832ED36-71EA-459A-A977-4452AB00C408}"/>
              </a:ext>
            </a:extLst>
          </p:cNvPr>
          <p:cNvSpPr>
            <a:spLocks xmlns:a="http://schemas.openxmlformats.org/drawingml/2006/main" noGrp="1"/>
          </p:cNvSpPr>
          <p:nvPr/>
        </p:nvSpPr>
        <p:spPr>
          <a:xfrm xmlns:a="http://schemas.openxmlformats.org/drawingml/2006/main">
            <a:off x="5772150" y="1466850"/>
            <a:ext cx="2771775" cy="1524000"/>
          </a:xfrm>
          <a:prstGeom xmlns:a="http://schemas.openxmlformats.org/drawingml/2006/main" prst="roundRect">
            <a:avLst>
              <a:gd name="adj" fmla="val 5000"/>
            </a:avLst>
          </a:prstGeom>
          <a:solidFill xmlns:a="http://schemas.openxmlformats.org/drawingml/2006/main">
            <a:srgbClr val="E8FAF6"/>
          </a:solidFill>
          <a:ln xmlns:a="http://schemas.openxmlformats.org/drawingml/2006/main" w="14288">
            <a:solidFill>
              <a:srgbClr val="002D24"/>
            </a:solidFill>
            <a:prstDash val="solid"/>
          </a:ln>
        </p:spPr>
      </p:sp>
      <p:sp>
        <p:nvSpPr>
          <p:cNvPr id="16" name="">
            <a:extLst xmlns:a="http://schemas.openxmlformats.org/drawingml/2006/main">
              <a:ext uri="{FF2B5EF4-FFF2-40B4-BE49-F238E27FC236}">
                <a16:creationId xmlns:a16="http://schemas.microsoft.com/office/drawing/2014/main" id="{35A4C6BF-393F-4B01-8D43-B4941965C7E8}"/>
              </a:ext>
            </a:extLst>
          </p:cNvPr>
          <p:cNvSpPr>
            <a:spLocks xmlns:a="http://schemas.openxmlformats.org/drawingml/2006/main" noGrp="1"/>
          </p:cNvSpPr>
          <p:nvPr/>
        </p:nvSpPr>
        <p:spPr>
          <a:xfrm xmlns:a="http://schemas.openxmlformats.org/drawingml/2006/main">
            <a:off x="5886450" y="1581150"/>
            <a:ext cx="25431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How to Build an Orchestra</a:t>
            </a:r>
          </a:p>
        </p:txBody>
      </p:sp>
      <p:sp>
        <p:nvSpPr>
          <p:cNvPr id="17" name="">
            <a:extLst xmlns:a="http://schemas.openxmlformats.org/drawingml/2006/main">
              <a:ext uri="{FF2B5EF4-FFF2-40B4-BE49-F238E27FC236}">
                <a16:creationId xmlns:a16="http://schemas.microsoft.com/office/drawing/2014/main" id="{419E9F2C-8BC2-45BD-BB9A-35E403AE2835}"/>
              </a:ext>
            </a:extLst>
          </p:cNvPr>
          <p:cNvSpPr>
            <a:spLocks xmlns:a="http://schemas.openxmlformats.org/drawingml/2006/main" noGrp="1"/>
          </p:cNvSpPr>
          <p:nvPr/>
        </p:nvSpPr>
        <p:spPr>
          <a:xfrm xmlns:a="http://schemas.openxmlformats.org/drawingml/2006/main">
            <a:off x="5886450" y="2000250"/>
            <a:ext cx="25431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5A7275"/>
                </a:solidFill>
              </a:defRPr>
            </a:pPr>
            <a:r>
              <a:rPr sz="825" b="0">
                <a:solidFill>
                  <a:srgbClr val="5A7275"/>
                </a:solidFill>
              </a:rPr>
              <a:t>Year 6 · classroom pack</a:t>
            </a:r>
          </a:p>
        </p:txBody>
      </p:sp>
      <p:sp>
        <p:nvSpPr>
          <p:cNvPr id="18" name="">
            <a:extLst xmlns:a="http://schemas.openxmlformats.org/drawingml/2006/main">
              <a:ext uri="{FF2B5EF4-FFF2-40B4-BE49-F238E27FC236}">
                <a16:creationId xmlns:a16="http://schemas.microsoft.com/office/drawing/2014/main" id="{AE16F0A0-07A5-46BA-AEF1-4DFB3C0C6BCE}"/>
              </a:ext>
            </a:extLst>
          </p:cNvPr>
          <p:cNvSpPr>
            <a:spLocks xmlns:a="http://schemas.openxmlformats.org/drawingml/2006/main" noGrp="1"/>
          </p:cNvSpPr>
          <p:nvPr/>
        </p:nvSpPr>
        <p:spPr>
          <a:xfrm xmlns:a="http://schemas.openxmlformats.org/drawingml/2006/main">
            <a:off x="5886450" y="2381250"/>
            <a:ext cx="1524000" cy="285750"/>
          </a:xfrm>
          <a:prstGeom xmlns:a="http://schemas.openxmlformats.org/drawingml/2006/main" prst="roundRect">
            <a:avLst>
              <a:gd name="adj" fmla="val 26667"/>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90894D14-BB29-4402-ACAE-3F6B1854D7B2}"/>
              </a:ext>
            </a:extLst>
          </p:cNvPr>
          <p:cNvSpPr>
            <a:spLocks xmlns:a="http://schemas.openxmlformats.org/drawingml/2006/main" noGrp="1"/>
          </p:cNvSpPr>
          <p:nvPr/>
        </p:nvSpPr>
        <p:spPr>
          <a:xfrm xmlns:a="http://schemas.openxmlformats.org/drawingml/2006/main">
            <a:off x="5886450" y="24193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825" b="1">
                <a:solidFill>
                  <a:srgbClr val="FFFFFF"/>
                </a:solidFill>
              </a:defRPr>
            </a:pPr>
            <a:r>
              <a:rPr sz="825" b="1">
                <a:solidFill>
                  <a:srgbClr val="FFFFFF"/>
                </a:solidFill>
              </a:rPr>
              <a:t>Add to CCDesigner</a:t>
            </a:r>
          </a:p>
        </p:txBody>
      </p:sp>
      <p:sp>
        <p:nvSpPr>
          <p:cNvPr id="20" name="">
            <a:extLst xmlns:a="http://schemas.openxmlformats.org/drawingml/2006/main">
              <a:ext uri="{FF2B5EF4-FFF2-40B4-BE49-F238E27FC236}">
                <a16:creationId xmlns:a16="http://schemas.microsoft.com/office/drawing/2014/main" id="{A3C3E1CA-C166-4053-8A36-7B2A5DD45EC9}"/>
              </a:ext>
            </a:extLst>
          </p:cNvPr>
          <p:cNvSpPr>
            <a:spLocks xmlns:a="http://schemas.openxmlformats.org/drawingml/2006/main" noGrp="1"/>
          </p:cNvSpPr>
          <p:nvPr/>
        </p:nvSpPr>
        <p:spPr>
          <a:xfrm xmlns:a="http://schemas.openxmlformats.org/drawingml/2006/main">
            <a:off x="8734425" y="1466850"/>
            <a:ext cx="2771775" cy="1524000"/>
          </a:xfrm>
          <a:prstGeom xmlns:a="http://schemas.openxmlformats.org/drawingml/2006/main" prst="roundRect">
            <a:avLst>
              <a:gd name="adj" fmla="val 5000"/>
            </a:avLst>
          </a:prstGeom>
          <a:solidFill xmlns:a="http://schemas.openxmlformats.org/drawingml/2006/main">
            <a:srgbClr val="F4FFE8"/>
          </a:solidFill>
          <a:ln xmlns:a="http://schemas.openxmlformats.org/drawingml/2006/main" w="14288">
            <a:solidFill>
              <a:srgbClr val="B6FF7E"/>
            </a:solidFill>
            <a:prstDash val="solid"/>
          </a:ln>
        </p:spPr>
      </p:sp>
      <p:sp>
        <p:nvSpPr>
          <p:cNvPr id="21" name="">
            <a:extLst xmlns:a="http://schemas.openxmlformats.org/drawingml/2006/main">
              <a:ext uri="{FF2B5EF4-FFF2-40B4-BE49-F238E27FC236}">
                <a16:creationId xmlns:a16="http://schemas.microsoft.com/office/drawing/2014/main" id="{8EF05FF1-89F3-49F8-A944-96077F6A1CCE}"/>
              </a:ext>
            </a:extLst>
          </p:cNvPr>
          <p:cNvSpPr>
            <a:spLocks xmlns:a="http://schemas.openxmlformats.org/drawingml/2006/main" noGrp="1"/>
          </p:cNvSpPr>
          <p:nvPr/>
        </p:nvSpPr>
        <p:spPr>
          <a:xfrm xmlns:a="http://schemas.openxmlformats.org/drawingml/2006/main">
            <a:off x="8772525" y="1581150"/>
            <a:ext cx="239077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Partner planning</a:t>
            </a:r>
          </a:p>
        </p:txBody>
      </p:sp>
      <p:sp>
        <p:nvSpPr>
          <p:cNvPr id="22" name="">
            <a:extLst xmlns:a="http://schemas.openxmlformats.org/drawingml/2006/main">
              <a:ext uri="{FF2B5EF4-FFF2-40B4-BE49-F238E27FC236}">
                <a16:creationId xmlns:a16="http://schemas.microsoft.com/office/drawing/2014/main" id="{1469C7BA-5A63-402A-AE72-4A7D87F1B41B}"/>
              </a:ext>
            </a:extLst>
          </p:cNvPr>
          <p:cNvSpPr>
            <a:spLocks xmlns:a="http://schemas.openxmlformats.org/drawingml/2006/main" noGrp="1"/>
          </p:cNvSpPr>
          <p:nvPr/>
        </p:nvSpPr>
        <p:spPr>
          <a:xfrm xmlns:a="http://schemas.openxmlformats.org/drawingml/2006/main">
            <a:off x="8772525" y="1924050"/>
            <a:ext cx="23907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5A7275"/>
                </a:solidFill>
              </a:defRPr>
            </a:pPr>
            <a:r>
              <a:rPr sz="825" b="0">
                <a:solidFill>
                  <a:srgbClr val="5A7275"/>
                </a:solidFill>
              </a:rPr>
              <a:t>Selectable units for your term overview</a:t>
            </a:r>
          </a:p>
        </p:txBody>
      </p:sp>
      <p:sp>
        <p:nvSpPr>
          <p:cNvPr id="23" name="">
            <a:extLst xmlns:a="http://schemas.openxmlformats.org/drawingml/2006/main">
              <a:ext uri="{FF2B5EF4-FFF2-40B4-BE49-F238E27FC236}">
                <a16:creationId xmlns:a16="http://schemas.microsoft.com/office/drawing/2014/main" id="{3E9ABB76-DF97-487E-B23C-3B9FF865BF9C}"/>
              </a:ext>
            </a:extLst>
          </p:cNvPr>
          <p:cNvSpPr>
            <a:spLocks xmlns:a="http://schemas.openxmlformats.org/drawingml/2006/main" noGrp="1"/>
          </p:cNvSpPr>
          <p:nvPr/>
        </p:nvSpPr>
        <p:spPr>
          <a:xfrm xmlns:a="http://schemas.openxmlformats.org/drawingml/2006/main">
            <a:off x="8772525" y="2381250"/>
            <a:ext cx="23907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Select partner planning</a:t>
            </a:r>
          </a:p>
        </p:txBody>
      </p:sp>
      <p:sp>
        <p:nvSpPr>
          <p:cNvPr id="24" name="">
            <a:extLst xmlns:a="http://schemas.openxmlformats.org/drawingml/2006/main">
              <a:ext uri="{FF2B5EF4-FFF2-40B4-BE49-F238E27FC236}">
                <a16:creationId xmlns:a16="http://schemas.microsoft.com/office/drawing/2014/main" id="{8BCA2115-AF6A-4382-B1F4-8B7E8008C99D}"/>
              </a:ext>
            </a:extLst>
          </p:cNvPr>
          <p:cNvSpPr>
            <a:spLocks xmlns:a="http://schemas.openxmlformats.org/drawingml/2006/main" noGrp="1"/>
          </p:cNvSpPr>
          <p:nvPr/>
        </p:nvSpPr>
        <p:spPr>
          <a:xfrm xmlns:a="http://schemas.openxmlformats.org/drawingml/2006/main">
            <a:off x="5772150" y="5524500"/>
            <a:ext cx="5695950" cy="476250"/>
          </a:xfrm>
          <a:prstGeom xmlns:a="http://schemas.openxmlformats.org/drawingml/2006/main" prst="roundRect">
            <a:avLst>
              <a:gd name="adj" fmla="val 16000"/>
            </a:avLst>
          </a:prstGeom>
          <a:solidFill xmlns:a="http://schemas.openxmlformats.org/drawingml/2006/main">
            <a:srgbClr val="F4FFE8"/>
          </a:solidFill>
          <a:ln xmlns:a="http://schemas.openxmlformats.org/drawingml/2006/main" w="9525">
            <a:solidFill>
              <a:srgbClr val="B6FF7E"/>
            </a:solidFill>
            <a:prstDash val="solid"/>
          </a:ln>
        </p:spPr>
      </p:sp>
      <p:sp>
        <p:nvSpPr>
          <p:cNvPr id="25" name="">
            <a:extLst xmlns:a="http://schemas.openxmlformats.org/drawingml/2006/main">
              <a:ext uri="{FF2B5EF4-FFF2-40B4-BE49-F238E27FC236}">
                <a16:creationId xmlns:a16="http://schemas.microsoft.com/office/drawing/2014/main" id="{EFEC2E15-D1E3-4C2B-B60D-4802D5CDD796}"/>
              </a:ext>
            </a:extLst>
          </p:cNvPr>
          <p:cNvSpPr>
            <a:spLocks xmlns:a="http://schemas.openxmlformats.org/drawingml/2006/main" noGrp="1"/>
          </p:cNvSpPr>
          <p:nvPr/>
        </p:nvSpPr>
        <p:spPr>
          <a:xfrm xmlns:a="http://schemas.openxmlformats.org/drawingml/2006/main">
            <a:off x="5886450" y="5638800"/>
            <a:ext cx="3900488"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00" b="0">
                <a:solidFill>
                  <a:srgbClr val="002D24"/>
                </a:solidFill>
              </a:defRPr>
            </a:pPr>
            <a:r>
              <a:rPr sz="900" b="0">
                <a:solidFill>
                  <a:srgbClr val="002D24"/>
                </a:solidFill>
              </a:rPr>
              <a:t>Activities land in Activity Library · ready for Lesson Builder</a:t>
            </a:r>
          </a:p>
        </p:txBody>
      </p:sp>
      <p:sp>
        <p:nvSpPr>
          <p:cNvPr id="26" name="">
            <a:extLst xmlns:a="http://schemas.openxmlformats.org/drawingml/2006/main">
              <a:ext uri="{FF2B5EF4-FFF2-40B4-BE49-F238E27FC236}">
                <a16:creationId xmlns:a16="http://schemas.microsoft.com/office/drawing/2014/main" id="{8479FD82-B9FF-484F-902E-AB5AA10286F5}"/>
              </a:ext>
            </a:extLst>
          </p:cNvPr>
          <p:cNvSpPr>
            <a:spLocks xmlns:a="http://schemas.openxmlformats.org/drawingml/2006/main" noGrp="1"/>
          </p:cNvSpPr>
          <p:nvPr/>
        </p:nvSpPr>
        <p:spPr>
          <a:xfrm xmlns:a="http://schemas.openxmlformats.org/drawingml/2006/main">
            <a:off x="9820275" y="5638800"/>
            <a:ext cx="1500188"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75" b="1">
                <a:solidFill>
                  <a:srgbClr val="002D24"/>
                </a:solidFill>
              </a:defRPr>
            </a:pPr>
            <a:r>
              <a:rPr sz="975" b="1">
                <a:solidFill>
                  <a:srgbClr val="002D24"/>
                </a:solidFill>
              </a:rPr>
              <a:t>✓ Synced</a:t>
            </a:r>
          </a:p>
        </p:txBody>
      </p:sp>
      <p:sp>
        <p:nvSpPr>
          <p:cNvPr id="27" name="">
            <a:extLst xmlns:a="http://schemas.openxmlformats.org/drawingml/2006/main">
              <a:ext uri="{FF2B5EF4-FFF2-40B4-BE49-F238E27FC236}">
                <a16:creationId xmlns:a16="http://schemas.microsoft.com/office/drawing/2014/main" id="{855BD7E2-74DF-4D8B-BBA4-90F98B4E17E5}"/>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28" name="">
            <a:extLst xmlns:a="http://schemas.openxmlformats.org/drawingml/2006/main">
              <a:ext uri="{FF2B5EF4-FFF2-40B4-BE49-F238E27FC236}">
                <a16:creationId xmlns:a16="http://schemas.microsoft.com/office/drawing/2014/main" id="{B48FA3EA-7FAD-4FEF-99BF-5CBC7201D688}"/>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16 / 25</a:t>
            </a:r>
          </a:p>
        </p:txBody>
      </p:sp>
    </p:spTree>
    <p:extLst>
      <p:ext uri="{BB962C8B-B14F-4D97-AF65-F5344CB8AC3E}">
        <p14:creationId xmlns:p14="http://schemas.microsoft.com/office/powerpoint/2010/main" val="735457506"/>
      </p:ext>
    </p:extLst>
  </p:cSld>
</p:sld>
</file>

<file path=ppt/slides/slide17.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852813E5-E83D-4863-8ECF-1C980BE3367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3219B39-1FC1-434B-9547-9A8ED3C50BAB}"/>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AD21A5E-BDB3-4574-8C50-495F4DDA840F}"/>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6B14B581-B101-46A2-BB9C-1DC237BC7444}"/>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Planning flow</a:t>
            </a:r>
          </a:p>
        </p:txBody>
      </p:sp>
      <p:sp>
        <p:nvSpPr>
          <p:cNvPr id="6" name="">
            <a:extLst xmlns:a="http://schemas.openxmlformats.org/drawingml/2006/main">
              <a:ext uri="{FF2B5EF4-FFF2-40B4-BE49-F238E27FC236}">
                <a16:creationId xmlns:a16="http://schemas.microsoft.com/office/drawing/2014/main" id="{1B6E2CA9-A8BE-43C7-A507-6CE1F883CC22}"/>
              </a:ext>
            </a:extLst>
          </p:cNvPr>
          <p:cNvSpPr>
            <a:spLocks xmlns:a="http://schemas.openxmlformats.org/drawingml/2006/main" noGrp="1"/>
          </p:cNvSpPr>
          <p:nvPr/>
        </p:nvSpPr>
        <p:spPr>
          <a:xfrm xmlns:a="http://schemas.openxmlformats.org/drawingml/2006/main">
            <a:off x="609600" y="647700"/>
            <a:ext cx="109537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02D24"/>
                </a:solidFill>
              </a:defRPr>
            </a:pPr>
            <a:r>
              <a:rPr sz="2100" b="1">
                <a:solidFill>
                  <a:srgbClr val="002D24"/>
                </a:solidFill>
              </a:rPr>
              <a:t>From activity to lesson to term.</a:t>
            </a:r>
          </a:p>
        </p:txBody>
      </p:sp>
      <p:sp>
        <p:nvSpPr>
          <p:cNvPr id="7" name="">
            <a:extLst xmlns:a="http://schemas.openxmlformats.org/drawingml/2006/main">
              <a:ext uri="{FF2B5EF4-FFF2-40B4-BE49-F238E27FC236}">
                <a16:creationId xmlns:a16="http://schemas.microsoft.com/office/drawing/2014/main" id="{66451E34-2308-4217-B257-29061A7B9204}"/>
              </a:ext>
            </a:extLst>
          </p:cNvPr>
          <p:cNvSpPr>
            <a:spLocks xmlns:a="http://schemas.openxmlformats.org/drawingml/2006/main" noGrp="1"/>
          </p:cNvSpPr>
          <p:nvPr/>
        </p:nvSpPr>
        <p:spPr>
          <a:xfrm xmlns:a="http://schemas.openxmlformats.org/drawingml/2006/main">
            <a:off x="609600" y="1428750"/>
            <a:ext cx="109537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2A4548"/>
                </a:solidFill>
              </a:defRPr>
            </a:pPr>
            <a:r>
              <a:rPr sz="1125" b="0">
                <a:solidFill>
                  <a:srgbClr val="2A4548"/>
                </a:solidFill>
              </a:rPr>
              <a:t>Partner activities become a named lesson, then sit on your half-term designer — one continuous path from sector content to the classroom.</a:t>
            </a:r>
          </a:p>
        </p:txBody>
      </p:sp>
      <p:sp>
        <p:nvSpPr>
          <p:cNvPr id="8" name="">
            <a:extLst xmlns:a="http://schemas.openxmlformats.org/drawingml/2006/main">
              <a:ext uri="{FF2B5EF4-FFF2-40B4-BE49-F238E27FC236}">
                <a16:creationId xmlns:a16="http://schemas.microsoft.com/office/drawing/2014/main" id="{30080532-3E18-47CE-937A-05533F38EFA6}"/>
              </a:ext>
            </a:extLst>
          </p:cNvPr>
          <p:cNvSpPr>
            <a:spLocks xmlns:a="http://schemas.openxmlformats.org/drawingml/2006/main" noGrp="1"/>
          </p:cNvSpPr>
          <p:nvPr/>
        </p:nvSpPr>
        <p:spPr>
          <a:xfrm xmlns:a="http://schemas.openxmlformats.org/drawingml/2006/main">
            <a:off x="609600" y="2171700"/>
            <a:ext cx="2657475" cy="19050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7E4DF"/>
            </a:solidFill>
            <a:prstDash val="solid"/>
          </a:ln>
        </p:spPr>
      </p:sp>
      <p:sp>
        <p:nvSpPr>
          <p:cNvPr id="9" name="">
            <a:extLst xmlns:a="http://schemas.openxmlformats.org/drawingml/2006/main">
              <a:ext uri="{FF2B5EF4-FFF2-40B4-BE49-F238E27FC236}">
                <a16:creationId xmlns:a16="http://schemas.microsoft.com/office/drawing/2014/main" id="{7EB567DF-9A25-4020-A2D1-835A838977CA}"/>
              </a:ext>
            </a:extLst>
          </p:cNvPr>
          <p:cNvSpPr>
            <a:spLocks xmlns:a="http://schemas.openxmlformats.org/drawingml/2006/main" noGrp="1"/>
          </p:cNvSpPr>
          <p:nvPr/>
        </p:nvSpPr>
        <p:spPr>
          <a:xfrm xmlns:a="http://schemas.openxmlformats.org/drawingml/2006/main">
            <a:off x="723900" y="2286000"/>
            <a:ext cx="24288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3947"/>
          </a:bodyPr>
          <a:lstStyle xmlns:a="http://schemas.openxmlformats.org/drawingml/2006/main"/>
          <a:p xmlns:a="http://schemas.openxmlformats.org/drawingml/2006/main">
            <a:pPr algn="l">
              <a:defRPr sz="1200" b="1">
                <a:solidFill>
                  <a:srgbClr val="002D24"/>
                </a:solidFill>
              </a:defRPr>
            </a:pPr>
            <a:r>
              <a:rPr sz="1200" b="1">
                <a:solidFill>
                  <a:srgbClr val="002D24"/>
                </a:solidFill>
              </a:rPr>
              <a:t>1</a:t>
            </a:r>
          </a:p>
        </p:txBody>
      </p:sp>
      <p:sp>
        <p:nvSpPr>
          <p:cNvPr id="10" name="">
            <a:extLst xmlns:a="http://schemas.openxmlformats.org/drawingml/2006/main">
              <a:ext uri="{FF2B5EF4-FFF2-40B4-BE49-F238E27FC236}">
                <a16:creationId xmlns:a16="http://schemas.microsoft.com/office/drawing/2014/main" id="{D6C40964-8DFC-4326-BB4F-B032E680DC06}"/>
              </a:ext>
            </a:extLst>
          </p:cNvPr>
          <p:cNvSpPr>
            <a:spLocks xmlns:a="http://schemas.openxmlformats.org/drawingml/2006/main" noGrp="1"/>
          </p:cNvSpPr>
          <p:nvPr/>
        </p:nvSpPr>
        <p:spPr>
          <a:xfrm xmlns:a="http://schemas.openxmlformats.org/drawingml/2006/main">
            <a:off x="723900" y="2590800"/>
            <a:ext cx="24288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Activity Library</a:t>
            </a:r>
          </a:p>
        </p:txBody>
      </p:sp>
      <p:sp>
        <p:nvSpPr>
          <p:cNvPr id="11" name="">
            <a:extLst xmlns:a="http://schemas.openxmlformats.org/drawingml/2006/main">
              <a:ext uri="{FF2B5EF4-FFF2-40B4-BE49-F238E27FC236}">
                <a16:creationId xmlns:a16="http://schemas.microsoft.com/office/drawing/2014/main" id="{7A5D0B28-935F-457C-84FA-A3F7A656585A}"/>
              </a:ext>
            </a:extLst>
          </p:cNvPr>
          <p:cNvSpPr>
            <a:spLocks xmlns:a="http://schemas.openxmlformats.org/drawingml/2006/main" noGrp="1"/>
          </p:cNvSpPr>
          <p:nvPr/>
        </p:nvSpPr>
        <p:spPr>
          <a:xfrm xmlns:a="http://schemas.openxmlformats.org/drawingml/2006/main">
            <a:off x="723900" y="3086100"/>
            <a:ext cx="2428875"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Partner &amp; school activities in one place</a:t>
            </a:r>
          </a:p>
        </p:txBody>
      </p:sp>
      <p:sp>
        <p:nvSpPr>
          <p:cNvPr id="12" name="">
            <a:extLst xmlns:a="http://schemas.openxmlformats.org/drawingml/2006/main">
              <a:ext uri="{FF2B5EF4-FFF2-40B4-BE49-F238E27FC236}">
                <a16:creationId xmlns:a16="http://schemas.microsoft.com/office/drawing/2014/main" id="{B5F41D8B-1503-43CA-A208-8F25327182CA}"/>
              </a:ext>
            </a:extLst>
          </p:cNvPr>
          <p:cNvSpPr>
            <a:spLocks xmlns:a="http://schemas.openxmlformats.org/drawingml/2006/main" noGrp="1"/>
          </p:cNvSpPr>
          <p:nvPr/>
        </p:nvSpPr>
        <p:spPr>
          <a:xfrm xmlns:a="http://schemas.openxmlformats.org/drawingml/2006/main">
            <a:off x="3381375" y="2171700"/>
            <a:ext cx="2657475" cy="19050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7E4DF"/>
            </a:solidFill>
            <a:prstDash val="solid"/>
          </a:ln>
        </p:spPr>
      </p:sp>
      <p:sp>
        <p:nvSpPr>
          <p:cNvPr id="13" name="">
            <a:extLst xmlns:a="http://schemas.openxmlformats.org/drawingml/2006/main">
              <a:ext uri="{FF2B5EF4-FFF2-40B4-BE49-F238E27FC236}">
                <a16:creationId xmlns:a16="http://schemas.microsoft.com/office/drawing/2014/main" id="{AF346926-E3D0-4163-AADA-C1796589FDC1}"/>
              </a:ext>
            </a:extLst>
          </p:cNvPr>
          <p:cNvSpPr>
            <a:spLocks xmlns:a="http://schemas.openxmlformats.org/drawingml/2006/main" noGrp="1"/>
          </p:cNvSpPr>
          <p:nvPr/>
        </p:nvSpPr>
        <p:spPr>
          <a:xfrm xmlns:a="http://schemas.openxmlformats.org/drawingml/2006/main">
            <a:off x="3495675" y="2286000"/>
            <a:ext cx="24288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3947"/>
          </a:bodyPr>
          <a:lstStyle xmlns:a="http://schemas.openxmlformats.org/drawingml/2006/main"/>
          <a:p xmlns:a="http://schemas.openxmlformats.org/drawingml/2006/main">
            <a:pPr algn="l">
              <a:defRPr sz="1200" b="1">
                <a:solidFill>
                  <a:srgbClr val="002D24"/>
                </a:solidFill>
              </a:defRPr>
            </a:pPr>
            <a:r>
              <a:rPr sz="1200" b="1">
                <a:solidFill>
                  <a:srgbClr val="002D24"/>
                </a:solidFill>
              </a:rPr>
              <a:t>2</a:t>
            </a:r>
          </a:p>
        </p:txBody>
      </p:sp>
      <p:sp>
        <p:nvSpPr>
          <p:cNvPr id="14" name="">
            <a:extLst xmlns:a="http://schemas.openxmlformats.org/drawingml/2006/main">
              <a:ext uri="{FF2B5EF4-FFF2-40B4-BE49-F238E27FC236}">
                <a16:creationId xmlns:a16="http://schemas.microsoft.com/office/drawing/2014/main" id="{702050CE-8611-4523-A9BE-B1C0D0FD94F3}"/>
              </a:ext>
            </a:extLst>
          </p:cNvPr>
          <p:cNvSpPr>
            <a:spLocks xmlns:a="http://schemas.openxmlformats.org/drawingml/2006/main" noGrp="1"/>
          </p:cNvSpPr>
          <p:nvPr/>
        </p:nvSpPr>
        <p:spPr>
          <a:xfrm xmlns:a="http://schemas.openxmlformats.org/drawingml/2006/main">
            <a:off x="3495675" y="2590800"/>
            <a:ext cx="24288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Lesson Builder</a:t>
            </a:r>
          </a:p>
        </p:txBody>
      </p:sp>
      <p:sp>
        <p:nvSpPr>
          <p:cNvPr id="15" name="">
            <a:extLst xmlns:a="http://schemas.openxmlformats.org/drawingml/2006/main">
              <a:ext uri="{FF2B5EF4-FFF2-40B4-BE49-F238E27FC236}">
                <a16:creationId xmlns:a16="http://schemas.microsoft.com/office/drawing/2014/main" id="{FA1DB683-C396-4AAE-8F62-4B99CC696442}"/>
              </a:ext>
            </a:extLst>
          </p:cNvPr>
          <p:cNvSpPr>
            <a:spLocks xmlns:a="http://schemas.openxmlformats.org/drawingml/2006/main" noGrp="1"/>
          </p:cNvSpPr>
          <p:nvPr/>
        </p:nvSpPr>
        <p:spPr>
          <a:xfrm xmlns:a="http://schemas.openxmlformats.org/drawingml/2006/main">
            <a:off x="3495675" y="3086100"/>
            <a:ext cx="2428875"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Sequence warm-ups, mains, plenaries</a:t>
            </a:r>
          </a:p>
        </p:txBody>
      </p:sp>
      <p:sp>
        <p:nvSpPr>
          <p:cNvPr id="16" name="">
            <a:extLst xmlns:a="http://schemas.openxmlformats.org/drawingml/2006/main">
              <a:ext uri="{FF2B5EF4-FFF2-40B4-BE49-F238E27FC236}">
                <a16:creationId xmlns:a16="http://schemas.microsoft.com/office/drawing/2014/main" id="{BB0E37FA-9A94-419D-BE51-021865770C91}"/>
              </a:ext>
            </a:extLst>
          </p:cNvPr>
          <p:cNvSpPr>
            <a:spLocks xmlns:a="http://schemas.openxmlformats.org/drawingml/2006/main" noGrp="1"/>
          </p:cNvSpPr>
          <p:nvPr/>
        </p:nvSpPr>
        <p:spPr>
          <a:xfrm xmlns:a="http://schemas.openxmlformats.org/drawingml/2006/main">
            <a:off x="6153150" y="2171700"/>
            <a:ext cx="2657475" cy="19050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7E4DF"/>
            </a:solidFill>
            <a:prstDash val="solid"/>
          </a:ln>
        </p:spPr>
      </p:sp>
      <p:sp>
        <p:nvSpPr>
          <p:cNvPr id="17" name="">
            <a:extLst xmlns:a="http://schemas.openxmlformats.org/drawingml/2006/main">
              <a:ext uri="{FF2B5EF4-FFF2-40B4-BE49-F238E27FC236}">
                <a16:creationId xmlns:a16="http://schemas.microsoft.com/office/drawing/2014/main" id="{FBEEA4C7-364C-4C59-94F0-18E9861FC4D9}"/>
              </a:ext>
            </a:extLst>
          </p:cNvPr>
          <p:cNvSpPr>
            <a:spLocks xmlns:a="http://schemas.openxmlformats.org/drawingml/2006/main" noGrp="1"/>
          </p:cNvSpPr>
          <p:nvPr/>
        </p:nvSpPr>
        <p:spPr>
          <a:xfrm xmlns:a="http://schemas.openxmlformats.org/drawingml/2006/main">
            <a:off x="6267450" y="2286000"/>
            <a:ext cx="24288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3947"/>
          </a:bodyPr>
          <a:lstStyle xmlns:a="http://schemas.openxmlformats.org/drawingml/2006/main"/>
          <a:p xmlns:a="http://schemas.openxmlformats.org/drawingml/2006/main">
            <a:pPr algn="l">
              <a:defRPr sz="1200" b="1">
                <a:solidFill>
                  <a:srgbClr val="002D24"/>
                </a:solidFill>
              </a:defRPr>
            </a:pPr>
            <a:r>
              <a:rPr sz="1200" b="1">
                <a:solidFill>
                  <a:srgbClr val="002D24"/>
                </a:solidFill>
              </a:rPr>
              <a:t>3</a:t>
            </a:r>
          </a:p>
        </p:txBody>
      </p:sp>
      <p:sp>
        <p:nvSpPr>
          <p:cNvPr id="18" name="">
            <a:extLst xmlns:a="http://schemas.openxmlformats.org/drawingml/2006/main">
              <a:ext uri="{FF2B5EF4-FFF2-40B4-BE49-F238E27FC236}">
                <a16:creationId xmlns:a16="http://schemas.microsoft.com/office/drawing/2014/main" id="{AD6FC764-925D-4B74-92B2-CB65E3F0B3EB}"/>
              </a:ext>
            </a:extLst>
          </p:cNvPr>
          <p:cNvSpPr>
            <a:spLocks xmlns:a="http://schemas.openxmlformats.org/drawingml/2006/main" noGrp="1"/>
          </p:cNvSpPr>
          <p:nvPr/>
        </p:nvSpPr>
        <p:spPr>
          <a:xfrm xmlns:a="http://schemas.openxmlformats.org/drawingml/2006/main">
            <a:off x="6267450" y="2590800"/>
            <a:ext cx="24288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Lesson Library</a:t>
            </a:r>
          </a:p>
        </p:txBody>
      </p:sp>
      <p:sp>
        <p:nvSpPr>
          <p:cNvPr id="19" name="">
            <a:extLst xmlns:a="http://schemas.openxmlformats.org/drawingml/2006/main">
              <a:ext uri="{FF2B5EF4-FFF2-40B4-BE49-F238E27FC236}">
                <a16:creationId xmlns:a16="http://schemas.microsoft.com/office/drawing/2014/main" id="{3D697962-BA94-4501-93C1-0267DED35C71}"/>
              </a:ext>
            </a:extLst>
          </p:cNvPr>
          <p:cNvSpPr>
            <a:spLocks xmlns:a="http://schemas.openxmlformats.org/drawingml/2006/main" noGrp="1"/>
          </p:cNvSpPr>
          <p:nvPr/>
        </p:nvSpPr>
        <p:spPr>
          <a:xfrm xmlns:a="http://schemas.openxmlformats.org/drawingml/2006/main">
            <a:off x="6267450" y="3086100"/>
            <a:ext cx="2428875"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Save, name, and reuse the lesson</a:t>
            </a:r>
          </a:p>
        </p:txBody>
      </p:sp>
      <p:sp>
        <p:nvSpPr>
          <p:cNvPr id="20" name="">
            <a:extLst xmlns:a="http://schemas.openxmlformats.org/drawingml/2006/main">
              <a:ext uri="{FF2B5EF4-FFF2-40B4-BE49-F238E27FC236}">
                <a16:creationId xmlns:a16="http://schemas.microsoft.com/office/drawing/2014/main" id="{6D1A599F-6F13-4065-BA99-331BECDDF00D}"/>
              </a:ext>
            </a:extLst>
          </p:cNvPr>
          <p:cNvSpPr>
            <a:spLocks xmlns:a="http://schemas.openxmlformats.org/drawingml/2006/main" noGrp="1"/>
          </p:cNvSpPr>
          <p:nvPr/>
        </p:nvSpPr>
        <p:spPr>
          <a:xfrm xmlns:a="http://schemas.openxmlformats.org/drawingml/2006/main">
            <a:off x="8924925" y="2171700"/>
            <a:ext cx="2657475" cy="19050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7E4DF"/>
            </a:solidFill>
            <a:prstDash val="solid"/>
          </a:ln>
        </p:spPr>
      </p:sp>
      <p:sp>
        <p:nvSpPr>
          <p:cNvPr id="21" name="">
            <a:extLst xmlns:a="http://schemas.openxmlformats.org/drawingml/2006/main">
              <a:ext uri="{FF2B5EF4-FFF2-40B4-BE49-F238E27FC236}">
                <a16:creationId xmlns:a16="http://schemas.microsoft.com/office/drawing/2014/main" id="{24D3BBAB-4CFE-4C46-A681-65C17F38A01A}"/>
              </a:ext>
            </a:extLst>
          </p:cNvPr>
          <p:cNvSpPr>
            <a:spLocks xmlns:a="http://schemas.openxmlformats.org/drawingml/2006/main" noGrp="1"/>
          </p:cNvSpPr>
          <p:nvPr/>
        </p:nvSpPr>
        <p:spPr>
          <a:xfrm xmlns:a="http://schemas.openxmlformats.org/drawingml/2006/main">
            <a:off x="9039225" y="2286000"/>
            <a:ext cx="24288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3947"/>
          </a:bodyPr>
          <a:lstStyle xmlns:a="http://schemas.openxmlformats.org/drawingml/2006/main"/>
          <a:p xmlns:a="http://schemas.openxmlformats.org/drawingml/2006/main">
            <a:pPr algn="l">
              <a:defRPr sz="1200" b="1">
                <a:solidFill>
                  <a:srgbClr val="002D24"/>
                </a:solidFill>
              </a:defRPr>
            </a:pPr>
            <a:r>
              <a:rPr sz="1200" b="1">
                <a:solidFill>
                  <a:srgbClr val="002D24"/>
                </a:solidFill>
              </a:rPr>
              <a:t>4</a:t>
            </a:r>
          </a:p>
        </p:txBody>
      </p:sp>
      <p:sp>
        <p:nvSpPr>
          <p:cNvPr id="22" name="">
            <a:extLst xmlns:a="http://schemas.openxmlformats.org/drawingml/2006/main">
              <a:ext uri="{FF2B5EF4-FFF2-40B4-BE49-F238E27FC236}">
                <a16:creationId xmlns:a16="http://schemas.microsoft.com/office/drawing/2014/main" id="{BE1C103B-63DA-4D24-98EF-9BEAAC3B12C4}"/>
              </a:ext>
            </a:extLst>
          </p:cNvPr>
          <p:cNvSpPr>
            <a:spLocks xmlns:a="http://schemas.openxmlformats.org/drawingml/2006/main" noGrp="1"/>
          </p:cNvSpPr>
          <p:nvPr/>
        </p:nvSpPr>
        <p:spPr>
          <a:xfrm xmlns:a="http://schemas.openxmlformats.org/drawingml/2006/main">
            <a:off x="9039225" y="2590800"/>
            <a:ext cx="24288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Half-term / term</a:t>
            </a:r>
          </a:p>
        </p:txBody>
      </p:sp>
      <p:sp>
        <p:nvSpPr>
          <p:cNvPr id="23" name="">
            <a:extLst xmlns:a="http://schemas.openxmlformats.org/drawingml/2006/main">
              <a:ext uri="{FF2B5EF4-FFF2-40B4-BE49-F238E27FC236}">
                <a16:creationId xmlns:a16="http://schemas.microsoft.com/office/drawing/2014/main" id="{2C680EAA-3E74-4AEB-9367-BEC421FAAE5D}"/>
              </a:ext>
            </a:extLst>
          </p:cNvPr>
          <p:cNvSpPr>
            <a:spLocks xmlns:a="http://schemas.openxmlformats.org/drawingml/2006/main" noGrp="1"/>
          </p:cNvSpPr>
          <p:nvPr/>
        </p:nvSpPr>
        <p:spPr>
          <a:xfrm xmlns:a="http://schemas.openxmlformats.org/drawingml/2006/main">
            <a:off x="9039225" y="3086100"/>
            <a:ext cx="2428875"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Place it on your planner overview</a:t>
            </a:r>
          </a:p>
        </p:txBody>
      </p:sp>
      <p:sp>
        <p:nvSpPr>
          <p:cNvPr id="24" name="">
            <a:extLst xmlns:a="http://schemas.openxmlformats.org/drawingml/2006/main">
              <a:ext uri="{FF2B5EF4-FFF2-40B4-BE49-F238E27FC236}">
                <a16:creationId xmlns:a16="http://schemas.microsoft.com/office/drawing/2014/main" id="{7BD272F3-984C-400C-A61A-C65DA3FDE0D3}"/>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25" name="">
            <a:extLst xmlns:a="http://schemas.openxmlformats.org/drawingml/2006/main">
              <a:ext uri="{FF2B5EF4-FFF2-40B4-BE49-F238E27FC236}">
                <a16:creationId xmlns:a16="http://schemas.microsoft.com/office/drawing/2014/main" id="{59C0A913-B025-46E2-B6F3-BDDE3980E066}"/>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17 / 25</a:t>
            </a:r>
          </a:p>
        </p:txBody>
      </p:sp>
    </p:spTree>
    <p:extLst>
      <p:ext uri="{BB962C8B-B14F-4D97-AF65-F5344CB8AC3E}">
        <p14:creationId xmlns:p14="http://schemas.microsoft.com/office/powerpoint/2010/main" val="1826061937"/>
      </p:ext>
    </p:extLst>
  </p:cSld>
</p:sld>
</file>

<file path=ppt/slides/slide18.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25B88AE3-AB64-498F-B1BE-E089BCFB5F4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7BCCA56-3935-4A8F-AA88-DCA25C670861}"/>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086A400-E90A-4BD3-93D0-2F0F9E328BB4}"/>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4A7BAC3-B7E7-4F35-A3F2-E0CEEAA7542B}"/>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Key dates</a:t>
            </a:r>
          </a:p>
        </p:txBody>
      </p:sp>
      <p:sp>
        <p:nvSpPr>
          <p:cNvPr id="6" name="">
            <a:extLst xmlns:a="http://schemas.openxmlformats.org/drawingml/2006/main">
              <a:ext uri="{FF2B5EF4-FFF2-40B4-BE49-F238E27FC236}">
                <a16:creationId xmlns:a16="http://schemas.microsoft.com/office/drawing/2014/main" id="{3A902667-D716-4066-B15F-40217499C7EF}"/>
              </a:ext>
            </a:extLst>
          </p:cNvPr>
          <p:cNvSpPr>
            <a:spLocks xmlns:a="http://schemas.openxmlformats.org/drawingml/2006/main" noGrp="1"/>
          </p:cNvSpPr>
          <p:nvPr/>
        </p:nvSpPr>
        <p:spPr>
          <a:xfrm xmlns:a="http://schemas.openxmlformats.org/drawingml/2006/main">
            <a:off x="609600" y="647700"/>
            <a:ext cx="4762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002D24"/>
                </a:solidFill>
              </a:defRPr>
            </a:pPr>
            <a:r>
              <a:rPr sz="1950" b="1">
                <a:solidFill>
                  <a:srgbClr val="002D24"/>
                </a:solidFill>
              </a:rPr>
              <a:t>Populate with partner key dates.</a:t>
            </a:r>
          </a:p>
        </p:txBody>
      </p:sp>
      <p:sp>
        <p:nvSpPr>
          <p:cNvPr id="7" name="">
            <a:extLst xmlns:a="http://schemas.openxmlformats.org/drawingml/2006/main">
              <a:ext uri="{FF2B5EF4-FFF2-40B4-BE49-F238E27FC236}">
                <a16:creationId xmlns:a16="http://schemas.microsoft.com/office/drawing/2014/main" id="{49703BB0-B6E5-48DC-B496-9A76371AA31F}"/>
              </a:ext>
            </a:extLst>
          </p:cNvPr>
          <p:cNvSpPr>
            <a:spLocks xmlns:a="http://schemas.openxmlformats.org/drawingml/2006/main" noGrp="1"/>
          </p:cNvSpPr>
          <p:nvPr/>
        </p:nvSpPr>
        <p:spPr>
          <a:xfrm xmlns:a="http://schemas.openxmlformats.org/drawingml/2006/main">
            <a:off x="609600" y="1485900"/>
            <a:ext cx="4762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2A4548"/>
                </a:solidFill>
              </a:defRPr>
            </a:pPr>
            <a:r>
              <a:rPr sz="1050" b="0">
                <a:solidFill>
                  <a:srgbClr val="2A4548"/>
                </a:solidFill>
              </a:rPr>
              <a:t>Pull Important dates from a partner into your calendar — concerts, workshops, and sector milestones sit alongside your school year.</a:t>
            </a:r>
          </a:p>
        </p:txBody>
      </p:sp>
      <p:sp>
        <p:nvSpPr>
          <p:cNvPr id="8" name="">
            <a:extLst xmlns:a="http://schemas.openxmlformats.org/drawingml/2006/main">
              <a:ext uri="{FF2B5EF4-FFF2-40B4-BE49-F238E27FC236}">
                <a16:creationId xmlns:a16="http://schemas.microsoft.com/office/drawing/2014/main" id="{550DB7FC-34A6-4542-935F-A268FB70E0A4}"/>
              </a:ext>
            </a:extLst>
          </p:cNvPr>
          <p:cNvSpPr>
            <a:spLocks xmlns:a="http://schemas.openxmlformats.org/drawingml/2006/main" noGrp="1"/>
          </p:cNvSpPr>
          <p:nvPr/>
        </p:nvSpPr>
        <p:spPr>
          <a:xfrm xmlns:a="http://schemas.openxmlformats.org/drawingml/2006/main">
            <a:off x="571500" y="2667000"/>
            <a:ext cx="4953000" cy="952500"/>
          </a:xfrm>
          <a:prstGeom xmlns:a="http://schemas.openxmlformats.org/drawingml/2006/main" prst="roundRect">
            <a:avLst>
              <a:gd name="adj" fmla="val 8000"/>
            </a:avLst>
          </a:prstGeom>
          <a:solidFill xmlns:a="http://schemas.openxmlformats.org/drawingml/2006/main">
            <a:srgbClr val="E8FAF6"/>
          </a:solidFill>
          <a:ln xmlns:a="http://schemas.openxmlformats.org/drawingml/2006/main" w="9525">
            <a:solidFill>
              <a:srgbClr val="D7E4DF"/>
            </a:solidFill>
            <a:prstDash val="solid"/>
          </a:ln>
        </p:spPr>
      </p:sp>
      <p:sp>
        <p:nvSpPr>
          <p:cNvPr id="9" name="">
            <a:extLst xmlns:a="http://schemas.openxmlformats.org/drawingml/2006/main">
              <a:ext uri="{FF2B5EF4-FFF2-40B4-BE49-F238E27FC236}">
                <a16:creationId xmlns:a16="http://schemas.microsoft.com/office/drawing/2014/main" id="{F80BABB3-AEFD-4A17-A61A-71BA7E955226}"/>
              </a:ext>
            </a:extLst>
          </p:cNvPr>
          <p:cNvSpPr>
            <a:spLocks xmlns:a="http://schemas.openxmlformats.org/drawingml/2006/main" noGrp="1"/>
          </p:cNvSpPr>
          <p:nvPr/>
        </p:nvSpPr>
        <p:spPr>
          <a:xfrm xmlns:a="http://schemas.openxmlformats.org/drawingml/2006/main">
            <a:off x="723900" y="2781300"/>
            <a:ext cx="4648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0719"/>
          </a:bodyPr>
          <a:lstStyle xmlns:a="http://schemas.openxmlformats.org/drawingml/2006/main"/>
          <a:p xmlns:a="http://schemas.openxmlformats.org/drawingml/2006/main">
            <a:pPr algn="l">
              <a:defRPr sz="975" b="1">
                <a:solidFill>
                  <a:srgbClr val="002D24"/>
                </a:solidFill>
              </a:defRPr>
            </a:pPr>
            <a:r>
              <a:rPr sz="975" b="1">
                <a:solidFill>
                  <a:srgbClr val="002D24"/>
                </a:solidFill>
              </a:rPr>
              <a:t>Populate with key dates from</a:t>
            </a:r>
          </a:p>
        </p:txBody>
      </p:sp>
      <p:sp>
        <p:nvSpPr>
          <p:cNvPr id="10" name="">
            <a:extLst xmlns:a="http://schemas.openxmlformats.org/drawingml/2006/main">
              <a:ext uri="{FF2B5EF4-FFF2-40B4-BE49-F238E27FC236}">
                <a16:creationId xmlns:a16="http://schemas.microsoft.com/office/drawing/2014/main" id="{56EB7174-B816-475F-B079-B6AC36DF18C1}"/>
              </a:ext>
            </a:extLst>
          </p:cNvPr>
          <p:cNvSpPr>
            <a:spLocks xmlns:a="http://schemas.openxmlformats.org/drawingml/2006/main" noGrp="1"/>
          </p:cNvSpPr>
          <p:nvPr/>
        </p:nvSpPr>
        <p:spPr>
          <a:xfrm xmlns:a="http://schemas.openxmlformats.org/drawingml/2006/main">
            <a:off x="723900" y="3086100"/>
            <a:ext cx="4648200" cy="3429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7E4DF"/>
            </a:solidFill>
            <a:prstDash val="solid"/>
          </a:ln>
        </p:spPr>
      </p:sp>
      <p:sp>
        <p:nvSpPr>
          <p:cNvPr id="11" name="">
            <a:extLst xmlns:a="http://schemas.openxmlformats.org/drawingml/2006/main">
              <a:ext uri="{FF2B5EF4-FFF2-40B4-BE49-F238E27FC236}">
                <a16:creationId xmlns:a16="http://schemas.microsoft.com/office/drawing/2014/main" id="{96E49414-641B-4903-9F02-5D8468AEAAD0}"/>
              </a:ext>
            </a:extLst>
          </p:cNvPr>
          <p:cNvSpPr>
            <a:spLocks xmlns:a="http://schemas.openxmlformats.org/drawingml/2006/main" noGrp="1"/>
          </p:cNvSpPr>
          <p:nvPr/>
        </p:nvSpPr>
        <p:spPr>
          <a:xfrm xmlns:a="http://schemas.openxmlformats.org/drawingml/2006/main">
            <a:off x="838200" y="3143250"/>
            <a:ext cx="438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2850"/>
          </a:bodyPr>
          <a:lstStyle xmlns:a="http://schemas.openxmlformats.org/drawingml/2006/main"/>
          <a:p xmlns:a="http://schemas.openxmlformats.org/drawingml/2006/main">
            <a:pPr algn="l">
              <a:defRPr sz="975" b="0">
                <a:solidFill>
                  <a:srgbClr val="0F2A2E"/>
                </a:solidFill>
              </a:defRPr>
            </a:pPr>
            <a:r>
              <a:rPr sz="975" b="0">
                <a:solidFill>
                  <a:srgbClr val="0F2A2E"/>
                </a:solidFill>
              </a:rPr>
              <a:t>London Symphony Orchestra</a:t>
            </a:r>
          </a:p>
        </p:txBody>
      </p:sp>
      <p:sp>
        <p:nvSpPr>
          <p:cNvPr id="12" name="">
            <a:extLst xmlns:a="http://schemas.openxmlformats.org/drawingml/2006/main">
              <a:ext uri="{FF2B5EF4-FFF2-40B4-BE49-F238E27FC236}">
                <a16:creationId xmlns:a16="http://schemas.microsoft.com/office/drawing/2014/main" id="{6B3E224E-C35E-4D44-85E1-ABEA131D298C}"/>
              </a:ext>
            </a:extLst>
          </p:cNvPr>
          <p:cNvSpPr>
            <a:spLocks xmlns:a="http://schemas.openxmlformats.org/drawingml/2006/main" noGrp="1"/>
          </p:cNvSpPr>
          <p:nvPr/>
        </p:nvSpPr>
        <p:spPr>
          <a:xfrm xmlns:a="http://schemas.openxmlformats.org/drawingml/2006/main">
            <a:off x="5905500" y="762000"/>
            <a:ext cx="5715000" cy="5334000"/>
          </a:xfrm>
          <a:prstGeom xmlns:a="http://schemas.openxmlformats.org/drawingml/2006/main" prst="roundRect">
            <a:avLst>
              <a:gd name="adj" fmla="val 1429"/>
            </a:avLst>
          </a:prstGeom>
          <a:solidFill xmlns:a="http://schemas.openxmlformats.org/drawingml/2006/main">
            <a:srgbClr val="FFFFFF"/>
          </a:solidFill>
          <a:ln xmlns:a="http://schemas.openxmlformats.org/drawingml/2006/main" w="9525">
            <a:solidFill>
              <a:srgbClr val="D7E4DF"/>
            </a:solidFill>
            <a:prstDash val="solid"/>
          </a:ln>
        </p:spPr>
      </p:sp>
      <p:sp>
        <p:nvSpPr>
          <p:cNvPr id="13" name="">
            <a:extLst xmlns:a="http://schemas.openxmlformats.org/drawingml/2006/main">
              <a:ext uri="{FF2B5EF4-FFF2-40B4-BE49-F238E27FC236}">
                <a16:creationId xmlns:a16="http://schemas.microsoft.com/office/drawing/2014/main" id="{38D58458-2BE6-4732-8933-F6ED4843A9E5}"/>
              </a:ext>
            </a:extLst>
          </p:cNvPr>
          <p:cNvSpPr>
            <a:spLocks xmlns:a="http://schemas.openxmlformats.org/drawingml/2006/main" noGrp="1"/>
          </p:cNvSpPr>
          <p:nvPr/>
        </p:nvSpPr>
        <p:spPr>
          <a:xfrm xmlns:a="http://schemas.openxmlformats.org/drawingml/2006/main">
            <a:off x="6057900" y="895350"/>
            <a:ext cx="2857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4184"/>
          </a:bodyPr>
          <a:lstStyle xmlns:a="http://schemas.openxmlformats.org/drawingml/2006/main"/>
          <a:p xmlns:a="http://schemas.openxmlformats.org/drawingml/2006/main">
            <a:pPr algn="l">
              <a:defRPr sz="1200" b="1">
                <a:solidFill>
                  <a:srgbClr val="0F2A2E"/>
                </a:solidFill>
              </a:defRPr>
            </a:pPr>
            <a:r>
              <a:rPr sz="1200" b="1">
                <a:solidFill>
                  <a:srgbClr val="0F2A2E"/>
                </a:solidFill>
              </a:rPr>
              <a:t>Important dates</a:t>
            </a:r>
          </a:p>
        </p:txBody>
      </p:sp>
      <p:sp>
        <p:nvSpPr>
          <p:cNvPr id="14" name="">
            <a:extLst xmlns:a="http://schemas.openxmlformats.org/drawingml/2006/main">
              <a:ext uri="{FF2B5EF4-FFF2-40B4-BE49-F238E27FC236}">
                <a16:creationId xmlns:a16="http://schemas.microsoft.com/office/drawing/2014/main" id="{317C3721-D31E-4051-8073-BF8DE4FDF062}"/>
              </a:ext>
            </a:extLst>
          </p:cNvPr>
          <p:cNvSpPr>
            <a:spLocks xmlns:a="http://schemas.openxmlformats.org/drawingml/2006/main" noGrp="1"/>
          </p:cNvSpPr>
          <p:nvPr/>
        </p:nvSpPr>
        <p:spPr>
          <a:xfrm xmlns:a="http://schemas.openxmlformats.org/drawingml/2006/main">
            <a:off x="8763000" y="933450"/>
            <a:ext cx="2419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825" b="0">
                <a:solidFill>
                  <a:srgbClr val="5A7275"/>
                </a:solidFill>
              </a:defRPr>
            </a:pPr>
            <a:r>
              <a:rPr sz="825" b="0">
                <a:solidFill>
                  <a:srgbClr val="5A7275"/>
                </a:solidFill>
              </a:rPr>
              <a:t>Academic year · 2025–26</a:t>
            </a:r>
          </a:p>
        </p:txBody>
      </p:sp>
      <p:sp>
        <p:nvSpPr>
          <p:cNvPr id="15" name="">
            <a:extLst xmlns:a="http://schemas.openxmlformats.org/drawingml/2006/main">
              <a:ext uri="{FF2B5EF4-FFF2-40B4-BE49-F238E27FC236}">
                <a16:creationId xmlns:a16="http://schemas.microsoft.com/office/drawing/2014/main" id="{41399841-F272-447A-9836-2CC410A0DD11}"/>
              </a:ext>
            </a:extLst>
          </p:cNvPr>
          <p:cNvSpPr>
            <a:spLocks xmlns:a="http://schemas.openxmlformats.org/drawingml/2006/main" noGrp="1"/>
          </p:cNvSpPr>
          <p:nvPr/>
        </p:nvSpPr>
        <p:spPr>
          <a:xfrm xmlns:a="http://schemas.openxmlformats.org/drawingml/2006/main">
            <a:off x="6057900" y="1333500"/>
            <a:ext cx="54102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4DF"/>
            </a:solidFill>
            <a:prstDash val="solid"/>
          </a:ln>
        </p:spPr>
      </p:sp>
      <p:sp>
        <p:nvSpPr>
          <p:cNvPr id="16" name="">
            <a:extLst xmlns:a="http://schemas.openxmlformats.org/drawingml/2006/main">
              <a:ext uri="{FF2B5EF4-FFF2-40B4-BE49-F238E27FC236}">
                <a16:creationId xmlns:a16="http://schemas.microsoft.com/office/drawing/2014/main" id="{389FF204-D8AE-440A-A109-B2FBE4377A13}"/>
              </a:ext>
            </a:extLst>
          </p:cNvPr>
          <p:cNvSpPr>
            <a:spLocks xmlns:a="http://schemas.openxmlformats.org/drawingml/2006/main" noGrp="1"/>
          </p:cNvSpPr>
          <p:nvPr/>
        </p:nvSpPr>
        <p:spPr>
          <a:xfrm xmlns:a="http://schemas.openxmlformats.org/drawingml/2006/main">
            <a:off x="6172200" y="1485900"/>
            <a:ext cx="857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02D24"/>
                </a:solidFill>
              </a:defRPr>
            </a:pPr>
            <a:r>
              <a:rPr sz="1050" b="1">
                <a:solidFill>
                  <a:srgbClr val="002D24"/>
                </a:solidFill>
              </a:rPr>
              <a:t>12 Oct</a:t>
            </a:r>
          </a:p>
        </p:txBody>
      </p:sp>
      <p:sp>
        <p:nvSpPr>
          <p:cNvPr id="17" name="">
            <a:extLst xmlns:a="http://schemas.openxmlformats.org/drawingml/2006/main">
              <a:ext uri="{FF2B5EF4-FFF2-40B4-BE49-F238E27FC236}">
                <a16:creationId xmlns:a16="http://schemas.microsoft.com/office/drawing/2014/main" id="{696616AF-A127-4043-8178-357162003BC5}"/>
              </a:ext>
            </a:extLst>
          </p:cNvPr>
          <p:cNvSpPr>
            <a:spLocks xmlns:a="http://schemas.openxmlformats.org/drawingml/2006/main" noGrp="1"/>
          </p:cNvSpPr>
          <p:nvPr/>
        </p:nvSpPr>
        <p:spPr>
          <a:xfrm xmlns:a="http://schemas.openxmlformats.org/drawingml/2006/main">
            <a:off x="7143750" y="1485900"/>
            <a:ext cx="304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0">
                <a:solidFill>
                  <a:srgbClr val="0F2A2E"/>
                </a:solidFill>
              </a:defRPr>
            </a:pPr>
            <a:r>
              <a:rPr sz="975" b="0">
                <a:solidFill>
                  <a:srgbClr val="0F2A2E"/>
                </a:solidFill>
              </a:rPr>
              <a:t>LSO Discovery workshop</a:t>
            </a:r>
          </a:p>
        </p:txBody>
      </p:sp>
      <p:sp>
        <p:nvSpPr>
          <p:cNvPr id="18" name="">
            <a:extLst xmlns:a="http://schemas.openxmlformats.org/drawingml/2006/main">
              <a:ext uri="{FF2B5EF4-FFF2-40B4-BE49-F238E27FC236}">
                <a16:creationId xmlns:a16="http://schemas.microsoft.com/office/drawing/2014/main" id="{17B5F9F9-364C-4C03-8688-9DF26EA5737D}"/>
              </a:ext>
            </a:extLst>
          </p:cNvPr>
          <p:cNvSpPr>
            <a:spLocks xmlns:a="http://schemas.openxmlformats.org/drawingml/2006/main" noGrp="1"/>
          </p:cNvSpPr>
          <p:nvPr/>
        </p:nvSpPr>
        <p:spPr>
          <a:xfrm xmlns:a="http://schemas.openxmlformats.org/drawingml/2006/main">
            <a:off x="10382250" y="1485900"/>
            <a:ext cx="857250" cy="247650"/>
          </a:xfrm>
          <a:prstGeom xmlns:a="http://schemas.openxmlformats.org/drawingml/2006/main" prst="roundRect">
            <a:avLst>
              <a:gd name="adj" fmla="val 30769"/>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FDC9F7C2-2D0D-4787-9D45-C0265B1A3B63}"/>
              </a:ext>
            </a:extLst>
          </p:cNvPr>
          <p:cNvSpPr>
            <a:spLocks xmlns:a="http://schemas.openxmlformats.org/drawingml/2006/main" noGrp="1"/>
          </p:cNvSpPr>
          <p:nvPr/>
        </p:nvSpPr>
        <p:spPr>
          <a:xfrm xmlns:a="http://schemas.openxmlformats.org/drawingml/2006/main">
            <a:off x="10382250" y="1504950"/>
            <a:ext cx="857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2323"/>
          </a:bodyPr>
          <a:lstStyle xmlns:a="http://schemas.openxmlformats.org/drawingml/2006/main"/>
          <a:p xmlns:a="http://schemas.openxmlformats.org/drawingml/2006/main">
            <a:pPr algn="ctr">
              <a:defRPr sz="825" b="1">
                <a:solidFill>
                  <a:srgbClr val="002D24"/>
                </a:solidFill>
              </a:defRPr>
            </a:pPr>
            <a:r>
              <a:rPr sz="825" b="1">
                <a:solidFill>
                  <a:srgbClr val="002D24"/>
                </a:solidFill>
              </a:rPr>
              <a:t>Partner</a:t>
            </a:r>
          </a:p>
        </p:txBody>
      </p:sp>
      <p:sp>
        <p:nvSpPr>
          <p:cNvPr id="20" name="">
            <a:extLst xmlns:a="http://schemas.openxmlformats.org/drawingml/2006/main">
              <a:ext uri="{FF2B5EF4-FFF2-40B4-BE49-F238E27FC236}">
                <a16:creationId xmlns:a16="http://schemas.microsoft.com/office/drawing/2014/main" id="{D942ED13-8F40-4D5E-A330-54FD281FC516}"/>
              </a:ext>
            </a:extLst>
          </p:cNvPr>
          <p:cNvSpPr>
            <a:spLocks xmlns:a="http://schemas.openxmlformats.org/drawingml/2006/main" noGrp="1"/>
          </p:cNvSpPr>
          <p:nvPr/>
        </p:nvSpPr>
        <p:spPr>
          <a:xfrm xmlns:a="http://schemas.openxmlformats.org/drawingml/2006/main">
            <a:off x="6057900" y="2000250"/>
            <a:ext cx="54102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4DF"/>
            </a:solidFill>
            <a:prstDash val="solid"/>
          </a:ln>
        </p:spPr>
      </p:sp>
      <p:sp>
        <p:nvSpPr>
          <p:cNvPr id="21" name="">
            <a:extLst xmlns:a="http://schemas.openxmlformats.org/drawingml/2006/main">
              <a:ext uri="{FF2B5EF4-FFF2-40B4-BE49-F238E27FC236}">
                <a16:creationId xmlns:a16="http://schemas.microsoft.com/office/drawing/2014/main" id="{32B08E90-10FE-499F-815F-4B51DF883C95}"/>
              </a:ext>
            </a:extLst>
          </p:cNvPr>
          <p:cNvSpPr>
            <a:spLocks xmlns:a="http://schemas.openxmlformats.org/drawingml/2006/main" noGrp="1"/>
          </p:cNvSpPr>
          <p:nvPr/>
        </p:nvSpPr>
        <p:spPr>
          <a:xfrm xmlns:a="http://schemas.openxmlformats.org/drawingml/2006/main">
            <a:off x="6172200" y="2152650"/>
            <a:ext cx="857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02D24"/>
                </a:solidFill>
              </a:defRPr>
            </a:pPr>
            <a:r>
              <a:rPr sz="1050" b="1">
                <a:solidFill>
                  <a:srgbClr val="002D24"/>
                </a:solidFill>
              </a:rPr>
              <a:t>3 Nov</a:t>
            </a:r>
          </a:p>
        </p:txBody>
      </p:sp>
      <p:sp>
        <p:nvSpPr>
          <p:cNvPr id="22" name="">
            <a:extLst xmlns:a="http://schemas.openxmlformats.org/drawingml/2006/main">
              <a:ext uri="{FF2B5EF4-FFF2-40B4-BE49-F238E27FC236}">
                <a16:creationId xmlns:a16="http://schemas.microsoft.com/office/drawing/2014/main" id="{D4DC0C53-89F6-4C41-9FC3-87E5C304E2B0}"/>
              </a:ext>
            </a:extLst>
          </p:cNvPr>
          <p:cNvSpPr>
            <a:spLocks xmlns:a="http://schemas.openxmlformats.org/drawingml/2006/main" noGrp="1"/>
          </p:cNvSpPr>
          <p:nvPr/>
        </p:nvSpPr>
        <p:spPr>
          <a:xfrm xmlns:a="http://schemas.openxmlformats.org/drawingml/2006/main">
            <a:off x="7143750" y="2152650"/>
            <a:ext cx="304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0">
                <a:solidFill>
                  <a:srgbClr val="0F2A2E"/>
                </a:solidFill>
              </a:defRPr>
            </a:pPr>
            <a:r>
              <a:rPr sz="975" b="0">
                <a:solidFill>
                  <a:srgbClr val="0F2A2E"/>
                </a:solidFill>
              </a:rPr>
              <a:t>Schools concert — Barbican</a:t>
            </a:r>
          </a:p>
        </p:txBody>
      </p:sp>
      <p:sp>
        <p:nvSpPr>
          <p:cNvPr id="23" name="">
            <a:extLst xmlns:a="http://schemas.openxmlformats.org/drawingml/2006/main">
              <a:ext uri="{FF2B5EF4-FFF2-40B4-BE49-F238E27FC236}">
                <a16:creationId xmlns:a16="http://schemas.microsoft.com/office/drawing/2014/main" id="{130139B3-DA76-42F0-99FC-8DFB87E17571}"/>
              </a:ext>
            </a:extLst>
          </p:cNvPr>
          <p:cNvSpPr>
            <a:spLocks xmlns:a="http://schemas.openxmlformats.org/drawingml/2006/main" noGrp="1"/>
          </p:cNvSpPr>
          <p:nvPr/>
        </p:nvSpPr>
        <p:spPr>
          <a:xfrm xmlns:a="http://schemas.openxmlformats.org/drawingml/2006/main">
            <a:off x="10382250" y="2152650"/>
            <a:ext cx="857250" cy="247650"/>
          </a:xfrm>
          <a:prstGeom xmlns:a="http://schemas.openxmlformats.org/drawingml/2006/main" prst="roundRect">
            <a:avLst>
              <a:gd name="adj" fmla="val 30769"/>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2CA7DD40-3C0C-4209-8622-50F4BA17A2E0}"/>
              </a:ext>
            </a:extLst>
          </p:cNvPr>
          <p:cNvSpPr>
            <a:spLocks xmlns:a="http://schemas.openxmlformats.org/drawingml/2006/main" noGrp="1"/>
          </p:cNvSpPr>
          <p:nvPr/>
        </p:nvSpPr>
        <p:spPr>
          <a:xfrm xmlns:a="http://schemas.openxmlformats.org/drawingml/2006/main">
            <a:off x="10382250" y="2171700"/>
            <a:ext cx="857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2323"/>
          </a:bodyPr>
          <a:lstStyle xmlns:a="http://schemas.openxmlformats.org/drawingml/2006/main"/>
          <a:p xmlns:a="http://schemas.openxmlformats.org/drawingml/2006/main">
            <a:pPr algn="ctr">
              <a:defRPr sz="825" b="1">
                <a:solidFill>
                  <a:srgbClr val="002D24"/>
                </a:solidFill>
              </a:defRPr>
            </a:pPr>
            <a:r>
              <a:rPr sz="825" b="1">
                <a:solidFill>
                  <a:srgbClr val="002D24"/>
                </a:solidFill>
              </a:rPr>
              <a:t>Key date</a:t>
            </a:r>
          </a:p>
        </p:txBody>
      </p:sp>
      <p:sp>
        <p:nvSpPr>
          <p:cNvPr id="25" name="">
            <a:extLst xmlns:a="http://schemas.openxmlformats.org/drawingml/2006/main">
              <a:ext uri="{FF2B5EF4-FFF2-40B4-BE49-F238E27FC236}">
                <a16:creationId xmlns:a16="http://schemas.microsoft.com/office/drawing/2014/main" id="{E13C289A-33B8-4038-A8CE-E1648432D501}"/>
              </a:ext>
            </a:extLst>
          </p:cNvPr>
          <p:cNvSpPr>
            <a:spLocks xmlns:a="http://schemas.openxmlformats.org/drawingml/2006/main" noGrp="1"/>
          </p:cNvSpPr>
          <p:nvPr/>
        </p:nvSpPr>
        <p:spPr>
          <a:xfrm xmlns:a="http://schemas.openxmlformats.org/drawingml/2006/main">
            <a:off x="6057900" y="2667000"/>
            <a:ext cx="54102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4DF"/>
            </a:solidFill>
            <a:prstDash val="solid"/>
          </a:ln>
        </p:spPr>
      </p:sp>
      <p:sp>
        <p:nvSpPr>
          <p:cNvPr id="26" name="">
            <a:extLst xmlns:a="http://schemas.openxmlformats.org/drawingml/2006/main">
              <a:ext uri="{FF2B5EF4-FFF2-40B4-BE49-F238E27FC236}">
                <a16:creationId xmlns:a16="http://schemas.microsoft.com/office/drawing/2014/main" id="{54FB0125-4F02-43F2-A7BB-85C3897190A1}"/>
              </a:ext>
            </a:extLst>
          </p:cNvPr>
          <p:cNvSpPr>
            <a:spLocks xmlns:a="http://schemas.openxmlformats.org/drawingml/2006/main" noGrp="1"/>
          </p:cNvSpPr>
          <p:nvPr/>
        </p:nvSpPr>
        <p:spPr>
          <a:xfrm xmlns:a="http://schemas.openxmlformats.org/drawingml/2006/main">
            <a:off x="6172200" y="2819400"/>
            <a:ext cx="857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02D24"/>
                </a:solidFill>
              </a:defRPr>
            </a:pPr>
            <a:r>
              <a:rPr sz="1050" b="1">
                <a:solidFill>
                  <a:srgbClr val="002D24"/>
                </a:solidFill>
              </a:rPr>
              <a:t>18 Jan</a:t>
            </a:r>
          </a:p>
        </p:txBody>
      </p:sp>
      <p:sp>
        <p:nvSpPr>
          <p:cNvPr id="27" name="">
            <a:extLst xmlns:a="http://schemas.openxmlformats.org/drawingml/2006/main">
              <a:ext uri="{FF2B5EF4-FFF2-40B4-BE49-F238E27FC236}">
                <a16:creationId xmlns:a16="http://schemas.microsoft.com/office/drawing/2014/main" id="{416E329A-1E5D-4B30-9714-6B14BF491221}"/>
              </a:ext>
            </a:extLst>
          </p:cNvPr>
          <p:cNvSpPr>
            <a:spLocks xmlns:a="http://schemas.openxmlformats.org/drawingml/2006/main" noGrp="1"/>
          </p:cNvSpPr>
          <p:nvPr/>
        </p:nvSpPr>
        <p:spPr>
          <a:xfrm xmlns:a="http://schemas.openxmlformats.org/drawingml/2006/main">
            <a:off x="7143750" y="2819400"/>
            <a:ext cx="304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0">
                <a:solidFill>
                  <a:srgbClr val="0F2A2E"/>
                </a:solidFill>
              </a:defRPr>
            </a:pPr>
            <a:r>
              <a:rPr sz="975" b="0">
                <a:solidFill>
                  <a:srgbClr val="0F2A2E"/>
                </a:solidFill>
              </a:rPr>
              <a:t>Composer visit (primary)</a:t>
            </a:r>
          </a:p>
        </p:txBody>
      </p:sp>
      <p:sp>
        <p:nvSpPr>
          <p:cNvPr id="28" name="">
            <a:extLst xmlns:a="http://schemas.openxmlformats.org/drawingml/2006/main">
              <a:ext uri="{FF2B5EF4-FFF2-40B4-BE49-F238E27FC236}">
                <a16:creationId xmlns:a16="http://schemas.microsoft.com/office/drawing/2014/main" id="{DF534FC9-9121-40EB-A26B-553EF0202F55}"/>
              </a:ext>
            </a:extLst>
          </p:cNvPr>
          <p:cNvSpPr>
            <a:spLocks xmlns:a="http://schemas.openxmlformats.org/drawingml/2006/main" noGrp="1"/>
          </p:cNvSpPr>
          <p:nvPr/>
        </p:nvSpPr>
        <p:spPr>
          <a:xfrm xmlns:a="http://schemas.openxmlformats.org/drawingml/2006/main">
            <a:off x="10382250" y="2819400"/>
            <a:ext cx="857250" cy="247650"/>
          </a:xfrm>
          <a:prstGeom xmlns:a="http://schemas.openxmlformats.org/drawingml/2006/main" prst="roundRect">
            <a:avLst>
              <a:gd name="adj" fmla="val 30769"/>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84E8C3D9-3112-453F-94FE-CD873CAB5835}"/>
              </a:ext>
            </a:extLst>
          </p:cNvPr>
          <p:cNvSpPr>
            <a:spLocks xmlns:a="http://schemas.openxmlformats.org/drawingml/2006/main" noGrp="1"/>
          </p:cNvSpPr>
          <p:nvPr/>
        </p:nvSpPr>
        <p:spPr>
          <a:xfrm xmlns:a="http://schemas.openxmlformats.org/drawingml/2006/main">
            <a:off x="10382250" y="2838450"/>
            <a:ext cx="857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2323"/>
          </a:bodyPr>
          <a:lstStyle xmlns:a="http://schemas.openxmlformats.org/drawingml/2006/main"/>
          <a:p xmlns:a="http://schemas.openxmlformats.org/drawingml/2006/main">
            <a:pPr algn="ctr">
              <a:defRPr sz="825" b="1">
                <a:solidFill>
                  <a:srgbClr val="002D24"/>
                </a:solidFill>
              </a:defRPr>
            </a:pPr>
            <a:r>
              <a:rPr sz="825" b="1">
                <a:solidFill>
                  <a:srgbClr val="002D24"/>
                </a:solidFill>
              </a:rPr>
              <a:t>Partner</a:t>
            </a:r>
          </a:p>
        </p:txBody>
      </p:sp>
      <p:sp>
        <p:nvSpPr>
          <p:cNvPr id="30" name="">
            <a:extLst xmlns:a="http://schemas.openxmlformats.org/drawingml/2006/main">
              <a:ext uri="{FF2B5EF4-FFF2-40B4-BE49-F238E27FC236}">
                <a16:creationId xmlns:a16="http://schemas.microsoft.com/office/drawing/2014/main" id="{CF920C90-F394-4D0D-AD19-1D6DF579B13B}"/>
              </a:ext>
            </a:extLst>
          </p:cNvPr>
          <p:cNvSpPr>
            <a:spLocks xmlns:a="http://schemas.openxmlformats.org/drawingml/2006/main" noGrp="1"/>
          </p:cNvSpPr>
          <p:nvPr/>
        </p:nvSpPr>
        <p:spPr>
          <a:xfrm xmlns:a="http://schemas.openxmlformats.org/drawingml/2006/main">
            <a:off x="6057900" y="3333750"/>
            <a:ext cx="54102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4DF"/>
            </a:solidFill>
            <a:prstDash val="solid"/>
          </a:ln>
        </p:spPr>
      </p:sp>
      <p:sp>
        <p:nvSpPr>
          <p:cNvPr id="31" name="">
            <a:extLst xmlns:a="http://schemas.openxmlformats.org/drawingml/2006/main">
              <a:ext uri="{FF2B5EF4-FFF2-40B4-BE49-F238E27FC236}">
                <a16:creationId xmlns:a16="http://schemas.microsoft.com/office/drawing/2014/main" id="{D8FB0E46-FCE9-4972-B38D-67A67A5ADC66}"/>
              </a:ext>
            </a:extLst>
          </p:cNvPr>
          <p:cNvSpPr>
            <a:spLocks xmlns:a="http://schemas.openxmlformats.org/drawingml/2006/main" noGrp="1"/>
          </p:cNvSpPr>
          <p:nvPr/>
        </p:nvSpPr>
        <p:spPr>
          <a:xfrm xmlns:a="http://schemas.openxmlformats.org/drawingml/2006/main">
            <a:off x="6172200" y="3486150"/>
            <a:ext cx="857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02D24"/>
                </a:solidFill>
              </a:defRPr>
            </a:pPr>
            <a:r>
              <a:rPr sz="1050" b="1">
                <a:solidFill>
                  <a:srgbClr val="002D24"/>
                </a:solidFill>
              </a:rPr>
              <a:t>9 Mar</a:t>
            </a:r>
          </a:p>
        </p:txBody>
      </p:sp>
      <p:sp>
        <p:nvSpPr>
          <p:cNvPr id="32" name="">
            <a:extLst xmlns:a="http://schemas.openxmlformats.org/drawingml/2006/main">
              <a:ext uri="{FF2B5EF4-FFF2-40B4-BE49-F238E27FC236}">
                <a16:creationId xmlns:a16="http://schemas.microsoft.com/office/drawing/2014/main" id="{0113AB2F-0156-479A-A107-D125E3A636DB}"/>
              </a:ext>
            </a:extLst>
          </p:cNvPr>
          <p:cNvSpPr>
            <a:spLocks xmlns:a="http://schemas.openxmlformats.org/drawingml/2006/main" noGrp="1"/>
          </p:cNvSpPr>
          <p:nvPr/>
        </p:nvSpPr>
        <p:spPr>
          <a:xfrm xmlns:a="http://schemas.openxmlformats.org/drawingml/2006/main">
            <a:off x="7143750" y="3486150"/>
            <a:ext cx="304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0">
                <a:solidFill>
                  <a:srgbClr val="0F2A2E"/>
                </a:solidFill>
              </a:defRPr>
            </a:pPr>
            <a:r>
              <a:rPr sz="975" b="0">
                <a:solidFill>
                  <a:srgbClr val="0F2A2E"/>
                </a:solidFill>
              </a:rPr>
              <a:t>Spring showcase deadline</a:t>
            </a:r>
          </a:p>
        </p:txBody>
      </p:sp>
      <p:sp>
        <p:nvSpPr>
          <p:cNvPr id="33" name="">
            <a:extLst xmlns:a="http://schemas.openxmlformats.org/drawingml/2006/main">
              <a:ext uri="{FF2B5EF4-FFF2-40B4-BE49-F238E27FC236}">
                <a16:creationId xmlns:a16="http://schemas.microsoft.com/office/drawing/2014/main" id="{91C74695-D6C1-45FA-9452-7CB76D85465E}"/>
              </a:ext>
            </a:extLst>
          </p:cNvPr>
          <p:cNvSpPr>
            <a:spLocks xmlns:a="http://schemas.openxmlformats.org/drawingml/2006/main" noGrp="1"/>
          </p:cNvSpPr>
          <p:nvPr/>
        </p:nvSpPr>
        <p:spPr>
          <a:xfrm xmlns:a="http://schemas.openxmlformats.org/drawingml/2006/main">
            <a:off x="10382250" y="3486150"/>
            <a:ext cx="857250" cy="247650"/>
          </a:xfrm>
          <a:prstGeom xmlns:a="http://schemas.openxmlformats.org/drawingml/2006/main" prst="roundRect">
            <a:avLst>
              <a:gd name="adj" fmla="val 30769"/>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0AF8E118-20D6-4158-A87A-06437574E30A}"/>
              </a:ext>
            </a:extLst>
          </p:cNvPr>
          <p:cNvSpPr>
            <a:spLocks xmlns:a="http://schemas.openxmlformats.org/drawingml/2006/main" noGrp="1"/>
          </p:cNvSpPr>
          <p:nvPr/>
        </p:nvSpPr>
        <p:spPr>
          <a:xfrm xmlns:a="http://schemas.openxmlformats.org/drawingml/2006/main">
            <a:off x="10382250" y="3505200"/>
            <a:ext cx="857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2323"/>
          </a:bodyPr>
          <a:lstStyle xmlns:a="http://schemas.openxmlformats.org/drawingml/2006/main"/>
          <a:p xmlns:a="http://schemas.openxmlformats.org/drawingml/2006/main">
            <a:pPr algn="ctr">
              <a:defRPr sz="825" b="1">
                <a:solidFill>
                  <a:srgbClr val="002D24"/>
                </a:solidFill>
              </a:defRPr>
            </a:pPr>
            <a:r>
              <a:rPr sz="825" b="1">
                <a:solidFill>
                  <a:srgbClr val="002D24"/>
                </a:solidFill>
              </a:rPr>
              <a:t>School</a:t>
            </a:r>
          </a:p>
        </p:txBody>
      </p:sp>
      <p:sp>
        <p:nvSpPr>
          <p:cNvPr id="35" name="">
            <a:extLst xmlns:a="http://schemas.openxmlformats.org/drawingml/2006/main">
              <a:ext uri="{FF2B5EF4-FFF2-40B4-BE49-F238E27FC236}">
                <a16:creationId xmlns:a16="http://schemas.microsoft.com/office/drawing/2014/main" id="{63C1C46E-2698-4E68-BC16-87574051293D}"/>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36" name="">
            <a:extLst xmlns:a="http://schemas.openxmlformats.org/drawingml/2006/main">
              <a:ext uri="{FF2B5EF4-FFF2-40B4-BE49-F238E27FC236}">
                <a16:creationId xmlns:a16="http://schemas.microsoft.com/office/drawing/2014/main" id="{8AB7D8CB-AEAA-4681-A1D1-10446F5E3035}"/>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18 / 25</a:t>
            </a:r>
          </a:p>
        </p:txBody>
      </p:sp>
    </p:spTree>
    <p:extLst>
      <p:ext uri="{BB962C8B-B14F-4D97-AF65-F5344CB8AC3E}">
        <p14:creationId xmlns:p14="http://schemas.microsoft.com/office/powerpoint/2010/main" val="93072261"/>
      </p:ext>
    </p:extLst>
  </p:cSld>
</p:sld>
</file>

<file path=ppt/slides/slide19.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2C516367-E67F-40AA-A0F0-0A22115DC8C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D329253-C230-4CF4-AC99-92C21AECF741}"/>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3C08C9B4-B285-4FFA-82A9-CD77D840677F}"/>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CF8DE5D-CEF9-4BB2-B403-E2A816E482C3}"/>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Calendar</a:t>
            </a:r>
          </a:p>
        </p:txBody>
      </p:sp>
      <p:sp>
        <p:nvSpPr>
          <p:cNvPr id="6" name="">
            <a:extLst xmlns:a="http://schemas.openxmlformats.org/drawingml/2006/main">
              <a:ext uri="{FF2B5EF4-FFF2-40B4-BE49-F238E27FC236}">
                <a16:creationId xmlns:a16="http://schemas.microsoft.com/office/drawing/2014/main" id="{1D3B21A4-02B9-4914-978A-7278BB677C50}"/>
              </a:ext>
            </a:extLst>
          </p:cNvPr>
          <p:cNvSpPr>
            <a:spLocks xmlns:a="http://schemas.openxmlformats.org/drawingml/2006/main" noGrp="1"/>
          </p:cNvSpPr>
          <p:nvPr/>
        </p:nvSpPr>
        <p:spPr>
          <a:xfrm xmlns:a="http://schemas.openxmlformats.org/drawingml/2006/main">
            <a:off x="609600" y="647700"/>
            <a:ext cx="4762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002D24"/>
                </a:solidFill>
              </a:defRPr>
            </a:pPr>
            <a:r>
              <a:rPr sz="1950" b="1">
                <a:solidFill>
                  <a:srgbClr val="002D24"/>
                </a:solidFill>
              </a:rPr>
              <a:t>Your week, your timetable.</a:t>
            </a:r>
          </a:p>
        </p:txBody>
      </p:sp>
      <p:sp>
        <p:nvSpPr>
          <p:cNvPr id="7" name="">
            <a:extLst xmlns:a="http://schemas.openxmlformats.org/drawingml/2006/main">
              <a:ext uri="{FF2B5EF4-FFF2-40B4-BE49-F238E27FC236}">
                <a16:creationId xmlns:a16="http://schemas.microsoft.com/office/drawing/2014/main" id="{31263FBC-AF93-4199-86E1-16333FD159F7}"/>
              </a:ext>
            </a:extLst>
          </p:cNvPr>
          <p:cNvSpPr>
            <a:spLocks xmlns:a="http://schemas.openxmlformats.org/drawingml/2006/main" noGrp="1"/>
          </p:cNvSpPr>
          <p:nvPr/>
        </p:nvSpPr>
        <p:spPr>
          <a:xfrm xmlns:a="http://schemas.openxmlformats.org/drawingml/2006/main">
            <a:off x="609600" y="1543050"/>
            <a:ext cx="47625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2A4548"/>
                </a:solidFill>
              </a:defRPr>
            </a:pPr>
            <a:r>
              <a:rPr sz="1050" b="0">
                <a:solidFill>
                  <a:srgbClr val="2A4548"/>
                </a:solidFill>
              </a:rPr>
              <a:t>See partner lessons and school sessions in week or timetable view — then place library lessons into the slots you actually teach.</a:t>
            </a:r>
          </a:p>
        </p:txBody>
      </p:sp>
      <p:sp>
        <p:nvSpPr>
          <p:cNvPr id="8" name="">
            <a:extLst xmlns:a="http://schemas.openxmlformats.org/drawingml/2006/main">
              <a:ext uri="{FF2B5EF4-FFF2-40B4-BE49-F238E27FC236}">
                <a16:creationId xmlns:a16="http://schemas.microsoft.com/office/drawing/2014/main" id="{8B6D4303-BA38-4F3D-96C8-4860475D1A82}"/>
              </a:ext>
            </a:extLst>
          </p:cNvPr>
          <p:cNvSpPr>
            <a:spLocks xmlns:a="http://schemas.openxmlformats.org/drawingml/2006/main" noGrp="1"/>
          </p:cNvSpPr>
          <p:nvPr/>
        </p:nvSpPr>
        <p:spPr>
          <a:xfrm xmlns:a="http://schemas.openxmlformats.org/drawingml/2006/main">
            <a:off x="5715000" y="76200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9" name="">
            <a:extLst xmlns:a="http://schemas.openxmlformats.org/drawingml/2006/main">
              <a:ext uri="{FF2B5EF4-FFF2-40B4-BE49-F238E27FC236}">
                <a16:creationId xmlns:a16="http://schemas.microsoft.com/office/drawing/2014/main" id="{277F44C6-4F9B-4239-8F1A-8A2F14389133}"/>
              </a:ext>
            </a:extLst>
          </p:cNvPr>
          <p:cNvSpPr>
            <a:spLocks xmlns:a="http://schemas.openxmlformats.org/drawingml/2006/main" noGrp="1"/>
          </p:cNvSpPr>
          <p:nvPr/>
        </p:nvSpPr>
        <p:spPr>
          <a:xfrm xmlns:a="http://schemas.openxmlformats.org/drawingml/2006/main">
            <a:off x="5829300" y="87630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Mon</a:t>
            </a:r>
          </a:p>
        </p:txBody>
      </p:sp>
      <p:sp>
        <p:nvSpPr>
          <p:cNvPr id="10" name="">
            <a:extLst xmlns:a="http://schemas.openxmlformats.org/drawingml/2006/main">
              <a:ext uri="{FF2B5EF4-FFF2-40B4-BE49-F238E27FC236}">
                <a16:creationId xmlns:a16="http://schemas.microsoft.com/office/drawing/2014/main" id="{76BA7F76-ED3F-4BAB-A3C5-3A5EBF49299D}"/>
              </a:ext>
            </a:extLst>
          </p:cNvPr>
          <p:cNvSpPr>
            <a:spLocks xmlns:a="http://schemas.openxmlformats.org/drawingml/2006/main" noGrp="1"/>
          </p:cNvSpPr>
          <p:nvPr/>
        </p:nvSpPr>
        <p:spPr>
          <a:xfrm xmlns:a="http://schemas.openxmlformats.org/drawingml/2006/main">
            <a:off x="5829300" y="10858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Orchestra build</a:t>
            </a:r>
          </a:p>
        </p:txBody>
      </p:sp>
      <p:sp>
        <p:nvSpPr>
          <p:cNvPr id="11" name="">
            <a:extLst xmlns:a="http://schemas.openxmlformats.org/drawingml/2006/main">
              <a:ext uri="{FF2B5EF4-FFF2-40B4-BE49-F238E27FC236}">
                <a16:creationId xmlns:a16="http://schemas.microsoft.com/office/drawing/2014/main" id="{1BEE792F-DF18-4DE2-8800-CDC339928351}"/>
              </a:ext>
            </a:extLst>
          </p:cNvPr>
          <p:cNvSpPr>
            <a:spLocks xmlns:a="http://schemas.openxmlformats.org/drawingml/2006/main" noGrp="1"/>
          </p:cNvSpPr>
          <p:nvPr/>
        </p:nvSpPr>
        <p:spPr>
          <a:xfrm xmlns:a="http://schemas.openxmlformats.org/drawingml/2006/main">
            <a:off x="5829300" y="148590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Week view · Year 6 Music</a:t>
            </a:r>
          </a:p>
        </p:txBody>
      </p:sp>
      <p:sp>
        <p:nvSpPr>
          <p:cNvPr id="12" name="">
            <a:extLst xmlns:a="http://schemas.openxmlformats.org/drawingml/2006/main">
              <a:ext uri="{FF2B5EF4-FFF2-40B4-BE49-F238E27FC236}">
                <a16:creationId xmlns:a16="http://schemas.microsoft.com/office/drawing/2014/main" id="{4D49136A-7C67-4D37-BF11-AD121255B6D3}"/>
              </a:ext>
            </a:extLst>
          </p:cNvPr>
          <p:cNvSpPr>
            <a:spLocks xmlns:a="http://schemas.openxmlformats.org/drawingml/2006/main" noGrp="1"/>
          </p:cNvSpPr>
          <p:nvPr/>
        </p:nvSpPr>
        <p:spPr>
          <a:xfrm xmlns:a="http://schemas.openxmlformats.org/drawingml/2006/main">
            <a:off x="8734425" y="76200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3" name="">
            <a:extLst xmlns:a="http://schemas.openxmlformats.org/drawingml/2006/main">
              <a:ext uri="{FF2B5EF4-FFF2-40B4-BE49-F238E27FC236}">
                <a16:creationId xmlns:a16="http://schemas.microsoft.com/office/drawing/2014/main" id="{7ACFAE4C-CEC9-4405-9F22-0BFEEC38D60F}"/>
              </a:ext>
            </a:extLst>
          </p:cNvPr>
          <p:cNvSpPr>
            <a:spLocks xmlns:a="http://schemas.openxmlformats.org/drawingml/2006/main" noGrp="1"/>
          </p:cNvSpPr>
          <p:nvPr/>
        </p:nvSpPr>
        <p:spPr>
          <a:xfrm xmlns:a="http://schemas.openxmlformats.org/drawingml/2006/main">
            <a:off x="8848725" y="87630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Wed</a:t>
            </a:r>
          </a:p>
        </p:txBody>
      </p:sp>
      <p:sp>
        <p:nvSpPr>
          <p:cNvPr id="14" name="">
            <a:extLst xmlns:a="http://schemas.openxmlformats.org/drawingml/2006/main">
              <a:ext uri="{FF2B5EF4-FFF2-40B4-BE49-F238E27FC236}">
                <a16:creationId xmlns:a16="http://schemas.microsoft.com/office/drawing/2014/main" id="{08B84DE4-FCA6-4019-90E2-492572DBEEDE}"/>
              </a:ext>
            </a:extLst>
          </p:cNvPr>
          <p:cNvSpPr>
            <a:spLocks xmlns:a="http://schemas.openxmlformats.org/drawingml/2006/main" noGrp="1"/>
          </p:cNvSpPr>
          <p:nvPr/>
        </p:nvSpPr>
        <p:spPr>
          <a:xfrm xmlns:a="http://schemas.openxmlformats.org/drawingml/2006/main">
            <a:off x="8848725" y="10858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Rhythm warm-up</a:t>
            </a:r>
          </a:p>
        </p:txBody>
      </p:sp>
      <p:sp>
        <p:nvSpPr>
          <p:cNvPr id="15" name="">
            <a:extLst xmlns:a="http://schemas.openxmlformats.org/drawingml/2006/main">
              <a:ext uri="{FF2B5EF4-FFF2-40B4-BE49-F238E27FC236}">
                <a16:creationId xmlns:a16="http://schemas.microsoft.com/office/drawing/2014/main" id="{A08868F0-BD51-4AE0-B96A-A95D333B5D86}"/>
              </a:ext>
            </a:extLst>
          </p:cNvPr>
          <p:cNvSpPr>
            <a:spLocks xmlns:a="http://schemas.openxmlformats.org/drawingml/2006/main" noGrp="1"/>
          </p:cNvSpPr>
          <p:nvPr/>
        </p:nvSpPr>
        <p:spPr>
          <a:xfrm xmlns:a="http://schemas.openxmlformats.org/drawingml/2006/main">
            <a:off x="8848725" y="148590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Week view · Year 6 Music</a:t>
            </a:r>
          </a:p>
        </p:txBody>
      </p:sp>
      <p:sp>
        <p:nvSpPr>
          <p:cNvPr id="16" name="">
            <a:extLst xmlns:a="http://schemas.openxmlformats.org/drawingml/2006/main">
              <a:ext uri="{FF2B5EF4-FFF2-40B4-BE49-F238E27FC236}">
                <a16:creationId xmlns:a16="http://schemas.microsoft.com/office/drawing/2014/main" id="{7A5E96EF-9152-4957-BB0B-890FC2BE355A}"/>
              </a:ext>
            </a:extLst>
          </p:cNvPr>
          <p:cNvSpPr>
            <a:spLocks xmlns:a="http://schemas.openxmlformats.org/drawingml/2006/main" noGrp="1"/>
          </p:cNvSpPr>
          <p:nvPr/>
        </p:nvSpPr>
        <p:spPr>
          <a:xfrm xmlns:a="http://schemas.openxmlformats.org/drawingml/2006/main">
            <a:off x="5715000" y="241935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7" name="">
            <a:extLst xmlns:a="http://schemas.openxmlformats.org/drawingml/2006/main">
              <a:ext uri="{FF2B5EF4-FFF2-40B4-BE49-F238E27FC236}">
                <a16:creationId xmlns:a16="http://schemas.microsoft.com/office/drawing/2014/main" id="{93CE7FE3-672D-4E18-B452-609E72D239CF}"/>
              </a:ext>
            </a:extLst>
          </p:cNvPr>
          <p:cNvSpPr>
            <a:spLocks xmlns:a="http://schemas.openxmlformats.org/drawingml/2006/main" noGrp="1"/>
          </p:cNvSpPr>
          <p:nvPr/>
        </p:nvSpPr>
        <p:spPr>
          <a:xfrm xmlns:a="http://schemas.openxmlformats.org/drawingml/2006/main">
            <a:off x="5829300" y="253365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Thu</a:t>
            </a:r>
          </a:p>
        </p:txBody>
      </p:sp>
      <p:sp>
        <p:nvSpPr>
          <p:cNvPr id="18" name="">
            <a:extLst xmlns:a="http://schemas.openxmlformats.org/drawingml/2006/main">
              <a:ext uri="{FF2B5EF4-FFF2-40B4-BE49-F238E27FC236}">
                <a16:creationId xmlns:a16="http://schemas.microsoft.com/office/drawing/2014/main" id="{AFC36F46-A421-4D90-AAEB-77A8CFA6A63E}"/>
              </a:ext>
            </a:extLst>
          </p:cNvPr>
          <p:cNvSpPr>
            <a:spLocks xmlns:a="http://schemas.openxmlformats.org/drawingml/2006/main" noGrp="1"/>
          </p:cNvSpPr>
          <p:nvPr/>
        </p:nvSpPr>
        <p:spPr>
          <a:xfrm xmlns:a="http://schemas.openxmlformats.org/drawingml/2006/main">
            <a:off x="5829300" y="274320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LSO workshop</a:t>
            </a:r>
          </a:p>
        </p:txBody>
      </p:sp>
      <p:sp>
        <p:nvSpPr>
          <p:cNvPr id="19" name="">
            <a:extLst xmlns:a="http://schemas.openxmlformats.org/drawingml/2006/main">
              <a:ext uri="{FF2B5EF4-FFF2-40B4-BE49-F238E27FC236}">
                <a16:creationId xmlns:a16="http://schemas.microsoft.com/office/drawing/2014/main" id="{4D5E5A2A-6060-44C0-AC70-5A240A7A672E}"/>
              </a:ext>
            </a:extLst>
          </p:cNvPr>
          <p:cNvSpPr>
            <a:spLocks xmlns:a="http://schemas.openxmlformats.org/drawingml/2006/main" noGrp="1"/>
          </p:cNvSpPr>
          <p:nvPr/>
        </p:nvSpPr>
        <p:spPr>
          <a:xfrm xmlns:a="http://schemas.openxmlformats.org/drawingml/2006/main">
            <a:off x="5829300" y="314325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Week view · Year 6 Music</a:t>
            </a:r>
          </a:p>
        </p:txBody>
      </p:sp>
      <p:sp>
        <p:nvSpPr>
          <p:cNvPr id="20" name="">
            <a:extLst xmlns:a="http://schemas.openxmlformats.org/drawingml/2006/main">
              <a:ext uri="{FF2B5EF4-FFF2-40B4-BE49-F238E27FC236}">
                <a16:creationId xmlns:a16="http://schemas.microsoft.com/office/drawing/2014/main" id="{68577620-D0A9-4B5E-9A23-966FF9468978}"/>
              </a:ext>
            </a:extLst>
          </p:cNvPr>
          <p:cNvSpPr>
            <a:spLocks xmlns:a="http://schemas.openxmlformats.org/drawingml/2006/main" noGrp="1"/>
          </p:cNvSpPr>
          <p:nvPr/>
        </p:nvSpPr>
        <p:spPr>
          <a:xfrm xmlns:a="http://schemas.openxmlformats.org/drawingml/2006/main">
            <a:off x="8734425" y="241935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21" name="">
            <a:extLst xmlns:a="http://schemas.openxmlformats.org/drawingml/2006/main">
              <a:ext uri="{FF2B5EF4-FFF2-40B4-BE49-F238E27FC236}">
                <a16:creationId xmlns:a16="http://schemas.microsoft.com/office/drawing/2014/main" id="{FD0CB3E3-B0B4-482E-B949-C05AD8AB3C50}"/>
              </a:ext>
            </a:extLst>
          </p:cNvPr>
          <p:cNvSpPr>
            <a:spLocks xmlns:a="http://schemas.openxmlformats.org/drawingml/2006/main" noGrp="1"/>
          </p:cNvSpPr>
          <p:nvPr/>
        </p:nvSpPr>
        <p:spPr>
          <a:xfrm xmlns:a="http://schemas.openxmlformats.org/drawingml/2006/main">
            <a:off x="8848725" y="253365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Fri</a:t>
            </a:r>
          </a:p>
        </p:txBody>
      </p:sp>
      <p:sp>
        <p:nvSpPr>
          <p:cNvPr id="22" name="">
            <a:extLst xmlns:a="http://schemas.openxmlformats.org/drawingml/2006/main">
              <a:ext uri="{FF2B5EF4-FFF2-40B4-BE49-F238E27FC236}">
                <a16:creationId xmlns:a16="http://schemas.microsoft.com/office/drawing/2014/main" id="{06B83793-F5F0-4FD1-B4B1-83C2777DC8F2}"/>
              </a:ext>
            </a:extLst>
          </p:cNvPr>
          <p:cNvSpPr>
            <a:spLocks xmlns:a="http://schemas.openxmlformats.org/drawingml/2006/main" noGrp="1"/>
          </p:cNvSpPr>
          <p:nvPr/>
        </p:nvSpPr>
        <p:spPr>
          <a:xfrm xmlns:a="http://schemas.openxmlformats.org/drawingml/2006/main">
            <a:off x="8848725" y="274320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Reflect &amp; share</a:t>
            </a:r>
          </a:p>
        </p:txBody>
      </p:sp>
      <p:sp>
        <p:nvSpPr>
          <p:cNvPr id="23" name="">
            <a:extLst xmlns:a="http://schemas.openxmlformats.org/drawingml/2006/main">
              <a:ext uri="{FF2B5EF4-FFF2-40B4-BE49-F238E27FC236}">
                <a16:creationId xmlns:a16="http://schemas.microsoft.com/office/drawing/2014/main" id="{B93C06D7-149E-43B4-A67D-E66857C92483}"/>
              </a:ext>
            </a:extLst>
          </p:cNvPr>
          <p:cNvSpPr>
            <a:spLocks xmlns:a="http://schemas.openxmlformats.org/drawingml/2006/main" noGrp="1"/>
          </p:cNvSpPr>
          <p:nvPr/>
        </p:nvSpPr>
        <p:spPr>
          <a:xfrm xmlns:a="http://schemas.openxmlformats.org/drawingml/2006/main">
            <a:off x="8848725" y="314325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Week view · Year 6 Music</a:t>
            </a:r>
          </a:p>
        </p:txBody>
      </p:sp>
      <p:sp>
        <p:nvSpPr>
          <p:cNvPr id="24" name="">
            <a:extLst xmlns:a="http://schemas.openxmlformats.org/drawingml/2006/main">
              <a:ext uri="{FF2B5EF4-FFF2-40B4-BE49-F238E27FC236}">
                <a16:creationId xmlns:a16="http://schemas.microsoft.com/office/drawing/2014/main" id="{EDB967B1-EC99-4B70-9F12-1E9A1FC10601}"/>
              </a:ext>
            </a:extLst>
          </p:cNvPr>
          <p:cNvSpPr>
            <a:spLocks xmlns:a="http://schemas.openxmlformats.org/drawingml/2006/main" noGrp="1"/>
          </p:cNvSpPr>
          <p:nvPr/>
        </p:nvSpPr>
        <p:spPr>
          <a:xfrm xmlns:a="http://schemas.openxmlformats.org/drawingml/2006/main">
            <a:off x="609600" y="6096000"/>
            <a:ext cx="6477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3C6657D2-FDD8-4F86-B2F5-38C0ABD972DB}"/>
              </a:ext>
            </a:extLst>
          </p:cNvPr>
          <p:cNvSpPr>
            <a:spLocks xmlns:a="http://schemas.openxmlformats.org/drawingml/2006/main" noGrp="1"/>
          </p:cNvSpPr>
          <p:nvPr/>
        </p:nvSpPr>
        <p:spPr>
          <a:xfrm xmlns:a="http://schemas.openxmlformats.org/drawingml/2006/main">
            <a:off x="685800" y="613410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Month</a:t>
            </a:r>
          </a:p>
        </p:txBody>
      </p:sp>
      <p:sp>
        <p:nvSpPr>
          <p:cNvPr id="26" name="">
            <a:extLst xmlns:a="http://schemas.openxmlformats.org/drawingml/2006/main">
              <a:ext uri="{FF2B5EF4-FFF2-40B4-BE49-F238E27FC236}">
                <a16:creationId xmlns:a16="http://schemas.microsoft.com/office/drawing/2014/main" id="{88DB56F1-E63D-4C08-873C-350DE618CAD1}"/>
              </a:ext>
            </a:extLst>
          </p:cNvPr>
          <p:cNvSpPr>
            <a:spLocks xmlns:a="http://schemas.openxmlformats.org/drawingml/2006/main" noGrp="1"/>
          </p:cNvSpPr>
          <p:nvPr/>
        </p:nvSpPr>
        <p:spPr>
          <a:xfrm xmlns:a="http://schemas.openxmlformats.org/drawingml/2006/main">
            <a:off x="1333500" y="6096000"/>
            <a:ext cx="5715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B1F1A285-5869-4DD6-924A-92B550E9DAC1}"/>
              </a:ext>
            </a:extLst>
          </p:cNvPr>
          <p:cNvSpPr>
            <a:spLocks xmlns:a="http://schemas.openxmlformats.org/drawingml/2006/main" noGrp="1"/>
          </p:cNvSpPr>
          <p:nvPr/>
        </p:nvSpPr>
        <p:spPr>
          <a:xfrm xmlns:a="http://schemas.openxmlformats.org/drawingml/2006/main">
            <a:off x="1409700" y="613410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Week</a:t>
            </a:r>
          </a:p>
        </p:txBody>
      </p:sp>
      <p:sp>
        <p:nvSpPr>
          <p:cNvPr id="28" name="">
            <a:extLst xmlns:a="http://schemas.openxmlformats.org/drawingml/2006/main">
              <a:ext uri="{FF2B5EF4-FFF2-40B4-BE49-F238E27FC236}">
                <a16:creationId xmlns:a16="http://schemas.microsoft.com/office/drawing/2014/main" id="{ED8AEF68-A97E-45A5-9CAD-9BCFED63763E}"/>
              </a:ext>
            </a:extLst>
          </p:cNvPr>
          <p:cNvSpPr>
            <a:spLocks xmlns:a="http://schemas.openxmlformats.org/drawingml/2006/main" noGrp="1"/>
          </p:cNvSpPr>
          <p:nvPr/>
        </p:nvSpPr>
        <p:spPr>
          <a:xfrm xmlns:a="http://schemas.openxmlformats.org/drawingml/2006/main">
            <a:off x="1981200" y="6096000"/>
            <a:ext cx="952500" cy="266700"/>
          </a:xfrm>
          <a:prstGeom xmlns:a="http://schemas.openxmlformats.org/drawingml/2006/main" prst="roundRect">
            <a:avLst>
              <a:gd name="adj" fmla="val 28571"/>
            </a:avLst>
          </a:prstGeom>
          <a:solidFill xmlns:a="http://schemas.openxmlformats.org/drawingml/2006/main">
            <a:srgbClr val="E8F6E0"/>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805890B3-BA3B-438C-91CB-8DDA20454102}"/>
              </a:ext>
            </a:extLst>
          </p:cNvPr>
          <p:cNvSpPr>
            <a:spLocks xmlns:a="http://schemas.openxmlformats.org/drawingml/2006/main" noGrp="1"/>
          </p:cNvSpPr>
          <p:nvPr/>
        </p:nvSpPr>
        <p:spPr>
          <a:xfrm xmlns:a="http://schemas.openxmlformats.org/drawingml/2006/main">
            <a:off x="2057400" y="6134100"/>
            <a:ext cx="800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ctr">
              <a:defRPr sz="825" b="1">
                <a:solidFill>
                  <a:srgbClr val="002D24"/>
                </a:solidFill>
              </a:defRPr>
            </a:pPr>
            <a:r>
              <a:rPr sz="825" b="1">
                <a:solidFill>
                  <a:srgbClr val="002D24"/>
                </a:solidFill>
              </a:rPr>
              <a:t>Timetable</a:t>
            </a:r>
          </a:p>
        </p:txBody>
      </p:sp>
      <p:sp>
        <p:nvSpPr>
          <p:cNvPr id="30" name="">
            <a:extLst xmlns:a="http://schemas.openxmlformats.org/drawingml/2006/main">
              <a:ext uri="{FF2B5EF4-FFF2-40B4-BE49-F238E27FC236}">
                <a16:creationId xmlns:a16="http://schemas.microsoft.com/office/drawing/2014/main" id="{92593C13-5178-445D-BB95-BAC1B65BF516}"/>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31" name="">
            <a:extLst xmlns:a="http://schemas.openxmlformats.org/drawingml/2006/main">
              <a:ext uri="{FF2B5EF4-FFF2-40B4-BE49-F238E27FC236}">
                <a16:creationId xmlns:a16="http://schemas.microsoft.com/office/drawing/2014/main" id="{23A79735-46ED-44FE-B11E-F10F84484CCB}"/>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19 / 25</a:t>
            </a:r>
          </a:p>
        </p:txBody>
      </p:sp>
    </p:spTree>
    <p:extLst>
      <p:ext uri="{BB962C8B-B14F-4D97-AF65-F5344CB8AC3E}">
        <p14:creationId xmlns:p14="http://schemas.microsoft.com/office/powerpoint/2010/main" val="851081143"/>
      </p:ext>
    </p:extLst>
  </p:cSld>
</p:sld>
</file>

<file path=ppt/slides/slide20.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6F7AE08A-367F-447A-8C10-D2E047766D7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C26B984-DAB7-4718-BACA-4BB5F2F7600C}"/>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C3C1C37-CEF7-441E-9ECF-D61530207BD0}"/>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73661CB-ECAC-46F2-ADAB-6362515DA510}"/>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Paid partners</a:t>
            </a:r>
          </a:p>
        </p:txBody>
      </p:sp>
      <p:sp>
        <p:nvSpPr>
          <p:cNvPr id="6" name="">
            <a:extLst xmlns:a="http://schemas.openxmlformats.org/drawingml/2006/main">
              <a:ext uri="{FF2B5EF4-FFF2-40B4-BE49-F238E27FC236}">
                <a16:creationId xmlns:a16="http://schemas.microsoft.com/office/drawing/2014/main" id="{BD35A812-CFA4-4DEE-A808-A4CF189CBA55}"/>
              </a:ext>
            </a:extLst>
          </p:cNvPr>
          <p:cNvSpPr>
            <a:spLocks xmlns:a="http://schemas.openxmlformats.org/drawingml/2006/main" noGrp="1"/>
          </p:cNvSpPr>
          <p:nvPr/>
        </p:nvSpPr>
        <p:spPr>
          <a:xfrm xmlns:a="http://schemas.openxmlformats.org/drawingml/2006/main">
            <a:off x="609600" y="647700"/>
            <a:ext cx="4762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002D24"/>
                </a:solidFill>
              </a:defRPr>
            </a:pPr>
            <a:r>
              <a:rPr sz="1950" b="1">
                <a:solidFill>
                  <a:srgbClr val="002D24"/>
                </a:solidFill>
              </a:rPr>
              <a:t>iCompose — and We Teach Drama.</a:t>
            </a:r>
          </a:p>
        </p:txBody>
      </p:sp>
      <p:sp>
        <p:nvSpPr>
          <p:cNvPr id="7" name="">
            <a:extLst xmlns:a="http://schemas.openxmlformats.org/drawingml/2006/main">
              <a:ext uri="{FF2B5EF4-FFF2-40B4-BE49-F238E27FC236}">
                <a16:creationId xmlns:a16="http://schemas.microsoft.com/office/drawing/2014/main" id="{C29B3BFB-11CE-4985-A8FB-A70B8C95E5D2}"/>
              </a:ext>
            </a:extLst>
          </p:cNvPr>
          <p:cNvSpPr>
            <a:spLocks xmlns:a="http://schemas.openxmlformats.org/drawingml/2006/main" noGrp="1"/>
          </p:cNvSpPr>
          <p:nvPr/>
        </p:nvSpPr>
        <p:spPr>
          <a:xfrm xmlns:a="http://schemas.openxmlformats.org/drawingml/2006/main">
            <a:off x="609600" y="1543050"/>
            <a:ext cx="47625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2A4548"/>
                </a:solidFill>
              </a:defRPr>
            </a:pPr>
            <a:r>
              <a:rPr sz="1050" b="0">
                <a:solidFill>
                  <a:srgbClr val="2A4548"/>
                </a:solidFill>
              </a:rPr>
              <a:t>Premium partner products sit in a clear school basket. A small platform fee (10–20%) helps sustain CCDesigner while partners keep creating classroom-ready packs.</a:t>
            </a:r>
          </a:p>
        </p:txBody>
      </p:sp>
      <p:sp>
        <p:nvSpPr>
          <p:cNvPr id="8" name="">
            <a:extLst xmlns:a="http://schemas.openxmlformats.org/drawingml/2006/main">
              <a:ext uri="{FF2B5EF4-FFF2-40B4-BE49-F238E27FC236}">
                <a16:creationId xmlns:a16="http://schemas.microsoft.com/office/drawing/2014/main" id="{CC59EE14-24B5-4C08-9B33-09DAB9A4E581}"/>
              </a:ext>
            </a:extLst>
          </p:cNvPr>
          <p:cNvSpPr>
            <a:spLocks xmlns:a="http://schemas.openxmlformats.org/drawingml/2006/main" noGrp="1"/>
          </p:cNvSpPr>
          <p:nvPr/>
        </p:nvSpPr>
        <p:spPr>
          <a:xfrm xmlns:a="http://schemas.openxmlformats.org/drawingml/2006/main">
            <a:off x="5715000" y="76200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9" name="">
            <a:extLst xmlns:a="http://schemas.openxmlformats.org/drawingml/2006/main">
              <a:ext uri="{FF2B5EF4-FFF2-40B4-BE49-F238E27FC236}">
                <a16:creationId xmlns:a16="http://schemas.microsoft.com/office/drawing/2014/main" id="{7440B27D-AA28-4EBC-A8CA-5D4CEF30107B}"/>
              </a:ext>
            </a:extLst>
          </p:cNvPr>
          <p:cNvSpPr>
            <a:spLocks xmlns:a="http://schemas.openxmlformats.org/drawingml/2006/main" noGrp="1"/>
          </p:cNvSpPr>
          <p:nvPr/>
        </p:nvSpPr>
        <p:spPr>
          <a:xfrm xmlns:a="http://schemas.openxmlformats.org/drawingml/2006/main">
            <a:off x="5829300" y="87630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Paid hub</a:t>
            </a:r>
          </a:p>
        </p:txBody>
      </p:sp>
      <p:sp>
        <p:nvSpPr>
          <p:cNvPr id="10" name="">
            <a:extLst xmlns:a="http://schemas.openxmlformats.org/drawingml/2006/main">
              <a:ext uri="{FF2B5EF4-FFF2-40B4-BE49-F238E27FC236}">
                <a16:creationId xmlns:a16="http://schemas.microsoft.com/office/drawing/2014/main" id="{202ECD63-B794-4DCD-A3B1-5F63A78FC9F9}"/>
              </a:ext>
            </a:extLst>
          </p:cNvPr>
          <p:cNvSpPr>
            <a:spLocks xmlns:a="http://schemas.openxmlformats.org/drawingml/2006/main" noGrp="1"/>
          </p:cNvSpPr>
          <p:nvPr/>
        </p:nvSpPr>
        <p:spPr>
          <a:xfrm xmlns:a="http://schemas.openxmlformats.org/drawingml/2006/main">
            <a:off x="5829300" y="10858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iCompose</a:t>
            </a:r>
          </a:p>
        </p:txBody>
      </p:sp>
      <p:sp>
        <p:nvSpPr>
          <p:cNvPr id="11" name="">
            <a:extLst xmlns:a="http://schemas.openxmlformats.org/drawingml/2006/main">
              <a:ext uri="{FF2B5EF4-FFF2-40B4-BE49-F238E27FC236}">
                <a16:creationId xmlns:a16="http://schemas.microsoft.com/office/drawing/2014/main" id="{BC33A2C1-3EDA-4A7F-827D-356C4CD4079F}"/>
              </a:ext>
            </a:extLst>
          </p:cNvPr>
          <p:cNvSpPr>
            <a:spLocks xmlns:a="http://schemas.openxmlformats.org/drawingml/2006/main" noGrp="1"/>
          </p:cNvSpPr>
          <p:nvPr/>
        </p:nvSpPr>
        <p:spPr>
          <a:xfrm xmlns:a="http://schemas.openxmlformats.org/drawingml/2006/main">
            <a:off x="5829300" y="148590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Composition pathways for classrooms — browse the hub, add getting-started packs, and check out through the paid basket.</a:t>
            </a:r>
          </a:p>
        </p:txBody>
      </p:sp>
      <p:sp>
        <p:nvSpPr>
          <p:cNvPr id="12" name="">
            <a:extLst xmlns:a="http://schemas.openxmlformats.org/drawingml/2006/main">
              <a:ext uri="{FF2B5EF4-FFF2-40B4-BE49-F238E27FC236}">
                <a16:creationId xmlns:a16="http://schemas.microsoft.com/office/drawing/2014/main" id="{7B992C0F-3683-49FF-8484-BC3C03A7A3DC}"/>
              </a:ext>
            </a:extLst>
          </p:cNvPr>
          <p:cNvSpPr>
            <a:spLocks xmlns:a="http://schemas.openxmlformats.org/drawingml/2006/main" noGrp="1"/>
          </p:cNvSpPr>
          <p:nvPr/>
        </p:nvSpPr>
        <p:spPr>
          <a:xfrm xmlns:a="http://schemas.openxmlformats.org/drawingml/2006/main">
            <a:off x="8734425" y="76200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3" name="">
            <a:extLst xmlns:a="http://schemas.openxmlformats.org/drawingml/2006/main">
              <a:ext uri="{FF2B5EF4-FFF2-40B4-BE49-F238E27FC236}">
                <a16:creationId xmlns:a16="http://schemas.microsoft.com/office/drawing/2014/main" id="{42A516F9-F8DD-4E7B-A4A8-0D466854C48B}"/>
              </a:ext>
            </a:extLst>
          </p:cNvPr>
          <p:cNvSpPr>
            <a:spLocks xmlns:a="http://schemas.openxmlformats.org/drawingml/2006/main" noGrp="1"/>
          </p:cNvSpPr>
          <p:nvPr/>
        </p:nvSpPr>
        <p:spPr>
          <a:xfrm xmlns:a="http://schemas.openxmlformats.org/drawingml/2006/main">
            <a:off x="8848725" y="87630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Paid</a:t>
            </a:r>
          </a:p>
        </p:txBody>
      </p:sp>
      <p:sp>
        <p:nvSpPr>
          <p:cNvPr id="14" name="">
            <a:extLst xmlns:a="http://schemas.openxmlformats.org/drawingml/2006/main">
              <a:ext uri="{FF2B5EF4-FFF2-40B4-BE49-F238E27FC236}">
                <a16:creationId xmlns:a16="http://schemas.microsoft.com/office/drawing/2014/main" id="{F4F8B064-D2FE-427A-A818-93C553B5696A}"/>
              </a:ext>
            </a:extLst>
          </p:cNvPr>
          <p:cNvSpPr>
            <a:spLocks xmlns:a="http://schemas.openxmlformats.org/drawingml/2006/main" noGrp="1"/>
          </p:cNvSpPr>
          <p:nvPr/>
        </p:nvSpPr>
        <p:spPr>
          <a:xfrm xmlns:a="http://schemas.openxmlformats.org/drawingml/2006/main">
            <a:off x="8848725" y="10858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We Teach Drama</a:t>
            </a:r>
          </a:p>
        </p:txBody>
      </p:sp>
      <p:sp>
        <p:nvSpPr>
          <p:cNvPr id="15" name="">
            <a:extLst xmlns:a="http://schemas.openxmlformats.org/drawingml/2006/main">
              <a:ext uri="{FF2B5EF4-FFF2-40B4-BE49-F238E27FC236}">
                <a16:creationId xmlns:a16="http://schemas.microsoft.com/office/drawing/2014/main" id="{41671DDC-BE58-4A34-A8AF-161C897A3FBE}"/>
              </a:ext>
            </a:extLst>
          </p:cNvPr>
          <p:cNvSpPr>
            <a:spLocks xmlns:a="http://schemas.openxmlformats.org/drawingml/2006/main" noGrp="1"/>
          </p:cNvSpPr>
          <p:nvPr/>
        </p:nvSpPr>
        <p:spPr>
          <a:xfrm xmlns:a="http://schemas.openxmlformats.org/drawingml/2006/main">
            <a:off x="8848725" y="148590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Specialist drama resources for schools — same basket flow, clear licensing for departments.</a:t>
            </a:r>
          </a:p>
          <a:p xmlns:a="http://schemas.openxmlformats.org/drawingml/2006/main">
            <a:pPr algn="l">
              <a:defRPr sz="825" b="0">
                <a:solidFill>
                  <a:srgbClr val="2A4548"/>
                </a:solidFill>
              </a:defRPr>
            </a:pPr>
            <a:r>
              <a:rPr sz="825" b="0">
                <a:solidFill>
                  <a:srgbClr val="2A4548"/>
                </a:solidFill>
              </a:rPr>
              <a:t>Brief mention · full hub in prototype</a:t>
            </a:r>
          </a:p>
        </p:txBody>
      </p:sp>
      <p:sp>
        <p:nvSpPr>
          <p:cNvPr id="16" name="">
            <a:extLst xmlns:a="http://schemas.openxmlformats.org/drawingml/2006/main">
              <a:ext uri="{FF2B5EF4-FFF2-40B4-BE49-F238E27FC236}">
                <a16:creationId xmlns:a16="http://schemas.microsoft.com/office/drawing/2014/main" id="{77403E9D-8B9E-46FD-AEE7-1A8FCB0DDF2C}"/>
              </a:ext>
            </a:extLst>
          </p:cNvPr>
          <p:cNvSpPr>
            <a:spLocks xmlns:a="http://schemas.openxmlformats.org/drawingml/2006/main" noGrp="1"/>
          </p:cNvSpPr>
          <p:nvPr/>
        </p:nvSpPr>
        <p:spPr>
          <a:xfrm xmlns:a="http://schemas.openxmlformats.org/drawingml/2006/main">
            <a:off x="5715000" y="241935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7" name="">
            <a:extLst xmlns:a="http://schemas.openxmlformats.org/drawingml/2006/main">
              <a:ext uri="{FF2B5EF4-FFF2-40B4-BE49-F238E27FC236}">
                <a16:creationId xmlns:a16="http://schemas.microsoft.com/office/drawing/2014/main" id="{CD35CA7D-0F36-4CDF-AF26-81EC68249FF3}"/>
              </a:ext>
            </a:extLst>
          </p:cNvPr>
          <p:cNvSpPr>
            <a:spLocks xmlns:a="http://schemas.openxmlformats.org/drawingml/2006/main" noGrp="1"/>
          </p:cNvSpPr>
          <p:nvPr/>
        </p:nvSpPr>
        <p:spPr>
          <a:xfrm xmlns:a="http://schemas.openxmlformats.org/drawingml/2006/main">
            <a:off x="5829300" y="253365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Basket</a:t>
            </a:r>
          </a:p>
        </p:txBody>
      </p:sp>
      <p:sp>
        <p:nvSpPr>
          <p:cNvPr id="18" name="">
            <a:extLst xmlns:a="http://schemas.openxmlformats.org/drawingml/2006/main">
              <a:ext uri="{FF2B5EF4-FFF2-40B4-BE49-F238E27FC236}">
                <a16:creationId xmlns:a16="http://schemas.microsoft.com/office/drawing/2014/main" id="{21DE2410-6E24-4EA7-BA82-42373276EF0D}"/>
              </a:ext>
            </a:extLst>
          </p:cNvPr>
          <p:cNvSpPr>
            <a:spLocks xmlns:a="http://schemas.openxmlformats.org/drawingml/2006/main" noGrp="1"/>
          </p:cNvSpPr>
          <p:nvPr/>
        </p:nvSpPr>
        <p:spPr>
          <a:xfrm xmlns:a="http://schemas.openxmlformats.org/drawingml/2006/main">
            <a:off x="5829300" y="274320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Paid partner checkout</a:t>
            </a:r>
          </a:p>
        </p:txBody>
      </p:sp>
      <p:sp>
        <p:nvSpPr>
          <p:cNvPr id="19" name="">
            <a:extLst xmlns:a="http://schemas.openxmlformats.org/drawingml/2006/main">
              <a:ext uri="{FF2B5EF4-FFF2-40B4-BE49-F238E27FC236}">
                <a16:creationId xmlns:a16="http://schemas.microsoft.com/office/drawing/2014/main" id="{97999DD7-E86B-4828-BB56-EFC12F94125E}"/>
              </a:ext>
            </a:extLst>
          </p:cNvPr>
          <p:cNvSpPr>
            <a:spLocks xmlns:a="http://schemas.openxmlformats.org/drawingml/2006/main" noGrp="1"/>
          </p:cNvSpPr>
          <p:nvPr/>
        </p:nvSpPr>
        <p:spPr>
          <a:xfrm xmlns:a="http://schemas.openxmlformats.org/drawingml/2006/main">
            <a:off x="5829300" y="314325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Platform fee 10–20% · partners keep creating · schools get classroom-ready packs</a:t>
            </a:r>
          </a:p>
        </p:txBody>
      </p:sp>
      <p:sp>
        <p:nvSpPr>
          <p:cNvPr id="20" name="">
            <a:extLst xmlns:a="http://schemas.openxmlformats.org/drawingml/2006/main">
              <a:ext uri="{FF2B5EF4-FFF2-40B4-BE49-F238E27FC236}">
                <a16:creationId xmlns:a16="http://schemas.microsoft.com/office/drawing/2014/main" id="{8F5C0B88-CCC2-4585-9397-145354C5D666}"/>
              </a:ext>
            </a:extLst>
          </p:cNvPr>
          <p:cNvSpPr>
            <a:spLocks xmlns:a="http://schemas.openxmlformats.org/drawingml/2006/main" noGrp="1"/>
          </p:cNvSpPr>
          <p:nvPr/>
        </p:nvSpPr>
        <p:spPr>
          <a:xfrm xmlns:a="http://schemas.openxmlformats.org/drawingml/2006/main">
            <a:off x="609600" y="5905500"/>
            <a:ext cx="1809750" cy="342900"/>
          </a:xfrm>
          <a:prstGeom xmlns:a="http://schemas.openxmlformats.org/drawingml/2006/main" prst="roundRect">
            <a:avLst>
              <a:gd name="adj" fmla="val 22222"/>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509073C8-72C9-4709-8488-B475DB128EB2}"/>
              </a:ext>
            </a:extLst>
          </p:cNvPr>
          <p:cNvSpPr>
            <a:spLocks xmlns:a="http://schemas.openxmlformats.org/drawingml/2006/main" noGrp="1"/>
          </p:cNvSpPr>
          <p:nvPr/>
        </p:nvSpPr>
        <p:spPr>
          <a:xfrm xmlns:a="http://schemas.openxmlformats.org/drawingml/2006/main">
            <a:off x="723900" y="5962650"/>
            <a:ext cx="323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0719"/>
          </a:bodyPr>
          <a:lstStyle xmlns:a="http://schemas.openxmlformats.org/drawingml/2006/main"/>
          <a:p xmlns:a="http://schemas.openxmlformats.org/drawingml/2006/main">
            <a:pPr algn="l">
              <a:defRPr sz="975" b="1">
                <a:solidFill>
                  <a:srgbClr val="002D24"/>
                </a:solidFill>
              </a:defRPr>
            </a:pPr>
            <a:r>
              <a:rPr sz="975" b="1">
                <a:solidFill>
                  <a:srgbClr val="002D24"/>
                </a:solidFill>
              </a:rPr>
              <a:t>Add to basket →</a:t>
            </a:r>
          </a:p>
        </p:txBody>
      </p:sp>
      <p:sp>
        <p:nvSpPr>
          <p:cNvPr id="22" name="">
            <a:extLst xmlns:a="http://schemas.openxmlformats.org/drawingml/2006/main">
              <a:ext uri="{FF2B5EF4-FFF2-40B4-BE49-F238E27FC236}">
                <a16:creationId xmlns:a16="http://schemas.microsoft.com/office/drawing/2014/main" id="{4175DDB4-DFB3-45D4-95D5-FC8ACF6A2538}"/>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23" name="">
            <a:extLst xmlns:a="http://schemas.openxmlformats.org/drawingml/2006/main">
              <a:ext uri="{FF2B5EF4-FFF2-40B4-BE49-F238E27FC236}">
                <a16:creationId xmlns:a16="http://schemas.microsoft.com/office/drawing/2014/main" id="{90ACE005-94AD-4D18-B06E-C3D625DEC9A6}"/>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20 / 25</a:t>
            </a:r>
          </a:p>
        </p:txBody>
      </p:sp>
    </p:spTree>
    <p:extLst>
      <p:ext uri="{BB962C8B-B14F-4D97-AF65-F5344CB8AC3E}">
        <p14:creationId xmlns:p14="http://schemas.microsoft.com/office/powerpoint/2010/main" val="88993892"/>
      </p:ext>
    </p:extLst>
  </p:cSld>
</p:sld>
</file>

<file path=ppt/slides/slide21.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555E831-C201-4B80-B02D-FC5B7C84BBB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0086EEE-763D-4EB2-8312-A249129BBB5D}"/>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E58F7E8-526C-4D18-9641-3FA154EC7AA1}"/>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D4CD2E7-C7BC-4099-9EF0-D8301B8B8BEF}"/>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Settings</a:t>
            </a:r>
          </a:p>
        </p:txBody>
      </p:sp>
      <p:sp>
        <p:nvSpPr>
          <p:cNvPr id="6" name="">
            <a:extLst xmlns:a="http://schemas.openxmlformats.org/drawingml/2006/main">
              <a:ext uri="{FF2B5EF4-FFF2-40B4-BE49-F238E27FC236}">
                <a16:creationId xmlns:a16="http://schemas.microsoft.com/office/drawing/2014/main" id="{066AAB7A-F2D6-495A-AF61-34B8E77772E2}"/>
              </a:ext>
            </a:extLst>
          </p:cNvPr>
          <p:cNvSpPr>
            <a:spLocks xmlns:a="http://schemas.openxmlformats.org/drawingml/2006/main" noGrp="1"/>
          </p:cNvSpPr>
          <p:nvPr/>
        </p:nvSpPr>
        <p:spPr>
          <a:xfrm xmlns:a="http://schemas.openxmlformats.org/drawingml/2006/main">
            <a:off x="609600" y="647700"/>
            <a:ext cx="4762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002D24"/>
                </a:solidFill>
              </a:defRPr>
            </a:pPr>
            <a:r>
              <a:rPr sz="1950" b="1">
                <a:solidFill>
                  <a:srgbClr val="002D24"/>
                </a:solidFill>
              </a:rPr>
              <a:t>Key-stage folders you shape.</a:t>
            </a:r>
          </a:p>
        </p:txBody>
      </p:sp>
      <p:sp>
        <p:nvSpPr>
          <p:cNvPr id="7" name="">
            <a:extLst xmlns:a="http://schemas.openxmlformats.org/drawingml/2006/main">
              <a:ext uri="{FF2B5EF4-FFF2-40B4-BE49-F238E27FC236}">
                <a16:creationId xmlns:a16="http://schemas.microsoft.com/office/drawing/2014/main" id="{F61C075C-4E74-4EEA-BCAD-CCBFC273EC1C}"/>
              </a:ext>
            </a:extLst>
          </p:cNvPr>
          <p:cNvSpPr>
            <a:spLocks xmlns:a="http://schemas.openxmlformats.org/drawingml/2006/main" noGrp="1"/>
          </p:cNvSpPr>
          <p:nvPr/>
        </p:nvSpPr>
        <p:spPr>
          <a:xfrm xmlns:a="http://schemas.openxmlformats.org/drawingml/2006/main">
            <a:off x="609600" y="1485900"/>
            <a:ext cx="4762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2A4548"/>
                </a:solidFill>
              </a:defRPr>
            </a:pPr>
            <a:r>
              <a:rPr sz="1050" b="0">
                <a:solidFill>
                  <a:srgbClr val="2A4548"/>
                </a:solidFill>
              </a:rPr>
              <a:t>Organise your activity library by key stage and category. Choose the academic year from the year dropdown — your school's structure, not a fixed template.</a:t>
            </a:r>
          </a:p>
        </p:txBody>
      </p:sp>
      <p:sp>
        <p:nvSpPr>
          <p:cNvPr id="8" name="">
            <a:extLst xmlns:a="http://schemas.openxmlformats.org/drawingml/2006/main">
              <a:ext uri="{FF2B5EF4-FFF2-40B4-BE49-F238E27FC236}">
                <a16:creationId xmlns:a16="http://schemas.microsoft.com/office/drawing/2014/main" id="{0416807A-C76E-4D2A-B5B9-1D187525C30E}"/>
              </a:ext>
            </a:extLst>
          </p:cNvPr>
          <p:cNvSpPr>
            <a:spLocks xmlns:a="http://schemas.openxmlformats.org/drawingml/2006/main" noGrp="1"/>
          </p:cNvSpPr>
          <p:nvPr/>
        </p:nvSpPr>
        <p:spPr>
          <a:xfrm xmlns:a="http://schemas.openxmlformats.org/drawingml/2006/main">
            <a:off x="609600" y="2343150"/>
            <a:ext cx="47625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0">
                <a:solidFill>
                  <a:srgbClr val="0F2A2E"/>
                </a:solidFill>
              </a:defRPr>
            </a:pPr>
            <a:r>
              <a:rPr sz="975" b="0">
                <a:solidFill>
                  <a:srgbClr val="0F2A2E"/>
                </a:solidFill>
              </a:rPr>
              <a:t>• Key-stage folders for drama, music &amp; dance</a:t>
            </a:r>
          </a:p>
          <a:p xmlns:a="http://schemas.openxmlformats.org/drawingml/2006/main">
            <a:pPr algn="l">
              <a:defRPr sz="975" b="0">
                <a:solidFill>
                  <a:srgbClr val="0F2A2E"/>
                </a:solidFill>
              </a:defRPr>
            </a:pPr>
            <a:r>
              <a:rPr sz="975" b="0">
                <a:solidFill>
                  <a:srgbClr val="0F2A2E"/>
                </a:solidFill>
              </a:rPr>
              <a:t>• Custom categories and resource links</a:t>
            </a:r>
          </a:p>
          <a:p xmlns:a="http://schemas.openxmlformats.org/drawingml/2006/main">
            <a:pPr algn="l">
              <a:defRPr sz="975" b="0">
                <a:solidFill>
                  <a:srgbClr val="0F2A2E"/>
                </a:solidFill>
              </a:defRPr>
            </a:pPr>
            <a:r>
              <a:rPr sz="975" b="0">
                <a:solidFill>
                  <a:srgbClr val="0F2A2E"/>
                </a:solidFill>
              </a:rPr>
              <a:t>• Academic year dropdown for allocation</a:t>
            </a:r>
          </a:p>
        </p:txBody>
      </p:sp>
      <p:sp>
        <p:nvSpPr>
          <p:cNvPr id="9" name="">
            <a:extLst xmlns:a="http://schemas.openxmlformats.org/drawingml/2006/main">
              <a:ext uri="{FF2B5EF4-FFF2-40B4-BE49-F238E27FC236}">
                <a16:creationId xmlns:a16="http://schemas.microsoft.com/office/drawing/2014/main" id="{4A3EA838-56AD-42AA-9C63-1EA680EE9581}"/>
              </a:ext>
            </a:extLst>
          </p:cNvPr>
          <p:cNvSpPr>
            <a:spLocks xmlns:a="http://schemas.openxmlformats.org/drawingml/2006/main" noGrp="1"/>
          </p:cNvSpPr>
          <p:nvPr/>
        </p:nvSpPr>
        <p:spPr>
          <a:xfrm xmlns:a="http://schemas.openxmlformats.org/drawingml/2006/main">
            <a:off x="5619750" y="666750"/>
            <a:ext cx="6000750" cy="5524500"/>
          </a:xfrm>
          <a:prstGeom xmlns:a="http://schemas.openxmlformats.org/drawingml/2006/main" prst="roundRect">
            <a:avLst>
              <a:gd name="adj" fmla="val 1379"/>
            </a:avLst>
          </a:prstGeom>
          <a:solidFill xmlns:a="http://schemas.openxmlformats.org/drawingml/2006/main">
            <a:srgbClr val="FFFFFF"/>
          </a:solidFill>
          <a:ln xmlns:a="http://schemas.openxmlformats.org/drawingml/2006/main" w="9525">
            <a:solidFill>
              <a:srgbClr val="D7E4DF"/>
            </a:solidFill>
            <a:prstDash val="solid"/>
          </a:ln>
        </p:spPr>
      </p:sp>
      <p:sp>
        <p:nvSpPr>
          <p:cNvPr id="10" name="">
            <a:extLst xmlns:a="http://schemas.openxmlformats.org/drawingml/2006/main">
              <a:ext uri="{FF2B5EF4-FFF2-40B4-BE49-F238E27FC236}">
                <a16:creationId xmlns:a16="http://schemas.microsoft.com/office/drawing/2014/main" id="{A4135BBE-3340-40FF-993E-FDB3B8855668}"/>
              </a:ext>
            </a:extLst>
          </p:cNvPr>
          <p:cNvSpPr>
            <a:spLocks xmlns:a="http://schemas.openxmlformats.org/drawingml/2006/main" noGrp="1"/>
          </p:cNvSpPr>
          <p:nvPr/>
        </p:nvSpPr>
        <p:spPr>
          <a:xfrm xmlns:a="http://schemas.openxmlformats.org/drawingml/2006/main">
            <a:off x="5772150" y="800100"/>
            <a:ext cx="300037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4184"/>
          </a:bodyPr>
          <a:lstStyle xmlns:a="http://schemas.openxmlformats.org/drawingml/2006/main"/>
          <a:p xmlns:a="http://schemas.openxmlformats.org/drawingml/2006/main">
            <a:pPr algn="l">
              <a:defRPr sz="1200" b="1">
                <a:solidFill>
                  <a:srgbClr val="0F2A2E"/>
                </a:solidFill>
              </a:defRPr>
            </a:pPr>
            <a:r>
              <a:rPr sz="1200" b="1">
                <a:solidFill>
                  <a:srgbClr val="0F2A2E"/>
                </a:solidFill>
              </a:rPr>
              <a:t>Library · key stages</a:t>
            </a:r>
          </a:p>
        </p:txBody>
      </p:sp>
      <p:sp>
        <p:nvSpPr>
          <p:cNvPr id="11" name="">
            <a:extLst xmlns:a="http://schemas.openxmlformats.org/drawingml/2006/main">
              <a:ext uri="{FF2B5EF4-FFF2-40B4-BE49-F238E27FC236}">
                <a16:creationId xmlns:a16="http://schemas.microsoft.com/office/drawing/2014/main" id="{3FC7BDBE-932B-4673-8189-5BDC0456218F}"/>
              </a:ext>
            </a:extLst>
          </p:cNvPr>
          <p:cNvSpPr>
            <a:spLocks xmlns:a="http://schemas.openxmlformats.org/drawingml/2006/main" noGrp="1"/>
          </p:cNvSpPr>
          <p:nvPr/>
        </p:nvSpPr>
        <p:spPr>
          <a:xfrm xmlns:a="http://schemas.openxmlformats.org/drawingml/2006/main">
            <a:off x="9906000" y="781050"/>
            <a:ext cx="1524000"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7E4DF"/>
            </a:solidFill>
            <a:prstDash val="solid"/>
          </a:ln>
        </p:spPr>
      </p:sp>
      <p:sp>
        <p:nvSpPr>
          <p:cNvPr id="12" name="">
            <a:extLst xmlns:a="http://schemas.openxmlformats.org/drawingml/2006/main">
              <a:ext uri="{FF2B5EF4-FFF2-40B4-BE49-F238E27FC236}">
                <a16:creationId xmlns:a16="http://schemas.microsoft.com/office/drawing/2014/main" id="{9382B84D-252C-4192-A7B8-1D252D9D3660}"/>
              </a:ext>
            </a:extLst>
          </p:cNvPr>
          <p:cNvSpPr>
            <a:spLocks xmlns:a="http://schemas.openxmlformats.org/drawingml/2006/main" noGrp="1"/>
          </p:cNvSpPr>
          <p:nvPr/>
        </p:nvSpPr>
        <p:spPr>
          <a:xfrm xmlns:a="http://schemas.openxmlformats.org/drawingml/2006/main">
            <a:off x="9982200" y="819150"/>
            <a:ext cx="1371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1">
                <a:solidFill>
                  <a:srgbClr val="002D24"/>
                </a:solidFill>
              </a:defRPr>
            </a:pPr>
            <a:r>
              <a:rPr sz="825" b="1">
                <a:solidFill>
                  <a:srgbClr val="002D24"/>
                </a:solidFill>
              </a:rPr>
              <a:t>Year  2025–26 ▾</a:t>
            </a:r>
          </a:p>
        </p:txBody>
      </p:sp>
      <p:sp>
        <p:nvSpPr>
          <p:cNvPr id="13" name="">
            <a:extLst xmlns:a="http://schemas.openxmlformats.org/drawingml/2006/main">
              <a:ext uri="{FF2B5EF4-FFF2-40B4-BE49-F238E27FC236}">
                <a16:creationId xmlns:a16="http://schemas.microsoft.com/office/drawing/2014/main" id="{F3B1E7D0-135C-4A9F-B453-A8655751FF76}"/>
              </a:ext>
            </a:extLst>
          </p:cNvPr>
          <p:cNvSpPr>
            <a:spLocks xmlns:a="http://schemas.openxmlformats.org/drawingml/2006/main" noGrp="1"/>
          </p:cNvSpPr>
          <p:nvPr/>
        </p:nvSpPr>
        <p:spPr>
          <a:xfrm xmlns:a="http://schemas.openxmlformats.org/drawingml/2006/main">
            <a:off x="5772150" y="1276350"/>
            <a:ext cx="18224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7E4DF"/>
            </a:solidFill>
            <a:prstDash val="solid"/>
          </a:ln>
        </p:spPr>
      </p:sp>
      <p:sp>
        <p:nvSpPr>
          <p:cNvPr id="14" name="">
            <a:extLst xmlns:a="http://schemas.openxmlformats.org/drawingml/2006/main">
              <a:ext uri="{FF2B5EF4-FFF2-40B4-BE49-F238E27FC236}">
                <a16:creationId xmlns:a16="http://schemas.microsoft.com/office/drawing/2014/main" id="{9DDEC8B1-DE98-4451-954D-A6A176F47F50}"/>
              </a:ext>
            </a:extLst>
          </p:cNvPr>
          <p:cNvSpPr>
            <a:spLocks xmlns:a="http://schemas.openxmlformats.org/drawingml/2006/main" noGrp="1"/>
          </p:cNvSpPr>
          <p:nvPr/>
        </p:nvSpPr>
        <p:spPr>
          <a:xfrm xmlns:a="http://schemas.openxmlformats.org/drawingml/2006/main">
            <a:off x="5905500" y="1428750"/>
            <a:ext cx="381000" cy="266700"/>
          </a:xfrm>
          <a:prstGeom xmlns:a="http://schemas.openxmlformats.org/drawingml/2006/main" prst="roundRect">
            <a:avLst>
              <a:gd name="adj" fmla="val 28571"/>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90368577-870B-4A5C-9CE7-DBC1C5544BD5}"/>
              </a:ext>
            </a:extLst>
          </p:cNvPr>
          <p:cNvSpPr>
            <a:spLocks xmlns:a="http://schemas.openxmlformats.org/drawingml/2006/main" noGrp="1"/>
          </p:cNvSpPr>
          <p:nvPr/>
        </p:nvSpPr>
        <p:spPr>
          <a:xfrm xmlns:a="http://schemas.openxmlformats.org/drawingml/2006/main">
            <a:off x="5905500" y="1790700"/>
            <a:ext cx="1555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4184"/>
          </a:bodyPr>
          <a:lstStyle xmlns:a="http://schemas.openxmlformats.org/drawingml/2006/main"/>
          <a:p xmlns:a="http://schemas.openxmlformats.org/drawingml/2006/main">
            <a:pPr algn="l">
              <a:defRPr sz="1200" b="1">
                <a:solidFill>
                  <a:srgbClr val="0F2A2E"/>
                </a:solidFill>
              </a:defRPr>
            </a:pPr>
            <a:r>
              <a:rPr sz="1200" b="1">
                <a:solidFill>
                  <a:srgbClr val="0F2A2E"/>
                </a:solidFill>
              </a:rPr>
              <a:t>EYFS</a:t>
            </a:r>
          </a:p>
        </p:txBody>
      </p:sp>
      <p:sp>
        <p:nvSpPr>
          <p:cNvPr id="16" name="">
            <a:extLst xmlns:a="http://schemas.openxmlformats.org/drawingml/2006/main">
              <a:ext uri="{FF2B5EF4-FFF2-40B4-BE49-F238E27FC236}">
                <a16:creationId xmlns:a16="http://schemas.microsoft.com/office/drawing/2014/main" id="{563B50F4-26C8-43F7-9B37-DC6A637EF925}"/>
              </a:ext>
            </a:extLst>
          </p:cNvPr>
          <p:cNvSpPr>
            <a:spLocks xmlns:a="http://schemas.openxmlformats.org/drawingml/2006/main" noGrp="1"/>
          </p:cNvSpPr>
          <p:nvPr/>
        </p:nvSpPr>
        <p:spPr>
          <a:xfrm xmlns:a="http://schemas.openxmlformats.org/drawingml/2006/main">
            <a:off x="5905500" y="2057400"/>
            <a:ext cx="1555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Customisable folder</a:t>
            </a:r>
          </a:p>
        </p:txBody>
      </p:sp>
      <p:sp>
        <p:nvSpPr>
          <p:cNvPr id="17" name="">
            <a:extLst xmlns:a="http://schemas.openxmlformats.org/drawingml/2006/main">
              <a:ext uri="{FF2B5EF4-FFF2-40B4-BE49-F238E27FC236}">
                <a16:creationId xmlns:a16="http://schemas.microsoft.com/office/drawing/2014/main" id="{BFD5D3D9-1518-45B9-9C3F-DA954417A09B}"/>
              </a:ext>
            </a:extLst>
          </p:cNvPr>
          <p:cNvSpPr>
            <a:spLocks xmlns:a="http://schemas.openxmlformats.org/drawingml/2006/main" noGrp="1"/>
          </p:cNvSpPr>
          <p:nvPr/>
        </p:nvSpPr>
        <p:spPr>
          <a:xfrm xmlns:a="http://schemas.openxmlformats.org/drawingml/2006/main">
            <a:off x="7708900" y="1276350"/>
            <a:ext cx="18224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7E4DF"/>
            </a:solidFill>
            <a:prstDash val="solid"/>
          </a:ln>
        </p:spPr>
      </p:sp>
      <p:sp>
        <p:nvSpPr>
          <p:cNvPr id="18" name="">
            <a:extLst xmlns:a="http://schemas.openxmlformats.org/drawingml/2006/main">
              <a:ext uri="{FF2B5EF4-FFF2-40B4-BE49-F238E27FC236}">
                <a16:creationId xmlns:a16="http://schemas.microsoft.com/office/drawing/2014/main" id="{43194850-EE1A-4392-9E87-B26925F99A27}"/>
              </a:ext>
            </a:extLst>
          </p:cNvPr>
          <p:cNvSpPr>
            <a:spLocks xmlns:a="http://schemas.openxmlformats.org/drawingml/2006/main" noGrp="1"/>
          </p:cNvSpPr>
          <p:nvPr/>
        </p:nvSpPr>
        <p:spPr>
          <a:xfrm xmlns:a="http://schemas.openxmlformats.org/drawingml/2006/main">
            <a:off x="7842250" y="1428750"/>
            <a:ext cx="381000" cy="266700"/>
          </a:xfrm>
          <a:prstGeom xmlns:a="http://schemas.openxmlformats.org/drawingml/2006/main" prst="roundRect">
            <a:avLst>
              <a:gd name="adj" fmla="val 28571"/>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2F5EF186-848B-4D6F-9BFA-6576D1245FB9}"/>
              </a:ext>
            </a:extLst>
          </p:cNvPr>
          <p:cNvSpPr>
            <a:spLocks xmlns:a="http://schemas.openxmlformats.org/drawingml/2006/main" noGrp="1"/>
          </p:cNvSpPr>
          <p:nvPr/>
        </p:nvSpPr>
        <p:spPr>
          <a:xfrm xmlns:a="http://schemas.openxmlformats.org/drawingml/2006/main">
            <a:off x="7842250" y="1790700"/>
            <a:ext cx="1555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4184"/>
          </a:bodyPr>
          <a:lstStyle xmlns:a="http://schemas.openxmlformats.org/drawingml/2006/main"/>
          <a:p xmlns:a="http://schemas.openxmlformats.org/drawingml/2006/main">
            <a:pPr algn="l">
              <a:defRPr sz="1200" b="1">
                <a:solidFill>
                  <a:srgbClr val="0F2A2E"/>
                </a:solidFill>
              </a:defRPr>
            </a:pPr>
            <a:r>
              <a:rPr sz="1200" b="1">
                <a:solidFill>
                  <a:srgbClr val="0F2A2E"/>
                </a:solidFill>
              </a:rPr>
              <a:t>KS1</a:t>
            </a:r>
          </a:p>
        </p:txBody>
      </p:sp>
      <p:sp>
        <p:nvSpPr>
          <p:cNvPr id="20" name="">
            <a:extLst xmlns:a="http://schemas.openxmlformats.org/drawingml/2006/main">
              <a:ext uri="{FF2B5EF4-FFF2-40B4-BE49-F238E27FC236}">
                <a16:creationId xmlns:a16="http://schemas.microsoft.com/office/drawing/2014/main" id="{B5AB0192-A5B2-4D65-9FBA-919D2A0E776D}"/>
              </a:ext>
            </a:extLst>
          </p:cNvPr>
          <p:cNvSpPr>
            <a:spLocks xmlns:a="http://schemas.openxmlformats.org/drawingml/2006/main" noGrp="1"/>
          </p:cNvSpPr>
          <p:nvPr/>
        </p:nvSpPr>
        <p:spPr>
          <a:xfrm xmlns:a="http://schemas.openxmlformats.org/drawingml/2006/main">
            <a:off x="7842250" y="2057400"/>
            <a:ext cx="1555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Customisable folder</a:t>
            </a:r>
          </a:p>
        </p:txBody>
      </p:sp>
      <p:sp>
        <p:nvSpPr>
          <p:cNvPr id="21" name="">
            <a:extLst xmlns:a="http://schemas.openxmlformats.org/drawingml/2006/main">
              <a:ext uri="{FF2B5EF4-FFF2-40B4-BE49-F238E27FC236}">
                <a16:creationId xmlns:a16="http://schemas.microsoft.com/office/drawing/2014/main" id="{8777A1B3-FF0A-42CA-A1C0-E4C1B764039E}"/>
              </a:ext>
            </a:extLst>
          </p:cNvPr>
          <p:cNvSpPr>
            <a:spLocks xmlns:a="http://schemas.openxmlformats.org/drawingml/2006/main" noGrp="1"/>
          </p:cNvSpPr>
          <p:nvPr/>
        </p:nvSpPr>
        <p:spPr>
          <a:xfrm xmlns:a="http://schemas.openxmlformats.org/drawingml/2006/main">
            <a:off x="9645650" y="1276350"/>
            <a:ext cx="18224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7E4DF"/>
            </a:solidFill>
            <a:prstDash val="solid"/>
          </a:ln>
        </p:spPr>
      </p:sp>
      <p:sp>
        <p:nvSpPr>
          <p:cNvPr id="22" name="">
            <a:extLst xmlns:a="http://schemas.openxmlformats.org/drawingml/2006/main">
              <a:ext uri="{FF2B5EF4-FFF2-40B4-BE49-F238E27FC236}">
                <a16:creationId xmlns:a16="http://schemas.microsoft.com/office/drawing/2014/main" id="{E4C60CEC-F88F-4EDD-8F60-4529B95A6F2C}"/>
              </a:ext>
            </a:extLst>
          </p:cNvPr>
          <p:cNvSpPr>
            <a:spLocks xmlns:a="http://schemas.openxmlformats.org/drawingml/2006/main" noGrp="1"/>
          </p:cNvSpPr>
          <p:nvPr/>
        </p:nvSpPr>
        <p:spPr>
          <a:xfrm xmlns:a="http://schemas.openxmlformats.org/drawingml/2006/main">
            <a:off x="9779000" y="1428750"/>
            <a:ext cx="381000" cy="266700"/>
          </a:xfrm>
          <a:prstGeom xmlns:a="http://schemas.openxmlformats.org/drawingml/2006/main" prst="roundRect">
            <a:avLst>
              <a:gd name="adj" fmla="val 28571"/>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1DF93E54-42A6-42D5-AFF6-9A2A6C33E912}"/>
              </a:ext>
            </a:extLst>
          </p:cNvPr>
          <p:cNvSpPr>
            <a:spLocks xmlns:a="http://schemas.openxmlformats.org/drawingml/2006/main" noGrp="1"/>
          </p:cNvSpPr>
          <p:nvPr/>
        </p:nvSpPr>
        <p:spPr>
          <a:xfrm xmlns:a="http://schemas.openxmlformats.org/drawingml/2006/main">
            <a:off x="9779000" y="1790700"/>
            <a:ext cx="1555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4184"/>
          </a:bodyPr>
          <a:lstStyle xmlns:a="http://schemas.openxmlformats.org/drawingml/2006/main"/>
          <a:p xmlns:a="http://schemas.openxmlformats.org/drawingml/2006/main">
            <a:pPr algn="l">
              <a:defRPr sz="1200" b="1">
                <a:solidFill>
                  <a:srgbClr val="0F2A2E"/>
                </a:solidFill>
              </a:defRPr>
            </a:pPr>
            <a:r>
              <a:rPr sz="1200" b="1">
                <a:solidFill>
                  <a:srgbClr val="0F2A2E"/>
                </a:solidFill>
              </a:rPr>
              <a:t>KS2</a:t>
            </a:r>
          </a:p>
        </p:txBody>
      </p:sp>
      <p:sp>
        <p:nvSpPr>
          <p:cNvPr id="24" name="">
            <a:extLst xmlns:a="http://schemas.openxmlformats.org/drawingml/2006/main">
              <a:ext uri="{FF2B5EF4-FFF2-40B4-BE49-F238E27FC236}">
                <a16:creationId xmlns:a16="http://schemas.microsoft.com/office/drawing/2014/main" id="{110B4BEA-DFD8-4CA2-BFAE-9A9C09F7E108}"/>
              </a:ext>
            </a:extLst>
          </p:cNvPr>
          <p:cNvSpPr>
            <a:spLocks xmlns:a="http://schemas.openxmlformats.org/drawingml/2006/main" noGrp="1"/>
          </p:cNvSpPr>
          <p:nvPr/>
        </p:nvSpPr>
        <p:spPr>
          <a:xfrm xmlns:a="http://schemas.openxmlformats.org/drawingml/2006/main">
            <a:off x="9779000" y="2057400"/>
            <a:ext cx="1555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Customisable folder</a:t>
            </a:r>
          </a:p>
        </p:txBody>
      </p:sp>
      <p:sp>
        <p:nvSpPr>
          <p:cNvPr id="25" name="">
            <a:extLst xmlns:a="http://schemas.openxmlformats.org/drawingml/2006/main">
              <a:ext uri="{FF2B5EF4-FFF2-40B4-BE49-F238E27FC236}">
                <a16:creationId xmlns:a16="http://schemas.microsoft.com/office/drawing/2014/main" id="{B735915B-9198-443D-8AD0-11E4D7203F00}"/>
              </a:ext>
            </a:extLst>
          </p:cNvPr>
          <p:cNvSpPr>
            <a:spLocks xmlns:a="http://schemas.openxmlformats.org/drawingml/2006/main" noGrp="1"/>
          </p:cNvSpPr>
          <p:nvPr/>
        </p:nvSpPr>
        <p:spPr>
          <a:xfrm xmlns:a="http://schemas.openxmlformats.org/drawingml/2006/main">
            <a:off x="5772150" y="2438400"/>
            <a:ext cx="18224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7E4DF"/>
            </a:solidFill>
            <a:prstDash val="solid"/>
          </a:ln>
        </p:spPr>
      </p:sp>
      <p:sp>
        <p:nvSpPr>
          <p:cNvPr id="26" name="">
            <a:extLst xmlns:a="http://schemas.openxmlformats.org/drawingml/2006/main">
              <a:ext uri="{FF2B5EF4-FFF2-40B4-BE49-F238E27FC236}">
                <a16:creationId xmlns:a16="http://schemas.microsoft.com/office/drawing/2014/main" id="{54164154-D8D8-49CA-99C9-31AF5292D0E8}"/>
              </a:ext>
            </a:extLst>
          </p:cNvPr>
          <p:cNvSpPr>
            <a:spLocks xmlns:a="http://schemas.openxmlformats.org/drawingml/2006/main" noGrp="1"/>
          </p:cNvSpPr>
          <p:nvPr/>
        </p:nvSpPr>
        <p:spPr>
          <a:xfrm xmlns:a="http://schemas.openxmlformats.org/drawingml/2006/main">
            <a:off x="5905500" y="2590800"/>
            <a:ext cx="381000" cy="266700"/>
          </a:xfrm>
          <a:prstGeom xmlns:a="http://schemas.openxmlformats.org/drawingml/2006/main" prst="roundRect">
            <a:avLst>
              <a:gd name="adj" fmla="val 28571"/>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5CB7B7C7-CF6B-40D2-AB51-B22A9A883CBC}"/>
              </a:ext>
            </a:extLst>
          </p:cNvPr>
          <p:cNvSpPr>
            <a:spLocks xmlns:a="http://schemas.openxmlformats.org/drawingml/2006/main" noGrp="1"/>
          </p:cNvSpPr>
          <p:nvPr/>
        </p:nvSpPr>
        <p:spPr>
          <a:xfrm xmlns:a="http://schemas.openxmlformats.org/drawingml/2006/main">
            <a:off x="5905500" y="2952750"/>
            <a:ext cx="1555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4184"/>
          </a:bodyPr>
          <a:lstStyle xmlns:a="http://schemas.openxmlformats.org/drawingml/2006/main"/>
          <a:p xmlns:a="http://schemas.openxmlformats.org/drawingml/2006/main">
            <a:pPr algn="l">
              <a:defRPr sz="1200" b="1">
                <a:solidFill>
                  <a:srgbClr val="0F2A2E"/>
                </a:solidFill>
              </a:defRPr>
            </a:pPr>
            <a:r>
              <a:rPr sz="1200" b="1">
                <a:solidFill>
                  <a:srgbClr val="0F2A2E"/>
                </a:solidFill>
              </a:rPr>
              <a:t>KS3</a:t>
            </a:r>
          </a:p>
        </p:txBody>
      </p:sp>
      <p:sp>
        <p:nvSpPr>
          <p:cNvPr id="28" name="">
            <a:extLst xmlns:a="http://schemas.openxmlformats.org/drawingml/2006/main">
              <a:ext uri="{FF2B5EF4-FFF2-40B4-BE49-F238E27FC236}">
                <a16:creationId xmlns:a16="http://schemas.microsoft.com/office/drawing/2014/main" id="{F27AB5C3-5A50-4D8C-9761-A4C75411CB2B}"/>
              </a:ext>
            </a:extLst>
          </p:cNvPr>
          <p:cNvSpPr>
            <a:spLocks xmlns:a="http://schemas.openxmlformats.org/drawingml/2006/main" noGrp="1"/>
          </p:cNvSpPr>
          <p:nvPr/>
        </p:nvSpPr>
        <p:spPr>
          <a:xfrm xmlns:a="http://schemas.openxmlformats.org/drawingml/2006/main">
            <a:off x="5905500" y="3219450"/>
            <a:ext cx="1555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Customisable folder</a:t>
            </a:r>
          </a:p>
        </p:txBody>
      </p:sp>
      <p:sp>
        <p:nvSpPr>
          <p:cNvPr id="29" name="">
            <a:extLst xmlns:a="http://schemas.openxmlformats.org/drawingml/2006/main">
              <a:ext uri="{FF2B5EF4-FFF2-40B4-BE49-F238E27FC236}">
                <a16:creationId xmlns:a16="http://schemas.microsoft.com/office/drawing/2014/main" id="{6C40EBCF-07B8-4A46-8594-D819728A1603}"/>
              </a:ext>
            </a:extLst>
          </p:cNvPr>
          <p:cNvSpPr>
            <a:spLocks xmlns:a="http://schemas.openxmlformats.org/drawingml/2006/main" noGrp="1"/>
          </p:cNvSpPr>
          <p:nvPr/>
        </p:nvSpPr>
        <p:spPr>
          <a:xfrm xmlns:a="http://schemas.openxmlformats.org/drawingml/2006/main">
            <a:off x="7708900" y="2438400"/>
            <a:ext cx="18224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7E4DF"/>
            </a:solidFill>
            <a:prstDash val="solid"/>
          </a:ln>
        </p:spPr>
      </p:sp>
      <p:sp>
        <p:nvSpPr>
          <p:cNvPr id="30" name="">
            <a:extLst xmlns:a="http://schemas.openxmlformats.org/drawingml/2006/main">
              <a:ext uri="{FF2B5EF4-FFF2-40B4-BE49-F238E27FC236}">
                <a16:creationId xmlns:a16="http://schemas.microsoft.com/office/drawing/2014/main" id="{FEB33ECB-3494-4173-88C8-8F7441956BF1}"/>
              </a:ext>
            </a:extLst>
          </p:cNvPr>
          <p:cNvSpPr>
            <a:spLocks xmlns:a="http://schemas.openxmlformats.org/drawingml/2006/main" noGrp="1"/>
          </p:cNvSpPr>
          <p:nvPr/>
        </p:nvSpPr>
        <p:spPr>
          <a:xfrm xmlns:a="http://schemas.openxmlformats.org/drawingml/2006/main">
            <a:off x="7842250" y="2590800"/>
            <a:ext cx="381000" cy="266700"/>
          </a:xfrm>
          <a:prstGeom xmlns:a="http://schemas.openxmlformats.org/drawingml/2006/main" prst="roundRect">
            <a:avLst>
              <a:gd name="adj" fmla="val 28571"/>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9AF70A01-BB8E-4D47-AEB1-BD6C5196FC93}"/>
              </a:ext>
            </a:extLst>
          </p:cNvPr>
          <p:cNvSpPr>
            <a:spLocks xmlns:a="http://schemas.openxmlformats.org/drawingml/2006/main" noGrp="1"/>
          </p:cNvSpPr>
          <p:nvPr/>
        </p:nvSpPr>
        <p:spPr>
          <a:xfrm xmlns:a="http://schemas.openxmlformats.org/drawingml/2006/main">
            <a:off x="7842250" y="2952750"/>
            <a:ext cx="1555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4184"/>
          </a:bodyPr>
          <a:lstStyle xmlns:a="http://schemas.openxmlformats.org/drawingml/2006/main"/>
          <a:p xmlns:a="http://schemas.openxmlformats.org/drawingml/2006/main">
            <a:pPr algn="l">
              <a:defRPr sz="1200" b="1">
                <a:solidFill>
                  <a:srgbClr val="0F2A2E"/>
                </a:solidFill>
              </a:defRPr>
            </a:pPr>
            <a:r>
              <a:rPr sz="1200" b="1">
                <a:solidFill>
                  <a:srgbClr val="0F2A2E"/>
                </a:solidFill>
              </a:rPr>
              <a:t>KS4</a:t>
            </a:r>
          </a:p>
        </p:txBody>
      </p:sp>
      <p:sp>
        <p:nvSpPr>
          <p:cNvPr id="32" name="">
            <a:extLst xmlns:a="http://schemas.openxmlformats.org/drawingml/2006/main">
              <a:ext uri="{FF2B5EF4-FFF2-40B4-BE49-F238E27FC236}">
                <a16:creationId xmlns:a16="http://schemas.microsoft.com/office/drawing/2014/main" id="{10C0539A-B3E6-4173-AA56-9F5D2335EB50}"/>
              </a:ext>
            </a:extLst>
          </p:cNvPr>
          <p:cNvSpPr>
            <a:spLocks xmlns:a="http://schemas.openxmlformats.org/drawingml/2006/main" noGrp="1"/>
          </p:cNvSpPr>
          <p:nvPr/>
        </p:nvSpPr>
        <p:spPr>
          <a:xfrm xmlns:a="http://schemas.openxmlformats.org/drawingml/2006/main">
            <a:off x="7842250" y="3219450"/>
            <a:ext cx="1555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Customisable folder</a:t>
            </a:r>
          </a:p>
        </p:txBody>
      </p:sp>
      <p:sp>
        <p:nvSpPr>
          <p:cNvPr id="33" name="">
            <a:extLst xmlns:a="http://schemas.openxmlformats.org/drawingml/2006/main">
              <a:ext uri="{FF2B5EF4-FFF2-40B4-BE49-F238E27FC236}">
                <a16:creationId xmlns:a16="http://schemas.microsoft.com/office/drawing/2014/main" id="{51460CA5-D491-4F34-A6B0-D0E58A364ADC}"/>
              </a:ext>
            </a:extLst>
          </p:cNvPr>
          <p:cNvSpPr>
            <a:spLocks xmlns:a="http://schemas.openxmlformats.org/drawingml/2006/main" noGrp="1"/>
          </p:cNvSpPr>
          <p:nvPr/>
        </p:nvSpPr>
        <p:spPr>
          <a:xfrm xmlns:a="http://schemas.openxmlformats.org/drawingml/2006/main">
            <a:off x="9645650" y="2438400"/>
            <a:ext cx="18224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7E4DF"/>
            </a:solidFill>
            <a:prstDash val="solid"/>
          </a:ln>
        </p:spPr>
      </p:sp>
      <p:sp>
        <p:nvSpPr>
          <p:cNvPr id="34" name="">
            <a:extLst xmlns:a="http://schemas.openxmlformats.org/drawingml/2006/main">
              <a:ext uri="{FF2B5EF4-FFF2-40B4-BE49-F238E27FC236}">
                <a16:creationId xmlns:a16="http://schemas.microsoft.com/office/drawing/2014/main" id="{BBFBD6FC-2A74-44C5-BBC3-4B2A98D0B2B1}"/>
              </a:ext>
            </a:extLst>
          </p:cNvPr>
          <p:cNvSpPr>
            <a:spLocks xmlns:a="http://schemas.openxmlformats.org/drawingml/2006/main" noGrp="1"/>
          </p:cNvSpPr>
          <p:nvPr/>
        </p:nvSpPr>
        <p:spPr>
          <a:xfrm xmlns:a="http://schemas.openxmlformats.org/drawingml/2006/main">
            <a:off x="9779000" y="2590800"/>
            <a:ext cx="381000" cy="266700"/>
          </a:xfrm>
          <a:prstGeom xmlns:a="http://schemas.openxmlformats.org/drawingml/2006/main" prst="roundRect">
            <a:avLst>
              <a:gd name="adj" fmla="val 28571"/>
            </a:avLst>
          </a:prstGeom>
          <a:solidFill xmlns:a="http://schemas.openxmlformats.org/drawingml/2006/main">
            <a:srgbClr val="002D24"/>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8840CBDA-7E79-4C2C-8347-FE033E487F27}"/>
              </a:ext>
            </a:extLst>
          </p:cNvPr>
          <p:cNvSpPr>
            <a:spLocks xmlns:a="http://schemas.openxmlformats.org/drawingml/2006/main" noGrp="1"/>
          </p:cNvSpPr>
          <p:nvPr/>
        </p:nvSpPr>
        <p:spPr>
          <a:xfrm xmlns:a="http://schemas.openxmlformats.org/drawingml/2006/main">
            <a:off x="9779000" y="2952750"/>
            <a:ext cx="1555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4184"/>
          </a:bodyPr>
          <a:lstStyle xmlns:a="http://schemas.openxmlformats.org/drawingml/2006/main"/>
          <a:p xmlns:a="http://schemas.openxmlformats.org/drawingml/2006/main">
            <a:pPr algn="l">
              <a:defRPr sz="1200" b="1">
                <a:solidFill>
                  <a:srgbClr val="0F2A2E"/>
                </a:solidFill>
              </a:defRPr>
            </a:pPr>
            <a:r>
              <a:rPr sz="1200" b="1">
                <a:solidFill>
                  <a:srgbClr val="0F2A2E"/>
                </a:solidFill>
              </a:rPr>
              <a:t>KS5</a:t>
            </a:r>
          </a:p>
        </p:txBody>
      </p:sp>
      <p:sp>
        <p:nvSpPr>
          <p:cNvPr id="36" name="">
            <a:extLst xmlns:a="http://schemas.openxmlformats.org/drawingml/2006/main">
              <a:ext uri="{FF2B5EF4-FFF2-40B4-BE49-F238E27FC236}">
                <a16:creationId xmlns:a16="http://schemas.microsoft.com/office/drawing/2014/main" id="{3A9CEE5D-DE0F-4383-BDF1-C523B7C0D34A}"/>
              </a:ext>
            </a:extLst>
          </p:cNvPr>
          <p:cNvSpPr>
            <a:spLocks xmlns:a="http://schemas.openxmlformats.org/drawingml/2006/main" noGrp="1"/>
          </p:cNvSpPr>
          <p:nvPr/>
        </p:nvSpPr>
        <p:spPr>
          <a:xfrm xmlns:a="http://schemas.openxmlformats.org/drawingml/2006/main">
            <a:off x="9779000" y="3219450"/>
            <a:ext cx="1555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Customisable folder</a:t>
            </a:r>
          </a:p>
        </p:txBody>
      </p:sp>
      <p:sp>
        <p:nvSpPr>
          <p:cNvPr id="37" name="">
            <a:extLst xmlns:a="http://schemas.openxmlformats.org/drawingml/2006/main">
              <a:ext uri="{FF2B5EF4-FFF2-40B4-BE49-F238E27FC236}">
                <a16:creationId xmlns:a16="http://schemas.microsoft.com/office/drawing/2014/main" id="{6F78B5A1-8178-4A00-9986-AD0B2D5A0F7A}"/>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38" name="">
            <a:extLst xmlns:a="http://schemas.openxmlformats.org/drawingml/2006/main">
              <a:ext uri="{FF2B5EF4-FFF2-40B4-BE49-F238E27FC236}">
                <a16:creationId xmlns:a16="http://schemas.microsoft.com/office/drawing/2014/main" id="{47917857-228D-4852-8848-23BBD622422B}"/>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21 / 25</a:t>
            </a:r>
          </a:p>
        </p:txBody>
      </p:sp>
    </p:spTree>
    <p:extLst>
      <p:ext uri="{BB962C8B-B14F-4D97-AF65-F5344CB8AC3E}">
        <p14:creationId xmlns:p14="http://schemas.microsoft.com/office/powerpoint/2010/main" val="109996386"/>
      </p:ext>
    </p:extLst>
  </p:cSld>
</p:sld>
</file>

<file path=ppt/slides/slide22.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DF6B2CEA-8A36-4709-BF4B-9926588F9D7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64239C1-50A9-49C6-B276-6CB33C8C604D}"/>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165B03B-C24B-47F8-9A38-37757FDCC34B}"/>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6FD92C92-6F02-4454-974E-B48C0200F933}"/>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Organisations</a:t>
            </a:r>
          </a:p>
        </p:txBody>
      </p:sp>
      <p:sp>
        <p:nvSpPr>
          <p:cNvPr id="6" name="">
            <a:extLst xmlns:a="http://schemas.openxmlformats.org/drawingml/2006/main">
              <a:ext uri="{FF2B5EF4-FFF2-40B4-BE49-F238E27FC236}">
                <a16:creationId xmlns:a16="http://schemas.microsoft.com/office/drawing/2014/main" id="{F8657993-81E9-48CC-B1F1-87372568C607}"/>
              </a:ext>
            </a:extLst>
          </p:cNvPr>
          <p:cNvSpPr>
            <a:spLocks xmlns:a="http://schemas.openxmlformats.org/drawingml/2006/main" noGrp="1"/>
          </p:cNvSpPr>
          <p:nvPr/>
        </p:nvSpPr>
        <p:spPr>
          <a:xfrm xmlns:a="http://schemas.openxmlformats.org/drawingml/2006/main">
            <a:off x="609600" y="647700"/>
            <a:ext cx="4762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002D24"/>
                </a:solidFill>
              </a:defRPr>
            </a:pPr>
            <a:r>
              <a:rPr sz="1950" b="1">
                <a:solidFill>
                  <a:srgbClr val="002D24"/>
                </a:solidFill>
              </a:rPr>
              <a:t>Share practice across your organisation.</a:t>
            </a:r>
          </a:p>
        </p:txBody>
      </p:sp>
      <p:sp>
        <p:nvSpPr>
          <p:cNvPr id="7" name="">
            <a:extLst xmlns:a="http://schemas.openxmlformats.org/drawingml/2006/main">
              <a:ext uri="{FF2B5EF4-FFF2-40B4-BE49-F238E27FC236}">
                <a16:creationId xmlns:a16="http://schemas.microsoft.com/office/drawing/2014/main" id="{B3488CD8-7444-4615-AD42-8D42ED0BE28F}"/>
              </a:ext>
            </a:extLst>
          </p:cNvPr>
          <p:cNvSpPr>
            <a:spLocks xmlns:a="http://schemas.openxmlformats.org/drawingml/2006/main" noGrp="1"/>
          </p:cNvSpPr>
          <p:nvPr/>
        </p:nvSpPr>
        <p:spPr>
          <a:xfrm xmlns:a="http://schemas.openxmlformats.org/drawingml/2006/main">
            <a:off x="609600" y="1543050"/>
            <a:ext cx="47625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2A4548"/>
                </a:solidFill>
              </a:defRPr>
            </a:pPr>
            <a:r>
              <a:rPr sz="1050" b="0">
                <a:solidFill>
                  <a:srgbClr val="2A4548"/>
                </a:solidFill>
              </a:rPr>
              <a:t>School and arts-organisation hubs keep lessons, partner packs, and planning visible to the right people — so great teaching multiplies beyond one classroom.</a:t>
            </a:r>
          </a:p>
        </p:txBody>
      </p:sp>
      <p:sp>
        <p:nvSpPr>
          <p:cNvPr id="8" name="">
            <a:extLst xmlns:a="http://schemas.openxmlformats.org/drawingml/2006/main">
              <a:ext uri="{FF2B5EF4-FFF2-40B4-BE49-F238E27FC236}">
                <a16:creationId xmlns:a16="http://schemas.microsoft.com/office/drawing/2014/main" id="{FDC56500-1E37-4643-9398-8CBCBD11CDB2}"/>
              </a:ext>
            </a:extLst>
          </p:cNvPr>
          <p:cNvSpPr>
            <a:spLocks xmlns:a="http://schemas.openxmlformats.org/drawingml/2006/main" noGrp="1"/>
          </p:cNvSpPr>
          <p:nvPr/>
        </p:nvSpPr>
        <p:spPr>
          <a:xfrm xmlns:a="http://schemas.openxmlformats.org/drawingml/2006/main">
            <a:off x="5715000" y="76200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9" name="">
            <a:extLst xmlns:a="http://schemas.openxmlformats.org/drawingml/2006/main">
              <a:ext uri="{FF2B5EF4-FFF2-40B4-BE49-F238E27FC236}">
                <a16:creationId xmlns:a16="http://schemas.microsoft.com/office/drawing/2014/main" id="{48076E93-C8F1-44F0-98BF-4BB18A7A0585}"/>
              </a:ext>
            </a:extLst>
          </p:cNvPr>
          <p:cNvSpPr>
            <a:spLocks xmlns:a="http://schemas.openxmlformats.org/drawingml/2006/main" noGrp="1"/>
          </p:cNvSpPr>
          <p:nvPr/>
        </p:nvSpPr>
        <p:spPr>
          <a:xfrm xmlns:a="http://schemas.openxmlformats.org/drawingml/2006/main">
            <a:off x="5829300" y="87630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School hub</a:t>
            </a:r>
          </a:p>
        </p:txBody>
      </p:sp>
      <p:sp>
        <p:nvSpPr>
          <p:cNvPr id="10" name="">
            <a:extLst xmlns:a="http://schemas.openxmlformats.org/drawingml/2006/main">
              <a:ext uri="{FF2B5EF4-FFF2-40B4-BE49-F238E27FC236}">
                <a16:creationId xmlns:a16="http://schemas.microsoft.com/office/drawing/2014/main" id="{E4B4BDB9-FB58-4D11-8011-2D00AD877C4C}"/>
              </a:ext>
            </a:extLst>
          </p:cNvPr>
          <p:cNvSpPr>
            <a:spLocks xmlns:a="http://schemas.openxmlformats.org/drawingml/2006/main" noGrp="1"/>
          </p:cNvSpPr>
          <p:nvPr/>
        </p:nvSpPr>
        <p:spPr>
          <a:xfrm xmlns:a="http://schemas.openxmlformats.org/drawingml/2006/main">
            <a:off x="5829300" y="1276350"/>
            <a:ext cx="2657475"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Department libraries, branding, and shared units</a:t>
            </a:r>
          </a:p>
        </p:txBody>
      </p:sp>
      <p:sp>
        <p:nvSpPr>
          <p:cNvPr id="11" name="">
            <a:extLst xmlns:a="http://schemas.openxmlformats.org/drawingml/2006/main">
              <a:ext uri="{FF2B5EF4-FFF2-40B4-BE49-F238E27FC236}">
                <a16:creationId xmlns:a16="http://schemas.microsoft.com/office/drawing/2014/main" id="{801329E3-A879-4B54-B912-899795D97DAA}"/>
              </a:ext>
            </a:extLst>
          </p:cNvPr>
          <p:cNvSpPr>
            <a:spLocks xmlns:a="http://schemas.openxmlformats.org/drawingml/2006/main" noGrp="1"/>
          </p:cNvSpPr>
          <p:nvPr/>
        </p:nvSpPr>
        <p:spPr>
          <a:xfrm xmlns:a="http://schemas.openxmlformats.org/drawingml/2006/main">
            <a:off x="8734425" y="76200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2" name="">
            <a:extLst xmlns:a="http://schemas.openxmlformats.org/drawingml/2006/main">
              <a:ext uri="{FF2B5EF4-FFF2-40B4-BE49-F238E27FC236}">
                <a16:creationId xmlns:a16="http://schemas.microsoft.com/office/drawing/2014/main" id="{7594D8BC-DCB0-49BD-B8FF-9D69E9969353}"/>
              </a:ext>
            </a:extLst>
          </p:cNvPr>
          <p:cNvSpPr>
            <a:spLocks xmlns:a="http://schemas.openxmlformats.org/drawingml/2006/main" noGrp="1"/>
          </p:cNvSpPr>
          <p:nvPr/>
        </p:nvSpPr>
        <p:spPr>
          <a:xfrm xmlns:a="http://schemas.openxmlformats.org/drawingml/2006/main">
            <a:off x="8848725" y="87630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Partner hub</a:t>
            </a:r>
          </a:p>
        </p:txBody>
      </p:sp>
      <p:sp>
        <p:nvSpPr>
          <p:cNvPr id="13" name="">
            <a:extLst xmlns:a="http://schemas.openxmlformats.org/drawingml/2006/main">
              <a:ext uri="{FF2B5EF4-FFF2-40B4-BE49-F238E27FC236}">
                <a16:creationId xmlns:a16="http://schemas.microsoft.com/office/drawing/2014/main" id="{630C0377-E67A-4681-B23A-9F8ED067E5E4}"/>
              </a:ext>
            </a:extLst>
          </p:cNvPr>
          <p:cNvSpPr>
            <a:spLocks xmlns:a="http://schemas.openxmlformats.org/drawingml/2006/main" noGrp="1"/>
          </p:cNvSpPr>
          <p:nvPr/>
        </p:nvSpPr>
        <p:spPr>
          <a:xfrm xmlns:a="http://schemas.openxmlformats.org/drawingml/2006/main">
            <a:off x="8848725" y="1276350"/>
            <a:ext cx="2657475"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Sector resources teachers can pull in once</a:t>
            </a:r>
          </a:p>
        </p:txBody>
      </p:sp>
      <p:sp>
        <p:nvSpPr>
          <p:cNvPr id="14" name="">
            <a:extLst xmlns:a="http://schemas.openxmlformats.org/drawingml/2006/main">
              <a:ext uri="{FF2B5EF4-FFF2-40B4-BE49-F238E27FC236}">
                <a16:creationId xmlns:a16="http://schemas.microsoft.com/office/drawing/2014/main" id="{2258C0FB-FA53-45B4-BF6A-D916715363DF}"/>
              </a:ext>
            </a:extLst>
          </p:cNvPr>
          <p:cNvSpPr>
            <a:spLocks xmlns:a="http://schemas.openxmlformats.org/drawingml/2006/main" noGrp="1"/>
          </p:cNvSpPr>
          <p:nvPr/>
        </p:nvSpPr>
        <p:spPr>
          <a:xfrm xmlns:a="http://schemas.openxmlformats.org/drawingml/2006/main">
            <a:off x="5715000" y="241935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5" name="">
            <a:extLst xmlns:a="http://schemas.openxmlformats.org/drawingml/2006/main">
              <a:ext uri="{FF2B5EF4-FFF2-40B4-BE49-F238E27FC236}">
                <a16:creationId xmlns:a16="http://schemas.microsoft.com/office/drawing/2014/main" id="{4636A33E-7747-42FC-AA9E-7BA6D0AE55E0}"/>
              </a:ext>
            </a:extLst>
          </p:cNvPr>
          <p:cNvSpPr>
            <a:spLocks xmlns:a="http://schemas.openxmlformats.org/drawingml/2006/main" noGrp="1"/>
          </p:cNvSpPr>
          <p:nvPr/>
        </p:nvSpPr>
        <p:spPr>
          <a:xfrm xmlns:a="http://schemas.openxmlformats.org/drawingml/2006/main">
            <a:off x="5829300" y="25336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Share value</a:t>
            </a:r>
          </a:p>
        </p:txBody>
      </p:sp>
      <p:sp>
        <p:nvSpPr>
          <p:cNvPr id="16" name="">
            <a:extLst xmlns:a="http://schemas.openxmlformats.org/drawingml/2006/main">
              <a:ext uri="{FF2B5EF4-FFF2-40B4-BE49-F238E27FC236}">
                <a16:creationId xmlns:a16="http://schemas.microsoft.com/office/drawing/2014/main" id="{7A16CAF6-4916-4EAF-A742-CBAA2D591820}"/>
              </a:ext>
            </a:extLst>
          </p:cNvPr>
          <p:cNvSpPr>
            <a:spLocks xmlns:a="http://schemas.openxmlformats.org/drawingml/2006/main" noGrp="1"/>
          </p:cNvSpPr>
          <p:nvPr/>
        </p:nvSpPr>
        <p:spPr>
          <a:xfrm xmlns:a="http://schemas.openxmlformats.org/drawingml/2006/main">
            <a:off x="5829300" y="2933700"/>
            <a:ext cx="2657475"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Colleagues reuse what works — nothing lost</a:t>
            </a:r>
          </a:p>
        </p:txBody>
      </p:sp>
      <p:sp>
        <p:nvSpPr>
          <p:cNvPr id="17" name="">
            <a:extLst xmlns:a="http://schemas.openxmlformats.org/drawingml/2006/main">
              <a:ext uri="{FF2B5EF4-FFF2-40B4-BE49-F238E27FC236}">
                <a16:creationId xmlns:a16="http://schemas.microsoft.com/office/drawing/2014/main" id="{103189AB-C4F5-4BE9-8397-C1D4DD16A741}"/>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18" name="">
            <a:extLst xmlns:a="http://schemas.openxmlformats.org/drawingml/2006/main">
              <a:ext uri="{FF2B5EF4-FFF2-40B4-BE49-F238E27FC236}">
                <a16:creationId xmlns:a16="http://schemas.microsoft.com/office/drawing/2014/main" id="{BB4921F4-2E2B-43B4-8E8B-3F2F29C14A0C}"/>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22 / 25</a:t>
            </a:r>
          </a:p>
        </p:txBody>
      </p:sp>
    </p:spTree>
    <p:extLst>
      <p:ext uri="{BB962C8B-B14F-4D97-AF65-F5344CB8AC3E}">
        <p14:creationId xmlns:p14="http://schemas.microsoft.com/office/powerpoint/2010/main" val="1858612953"/>
      </p:ext>
    </p:extLst>
  </p:cSld>
</p:sld>
</file>

<file path=ppt/slides/slide23.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C25D265F-3570-49EF-8106-9FD4F2FF59E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63764A0-5453-40F2-9277-8F673667ECB5}"/>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1477863-0879-4044-9660-C140B15F2917}"/>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21D591E-CD7E-41E7-8BD0-2DCF17E40B71}"/>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Celebrating the work</a:t>
            </a:r>
          </a:p>
        </p:txBody>
      </p:sp>
      <p:sp>
        <p:nvSpPr>
          <p:cNvPr id="6" name="">
            <a:extLst xmlns:a="http://schemas.openxmlformats.org/drawingml/2006/main">
              <a:ext uri="{FF2B5EF4-FFF2-40B4-BE49-F238E27FC236}">
                <a16:creationId xmlns:a16="http://schemas.microsoft.com/office/drawing/2014/main" id="{FB8205AB-9BD1-4B34-B359-73734A22805B}"/>
              </a:ext>
            </a:extLst>
          </p:cNvPr>
          <p:cNvSpPr>
            <a:spLocks xmlns:a="http://schemas.openxmlformats.org/drawingml/2006/main" noGrp="1"/>
          </p:cNvSpPr>
          <p:nvPr/>
        </p:nvSpPr>
        <p:spPr>
          <a:xfrm xmlns:a="http://schemas.openxmlformats.org/drawingml/2006/main">
            <a:off x="609600" y="647700"/>
            <a:ext cx="4762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002D24"/>
                </a:solidFill>
              </a:defRPr>
            </a:pPr>
            <a:r>
              <a:rPr sz="1950" b="1">
                <a:solidFill>
                  <a:srgbClr val="002D24"/>
                </a:solidFill>
              </a:rPr>
              <a:t>Learning in the arts deserves to be seen.</a:t>
            </a:r>
          </a:p>
        </p:txBody>
      </p:sp>
      <p:sp>
        <p:nvSpPr>
          <p:cNvPr id="7" name="">
            <a:extLst xmlns:a="http://schemas.openxmlformats.org/drawingml/2006/main">
              <a:ext uri="{FF2B5EF4-FFF2-40B4-BE49-F238E27FC236}">
                <a16:creationId xmlns:a16="http://schemas.microsoft.com/office/drawing/2014/main" id="{5EEEF8F9-0075-4B28-8DDE-C288536DC53C}"/>
              </a:ext>
            </a:extLst>
          </p:cNvPr>
          <p:cNvSpPr>
            <a:spLocks xmlns:a="http://schemas.openxmlformats.org/drawingml/2006/main" noGrp="1"/>
          </p:cNvSpPr>
          <p:nvPr/>
        </p:nvSpPr>
        <p:spPr>
          <a:xfrm xmlns:a="http://schemas.openxmlformats.org/drawingml/2006/main">
            <a:off x="609600" y="1543050"/>
            <a:ext cx="476250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2A4548"/>
                </a:solidFill>
              </a:defRPr>
            </a:pPr>
            <a:r>
              <a:rPr sz="1050" b="0">
                <a:solidFill>
                  <a:srgbClr val="2A4548"/>
                </a:solidFill>
              </a:rPr>
              <a:t>Every freeze-frame, every first improvisation, every Year 6 ensemble piece is evidence that the arts are alive in our schools. CCD turns the daily craft of teaching into a record worth celebrating — published to school homepages, shared with parents, gathered into year-end showcases that tell the real story of arts education.</a:t>
            </a:r>
          </a:p>
        </p:txBody>
      </p:sp>
      <p:sp>
        <p:nvSpPr>
          <p:cNvPr id="8" name="">
            <a:extLst xmlns:a="http://schemas.openxmlformats.org/drawingml/2006/main">
              <a:ext uri="{FF2B5EF4-FFF2-40B4-BE49-F238E27FC236}">
                <a16:creationId xmlns:a16="http://schemas.microsoft.com/office/drawing/2014/main" id="{E6319F07-4399-4393-8050-4C75BE644A50}"/>
              </a:ext>
            </a:extLst>
          </p:cNvPr>
          <p:cNvSpPr>
            <a:spLocks xmlns:a="http://schemas.openxmlformats.org/drawingml/2006/main" noGrp="1"/>
          </p:cNvSpPr>
          <p:nvPr/>
        </p:nvSpPr>
        <p:spPr>
          <a:xfrm xmlns:a="http://schemas.openxmlformats.org/drawingml/2006/main">
            <a:off x="5715000" y="76200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9" name="">
            <a:extLst xmlns:a="http://schemas.openxmlformats.org/drawingml/2006/main">
              <a:ext uri="{FF2B5EF4-FFF2-40B4-BE49-F238E27FC236}">
                <a16:creationId xmlns:a16="http://schemas.microsoft.com/office/drawing/2014/main" id="{CED794F2-490A-41BE-A534-39738CFFE3C6}"/>
              </a:ext>
            </a:extLst>
          </p:cNvPr>
          <p:cNvSpPr>
            <a:spLocks xmlns:a="http://schemas.openxmlformats.org/drawingml/2006/main" noGrp="1"/>
          </p:cNvSpPr>
          <p:nvPr/>
        </p:nvSpPr>
        <p:spPr>
          <a:xfrm xmlns:a="http://schemas.openxmlformats.org/drawingml/2006/main">
            <a:off x="5829300" y="87630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On the school homepage</a:t>
            </a:r>
          </a:p>
        </p:txBody>
      </p:sp>
      <p:sp>
        <p:nvSpPr>
          <p:cNvPr id="10" name="">
            <a:extLst xmlns:a="http://schemas.openxmlformats.org/drawingml/2006/main">
              <a:ext uri="{FF2B5EF4-FFF2-40B4-BE49-F238E27FC236}">
                <a16:creationId xmlns:a16="http://schemas.microsoft.com/office/drawing/2014/main" id="{37E9F722-FB60-4411-83B0-26FCEC14C337}"/>
              </a:ext>
            </a:extLst>
          </p:cNvPr>
          <p:cNvSpPr>
            <a:spLocks xmlns:a="http://schemas.openxmlformats.org/drawingml/2006/main" noGrp="1"/>
          </p:cNvSpPr>
          <p:nvPr/>
        </p:nvSpPr>
        <p:spPr>
          <a:xfrm xmlns:a="http://schemas.openxmlformats.org/drawingml/2006/main">
            <a:off x="5829300" y="10858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This week in the arts</a:t>
            </a:r>
          </a:p>
        </p:txBody>
      </p:sp>
      <p:sp>
        <p:nvSpPr>
          <p:cNvPr id="11" name="">
            <a:extLst xmlns:a="http://schemas.openxmlformats.org/drawingml/2006/main">
              <a:ext uri="{FF2B5EF4-FFF2-40B4-BE49-F238E27FC236}">
                <a16:creationId xmlns:a16="http://schemas.microsoft.com/office/drawing/2014/main" id="{592ACDC7-7D27-4EE7-95B8-9A7BAEF28154}"/>
              </a:ext>
            </a:extLst>
          </p:cNvPr>
          <p:cNvSpPr>
            <a:spLocks xmlns:a="http://schemas.openxmlformats.org/drawingml/2006/main" noGrp="1"/>
          </p:cNvSpPr>
          <p:nvPr/>
        </p:nvSpPr>
        <p:spPr>
          <a:xfrm xmlns:a="http://schemas.openxmlformats.org/drawingml/2006/main">
            <a:off x="5829300" y="148590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Lessons published live so parents and SLT see what's happening on stage and in the studio — not just on the spreadsheet.</a:t>
            </a:r>
          </a:p>
        </p:txBody>
      </p:sp>
      <p:sp>
        <p:nvSpPr>
          <p:cNvPr id="12" name="">
            <a:extLst xmlns:a="http://schemas.openxmlformats.org/drawingml/2006/main">
              <a:ext uri="{FF2B5EF4-FFF2-40B4-BE49-F238E27FC236}">
                <a16:creationId xmlns:a16="http://schemas.microsoft.com/office/drawing/2014/main" id="{8636C8FF-3288-4B80-9C68-36F4B1AC91A1}"/>
              </a:ext>
            </a:extLst>
          </p:cNvPr>
          <p:cNvSpPr>
            <a:spLocks xmlns:a="http://schemas.openxmlformats.org/drawingml/2006/main" noGrp="1"/>
          </p:cNvSpPr>
          <p:nvPr/>
        </p:nvSpPr>
        <p:spPr>
          <a:xfrm xmlns:a="http://schemas.openxmlformats.org/drawingml/2006/main">
            <a:off x="8734425" y="76200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3" name="">
            <a:extLst xmlns:a="http://schemas.openxmlformats.org/drawingml/2006/main">
              <a:ext uri="{FF2B5EF4-FFF2-40B4-BE49-F238E27FC236}">
                <a16:creationId xmlns:a16="http://schemas.microsoft.com/office/drawing/2014/main" id="{624D8EFF-2360-4326-8229-D63B04B50E89}"/>
              </a:ext>
            </a:extLst>
          </p:cNvPr>
          <p:cNvSpPr>
            <a:spLocks xmlns:a="http://schemas.openxmlformats.org/drawingml/2006/main" noGrp="1"/>
          </p:cNvSpPr>
          <p:nvPr/>
        </p:nvSpPr>
        <p:spPr>
          <a:xfrm xmlns:a="http://schemas.openxmlformats.org/drawingml/2006/main">
            <a:off x="8848725" y="87630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Year-end showcase</a:t>
            </a:r>
          </a:p>
        </p:txBody>
      </p:sp>
      <p:sp>
        <p:nvSpPr>
          <p:cNvPr id="14" name="">
            <a:extLst xmlns:a="http://schemas.openxmlformats.org/drawingml/2006/main">
              <a:ext uri="{FF2B5EF4-FFF2-40B4-BE49-F238E27FC236}">
                <a16:creationId xmlns:a16="http://schemas.microsoft.com/office/drawing/2014/main" id="{EB5225B4-A494-42DC-BAFB-A8D7097289E4}"/>
              </a:ext>
            </a:extLst>
          </p:cNvPr>
          <p:cNvSpPr>
            <a:spLocks xmlns:a="http://schemas.openxmlformats.org/drawingml/2006/main" noGrp="1"/>
          </p:cNvSpPr>
          <p:nvPr/>
        </p:nvSpPr>
        <p:spPr>
          <a:xfrm xmlns:a="http://schemas.openxmlformats.org/drawingml/2006/main">
            <a:off x="8848725" y="108585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From sketchbook to stage</a:t>
            </a:r>
          </a:p>
        </p:txBody>
      </p:sp>
      <p:sp>
        <p:nvSpPr>
          <p:cNvPr id="15" name="">
            <a:extLst xmlns:a="http://schemas.openxmlformats.org/drawingml/2006/main">
              <a:ext uri="{FF2B5EF4-FFF2-40B4-BE49-F238E27FC236}">
                <a16:creationId xmlns:a16="http://schemas.microsoft.com/office/drawing/2014/main" id="{1B791930-08B5-47FD-B960-F15D41F9D5B7}"/>
              </a:ext>
            </a:extLst>
          </p:cNvPr>
          <p:cNvSpPr>
            <a:spLocks xmlns:a="http://schemas.openxmlformats.org/drawingml/2006/main" noGrp="1"/>
          </p:cNvSpPr>
          <p:nvPr/>
        </p:nvSpPr>
        <p:spPr>
          <a:xfrm xmlns:a="http://schemas.openxmlformats.org/drawingml/2006/main">
            <a:off x="8848725" y="148590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Pull every lesson, photo and reflection from a unit into a single, shareable timeline. Frame the journey, not just the performance.</a:t>
            </a:r>
          </a:p>
        </p:txBody>
      </p:sp>
      <p:sp>
        <p:nvSpPr>
          <p:cNvPr id="16" name="">
            <a:extLst xmlns:a="http://schemas.openxmlformats.org/drawingml/2006/main">
              <a:ext uri="{FF2B5EF4-FFF2-40B4-BE49-F238E27FC236}">
                <a16:creationId xmlns:a16="http://schemas.microsoft.com/office/drawing/2014/main" id="{02D0765F-8A91-4C30-B28E-86FEB8378711}"/>
              </a:ext>
            </a:extLst>
          </p:cNvPr>
          <p:cNvSpPr>
            <a:spLocks xmlns:a="http://schemas.openxmlformats.org/drawingml/2006/main" noGrp="1"/>
          </p:cNvSpPr>
          <p:nvPr/>
        </p:nvSpPr>
        <p:spPr>
          <a:xfrm xmlns:a="http://schemas.openxmlformats.org/drawingml/2006/main">
            <a:off x="5715000" y="241935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7" name="">
            <a:extLst xmlns:a="http://schemas.openxmlformats.org/drawingml/2006/main">
              <a:ext uri="{FF2B5EF4-FFF2-40B4-BE49-F238E27FC236}">
                <a16:creationId xmlns:a16="http://schemas.microsoft.com/office/drawing/2014/main" id="{A6692CC6-515B-41EF-9D40-B28F9825C971}"/>
              </a:ext>
            </a:extLst>
          </p:cNvPr>
          <p:cNvSpPr>
            <a:spLocks xmlns:a="http://schemas.openxmlformats.org/drawingml/2006/main" noGrp="1"/>
          </p:cNvSpPr>
          <p:nvPr/>
        </p:nvSpPr>
        <p:spPr>
          <a:xfrm xmlns:a="http://schemas.openxmlformats.org/drawingml/2006/main">
            <a:off x="5829300" y="253365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Practitioner portfolio</a:t>
            </a:r>
          </a:p>
        </p:txBody>
      </p:sp>
      <p:sp>
        <p:nvSpPr>
          <p:cNvPr id="18" name="">
            <a:extLst xmlns:a="http://schemas.openxmlformats.org/drawingml/2006/main">
              <a:ext uri="{FF2B5EF4-FFF2-40B4-BE49-F238E27FC236}">
                <a16:creationId xmlns:a16="http://schemas.microsoft.com/office/drawing/2014/main" id="{DAC8DCA6-996E-4F35-903B-AA92386DD721}"/>
              </a:ext>
            </a:extLst>
          </p:cNvPr>
          <p:cNvSpPr>
            <a:spLocks xmlns:a="http://schemas.openxmlformats.org/drawingml/2006/main" noGrp="1"/>
          </p:cNvSpPr>
          <p:nvPr/>
        </p:nvSpPr>
        <p:spPr>
          <a:xfrm xmlns:a="http://schemas.openxmlformats.org/drawingml/2006/main">
            <a:off x="5829300" y="274320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0F2A2E"/>
                </a:solidFill>
              </a:defRPr>
            </a:pPr>
            <a:r>
              <a:rPr sz="1050" b="1">
                <a:solidFill>
                  <a:srgbClr val="0F2A2E"/>
                </a:solidFill>
              </a:rPr>
              <a:t>What I taught this year</a:t>
            </a:r>
          </a:p>
        </p:txBody>
      </p:sp>
      <p:sp>
        <p:nvSpPr>
          <p:cNvPr id="19" name="">
            <a:extLst xmlns:a="http://schemas.openxmlformats.org/drawingml/2006/main">
              <a:ext uri="{FF2B5EF4-FFF2-40B4-BE49-F238E27FC236}">
                <a16:creationId xmlns:a16="http://schemas.microsoft.com/office/drawing/2014/main" id="{E6C11F8E-8585-454E-A364-3366F8C91C19}"/>
              </a:ext>
            </a:extLst>
          </p:cNvPr>
          <p:cNvSpPr>
            <a:spLocks xmlns:a="http://schemas.openxmlformats.org/drawingml/2006/main" noGrp="1"/>
          </p:cNvSpPr>
          <p:nvPr/>
        </p:nvSpPr>
        <p:spPr>
          <a:xfrm xmlns:a="http://schemas.openxmlformats.org/drawingml/2006/main">
            <a:off x="5829300" y="314325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An export every educator can hand to a head, a partner organisation, or take with them into the next role.</a:t>
            </a:r>
          </a:p>
        </p:txBody>
      </p:sp>
      <p:sp>
        <p:nvSpPr>
          <p:cNvPr id="20" name="">
            <a:extLst xmlns:a="http://schemas.openxmlformats.org/drawingml/2006/main">
              <a:ext uri="{FF2B5EF4-FFF2-40B4-BE49-F238E27FC236}">
                <a16:creationId xmlns:a16="http://schemas.microsoft.com/office/drawing/2014/main" id="{1A5C712C-F29A-4099-9FCB-21EAB0EFAEDE}"/>
              </a:ext>
            </a:extLst>
          </p:cNvPr>
          <p:cNvSpPr>
            <a:spLocks xmlns:a="http://schemas.openxmlformats.org/drawingml/2006/main" noGrp="1"/>
          </p:cNvSpPr>
          <p:nvPr/>
        </p:nvSpPr>
        <p:spPr>
          <a:xfrm xmlns:a="http://schemas.openxmlformats.org/drawingml/2006/main">
            <a:off x="8734425" y="2419350"/>
            <a:ext cx="288607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21" name="">
            <a:extLst xmlns:a="http://schemas.openxmlformats.org/drawingml/2006/main">
              <a:ext uri="{FF2B5EF4-FFF2-40B4-BE49-F238E27FC236}">
                <a16:creationId xmlns:a16="http://schemas.microsoft.com/office/drawing/2014/main" id="{57298B6D-C285-4862-8206-B984A484DF50}"/>
              </a:ext>
            </a:extLst>
          </p:cNvPr>
          <p:cNvSpPr>
            <a:spLocks xmlns:a="http://schemas.openxmlformats.org/drawingml/2006/main" noGrp="1"/>
          </p:cNvSpPr>
          <p:nvPr/>
        </p:nvSpPr>
        <p:spPr>
          <a:xfrm xmlns:a="http://schemas.openxmlformats.org/drawingml/2006/main">
            <a:off x="8848725" y="2533650"/>
            <a:ext cx="26574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Sector evidence</a:t>
            </a:r>
          </a:p>
        </p:txBody>
      </p:sp>
      <p:sp>
        <p:nvSpPr>
          <p:cNvPr id="22" name="">
            <a:extLst xmlns:a="http://schemas.openxmlformats.org/drawingml/2006/main">
              <a:ext uri="{FF2B5EF4-FFF2-40B4-BE49-F238E27FC236}">
                <a16:creationId xmlns:a16="http://schemas.microsoft.com/office/drawing/2014/main" id="{22B2800E-0094-4351-9F6C-2A874098C810}"/>
              </a:ext>
            </a:extLst>
          </p:cNvPr>
          <p:cNvSpPr>
            <a:spLocks xmlns:a="http://schemas.openxmlformats.org/drawingml/2006/main" noGrp="1"/>
          </p:cNvSpPr>
          <p:nvPr/>
        </p:nvSpPr>
        <p:spPr>
          <a:xfrm xmlns:a="http://schemas.openxmlformats.org/drawingml/2006/main">
            <a:off x="8848725" y="2743200"/>
            <a:ext cx="26574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1104"/>
          </a:bodyPr>
          <a:lstStyle xmlns:a="http://schemas.openxmlformats.org/drawingml/2006/main"/>
          <a:p xmlns:a="http://schemas.openxmlformats.org/drawingml/2006/main">
            <a:pPr algn="l">
              <a:defRPr sz="1050" b="1">
                <a:solidFill>
                  <a:srgbClr val="0F2A2E"/>
                </a:solidFill>
              </a:defRPr>
            </a:pPr>
            <a:r>
              <a:rPr sz="1050" b="1">
                <a:solidFill>
                  <a:srgbClr val="0F2A2E"/>
                </a:solidFill>
              </a:rPr>
              <a:t>What the arts look like in 1,000 classrooms</a:t>
            </a:r>
          </a:p>
        </p:txBody>
      </p:sp>
      <p:sp>
        <p:nvSpPr>
          <p:cNvPr id="23" name="">
            <a:extLst xmlns:a="http://schemas.openxmlformats.org/drawingml/2006/main">
              <a:ext uri="{FF2B5EF4-FFF2-40B4-BE49-F238E27FC236}">
                <a16:creationId xmlns:a16="http://schemas.microsoft.com/office/drawing/2014/main" id="{FB44B8F0-2847-4C2F-B774-0F3743546A75}"/>
              </a:ext>
            </a:extLst>
          </p:cNvPr>
          <p:cNvSpPr>
            <a:spLocks xmlns:a="http://schemas.openxmlformats.org/drawingml/2006/main" noGrp="1"/>
          </p:cNvSpPr>
          <p:nvPr/>
        </p:nvSpPr>
        <p:spPr>
          <a:xfrm xmlns:a="http://schemas.openxmlformats.org/drawingml/2006/main">
            <a:off x="8848725" y="3143250"/>
            <a:ext cx="26574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825" b="0">
                <a:solidFill>
                  <a:srgbClr val="2A4548"/>
                </a:solidFill>
              </a:defRPr>
            </a:pPr>
            <a:r>
              <a:rPr sz="825" b="0">
                <a:solidFill>
                  <a:srgbClr val="2A4548"/>
                </a:solidFill>
              </a:rPr>
              <a:t>Anonymised, aggregated insight for funders, MATs and arts councils — so the case for the arts is grounded in real practice.</a:t>
            </a:r>
          </a:p>
        </p:txBody>
      </p:sp>
      <p:sp>
        <p:nvSpPr>
          <p:cNvPr id="24" name="">
            <a:extLst xmlns:a="http://schemas.openxmlformats.org/drawingml/2006/main">
              <a:ext uri="{FF2B5EF4-FFF2-40B4-BE49-F238E27FC236}">
                <a16:creationId xmlns:a16="http://schemas.microsoft.com/office/drawing/2014/main" id="{1CC1353F-AB0A-4E9B-9521-1542438E83FE}"/>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25" name="">
            <a:extLst xmlns:a="http://schemas.openxmlformats.org/drawingml/2006/main">
              <a:ext uri="{FF2B5EF4-FFF2-40B4-BE49-F238E27FC236}">
                <a16:creationId xmlns:a16="http://schemas.microsoft.com/office/drawing/2014/main" id="{F56613D3-34C5-4ED9-A939-CBC366CF18D8}"/>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23 / 25</a:t>
            </a:r>
          </a:p>
        </p:txBody>
      </p:sp>
    </p:spTree>
    <p:extLst>
      <p:ext uri="{BB962C8B-B14F-4D97-AF65-F5344CB8AC3E}">
        <p14:creationId xmlns:p14="http://schemas.microsoft.com/office/powerpoint/2010/main" val="1940583734"/>
      </p:ext>
    </p:extLst>
  </p:cSld>
</p:sld>
</file>

<file path=ppt/slides/slide24.xml><?xml version="1.0" encoding="utf-8"?>
<p:sld xmlns:p="http://schemas.openxmlformats.org/presentationml/2006/main">
  <p:cSld>
    <p:bg>
      <p:bgPr>
        <a:solidFill xmlns:a="http://schemas.openxmlformats.org/drawingml/2006/main">
          <a:srgbClr val="FFFAF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60A8AC96-811D-450C-9A6F-8EC44512187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4F51E46-4647-4F03-837A-7BE89D11D041}"/>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5B03F1F-5C9F-4315-B81D-89931C7BACC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C947BBC-14CE-444C-AEA6-F9CBEC5CB44E}"/>
              </a:ext>
            </a:extLst>
          </p:cNvPr>
          <p:cNvSpPr>
            <a:spLocks xmlns:a="http://schemas.openxmlformats.org/drawingml/2006/main" noGrp="1"/>
          </p:cNvSpPr>
          <p:nvPr/>
        </p:nvSpPr>
        <p:spPr>
          <a:xfrm xmlns:a="http://schemas.openxmlformats.org/drawingml/2006/main">
            <a:off x="9525000" y="-1333500"/>
            <a:ext cx="4000500" cy="4000500"/>
          </a:xfrm>
          <a:prstGeom xmlns:a="http://schemas.openxmlformats.org/drawingml/2006/main" prst="ellipse">
            <a:avLst/>
          </a:prstGeom>
          <a:solidFill xmlns:a="http://schemas.openxmlformats.org/drawingml/2006/main">
            <a:srgbClr val="B6FF7E">
              <a:alpha val="10196"/>
            </a:srgbClr>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1BD66302-66E5-4269-AF5F-2D5DF0CA6FFA}"/>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BF6BD8B-8936-4A4A-86B6-A18EE9AB2EC7}"/>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002D24"/>
                </a:solidFill>
              </a:defRPr>
            </a:pPr>
            <a:r>
              <a:rPr sz="900" b="1">
                <a:solidFill>
                  <a:srgbClr val="002D24"/>
                </a:solidFill>
              </a:rPr>
              <a:t>Inspiring · Life-changing</a:t>
            </a:r>
          </a:p>
        </p:txBody>
      </p:sp>
      <p:sp>
        <p:nvSpPr>
          <p:cNvPr id="8" name="">
            <a:extLst xmlns:a="http://schemas.openxmlformats.org/drawingml/2006/main">
              <a:ext uri="{FF2B5EF4-FFF2-40B4-BE49-F238E27FC236}">
                <a16:creationId xmlns:a16="http://schemas.microsoft.com/office/drawing/2014/main" id="{DE845CCE-9B9A-44C7-9EDA-7E185CEF7FA0}"/>
              </a:ext>
            </a:extLst>
          </p:cNvPr>
          <p:cNvSpPr>
            <a:spLocks xmlns:a="http://schemas.openxmlformats.org/drawingml/2006/main" noGrp="1"/>
          </p:cNvSpPr>
          <p:nvPr/>
        </p:nvSpPr>
        <p:spPr>
          <a:xfrm xmlns:a="http://schemas.openxmlformats.org/drawingml/2006/main">
            <a:off x="609600" y="647700"/>
            <a:ext cx="109537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02D24"/>
                </a:solidFill>
              </a:defRPr>
            </a:pPr>
            <a:r>
              <a:rPr sz="2100" b="1">
                <a:solidFill>
                  <a:srgbClr val="002D24"/>
                </a:solidFill>
              </a:rPr>
              <a:t>One inspiring lesson can change a life.</a:t>
            </a:r>
          </a:p>
        </p:txBody>
      </p:sp>
      <p:sp>
        <p:nvSpPr>
          <p:cNvPr id="9" name="">
            <a:extLst xmlns:a="http://schemas.openxmlformats.org/drawingml/2006/main">
              <a:ext uri="{FF2B5EF4-FFF2-40B4-BE49-F238E27FC236}">
                <a16:creationId xmlns:a16="http://schemas.microsoft.com/office/drawing/2014/main" id="{6B24BA09-7EEA-4BF0-A9E9-3800E5663742}"/>
              </a:ext>
            </a:extLst>
          </p:cNvPr>
          <p:cNvSpPr>
            <a:spLocks xmlns:a="http://schemas.openxmlformats.org/drawingml/2006/main" noGrp="1"/>
          </p:cNvSpPr>
          <p:nvPr/>
        </p:nvSpPr>
        <p:spPr>
          <a:xfrm xmlns:a="http://schemas.openxmlformats.org/drawingml/2006/main">
            <a:off x="609600" y="1428750"/>
            <a:ext cx="1095375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2A4548"/>
                </a:solidFill>
              </a:defRPr>
            </a:pPr>
            <a:r>
              <a:rPr sz="1125" b="0">
                <a:solidFill>
                  <a:srgbClr val="2A4548"/>
                </a:solidFill>
              </a:rPr>
              <a:t>Ask any director, choreographer, conductor or composer where it started, and you'll hear the same answer: a teacher, a moment, a lesson that opened a door. CCD is built so those moments multiply — so the brilliant lesson a teacher teaches in Stoke this Tuesday is the lesson a non-specialist in Truro can teach next week.</a:t>
            </a:r>
          </a:p>
        </p:txBody>
      </p:sp>
      <p:sp>
        <p:nvSpPr>
          <p:cNvPr id="10" name="">
            <a:extLst xmlns:a="http://schemas.openxmlformats.org/drawingml/2006/main">
              <a:ext uri="{FF2B5EF4-FFF2-40B4-BE49-F238E27FC236}">
                <a16:creationId xmlns:a16="http://schemas.microsoft.com/office/drawing/2014/main" id="{90F3BBA5-04CC-488A-9783-FCF0FDC29B5B}"/>
              </a:ext>
            </a:extLst>
          </p:cNvPr>
          <p:cNvSpPr>
            <a:spLocks xmlns:a="http://schemas.openxmlformats.org/drawingml/2006/main" noGrp="1"/>
          </p:cNvSpPr>
          <p:nvPr/>
        </p:nvSpPr>
        <p:spPr>
          <a:xfrm xmlns:a="http://schemas.openxmlformats.org/drawingml/2006/main">
            <a:off x="609600" y="2533650"/>
            <a:ext cx="541972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1" name="">
            <a:extLst xmlns:a="http://schemas.openxmlformats.org/drawingml/2006/main">
              <a:ext uri="{FF2B5EF4-FFF2-40B4-BE49-F238E27FC236}">
                <a16:creationId xmlns:a16="http://schemas.microsoft.com/office/drawing/2014/main" id="{BCA97CC0-92C5-48F6-9E94-49C780CE89D5}"/>
              </a:ext>
            </a:extLst>
          </p:cNvPr>
          <p:cNvSpPr>
            <a:spLocks xmlns:a="http://schemas.openxmlformats.org/drawingml/2006/main" noGrp="1"/>
          </p:cNvSpPr>
          <p:nvPr/>
        </p:nvSpPr>
        <p:spPr>
          <a:xfrm xmlns:a="http://schemas.openxmlformats.org/drawingml/2006/main">
            <a:off x="723900" y="2647950"/>
            <a:ext cx="51911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RSC company member, 2024</a:t>
            </a:r>
          </a:p>
        </p:txBody>
      </p:sp>
      <p:sp>
        <p:nvSpPr>
          <p:cNvPr id="12" name="">
            <a:extLst xmlns:a="http://schemas.openxmlformats.org/drawingml/2006/main">
              <a:ext uri="{FF2B5EF4-FFF2-40B4-BE49-F238E27FC236}">
                <a16:creationId xmlns:a16="http://schemas.microsoft.com/office/drawing/2014/main" id="{198734E9-F521-4449-82EB-4C2BE950D458}"/>
              </a:ext>
            </a:extLst>
          </p:cNvPr>
          <p:cNvSpPr>
            <a:spLocks xmlns:a="http://schemas.openxmlformats.org/drawingml/2006/main" noGrp="1"/>
          </p:cNvSpPr>
          <p:nvPr/>
        </p:nvSpPr>
        <p:spPr>
          <a:xfrm xmlns:a="http://schemas.openxmlformats.org/drawingml/2006/main">
            <a:off x="723900" y="2857500"/>
            <a:ext cx="519112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5759"/>
          </a:bodyPr>
          <a:lstStyle xmlns:a="http://schemas.openxmlformats.org/drawingml/2006/main"/>
          <a:p xmlns:a="http://schemas.openxmlformats.org/drawingml/2006/main">
            <a:pPr algn="l">
              <a:defRPr sz="975" b="1">
                <a:solidFill>
                  <a:srgbClr val="0F2A2E"/>
                </a:solidFill>
              </a:defRPr>
            </a:pPr>
            <a:r>
              <a:rPr sz="975" b="1">
                <a:solidFill>
                  <a:srgbClr val="0F2A2E"/>
                </a:solidFill>
              </a:rPr>
              <a:t>"My drama teacher gave me the courage to audition. Without that one lesson I'd have never set foot on a stage."</a:t>
            </a:r>
          </a:p>
        </p:txBody>
      </p:sp>
      <p:sp>
        <p:nvSpPr>
          <p:cNvPr id="13" name="">
            <a:extLst xmlns:a="http://schemas.openxmlformats.org/drawingml/2006/main">
              <a:ext uri="{FF2B5EF4-FFF2-40B4-BE49-F238E27FC236}">
                <a16:creationId xmlns:a16="http://schemas.microsoft.com/office/drawing/2014/main" id="{8B5BC463-65FD-428D-A723-DA2A75FB617B}"/>
              </a:ext>
            </a:extLst>
          </p:cNvPr>
          <p:cNvSpPr>
            <a:spLocks xmlns:a="http://schemas.openxmlformats.org/drawingml/2006/main" noGrp="1"/>
          </p:cNvSpPr>
          <p:nvPr/>
        </p:nvSpPr>
        <p:spPr>
          <a:xfrm xmlns:a="http://schemas.openxmlformats.org/drawingml/2006/main">
            <a:off x="723900" y="3257550"/>
            <a:ext cx="5191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00" b="0">
                <a:solidFill>
                  <a:srgbClr val="2A4548"/>
                </a:solidFill>
              </a:defRPr>
            </a:pPr>
            <a:r>
              <a:rPr sz="900" b="0">
                <a:solidFill>
                  <a:srgbClr val="2A4548"/>
                </a:solidFill>
              </a:rPr>
              <a:t>RSC company member, 2024</a:t>
            </a:r>
          </a:p>
        </p:txBody>
      </p:sp>
      <p:sp>
        <p:nvSpPr>
          <p:cNvPr id="14" name="">
            <a:extLst xmlns:a="http://schemas.openxmlformats.org/drawingml/2006/main">
              <a:ext uri="{FF2B5EF4-FFF2-40B4-BE49-F238E27FC236}">
                <a16:creationId xmlns:a16="http://schemas.microsoft.com/office/drawing/2014/main" id="{D2C047D1-5050-4903-BB06-A52E1B8B1D0C}"/>
              </a:ext>
            </a:extLst>
          </p:cNvPr>
          <p:cNvSpPr>
            <a:spLocks xmlns:a="http://schemas.openxmlformats.org/drawingml/2006/main" noGrp="1"/>
          </p:cNvSpPr>
          <p:nvPr/>
        </p:nvSpPr>
        <p:spPr>
          <a:xfrm xmlns:a="http://schemas.openxmlformats.org/drawingml/2006/main">
            <a:off x="6162675" y="2533650"/>
            <a:ext cx="5419725"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E4DF"/>
            </a:solidFill>
            <a:prstDash val="solid"/>
          </a:ln>
        </p:spPr>
      </p:sp>
      <p:sp>
        <p:nvSpPr>
          <p:cNvPr id="15" name="">
            <a:extLst xmlns:a="http://schemas.openxmlformats.org/drawingml/2006/main">
              <a:ext uri="{FF2B5EF4-FFF2-40B4-BE49-F238E27FC236}">
                <a16:creationId xmlns:a16="http://schemas.microsoft.com/office/drawing/2014/main" id="{8B126FAD-E7DE-4C3A-A9CA-F9482EC7E932}"/>
              </a:ext>
            </a:extLst>
          </p:cNvPr>
          <p:cNvSpPr>
            <a:spLocks xmlns:a="http://schemas.openxmlformats.org/drawingml/2006/main" noGrp="1"/>
          </p:cNvSpPr>
          <p:nvPr/>
        </p:nvSpPr>
        <p:spPr>
          <a:xfrm xmlns:a="http://schemas.openxmlformats.org/drawingml/2006/main">
            <a:off x="6276975" y="2647950"/>
            <a:ext cx="51911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BBC Symphony player</a:t>
            </a:r>
          </a:p>
        </p:txBody>
      </p:sp>
      <p:sp>
        <p:nvSpPr>
          <p:cNvPr id="16" name="">
            <a:extLst xmlns:a="http://schemas.openxmlformats.org/drawingml/2006/main">
              <a:ext uri="{FF2B5EF4-FFF2-40B4-BE49-F238E27FC236}">
                <a16:creationId xmlns:a16="http://schemas.microsoft.com/office/drawing/2014/main" id="{E80D5D98-90E1-49FB-8E88-7C6A68065134}"/>
              </a:ext>
            </a:extLst>
          </p:cNvPr>
          <p:cNvSpPr>
            <a:spLocks xmlns:a="http://schemas.openxmlformats.org/drawingml/2006/main" noGrp="1"/>
          </p:cNvSpPr>
          <p:nvPr/>
        </p:nvSpPr>
        <p:spPr>
          <a:xfrm xmlns:a="http://schemas.openxmlformats.org/drawingml/2006/main">
            <a:off x="6276975" y="2857500"/>
            <a:ext cx="519112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5759"/>
          </a:bodyPr>
          <a:lstStyle xmlns:a="http://schemas.openxmlformats.org/drawingml/2006/main"/>
          <a:p xmlns:a="http://schemas.openxmlformats.org/drawingml/2006/main">
            <a:pPr algn="l">
              <a:defRPr sz="975" b="1">
                <a:solidFill>
                  <a:srgbClr val="0F2A2E"/>
                </a:solidFill>
              </a:defRPr>
            </a:pPr>
            <a:r>
              <a:rPr sz="975" b="1">
                <a:solidFill>
                  <a:srgbClr val="0F2A2E"/>
                </a:solidFill>
              </a:rPr>
              <a:t>"I learned to read music in Year 5 from a peripatetic teacher who came in once a week. That teacher built my whole career."</a:t>
            </a:r>
          </a:p>
        </p:txBody>
      </p:sp>
      <p:sp>
        <p:nvSpPr>
          <p:cNvPr id="17" name="">
            <a:extLst xmlns:a="http://schemas.openxmlformats.org/drawingml/2006/main">
              <a:ext uri="{FF2B5EF4-FFF2-40B4-BE49-F238E27FC236}">
                <a16:creationId xmlns:a16="http://schemas.microsoft.com/office/drawing/2014/main" id="{60B97017-6438-4E65-9030-CCF1EAFF5F88}"/>
              </a:ext>
            </a:extLst>
          </p:cNvPr>
          <p:cNvSpPr>
            <a:spLocks xmlns:a="http://schemas.openxmlformats.org/drawingml/2006/main" noGrp="1"/>
          </p:cNvSpPr>
          <p:nvPr/>
        </p:nvSpPr>
        <p:spPr>
          <a:xfrm xmlns:a="http://schemas.openxmlformats.org/drawingml/2006/main">
            <a:off x="6276975" y="3257550"/>
            <a:ext cx="5191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00" b="0">
                <a:solidFill>
                  <a:srgbClr val="2A4548"/>
                </a:solidFill>
              </a:defRPr>
            </a:pPr>
            <a:r>
              <a:rPr sz="900" b="0">
                <a:solidFill>
                  <a:srgbClr val="2A4548"/>
                </a:solidFill>
              </a:rPr>
              <a:t>BBC Symphony player</a:t>
            </a:r>
          </a:p>
        </p:txBody>
      </p:sp>
      <p:sp>
        <p:nvSpPr>
          <p:cNvPr id="18" name="">
            <a:extLst xmlns:a="http://schemas.openxmlformats.org/drawingml/2006/main">
              <a:ext uri="{FF2B5EF4-FFF2-40B4-BE49-F238E27FC236}">
                <a16:creationId xmlns:a16="http://schemas.microsoft.com/office/drawing/2014/main" id="{F3D88C36-F33D-4964-866A-3510D61631E8}"/>
              </a:ext>
            </a:extLst>
          </p:cNvPr>
          <p:cNvSpPr>
            <a:spLocks xmlns:a="http://schemas.openxmlformats.org/drawingml/2006/main" noGrp="1"/>
          </p:cNvSpPr>
          <p:nvPr/>
        </p:nvSpPr>
        <p:spPr>
          <a:xfrm xmlns:a="http://schemas.openxmlformats.org/drawingml/2006/main">
            <a:off x="609600" y="5334000"/>
            <a:ext cx="109537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002D24"/>
                </a:solidFill>
              </a:defRPr>
            </a:pPr>
            <a:r>
              <a:rPr sz="1125" b="1">
                <a:solidFill>
                  <a:srgbClr val="002D24"/>
                </a:solidFill>
              </a:rPr>
              <a:t>Every shared lesson is one more door, opened for one more child.</a:t>
            </a:r>
          </a:p>
        </p:txBody>
      </p:sp>
      <p:sp>
        <p:nvSpPr>
          <p:cNvPr id="19" name="">
            <a:extLst xmlns:a="http://schemas.openxmlformats.org/drawingml/2006/main">
              <a:ext uri="{FF2B5EF4-FFF2-40B4-BE49-F238E27FC236}">
                <a16:creationId xmlns:a16="http://schemas.microsoft.com/office/drawing/2014/main" id="{5340D35C-F23C-4D1D-8D0A-9AA20606170B}"/>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5A7275"/>
                </a:solidFill>
              </a:defRPr>
            </a:pPr>
            <a:r>
              <a:rPr sz="825" b="0">
                <a:solidFill>
                  <a:srgbClr val="5A7275"/>
                </a:solidFill>
              </a:rPr>
              <a:t>Creative Curriculum Designer</a:t>
            </a:r>
          </a:p>
        </p:txBody>
      </p:sp>
      <p:sp>
        <p:nvSpPr>
          <p:cNvPr id="20" name="">
            <a:extLst xmlns:a="http://schemas.openxmlformats.org/drawingml/2006/main">
              <a:ext uri="{FF2B5EF4-FFF2-40B4-BE49-F238E27FC236}">
                <a16:creationId xmlns:a16="http://schemas.microsoft.com/office/drawing/2014/main" id="{9B013DA8-D5CB-439C-AD42-F040EC1580E8}"/>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5A7275"/>
                </a:solidFill>
              </a:defRPr>
            </a:pPr>
            <a:r>
              <a:rPr sz="825" b="0">
                <a:solidFill>
                  <a:srgbClr val="5A7275"/>
                </a:solidFill>
              </a:rPr>
              <a:t>24 / 25</a:t>
            </a:r>
          </a:p>
        </p:txBody>
      </p:sp>
    </p:spTree>
    <p:extLst>
      <p:ext uri="{BB962C8B-B14F-4D97-AF65-F5344CB8AC3E}">
        <p14:creationId xmlns:p14="http://schemas.microsoft.com/office/powerpoint/2010/main" val="571657086"/>
      </p:ext>
    </p:extLst>
  </p:cSld>
</p:sld>
</file>

<file path=ppt/slides/slide25.xml><?xml version="1.0" encoding="utf-8"?>
<p:sld xmlns:p="http://schemas.openxmlformats.org/presentationml/2006/main">
  <p:cSld>
    <p:bg>
      <p:bgPr>
        <a:solidFill xmlns:a="http://schemas.openxmlformats.org/drawingml/2006/main">
          <a:srgbClr val="002D24"/>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E38C8ED-7B0B-4C34-9569-5BB63088518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8623F6F0-F96E-446A-A31A-BD87B0B9A056}"/>
              </a:ext>
            </a:extLst>
          </p:cNvPr>
          <p:cNvSpPr>
            <a:spLocks xmlns:a="http://schemas.openxmlformats.org/drawingml/2006/main" noGrp="1"/>
          </p:cNvSpPr>
          <p:nvPr/>
        </p:nvSpPr>
        <p:spPr>
          <a:xfrm xmlns:a="http://schemas.openxmlformats.org/drawingml/2006/main">
            <a:off x="8572500" y="-952500"/>
            <a:ext cx="4953000" cy="4953000"/>
          </a:xfrm>
          <a:prstGeom xmlns:a="http://schemas.openxmlformats.org/drawingml/2006/main" prst="ellipse">
            <a:avLst/>
          </a:prstGeom>
          <a:solidFill xmlns:a="http://schemas.openxmlformats.org/drawingml/2006/main">
            <a:srgbClr val="B6FF7E">
              <a:alpha val="941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3789B00-7961-4573-AC87-2682EB2BBA8D}"/>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01A16"/>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546768C-B3E8-4F7A-967B-4C73CE740D8D}"/>
              </a:ext>
            </a:extLst>
          </p:cNvPr>
          <p:cNvSpPr>
            <a:spLocks xmlns:a="http://schemas.openxmlformats.org/drawingml/2006/main" noGrp="1"/>
          </p:cNvSpPr>
          <p:nvPr/>
        </p:nvSpPr>
        <p:spPr>
          <a:xfrm xmlns:a="http://schemas.openxmlformats.org/drawingml/2006/main">
            <a:off x="8572500" y="-952500"/>
            <a:ext cx="4953000" cy="4953000"/>
          </a:xfrm>
          <a:prstGeom xmlns:a="http://schemas.openxmlformats.org/drawingml/2006/main" prst="ellipse">
            <a:avLst/>
          </a:prstGeom>
          <a:solidFill xmlns:a="http://schemas.openxmlformats.org/drawingml/2006/main">
            <a:srgbClr val="B6FF7E">
              <a:alpha val="9412"/>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2C7ECE2-7CDA-4103-B61D-EE926E5C56A3}"/>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01A16"/>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E89336B1-70B3-4D5A-A722-1CC7D76AF7CF}"/>
              </a:ext>
            </a:extLst>
          </p:cNvPr>
          <p:cNvSpPr>
            <a:spLocks xmlns:a="http://schemas.openxmlformats.org/drawingml/2006/main" noGrp="1"/>
          </p:cNvSpPr>
          <p:nvPr/>
        </p:nvSpPr>
        <p:spPr>
          <a:xfrm xmlns:a="http://schemas.openxmlformats.org/drawingml/2006/main">
            <a:off x="609600" y="381000"/>
            <a:ext cx="247650" cy="38100"/>
          </a:xfrm>
          <a:prstGeom xmlns:a="http://schemas.openxmlformats.org/drawingml/2006/main" prst="rect">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1ED435C-DAF5-428C-A304-C43D74DE7DFC}"/>
              </a:ext>
            </a:extLst>
          </p:cNvPr>
          <p:cNvSpPr>
            <a:spLocks xmlns:a="http://schemas.openxmlformats.org/drawingml/2006/main" noGrp="1"/>
          </p:cNvSpPr>
          <p:nvPr/>
        </p:nvSpPr>
        <p:spPr>
          <a:xfrm xmlns:a="http://schemas.openxmlformats.org/drawingml/2006/main">
            <a:off x="952500" y="285750"/>
            <a:ext cx="857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98279"/>
          </a:bodyPr>
          <a:lstStyle xmlns:a="http://schemas.openxmlformats.org/drawingml/2006/main"/>
          <a:p xmlns:a="http://schemas.openxmlformats.org/drawingml/2006/main">
            <a:pPr algn="l">
              <a:defRPr sz="900" b="1">
                <a:solidFill>
                  <a:srgbClr val="B6FF7E"/>
                </a:solidFill>
              </a:defRPr>
            </a:pPr>
            <a:r>
              <a:rPr sz="900" b="1">
                <a:solidFill>
                  <a:srgbClr val="B6FF7E"/>
                </a:solidFill>
              </a:rPr>
              <a:t>Try it with your school, department or arts organisation</a:t>
            </a:r>
          </a:p>
        </p:txBody>
      </p:sp>
      <p:sp>
        <p:nvSpPr>
          <p:cNvPr id="8" name="">
            <a:extLst xmlns:a="http://schemas.openxmlformats.org/drawingml/2006/main">
              <a:ext uri="{FF2B5EF4-FFF2-40B4-BE49-F238E27FC236}">
                <a16:creationId xmlns:a16="http://schemas.microsoft.com/office/drawing/2014/main" id="{8F63D65B-BA84-4935-AA3A-2392B8D42254}"/>
              </a:ext>
            </a:extLst>
          </p:cNvPr>
          <p:cNvSpPr>
            <a:spLocks xmlns:a="http://schemas.openxmlformats.org/drawingml/2006/main" noGrp="1"/>
          </p:cNvSpPr>
          <p:nvPr/>
        </p:nvSpPr>
        <p:spPr>
          <a:xfrm xmlns:a="http://schemas.openxmlformats.org/drawingml/2006/main">
            <a:off x="609600" y="666750"/>
            <a:ext cx="109537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FFFFFF"/>
                </a:solidFill>
              </a:defRPr>
            </a:pPr>
            <a:r>
              <a:rPr sz="2250" b="1">
                <a:solidFill>
                  <a:srgbClr val="FFFFFF"/>
                </a:solidFill>
              </a:rPr>
              <a:t>Grow your creative practice — together.</a:t>
            </a:r>
          </a:p>
        </p:txBody>
      </p:sp>
      <p:sp>
        <p:nvSpPr>
          <p:cNvPr id="9" name="">
            <a:extLst xmlns:a="http://schemas.openxmlformats.org/drawingml/2006/main">
              <a:ext uri="{FF2B5EF4-FFF2-40B4-BE49-F238E27FC236}">
                <a16:creationId xmlns:a16="http://schemas.microsoft.com/office/drawing/2014/main" id="{58A9BBC9-DF7C-4FD3-A12B-9DDC5D1763D0}"/>
              </a:ext>
            </a:extLst>
          </p:cNvPr>
          <p:cNvSpPr>
            <a:spLocks xmlns:a="http://schemas.openxmlformats.org/drawingml/2006/main" noGrp="1"/>
          </p:cNvSpPr>
          <p:nvPr/>
        </p:nvSpPr>
        <p:spPr>
          <a:xfrm xmlns:a="http://schemas.openxmlformats.org/drawingml/2006/main">
            <a:off x="609600" y="1524000"/>
            <a:ext cx="1095375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D8EBE4"/>
                </a:solidFill>
              </a:defRPr>
            </a:pPr>
            <a:r>
              <a:rPr sz="1125" b="0">
                <a:solidFill>
                  <a:srgbClr val="D8EBE4"/>
                </a:solidFill>
              </a:rPr>
              <a:t>Built with educators and tested in real classrooms. Powered by your creativity. Shared with theatres, orchestras, dance companies, universities and outreach teams — together, building the creative archive your sector deserves. Bring CCD into your school, department or arts organisation for a half-term trial and we'll walk your team through it.</a:t>
            </a:r>
          </a:p>
        </p:txBody>
      </p:sp>
      <p:sp>
        <p:nvSpPr>
          <p:cNvPr id="10" name="">
            <a:extLst xmlns:a="http://schemas.openxmlformats.org/drawingml/2006/main">
              <a:ext uri="{FF2B5EF4-FFF2-40B4-BE49-F238E27FC236}">
                <a16:creationId xmlns:a16="http://schemas.microsoft.com/office/drawing/2014/main" id="{F370D69F-C24B-4D8A-86D5-63C50E096E08}"/>
              </a:ext>
            </a:extLst>
          </p:cNvPr>
          <p:cNvSpPr>
            <a:spLocks xmlns:a="http://schemas.openxmlformats.org/drawingml/2006/main" noGrp="1"/>
          </p:cNvSpPr>
          <p:nvPr/>
        </p:nvSpPr>
        <p:spPr>
          <a:xfrm xmlns:a="http://schemas.openxmlformats.org/drawingml/2006/main">
            <a:off x="609600" y="2857500"/>
            <a:ext cx="3562350" cy="1143000"/>
          </a:xfrm>
          <a:prstGeom xmlns:a="http://schemas.openxmlformats.org/drawingml/2006/main" prst="roundRect">
            <a:avLst>
              <a:gd name="adj" fmla="val 6667"/>
            </a:avLst>
          </a:prstGeom>
          <a:solidFill xmlns:a="http://schemas.openxmlformats.org/drawingml/2006/main">
            <a:srgbClr val="0A3D32"/>
          </a:solidFill>
          <a:ln xmlns:a="http://schemas.openxmlformats.org/drawingml/2006/main" w="9525">
            <a:solidFill>
              <a:srgbClr val="1A5A4A"/>
            </a:solidFill>
            <a:prstDash val="solid"/>
          </a:ln>
        </p:spPr>
      </p:sp>
      <p:sp>
        <p:nvSpPr>
          <p:cNvPr id="11" name="">
            <a:extLst xmlns:a="http://schemas.openxmlformats.org/drawingml/2006/main">
              <a:ext uri="{FF2B5EF4-FFF2-40B4-BE49-F238E27FC236}">
                <a16:creationId xmlns:a16="http://schemas.microsoft.com/office/drawing/2014/main" id="{2DDEC2E7-F431-461D-BB52-62B51CB43499}"/>
              </a:ext>
            </a:extLst>
          </p:cNvPr>
          <p:cNvSpPr>
            <a:spLocks xmlns:a="http://schemas.openxmlformats.org/drawingml/2006/main" noGrp="1"/>
          </p:cNvSpPr>
          <p:nvPr/>
        </p:nvSpPr>
        <p:spPr>
          <a:xfrm xmlns:a="http://schemas.openxmlformats.org/drawingml/2006/main">
            <a:off x="723900" y="2971800"/>
            <a:ext cx="3333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Visit</a:t>
            </a:r>
          </a:p>
        </p:txBody>
      </p:sp>
      <p:sp>
        <p:nvSpPr>
          <p:cNvPr id="12" name="">
            <a:extLst xmlns:a="http://schemas.openxmlformats.org/drawingml/2006/main">
              <a:ext uri="{FF2B5EF4-FFF2-40B4-BE49-F238E27FC236}">
                <a16:creationId xmlns:a16="http://schemas.microsoft.com/office/drawing/2014/main" id="{F6A000F9-34D3-4785-B8E7-6EF8BF706440}"/>
              </a:ext>
            </a:extLst>
          </p:cNvPr>
          <p:cNvSpPr>
            <a:spLocks xmlns:a="http://schemas.openxmlformats.org/drawingml/2006/main" noGrp="1"/>
          </p:cNvSpPr>
          <p:nvPr/>
        </p:nvSpPr>
        <p:spPr>
          <a:xfrm xmlns:a="http://schemas.openxmlformats.org/drawingml/2006/main">
            <a:off x="723900" y="3181350"/>
            <a:ext cx="3333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0F2A2E"/>
                </a:solidFill>
              </a:defRPr>
            </a:pPr>
            <a:r>
              <a:rPr sz="1200" b="1">
                <a:solidFill>
                  <a:srgbClr val="0F2A2E"/>
                </a:solidFill>
              </a:rPr>
              <a:t>www.ccdesigner.co.uk</a:t>
            </a:r>
          </a:p>
        </p:txBody>
      </p:sp>
      <p:sp>
        <p:nvSpPr>
          <p:cNvPr id="13" name="">
            <a:extLst xmlns:a="http://schemas.openxmlformats.org/drawingml/2006/main">
              <a:ext uri="{FF2B5EF4-FFF2-40B4-BE49-F238E27FC236}">
                <a16:creationId xmlns:a16="http://schemas.microsoft.com/office/drawing/2014/main" id="{A79B92B3-1DA3-4A3B-8ED1-95D4F536BAC8}"/>
              </a:ext>
            </a:extLst>
          </p:cNvPr>
          <p:cNvSpPr>
            <a:spLocks xmlns:a="http://schemas.openxmlformats.org/drawingml/2006/main" noGrp="1"/>
          </p:cNvSpPr>
          <p:nvPr/>
        </p:nvSpPr>
        <p:spPr>
          <a:xfrm xmlns:a="http://schemas.openxmlformats.org/drawingml/2006/main">
            <a:off x="4305300" y="2857500"/>
            <a:ext cx="3562350" cy="1143000"/>
          </a:xfrm>
          <a:prstGeom xmlns:a="http://schemas.openxmlformats.org/drawingml/2006/main" prst="roundRect">
            <a:avLst>
              <a:gd name="adj" fmla="val 6667"/>
            </a:avLst>
          </a:prstGeom>
          <a:solidFill xmlns:a="http://schemas.openxmlformats.org/drawingml/2006/main">
            <a:srgbClr val="0A3D32"/>
          </a:solidFill>
          <a:ln xmlns:a="http://schemas.openxmlformats.org/drawingml/2006/main" w="9525">
            <a:solidFill>
              <a:srgbClr val="1A5A4A"/>
            </a:solidFill>
            <a:prstDash val="solid"/>
          </a:ln>
        </p:spPr>
      </p:sp>
      <p:sp>
        <p:nvSpPr>
          <p:cNvPr id="14" name="">
            <a:extLst xmlns:a="http://schemas.openxmlformats.org/drawingml/2006/main">
              <a:ext uri="{FF2B5EF4-FFF2-40B4-BE49-F238E27FC236}">
                <a16:creationId xmlns:a16="http://schemas.microsoft.com/office/drawing/2014/main" id="{B8F8D90E-6417-4075-BD89-51B9A4275217}"/>
              </a:ext>
            </a:extLst>
          </p:cNvPr>
          <p:cNvSpPr>
            <a:spLocks xmlns:a="http://schemas.openxmlformats.org/drawingml/2006/main" noGrp="1"/>
          </p:cNvSpPr>
          <p:nvPr/>
        </p:nvSpPr>
        <p:spPr>
          <a:xfrm xmlns:a="http://schemas.openxmlformats.org/drawingml/2006/main">
            <a:off x="4419600" y="2971800"/>
            <a:ext cx="3333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Email</a:t>
            </a:r>
          </a:p>
        </p:txBody>
      </p:sp>
      <p:sp>
        <p:nvSpPr>
          <p:cNvPr id="15" name="">
            <a:extLst xmlns:a="http://schemas.openxmlformats.org/drawingml/2006/main">
              <a:ext uri="{FF2B5EF4-FFF2-40B4-BE49-F238E27FC236}">
                <a16:creationId xmlns:a16="http://schemas.microsoft.com/office/drawing/2014/main" id="{9DBC94DA-6D9D-414E-AAF7-C408A94BD5B5}"/>
              </a:ext>
            </a:extLst>
          </p:cNvPr>
          <p:cNvSpPr>
            <a:spLocks xmlns:a="http://schemas.openxmlformats.org/drawingml/2006/main" noGrp="1"/>
          </p:cNvSpPr>
          <p:nvPr/>
        </p:nvSpPr>
        <p:spPr>
          <a:xfrm xmlns:a="http://schemas.openxmlformats.org/drawingml/2006/main">
            <a:off x="4419600" y="3181350"/>
            <a:ext cx="3333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0F2A2E"/>
                </a:solidFill>
              </a:defRPr>
            </a:pPr>
            <a:r>
              <a:rPr sz="1200" b="1">
                <a:solidFill>
                  <a:srgbClr val="0F2A2E"/>
                </a:solidFill>
              </a:rPr>
              <a:t>hello@ccdesigner.co.uk</a:t>
            </a:r>
          </a:p>
        </p:txBody>
      </p:sp>
      <p:sp>
        <p:nvSpPr>
          <p:cNvPr id="16" name="">
            <a:extLst xmlns:a="http://schemas.openxmlformats.org/drawingml/2006/main">
              <a:ext uri="{FF2B5EF4-FFF2-40B4-BE49-F238E27FC236}">
                <a16:creationId xmlns:a16="http://schemas.microsoft.com/office/drawing/2014/main" id="{BD2514DB-D1D2-4BBD-BD7A-5898126A3C73}"/>
              </a:ext>
            </a:extLst>
          </p:cNvPr>
          <p:cNvSpPr>
            <a:spLocks xmlns:a="http://schemas.openxmlformats.org/drawingml/2006/main" noGrp="1"/>
          </p:cNvSpPr>
          <p:nvPr/>
        </p:nvSpPr>
        <p:spPr>
          <a:xfrm xmlns:a="http://schemas.openxmlformats.org/drawingml/2006/main">
            <a:off x="8001000" y="2857500"/>
            <a:ext cx="3562350" cy="1143000"/>
          </a:xfrm>
          <a:prstGeom xmlns:a="http://schemas.openxmlformats.org/drawingml/2006/main" prst="roundRect">
            <a:avLst>
              <a:gd name="adj" fmla="val 6667"/>
            </a:avLst>
          </a:prstGeom>
          <a:solidFill xmlns:a="http://schemas.openxmlformats.org/drawingml/2006/main">
            <a:srgbClr val="0A3D32"/>
          </a:solidFill>
          <a:ln xmlns:a="http://schemas.openxmlformats.org/drawingml/2006/main" w="9525">
            <a:solidFill>
              <a:srgbClr val="1A5A4A"/>
            </a:solidFill>
            <a:prstDash val="solid"/>
          </a:ln>
        </p:spPr>
      </p:sp>
      <p:sp>
        <p:nvSpPr>
          <p:cNvPr id="17" name="">
            <a:extLst xmlns:a="http://schemas.openxmlformats.org/drawingml/2006/main">
              <a:ext uri="{FF2B5EF4-FFF2-40B4-BE49-F238E27FC236}">
                <a16:creationId xmlns:a16="http://schemas.microsoft.com/office/drawing/2014/main" id="{2BA67CAD-6920-4779-B215-FEFA4205D330}"/>
              </a:ext>
            </a:extLst>
          </p:cNvPr>
          <p:cNvSpPr>
            <a:spLocks xmlns:a="http://schemas.openxmlformats.org/drawingml/2006/main" noGrp="1"/>
          </p:cNvSpPr>
          <p:nvPr/>
        </p:nvSpPr>
        <p:spPr>
          <a:xfrm xmlns:a="http://schemas.openxmlformats.org/drawingml/2006/main">
            <a:off x="8115300" y="2971800"/>
            <a:ext cx="3333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7432"/>
          </a:bodyPr>
          <a:lstStyle xmlns:a="http://schemas.openxmlformats.org/drawingml/2006/main"/>
          <a:p xmlns:a="http://schemas.openxmlformats.org/drawingml/2006/main">
            <a:pPr algn="l">
              <a:defRPr sz="825" b="1">
                <a:solidFill>
                  <a:srgbClr val="002D24"/>
                </a:solidFill>
              </a:defRPr>
            </a:pPr>
            <a:r>
              <a:rPr sz="825" b="1">
                <a:solidFill>
                  <a:srgbClr val="002D24"/>
                </a:solidFill>
              </a:rPr>
              <a:t>Book a demo</a:t>
            </a:r>
          </a:p>
        </p:txBody>
      </p:sp>
      <p:sp>
        <p:nvSpPr>
          <p:cNvPr id="18" name="">
            <a:extLst xmlns:a="http://schemas.openxmlformats.org/drawingml/2006/main">
              <a:ext uri="{FF2B5EF4-FFF2-40B4-BE49-F238E27FC236}">
                <a16:creationId xmlns:a16="http://schemas.microsoft.com/office/drawing/2014/main" id="{A9262B32-8248-4E77-869C-EAD3FD993034}"/>
              </a:ext>
            </a:extLst>
          </p:cNvPr>
          <p:cNvSpPr>
            <a:spLocks xmlns:a="http://schemas.openxmlformats.org/drawingml/2006/main" noGrp="1"/>
          </p:cNvSpPr>
          <p:nvPr/>
        </p:nvSpPr>
        <p:spPr>
          <a:xfrm xmlns:a="http://schemas.openxmlformats.org/drawingml/2006/main">
            <a:off x="8115300" y="3181350"/>
            <a:ext cx="3333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84847"/>
          </a:bodyPr>
          <a:lstStyle xmlns:a="http://schemas.openxmlformats.org/drawingml/2006/main"/>
          <a:p xmlns:a="http://schemas.openxmlformats.org/drawingml/2006/main">
            <a:pPr algn="l">
              <a:defRPr sz="1200" b="1">
                <a:solidFill>
                  <a:srgbClr val="0F2A2E"/>
                </a:solidFill>
              </a:defRPr>
            </a:pPr>
            <a:r>
              <a:rPr sz="1200" b="1">
                <a:solidFill>
                  <a:srgbClr val="0F2A2E"/>
                </a:solidFill>
              </a:rPr>
              <a:t>30-minute walk-through with your team or partners</a:t>
            </a:r>
          </a:p>
        </p:txBody>
      </p:sp>
      <p:sp>
        <p:nvSpPr>
          <p:cNvPr id="19" name="">
            <a:extLst xmlns:a="http://schemas.openxmlformats.org/drawingml/2006/main">
              <a:ext uri="{FF2B5EF4-FFF2-40B4-BE49-F238E27FC236}">
                <a16:creationId xmlns:a16="http://schemas.microsoft.com/office/drawing/2014/main" id="{84E156ED-0A63-44DE-AEED-EB89F5A9C20A}"/>
              </a:ext>
            </a:extLst>
          </p:cNvPr>
          <p:cNvSpPr>
            <a:spLocks xmlns:a="http://schemas.openxmlformats.org/drawingml/2006/main" noGrp="1"/>
          </p:cNvSpPr>
          <p:nvPr/>
        </p:nvSpPr>
        <p:spPr>
          <a:xfrm xmlns:a="http://schemas.openxmlformats.org/drawingml/2006/main">
            <a:off x="609600" y="4476750"/>
            <a:ext cx="3429000" cy="419100"/>
          </a:xfrm>
          <a:prstGeom xmlns:a="http://schemas.openxmlformats.org/drawingml/2006/main" prst="roundRect">
            <a:avLst>
              <a:gd name="adj" fmla="val 18182"/>
            </a:avLst>
          </a:prstGeom>
          <a:solidFill xmlns:a="http://schemas.openxmlformats.org/drawingml/2006/main">
            <a:srgbClr val="B6FF7E"/>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1B56D209-A6E6-49BB-B49A-D04BB9305A9A}"/>
              </a:ext>
            </a:extLst>
          </p:cNvPr>
          <p:cNvSpPr>
            <a:spLocks xmlns:a="http://schemas.openxmlformats.org/drawingml/2006/main" noGrp="1"/>
          </p:cNvSpPr>
          <p:nvPr/>
        </p:nvSpPr>
        <p:spPr>
          <a:xfrm xmlns:a="http://schemas.openxmlformats.org/drawingml/2006/main">
            <a:off x="762000" y="4572000"/>
            <a:ext cx="3143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002D24"/>
                </a:solidFill>
              </a:defRPr>
            </a:pPr>
            <a:r>
              <a:rPr sz="1125" b="1">
                <a:solidFill>
                  <a:srgbClr val="002D24"/>
                </a:solidFill>
              </a:rPr>
              <a:t>Book a demo</a:t>
            </a:r>
          </a:p>
        </p:txBody>
      </p:sp>
      <p:sp>
        <p:nvSpPr>
          <p:cNvPr id="21" name="">
            <a:extLst xmlns:a="http://schemas.openxmlformats.org/drawingml/2006/main">
              <a:ext uri="{FF2B5EF4-FFF2-40B4-BE49-F238E27FC236}">
                <a16:creationId xmlns:a16="http://schemas.microsoft.com/office/drawing/2014/main" id="{001141DF-7E65-4CC0-A6C1-E39F4856553C}"/>
              </a:ext>
            </a:extLst>
          </p:cNvPr>
          <p:cNvSpPr>
            <a:spLocks xmlns:a="http://schemas.openxmlformats.org/drawingml/2006/main" noGrp="1"/>
          </p:cNvSpPr>
          <p:nvPr/>
        </p:nvSpPr>
        <p:spPr>
          <a:xfrm xmlns:a="http://schemas.openxmlformats.org/drawingml/2006/main">
            <a:off x="609600" y="65532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l">
              <a:defRPr sz="825" b="0">
                <a:solidFill>
                  <a:srgbClr val="8FB5AD"/>
                </a:solidFill>
              </a:defRPr>
            </a:pPr>
            <a:r>
              <a:rPr sz="825" b="0">
                <a:solidFill>
                  <a:srgbClr val="8FB5AD"/>
                </a:solidFill>
              </a:rPr>
              <a:t>Creative Curriculum Designer</a:t>
            </a:r>
          </a:p>
        </p:txBody>
      </p:sp>
      <p:sp>
        <p:nvSpPr>
          <p:cNvPr id="22" name="">
            <a:extLst xmlns:a="http://schemas.openxmlformats.org/drawingml/2006/main">
              <a:ext uri="{FF2B5EF4-FFF2-40B4-BE49-F238E27FC236}">
                <a16:creationId xmlns:a16="http://schemas.microsoft.com/office/drawing/2014/main" id="{97FFCC31-C97C-4516-8BD9-FE19F82349A3}"/>
              </a:ext>
            </a:extLst>
          </p:cNvPr>
          <p:cNvSpPr>
            <a:spLocks xmlns:a="http://schemas.openxmlformats.org/drawingml/2006/main" noGrp="1"/>
          </p:cNvSpPr>
          <p:nvPr/>
        </p:nvSpPr>
        <p:spPr>
          <a:xfrm xmlns:a="http://schemas.openxmlformats.org/drawingml/2006/main">
            <a:off x="10287000" y="65532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anchor="t">
            <a:normAutofit fontScale="79251"/>
          </a:bodyPr>
          <a:lstStyle xmlns:a="http://schemas.openxmlformats.org/drawingml/2006/main"/>
          <a:p xmlns:a="http://schemas.openxmlformats.org/drawingml/2006/main">
            <a:pPr algn="r">
              <a:defRPr sz="825" b="0">
                <a:solidFill>
                  <a:srgbClr val="8FB5AD"/>
                </a:solidFill>
              </a:defRPr>
            </a:pPr>
            <a:r>
              <a:rPr sz="825" b="0">
                <a:solidFill>
                  <a:srgbClr val="8FB5AD"/>
                </a:solidFill>
              </a:rPr>
              <a:t>25 / 25</a:t>
            </a:r>
          </a:p>
        </p:txBody>
      </p:sp>
    </p:spTree>
    <p:extLst>
      <p:ext uri="{BB962C8B-B14F-4D97-AF65-F5344CB8AC3E}">
        <p14:creationId xmlns:p14="http://schemas.microsoft.com/office/powerpoint/2010/main" val="15241584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2026-07-24T14:39:01.9130000Z</dcterms:created>
  <dcterms:modified xsi:type="dcterms:W3CDTF">2026-07-24T14:39:01.9130000Z</dcterms:modified>
</coreProperties>
</file>