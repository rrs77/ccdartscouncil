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79bfe33a842ca" /><Relationship Type="http://schemas.openxmlformats.org/officeDocument/2006/relationships/extended-properties" Target="/docProps/app.xml" Id="Re5c54dd454cb4247" /><Relationship Type="http://schemas.openxmlformats.org/officeDocument/2006/relationships/officeDocument" Target="/ppt/presentation.xml" Id="Rc0161d9c428f4a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3b6b8fb6ea4b65"/>
  </p:sldMasterIdLst>
  <p:notesMasterIdLst>
    <p:notesMasterId xmlns:r="http://schemas.openxmlformats.org/officeDocument/2006/relationships" r:id="R9303981a8bea49fd"/>
  </p:notesMasterIdLst>
  <p:sldIdLst>
    <p:sldId xmlns:r="http://schemas.openxmlformats.org/officeDocument/2006/relationships" id="256" r:id="Ra89963dfd90344ce"/>
    <p:sldId xmlns:r="http://schemas.openxmlformats.org/officeDocument/2006/relationships" id="257" r:id="R12eb1e220a6f40da"/>
    <p:sldId xmlns:r="http://schemas.openxmlformats.org/officeDocument/2006/relationships" id="258" r:id="Rdde379073d914e1f"/>
    <p:sldId xmlns:r="http://schemas.openxmlformats.org/officeDocument/2006/relationships" id="259" r:id="R41aa04a017a748d3"/>
    <p:sldId xmlns:r="http://schemas.openxmlformats.org/officeDocument/2006/relationships" id="260" r:id="Rbbf9e8481a314233"/>
    <p:sldId xmlns:r="http://schemas.openxmlformats.org/officeDocument/2006/relationships" id="261" r:id="Re7774ab0d4df4751"/>
    <p:sldId xmlns:r="http://schemas.openxmlformats.org/officeDocument/2006/relationships" id="262" r:id="R2cf51eb1f6bb4dbc"/>
    <p:sldId xmlns:r="http://schemas.openxmlformats.org/officeDocument/2006/relationships" id="263" r:id="R8c9949627f484b0f"/>
    <p:sldId xmlns:r="http://schemas.openxmlformats.org/officeDocument/2006/relationships" id="264" r:id="R2b096255a3794052"/>
    <p:sldId xmlns:r="http://schemas.openxmlformats.org/officeDocument/2006/relationships" id="265" r:id="Re46f33fc48934bea"/>
    <p:sldId xmlns:r="http://schemas.openxmlformats.org/officeDocument/2006/relationships" id="266" r:id="R9e3948f4262f454e"/>
    <p:sldId xmlns:r="http://schemas.openxmlformats.org/officeDocument/2006/relationships" id="267" r:id="R58b649a95f3c4571"/>
    <p:sldId xmlns:r="http://schemas.openxmlformats.org/officeDocument/2006/relationships" id="268" r:id="R608c018ada6e4a5a"/>
    <p:sldId xmlns:r="http://schemas.openxmlformats.org/officeDocument/2006/relationships" id="269" r:id="R179fc719c46f434f"/>
    <p:sldId xmlns:r="http://schemas.openxmlformats.org/officeDocument/2006/relationships" id="270" r:id="R1216a60645cd46b0"/>
    <p:sldId xmlns:r="http://schemas.openxmlformats.org/officeDocument/2006/relationships" id="271" r:id="R097fe566bc594577"/>
    <p:sldId xmlns:r="http://schemas.openxmlformats.org/officeDocument/2006/relationships" id="272" r:id="R7740669d540d42d2"/>
    <p:sldId xmlns:r="http://schemas.openxmlformats.org/officeDocument/2006/relationships" id="273" r:id="R742fbe4aa1014b77"/>
    <p:sldId xmlns:r="http://schemas.openxmlformats.org/officeDocument/2006/relationships" id="274" r:id="R4bda86e9a7764066"/>
    <p:sldId xmlns:r="http://schemas.openxmlformats.org/officeDocument/2006/relationships" id="275" r:id="R5e5ab252ae9944e8"/>
    <p:sldId xmlns:r="http://schemas.openxmlformats.org/officeDocument/2006/relationships" id="276" r:id="Rf5cbabcf7c8f45c3"/>
    <p:sldId xmlns:r="http://schemas.openxmlformats.org/officeDocument/2006/relationships" id="277" r:id="R73cfd4f7cb934a9f"/>
    <p:sldId xmlns:r="http://schemas.openxmlformats.org/officeDocument/2006/relationships" id="278" r:id="R5262a024c2cf44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b6b8fb6ea4b65" /><Relationship Type="http://schemas.openxmlformats.org/officeDocument/2006/relationships/theme" Target="/ppt/theme/theme1.xml" Id="R96d0b8128afe49bd" /><Relationship Type="http://schemas.openxmlformats.org/officeDocument/2006/relationships/notesMaster" Target="/ppt/notesMasters/notesMaster1.xml" Id="R9303981a8bea49fd" /><Relationship Type="http://schemas.openxmlformats.org/officeDocument/2006/relationships/presProps" Target="/ppt/presProps.xml" Id="Rb516bd42d77f4c89" /><Relationship Type="http://schemas.openxmlformats.org/officeDocument/2006/relationships/viewProps" Target="/ppt/viewProps.xml" Id="R3aad8361e84f42bf" /><Relationship Type="http://schemas.openxmlformats.org/officeDocument/2006/relationships/tableStyles" Target="/ppt/tableStyles.xml" Id="Rce7285171900435d" /><Relationship Type="http://schemas.openxmlformats.org/officeDocument/2006/relationships/slide" Target="/ppt/slides/slide1.xml" Id="Ra89963dfd90344ce" /><Relationship Type="http://schemas.openxmlformats.org/officeDocument/2006/relationships/slide" Target="/ppt/slides/slide2.xml" Id="R12eb1e220a6f40da" /><Relationship Type="http://schemas.openxmlformats.org/officeDocument/2006/relationships/slide" Target="/ppt/slides/slide3.xml" Id="Rdde379073d914e1f" /><Relationship Type="http://schemas.openxmlformats.org/officeDocument/2006/relationships/slide" Target="/ppt/slides/slide4.xml" Id="R41aa04a017a748d3" /><Relationship Type="http://schemas.openxmlformats.org/officeDocument/2006/relationships/slide" Target="/ppt/slides/slide5.xml" Id="Rbbf9e8481a314233" /><Relationship Type="http://schemas.openxmlformats.org/officeDocument/2006/relationships/slide" Target="/ppt/slides/slide6.xml" Id="Re7774ab0d4df4751" /><Relationship Type="http://schemas.openxmlformats.org/officeDocument/2006/relationships/slide" Target="/ppt/slides/slide7.xml" Id="R2cf51eb1f6bb4dbc" /><Relationship Type="http://schemas.openxmlformats.org/officeDocument/2006/relationships/slide" Target="/ppt/slides/slide8.xml" Id="R8c9949627f484b0f" /><Relationship Type="http://schemas.openxmlformats.org/officeDocument/2006/relationships/slide" Target="/ppt/slides/slide9.xml" Id="R2b096255a3794052" /><Relationship Type="http://schemas.openxmlformats.org/officeDocument/2006/relationships/slide" Target="/ppt/slides/slide10.xml" Id="Re46f33fc48934bea" /><Relationship Type="http://schemas.openxmlformats.org/officeDocument/2006/relationships/slide" Target="/ppt/slides/slide11.xml" Id="R9e3948f4262f454e" /><Relationship Type="http://schemas.openxmlformats.org/officeDocument/2006/relationships/slide" Target="/ppt/slides/slide12.xml" Id="R58b649a95f3c4571" /><Relationship Type="http://schemas.openxmlformats.org/officeDocument/2006/relationships/slide" Target="/ppt/slides/slide13.xml" Id="R608c018ada6e4a5a" /><Relationship Type="http://schemas.openxmlformats.org/officeDocument/2006/relationships/slide" Target="/ppt/slides/slide14.xml" Id="R179fc719c46f434f" /><Relationship Type="http://schemas.openxmlformats.org/officeDocument/2006/relationships/slide" Target="/ppt/slides/slide15.xml" Id="R1216a60645cd46b0" /><Relationship Type="http://schemas.openxmlformats.org/officeDocument/2006/relationships/slide" Target="/ppt/slides/slide16.xml" Id="R097fe566bc594577" /><Relationship Type="http://schemas.openxmlformats.org/officeDocument/2006/relationships/slide" Target="/ppt/slides/slide17.xml" Id="R7740669d540d42d2" /><Relationship Type="http://schemas.openxmlformats.org/officeDocument/2006/relationships/slide" Target="/ppt/slides/slide18.xml" Id="R742fbe4aa1014b77" /><Relationship Type="http://schemas.openxmlformats.org/officeDocument/2006/relationships/slide" Target="/ppt/slides/slide19.xml" Id="R4bda86e9a7764066" /><Relationship Type="http://schemas.openxmlformats.org/officeDocument/2006/relationships/slide" Target="/ppt/slides/slide20.xml" Id="R5e5ab252ae9944e8" /><Relationship Type="http://schemas.openxmlformats.org/officeDocument/2006/relationships/slide" Target="/ppt/slides/slide21.xml" Id="Rf5cbabcf7c8f45c3" /><Relationship Type="http://schemas.openxmlformats.org/officeDocument/2006/relationships/slide" Target="/ppt/slides/slide22.xml" Id="R73cfd4f7cb934a9f" /><Relationship Type="http://schemas.openxmlformats.org/officeDocument/2006/relationships/slide" Target="/ppt/slides/slide23.xml" Id="R5262a024c2cf44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3fc566676a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e9def33adc400e" /><Relationship Type="http://schemas.openxmlformats.org/officeDocument/2006/relationships/notesMaster" Target="/ppt/notesMasters/notesMaster1.xml" Id="Rac1197ae91b9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88a4ccbd1b4830" /><Relationship Type="http://schemas.openxmlformats.org/officeDocument/2006/relationships/notesMaster" Target="/ppt/notesMasters/notesMaster1.xml" Id="R9d6d284bf023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38583e24ab472d" /><Relationship Type="http://schemas.openxmlformats.org/officeDocument/2006/relationships/notesMaster" Target="/ppt/notesMasters/notesMaster1.xml" Id="R43f2db80b076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75923d44b4840" /><Relationship Type="http://schemas.openxmlformats.org/officeDocument/2006/relationships/notesMaster" Target="/ppt/notesMasters/notesMaster1.xml" Id="R24fba48fb316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f408287244ef1" /><Relationship Type="http://schemas.openxmlformats.org/officeDocument/2006/relationships/notesMaster" Target="/ppt/notesMasters/notesMaster1.xml" Id="Rd4fda02e485249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c52abe70b648fb" /><Relationship Type="http://schemas.openxmlformats.org/officeDocument/2006/relationships/notesMaster" Target="/ppt/notesMasters/notesMaster1.xml" Id="Raad4229eca1f49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99236bba8749bb" /><Relationship Type="http://schemas.openxmlformats.org/officeDocument/2006/relationships/notesMaster" Target="/ppt/notesMasters/notesMaster1.xml" Id="R1c1890622da041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6fe2534a8644bc" /><Relationship Type="http://schemas.openxmlformats.org/officeDocument/2006/relationships/notesMaster" Target="/ppt/notesMasters/notesMaster1.xml" Id="R18992841f1344a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1d1fc83d0f4208" /><Relationship Type="http://schemas.openxmlformats.org/officeDocument/2006/relationships/notesMaster" Target="/ppt/notesMasters/notesMaster1.xml" Id="Rb31a93dd84c54f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90942dd16a4f26" /><Relationship Type="http://schemas.openxmlformats.org/officeDocument/2006/relationships/notesMaster" Target="/ppt/notesMasters/notesMaster1.xml" Id="Ra06f4a99edd4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630459d8374e9e" /><Relationship Type="http://schemas.openxmlformats.org/officeDocument/2006/relationships/notesMaster" Target="/ppt/notesMasters/notesMaster1.xml" Id="Re5814d910fb445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de9ae61c374a8f" /><Relationship Type="http://schemas.openxmlformats.org/officeDocument/2006/relationships/notesMaster" Target="/ppt/notesMasters/notesMaster1.xml" Id="R5b11ce85c5454d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7b742293254fa3" /><Relationship Type="http://schemas.openxmlformats.org/officeDocument/2006/relationships/notesMaster" Target="/ppt/notesMasters/notesMaster1.xml" Id="R109b31bd371f45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a81f56a4144e2a" /><Relationship Type="http://schemas.openxmlformats.org/officeDocument/2006/relationships/notesMaster" Target="/ppt/notesMasters/notesMaster1.xml" Id="R107994feddd246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25dd2cbaf6491d" /><Relationship Type="http://schemas.openxmlformats.org/officeDocument/2006/relationships/notesMaster" Target="/ppt/notesMasters/notesMaster1.xml" Id="R5cd134d3516b44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a89f3f60ae4ecd" /><Relationship Type="http://schemas.openxmlformats.org/officeDocument/2006/relationships/notesMaster" Target="/ppt/notesMasters/notesMaster1.xml" Id="R040b72d645eb47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d0b404aaf54cf4" /><Relationship Type="http://schemas.openxmlformats.org/officeDocument/2006/relationships/notesMaster" Target="/ppt/notesMasters/notesMaster1.xml" Id="Rc6eee86ac7df4f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fe83f65ec74a32" /><Relationship Type="http://schemas.openxmlformats.org/officeDocument/2006/relationships/notesMaster" Target="/ppt/notesMasters/notesMaster1.xml" Id="R3659914dd30e4d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01ed57658f45fb" /><Relationship Type="http://schemas.openxmlformats.org/officeDocument/2006/relationships/notesMaster" Target="/ppt/notesMasters/notesMaster1.xml" Id="Rbece407b39d248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b2b6b94228454e" /><Relationship Type="http://schemas.openxmlformats.org/officeDocument/2006/relationships/notesMaster" Target="/ppt/notesMasters/notesMaster1.xml" Id="Ra951e351e0db4c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f2f57144d54daa" /><Relationship Type="http://schemas.openxmlformats.org/officeDocument/2006/relationships/notesMaster" Target="/ppt/notesMasters/notesMaster1.xml" Id="R54b7080c98af4d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cd9701747e4cc7" /><Relationship Type="http://schemas.openxmlformats.org/officeDocument/2006/relationships/notesMaster" Target="/ppt/notesMasters/notesMaster1.xml" Id="Rbacdbc5f968d4a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f4e02c10db43b3" /><Relationship Type="http://schemas.openxmlformats.org/officeDocument/2006/relationships/notesMaster" Target="/ppt/notesMasters/notesMaster1.xml" Id="R97441b8e995b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Print-ready lesson PDF samples across key stages.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Melting-pot argument for a shared creative archive.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as assistant that amplifies teacher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Adaptive pathways from one core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Partner ecosystem powering shared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Curiosity and imagination by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Cross-curricular threads across subjects.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Brand mark closing beat with site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Remix diagram — old ideas become new lessons.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Curriculum mapping node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Mobile planning with KS3 and EYFS lesson previews.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cards so practice is never lost.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 progression across the school year.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Teach–reflect–adapt–refine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SEND inclusion at the centre of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Intentional knowledge sequencing to mastery.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Stretch and deeper learning opportunities.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as creative work philosophy.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from EYFS to university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School homepage and read-only preview mode.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School settings hub for years, branding,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and next steps into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intro for partners and funding.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be1d2425c43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28AF1DB-053B-415B-9E76-467CC7C6943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73B7D2-F637-4A13-859D-4FDC550D86E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D7BF23-BF46-4663-96C9-1E302A41E1B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1E6EBB-9B15-42D2-A2A5-431500ABA02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c19276484294e96" /><Relationship Type="http://schemas.openxmlformats.org/officeDocument/2006/relationships/slideLayout" Target="/ppt/slideLayouts/slideLayout2.xml" Id="Ra2f7fcaece9641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A50AD8-0689-4B39-A37C-A08590BCE8D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f7fcaece9641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100f0093f47ba" /><Relationship Type="http://schemas.openxmlformats.org/officeDocument/2006/relationships/notesSlide" Target="/ppt/notesSlides/notesSlide1.xml" Id="R8d0ab681a52340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bde5bf3ac4ed9" /><Relationship Type="http://schemas.openxmlformats.org/officeDocument/2006/relationships/notesSlide" Target="/ppt/notesSlides/notesSlide2.xml" Id="R5e1ba836189a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84066382246f1" /><Relationship Type="http://schemas.openxmlformats.org/officeDocument/2006/relationships/notesSlide" Target="/ppt/notesSlides/notesSlide3.xml" Id="R51c5adb3c0044a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b40f66e5247fa" /><Relationship Type="http://schemas.openxmlformats.org/officeDocument/2006/relationships/notesSlide" Target="/ppt/notesSlides/notesSlide4.xml" Id="Reee5453f385f4d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a7936252d4b8a" /><Relationship Type="http://schemas.openxmlformats.org/officeDocument/2006/relationships/notesSlide" Target="/ppt/notesSlides/notesSlide5.xml" Id="R0431b391821e43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18e9824334646" /><Relationship Type="http://schemas.openxmlformats.org/officeDocument/2006/relationships/notesSlide" Target="/ppt/notesSlides/notesSlide6.xml" Id="R27d4aaaa4d434a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955c2c1c5405c" /><Relationship Type="http://schemas.openxmlformats.org/officeDocument/2006/relationships/notesSlide" Target="/ppt/notesSlides/notesSlide7.xml" Id="R3433deb930c945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9dbb13821d4846" /><Relationship Type="http://schemas.openxmlformats.org/officeDocument/2006/relationships/notesSlide" Target="/ppt/notesSlides/notesSlide8.xml" Id="R81ea293d37fb43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42d134a646411f" /><Relationship Type="http://schemas.openxmlformats.org/officeDocument/2006/relationships/notesSlide" Target="/ppt/notesSlides/notesSlide9.xml" Id="R28a8a7acd6ff43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98174e279e4eef" /><Relationship Type="http://schemas.openxmlformats.org/officeDocument/2006/relationships/notesSlide" Target="/ppt/notesSlides/notesSlide10.xml" Id="R8e528d55ff7b4f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0cd4d4dcf4d50" /><Relationship Type="http://schemas.openxmlformats.org/officeDocument/2006/relationships/notesSlide" Target="/ppt/notesSlides/notesSlide11.xml" Id="R418fe2c6aa1043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ec964eb2cb4cf6" /><Relationship Type="http://schemas.openxmlformats.org/officeDocument/2006/relationships/notesSlide" Target="/ppt/notesSlides/notesSlide12.xml" Id="Rb17f4dd96f414f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44e93b4694cab" /><Relationship Type="http://schemas.openxmlformats.org/officeDocument/2006/relationships/notesSlide" Target="/ppt/notesSlides/notesSlide13.xml" Id="Rce6558fa03a847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32c2724e84568" /><Relationship Type="http://schemas.openxmlformats.org/officeDocument/2006/relationships/notesSlide" Target="/ppt/notesSlides/notesSlide14.xml" Id="R3bd608c5b7944b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44266f16234522" /><Relationship Type="http://schemas.openxmlformats.org/officeDocument/2006/relationships/notesSlide" Target="/ppt/notesSlides/notesSlide15.xml" Id="Rb0e101fbe4844b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aa0a45bbb407d" /><Relationship Type="http://schemas.openxmlformats.org/officeDocument/2006/relationships/notesSlide" Target="/ppt/notesSlides/notesSlide16.xml" Id="R94b78491a86d41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652cfd9e614ec9" /><Relationship Type="http://schemas.openxmlformats.org/officeDocument/2006/relationships/notesSlide" Target="/ppt/notesSlides/notesSlide17.xml" Id="R5ca82905290841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9a7713369b42fb" /><Relationship Type="http://schemas.openxmlformats.org/officeDocument/2006/relationships/notesSlide" Target="/ppt/notesSlides/notesSlide18.xml" Id="R55666424279c4e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febe77a004cff" /><Relationship Type="http://schemas.openxmlformats.org/officeDocument/2006/relationships/notesSlide" Target="/ppt/notesSlides/notesSlide19.xml" Id="Rbe1635bc6e6642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07057644f347ca" /><Relationship Type="http://schemas.openxmlformats.org/officeDocument/2006/relationships/notesSlide" Target="/ppt/notesSlides/notesSlide20.xml" Id="R29a40cce1ba544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9b48be2fb4940" /><Relationship Type="http://schemas.openxmlformats.org/officeDocument/2006/relationships/notesSlide" Target="/ppt/notesSlides/notesSlide21.xml" Id="R505799a88e804e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3ebba49dab413e" /><Relationship Type="http://schemas.openxmlformats.org/officeDocument/2006/relationships/notesSlide" Target="/ppt/notesSlides/notesSlide22.xml" Id="Rfea65bd8449d44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14e517ab1d41dd" /><Relationship Type="http://schemas.openxmlformats.org/officeDocument/2006/relationships/notesSlide" Target="/ppt/notesSlides/notesSlide23.xml" Id="Rd79264d72ffe48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0FCE-CDFB-4BD5-9165-98EA33A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BA0E1-34C7-4FCC-925D-AE8D8025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31FAF-4259-4908-9CA8-CBA00860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875DC-8F23-4221-AE0A-F6A763CE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Feature 06 · Print, project, share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29C11-9DB2-4089-954B-E22347FC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D24"/>
                </a:solidFill>
              </a:defRPr>
            </a:pPr>
            <a:r>
              <a:rPr sz="2100" b="1">
                <a:solidFill>
                  <a:srgbClr val="002D24"/>
                </a:solidFill>
              </a:rPr>
              <a:t>The same workspace — from A-Level Drama to EYFS Reception.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540D9-89C8-4B93-AB45-084C1317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41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9B674-D988-4B43-8878-8DE4DBC5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Year 13 · A-Level Drama (Eduqas) · Component 1 · Lesson 4 of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C41EF-245E-4F19-B909-9D549DD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2E"/>
                </a:solidFill>
              </a:defRPr>
            </a:pPr>
            <a:r>
              <a:rPr sz="975" b="1">
                <a:solidFill>
                  <a:srgbClr val="0F2A2E"/>
                </a:solidFill>
              </a:rPr>
              <a:t>Brecht in Practice — Gestus &amp; Verfremdung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B7246-F968-4220-81AD-CBE5679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229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A4548"/>
                </a:solidFill>
              </a:defRPr>
            </a:pPr>
            <a:r>
              <a:rPr sz="825" b="0">
                <a:solidFill>
                  <a:srgbClr val="2A4548"/>
                </a:solidFill>
              </a:rPr>
              <a:t>Apply Brechtian techniques (gestus, direct address, placard, song) to a 3-minute extract from Mother Courage and analyse how each device disrupts naturalistic empathy.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FA10E-9E7D-4981-BCDB-B8F9F886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28750"/>
            <a:ext cx="541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20DF-4669-4A2A-A725-E23F2A0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Reception · EYFS Drama · Storytelling Through Drama · Lesson 1 of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8D8C6-5E61-49DA-9A59-1F3E5D98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2A2E"/>
                </a:solidFill>
              </a:defRPr>
            </a:pPr>
            <a:r>
              <a:rPr sz="975" b="1">
                <a:solidFill>
                  <a:srgbClr val="0F2A2E"/>
                </a:solidFill>
              </a:rPr>
              <a:t>The Three Little Pigs — Acting Out the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3489A-76DD-412E-9E6D-5CEE5A5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945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A4548"/>
                </a:solidFill>
              </a:defRPr>
            </a:pPr>
            <a:r>
              <a:rPr sz="825" b="0">
                <a:solidFill>
                  <a:srgbClr val="2A4548"/>
                </a:solidFill>
              </a:rPr>
              <a:t>Children retell a familiar story through role play, using their bodies, voices and props to bring three characters to life and joining in with a repeated refrain.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B0FFB-A551-40C1-9E32-EAEBDBF4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5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define gestus and demonstrate it through a single, socially-loaded gesture.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use Verfremdung (the 'V-effekt') to break the fourth wall in performance.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justify a directorial choice in writing using Brecht's own terminology.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use my big voice and my little voice to be different characters.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act out the story with my friends and take turns.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join in with 'I'll huff and I'll puff' at the right moment.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I can show how the wolf feels using my face and my body.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10 min · Do Now · Gestus Gallery — Students enter to projected stills from the Berliner Ensemble. In silence, each strikes a single 'socially loaded' gesture (the boss, the soldier, the mother). Hold for 30 seconds. Discuss: what does the body alone tell us about class and power?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40 min · Main · Staging the Verfremdung extract — Groups of four stage the recruiter scene from Mother Courage. Each version must integrate at least three Brechtian devices: placard, direct address, song interruption, half-curtain reveal. Rehearse with a stop-and-justify prompt every 8 minutes.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15 min · Stretch · Director's commentary — Each director writes a 200-word programme note in the style of Brecht's Short Organum, defending one staging decision against an imagined naturalistic critic.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15 min · Plenary · Cold-call &amp; exam link — Two groups perform. Cold-call three students to identify the gestus, the V-effekt moment, and the political 'invitation to think'. Map evidence onto AO2 / AO3 of the Component 1 mark scheme.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6 min · Carpet · Story Voice Warm-Up — On the story carpet, children practise three voices together: the squeaky pig, the stomping wolf, the calm narrator. Echo a line back in each voice. Builds vocal control before role play begins.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18 min · Main · Acting Out the Story (small groups) — Four corners of the hall become straw, sticks, brick and the wolf's path. Children move between zones in groups of four (3 pigs + 1 wolf), swapping roles after each refrain. Adults model gesture and facial expression at each new house.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6 min · Language · Repeated Refrain Together — Whole class chants 'Little pig, little pig, let me come in!' / 'Not by the hair of my chinny-chin-chin!' Add a clap on each beat. Encourages turn-taking and confident speaking in role.</a:t>
            </a:r>
          </a:p>
          <a:p xmlns:a="http://schemas.openxmlformats.org/drawingml/2006/main">
            <a:pPr algn="l">
              <a:defRPr sz="750" b="0">
                <a:solidFill>
                  <a:srgbClr val="0F2A2E"/>
                </a:solidFill>
              </a:defRPr>
            </a:pPr>
            <a:r>
              <a:rPr sz="750" b="0">
                <a:solidFill>
                  <a:srgbClr val="0F2A2E"/>
                </a:solidFill>
              </a:rPr>
              <a:t>• 5 min · Plenary · 'How did the wolf feel?' — Sit in a circle. Each child shows the wolf's face at the start, the middle, and the end of the story. Practitioner notes which children used facial expression to communicate feeling — evidence for the EAD profile.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00F15-770E-4F0D-9C43-5430B2AF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FD290-723F-406F-B871-287F1EEA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PDF · A4 print-ready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6BB81-BDEE-4F12-8C58-D7153BB8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905500"/>
            <a:ext cx="2667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78B81-4B21-42B0-AE25-48FB7E54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43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808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I-can statements · clickable weblinks · school header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E9F31-0F8D-4503-8BDF-9DBA3837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036DE-51AC-41E7-B918-3FAD8527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01 / 23</a:t>
            </a:r>
          </a:p>
        </p:txBody>
      </p:sp>
    </p:spTree>
    <p:extLst>
      <p:ext uri="{BB962C8B-B14F-4D97-AF65-F5344CB8AC3E}">
        <p14:creationId xmlns:p14="http://schemas.microsoft.com/office/powerpoint/2010/main" val="129464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1D17E-260C-4C5D-973B-94B97AB0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E6192-B0CF-4F4B-948D-F43D1ED6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9128B-CC93-473A-9D44-49ACD8EE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29561-0EB8-4DF0-9751-5E071753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The argument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ECDA7-321C-4039-8296-DCA157D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D24"/>
                </a:solidFill>
              </a:defRPr>
            </a:pPr>
            <a:r>
              <a:rPr sz="2100" b="1">
                <a:solidFill>
                  <a:srgbClr val="002D24"/>
                </a:solidFill>
              </a:rPr>
              <a:t>A melting pot of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8AFB1-5F68-4A77-8F27-8A95AD81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372C9-1BE6-453C-929D-0CF9FAA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548"/>
                </a:solidFill>
              </a:defRPr>
            </a:pPr>
            <a:r>
              <a:rPr sz="1050" b="0">
                <a:solidFill>
                  <a:srgbClr val="2A4548"/>
                </a:solidFill>
              </a:rPr>
              <a:t>No single classroom — and no single conservatoire — can carry the whole creative ecology on its own. CCD is a place where every contributor pours in what they know best: the rehearsal a teacher nailed in Year 4, the masterclass a violinist gave in Year 11, the choreography a dance company toured to thirty schools. Together, that is a curriculum no funder could commission.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15657-F69A-4C41-9844-6850EC55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CF7B0-98BA-4C0B-844D-1C14D077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Schools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E0739-F111-4BCB-87E4-49EE78B1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Drama, music &amp; dance specialists across EYFS to KS5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8B387-26E1-41E3-BCE0-ADA5E672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83EF1-BD02-46CE-B1BF-B6D3BAD6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573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Universities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4CF07-E066-44E6-A53A-2BB2BDEA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1455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Conservatoires &amp; arts faculties protecting the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C764E-3C04-45FE-B569-BE7B0D6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CD616-A8A1-4571-AE19-02FFCA8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Arts orgs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3AEC7-CD69-43A4-BF89-954CBFE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Theatres, orchestras, dance companies, touring outreach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6B9BE-52C4-4731-9F98-C57930B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E3BB7-77E3-4B03-8B04-26961B6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Practitioners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AE3B1-5DB2-4E04-A10A-226F8C7F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Working artists, freelance teachers, visiting workshops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A40C6-74B3-4964-8FE2-6648E056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146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B07FE-C425-42A2-9AD8-E9CC06EB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480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Communities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0AF3C-ABDD-4399-86E1-5DA8C948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0520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Parents, alumni, local audiences, partner primaries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8068B-6EED-4D16-B057-50A0416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AC602-456E-43C6-A324-0DDA3669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Children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10D90-3B2D-43B9-95A4-481825D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0520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The young artists every contribution is in service 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6C0CE-8B64-4090-AA50-0B3C566D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ACD34-06F2-4C6E-8C09-1AAB46D4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02 / 23</a:t>
            </a:r>
          </a:p>
        </p:txBody>
      </p:sp>
    </p:spTree>
    <p:extLst>
      <p:ext uri="{BB962C8B-B14F-4D97-AF65-F5344CB8AC3E}">
        <p14:creationId xmlns:p14="http://schemas.microsoft.com/office/powerpoint/2010/main" val="1464019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38783-180C-4F06-928A-8D0161A5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509FB-71B1-4C8A-9778-91D543CF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41239-3DA3-4031-96C1-9ADE07AF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5574B-69B5-41EB-80BC-D4B2D04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An assistant, not a replacement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B05E8-01B3-4D28-822C-558EE164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AI that amplifies your thinking.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7531F-75D7-40E7-986C-8E5FD5A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A creative thinking partner — never a replacement for the teacher in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0CB1A-3BB8-489A-975E-653C225E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4E6D6-2C5A-4AB7-8489-CB77C081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F9D62-BB3A-46F4-A13E-21DCC458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5143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15-min KS2 warmup that builds focus?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8574F-E7C3-40D0-B08F-99C0E91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94C80-4472-462D-AA0A-BDFA0A10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Three 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EF500-1DC9-4D78-8A6E-6CBBA9D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1B100-214C-4C67-9F7E-EB4B682C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514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Try "Zip-zap-boing" → "1-2-3 mirror" → silent count-up to 20.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D0BC7-B678-4B6E-ADA2-7C9008F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35447-0DAC-455F-9730-3A71E9F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93F73-6872-4AF0-A993-15AA7BA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5143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Make one SEND-friendly, one stretch.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9406F-6973-4355-B007-01B8D3B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0975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2B2B0-314D-4AA0-95CF-6E262383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Adapted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6B542-1FAB-4C8B-A192-6D80AE3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1A1AC-EA29-4DA8-B0A3-249298E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514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SEND: visual cue cards + paired calls. Stretch: pupils lead the round.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1483F-9227-4774-8A56-ACD05A7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FB658-73E4-42FB-942E-70FD3566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09 / 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49FA7-3041-453E-A7D9-1C2479D3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31D0F-DA7F-4BDA-BBEF-2529838D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03 / 23</a:t>
            </a:r>
          </a:p>
        </p:txBody>
      </p:sp>
    </p:spTree>
    <p:extLst>
      <p:ext uri="{BB962C8B-B14F-4D97-AF65-F5344CB8AC3E}">
        <p14:creationId xmlns:p14="http://schemas.microsoft.com/office/powerpoint/2010/main" val="1902115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DDD3C-200E-4E10-8905-F6CA910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D2FB7-0B9B-4293-84E4-02B97274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F2174-0E11-47D7-9710-CCD8AA26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741A7-B450-4794-8B4D-7839FB22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Adaptive by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233F8-0C3C-48AB-8709-3A938CD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Adapt instantly for different learners.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929E5-54CD-4A7F-8819-B7CE2E5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One lesson, many pathways — generated and refined at the speed of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D74B2-7C79-4545-A6DB-EDE1C5E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D49CC-FDCB-4927-BBA8-CF5A503E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KS3 · 50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B888A-B485-4243-8C01-6B342E2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Core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F1301-9DE6-47EE-ABF7-D4E42C8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514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Tableaux to explore character motivations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BD2B9-E2BB-43F8-89FC-69DC93A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34BC0-63B9-4D66-96AA-EAB45349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GCSE-ready · 65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8F207-4BE9-41F0-BAF6-4089CFFA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Stretch &amp;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7A018-BF58-41EE-8304-7FC40D70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514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+ Subtext layering, role-on-the-wall extension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6FA8D-CEFB-458F-A5B0-C483C59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0E57B-CBD0-4257-BEA4-8676184C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Inclusion · 45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C795E-DF68-4B2C-B1D5-A4F49979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SEND adaptation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81CAB-A119-4AE2-9ADF-A3A6ADD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514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Visual cue cards · paired support · sensory-friendly pacing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33828-ED0B-4AB0-BF0C-88D0E18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0975"/>
            <a:ext cx="54102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A7936-294A-4760-B790-4FB2C242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EAL · 50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9FC34-D46E-4AAC-BA9D-FB0427D6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EAL scaffolds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DB2B8-82E6-44DF-B399-85FBB89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514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Picture vocab bank · sentence stems · mother-tongue option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114C9-F651-400A-9397-5FCF0787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1DAF4-E041-43EA-AE4F-52E605C4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10 / 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7AF7B-C3A7-4432-A8F0-A762F5C2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C57CF-A7FD-46B8-9A31-8317B8D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04 / 23</a:t>
            </a:r>
          </a:p>
        </p:txBody>
      </p:sp>
    </p:spTree>
    <p:extLst>
      <p:ext uri="{BB962C8B-B14F-4D97-AF65-F5344CB8AC3E}">
        <p14:creationId xmlns:p14="http://schemas.microsoft.com/office/powerpoint/2010/main" val="1932458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90899-FCBC-4181-91D9-C8CF19A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A0F71-9E01-4550-97F0-FEC18103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DF4D-9DC8-44AB-8D6A-61B5103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F5361-54E9-4566-8E60-34AE95D0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A growing ecosystem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E88F-1CDB-4451-9D0E-1BFA133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Powered by creative communities.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7B05F-7752-484E-B138-3581FCA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Theatres, orchestras, dance companies, universities and outreach teams — all contributing to a shared, evolving ecosystem of creative practice. Free to use, made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212C5-AD4B-498B-AB72-3F1BD370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F0D40-6E9C-41A2-B7FC-007C8528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A5CBA-AF47-4330-B855-0CCF4D1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Theatre companies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C0433-1DC3-494C-9C43-1811E8E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sharing rehearsal toolkits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08277-C2D1-4D9C-9F4D-EA3D0204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717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C9AA7-E751-4F3C-9B70-7D4F50A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3C0E0-FAA4-468B-B014-42258E5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Orchestras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5C4E3-A5C1-485F-BC6E-ABBC7EB9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composition + listening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BB382-BDC9-48DE-B28F-B7DAF9B6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53E10-C62C-46D4-B49E-CA56982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67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BDCF9-389C-447C-B1F0-670A6220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Dance companies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A1E4E-5BC4-408D-A8C8-E6220F3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choreographic warm-ups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06420-CD31-4ECB-9E51-D5B69EAE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45FF0-F958-4CBF-94BA-DB2D713F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2D569-FE30-40B5-B32C-425E35F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Universities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8F02D-1394-40FA-95F3-85B39662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PGCE +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A7ABE-A5C4-4D95-9C82-C1F405E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623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8C095-AF5B-44C4-A465-575638B1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957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31415-DACA-47A6-842D-E73AECC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243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Outreach teams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F484D-878C-4774-92D1-06CB2685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815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community workshops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4CBA2-5E58-4E94-96FB-A78BB36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2C28E-6EB8-4A34-BF7D-3D87A10D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18 / 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F2039-9A51-4A3F-941B-79A39CB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DA662-2C79-4408-8C99-7733624B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05 / 23</a:t>
            </a:r>
          </a:p>
        </p:txBody>
      </p:sp>
    </p:spTree>
    <p:extLst>
      <p:ext uri="{BB962C8B-B14F-4D97-AF65-F5344CB8AC3E}">
        <p14:creationId xmlns:p14="http://schemas.microsoft.com/office/powerpoint/2010/main" val="927290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CE6F0-148F-490C-AB05-EEB967E4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8AA56-84EE-45F1-B065-40CCBD24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A1C4B-9BD9-4843-B0F9-ADCD8C0A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185DE-22D2-475F-BA67-EBE3C15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Curiosity, by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1D06E-791C-4ED2-AAF1-D7E4C5A8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Encourage curiosity and imagination.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4A6E2-5D3D-4A43-8E50-E03A0264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Design moments of wonder, risk-taking, and play — woven into every learning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3FEB9-C1F6-4CDE-8570-5B7DEBBE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5B7AA-B5D1-49ED-8B97-9854428D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08 / 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538F0-E156-48F3-B349-974935D7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5BA28-C41C-45BA-A68F-A47DA82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06 / 23</a:t>
            </a:r>
          </a:p>
        </p:txBody>
      </p:sp>
    </p:spTree>
    <p:extLst>
      <p:ext uri="{BB962C8B-B14F-4D97-AF65-F5344CB8AC3E}">
        <p14:creationId xmlns:p14="http://schemas.microsoft.com/office/powerpoint/2010/main" val="455546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92F3B-D426-4257-9FFD-9CC445CB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A7CD9-E3ED-408F-8E20-01898C1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FF66E-D1B2-4E22-BDEC-20DC7682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46E45-035A-45B3-AEEC-C92E2C0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One thread, many subjects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9495F-AC2B-403F-A303-A8AD9642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Connect subjects naturally.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67DC7-4539-4B40-B07A-83B6227A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A single creative thread can run through drama, literacy, history, and beyond — designed deliberately, not by accident.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44997-39BB-4858-8351-ECB82E5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47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27CD4-AB9C-4B91-BE3E-DC2167F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Drama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B65AA-7C0D-43EA-BCB5-DCEE054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F6A5C-5F67-475E-89E5-A49FACF8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English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4D43D-FCD9-47D6-A50A-08C6720F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1E32C-5470-4748-822C-FBED178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EC443-3817-4E85-9239-C5457CC0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02374-D1BC-40F1-962E-9FB6A7F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07 / 23</a:t>
            </a:r>
          </a:p>
        </p:txBody>
      </p:sp>
    </p:spTree>
    <p:extLst>
      <p:ext uri="{BB962C8B-B14F-4D97-AF65-F5344CB8AC3E}">
        <p14:creationId xmlns:p14="http://schemas.microsoft.com/office/powerpoint/2010/main" val="882802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7C223-31E8-41CF-8400-33EBE02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3403E-31D6-4C2A-A4F3-600DFF41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EF97A-0BF2-45C8-83BA-D018169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Designer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994AF-C24E-4E71-8D50-8BF16CB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3BE9A-3026-4673-8F47-91D9A283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22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EA91D-F859-499C-8B68-FE557E65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3225-FAFD-491E-A6F7-93521E9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436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Designer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FD0BC-FA95-49E3-B153-00531EF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228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D0668-AEE6-433D-9248-9F27EC8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59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D24"/>
                </a:solidFill>
              </a:defRPr>
            </a:pPr>
            <a:r>
              <a:rPr sz="1050" b="1">
                <a:solidFill>
                  <a:srgbClr val="002D24"/>
                </a:solidFill>
              </a:rPr>
              <a:t>www.ccdesigner.co.uk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C1A4C-7CB7-46F9-A26C-697CBEF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8DFB8-8BAD-451F-A042-12B50AD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08 / 23</a:t>
            </a:r>
          </a:p>
        </p:txBody>
      </p:sp>
    </p:spTree>
    <p:extLst>
      <p:ext uri="{BB962C8B-B14F-4D97-AF65-F5344CB8AC3E}">
        <p14:creationId xmlns:p14="http://schemas.microsoft.com/office/powerpoint/2010/main" val="422783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C2E23-B9FB-4C70-ABF6-31B16DD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3BF9F-87A5-4A5A-9343-8FD74B9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3BAC4-7EFB-49AF-90CF-4354688F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51D0F-1AAF-4024-BCF0-B99F611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Remix, don't restart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13EC0-AB19-4134-81E9-186BF34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Inspiration that grows with you.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A6449-B161-4A31-90E8-0851E93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Old ideas reconnect into new lessons. Your past teaching becomes the soil for what's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FC97A-834D-45E2-AE48-50055677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DB4FB-4B7F-4CEA-8F98-68E07B14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KS3 · Drama · 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79005-C623-4F32-A832-0A769DC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Tableaux to explore character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BE6D6-1395-42BC-ACB8-8C62908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717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A234B-3270-4FB3-B966-B25C7AC5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remix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466D7-33B7-4103-A44B-E9442FBD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Add subtext layering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F2E86-DFB2-46DA-8158-6FFC2111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B5498-4E89-4795-91AB-0B659AE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remix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DA6B6-0221-4E8A-BE2C-8256DD9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Move to physical theatre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F1B39-137E-4131-B59C-7E70792B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7DF55-236F-436A-B2EE-5650FE8C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New lesson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7079B-9FDA-4CEC-9C52-C7300F1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GCSE devising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359CB-BC47-4844-AB95-D475B46D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623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EAC6C-17EB-43B3-B808-43A403C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957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New unit · 3 lessons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F11D9-47A9-4617-9130-2CBDF586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243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Subtext mini-unit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E45A6-4EFC-4BA6-957F-AC53E849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105FC-1680-4DF2-B95C-E73FEEB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New lesson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717BD-2B13-44E4-9BAB-FADBC882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KS2 movement 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C7BDC-E2E6-4A61-A14F-B012202C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5F7BD-5F2C-49AF-837A-BAF5B4A4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New unit · cross-curric.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956FB-1483-42D1-846B-DF93314F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Tudor masque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17260-C636-456C-AB2A-C5A4061B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5E546-BBB5-4E6A-A9A6-0223F7F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17 / 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C6F678-F693-4F84-AD80-1B5945A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F47F6E-239C-4254-9F6B-681B6F57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09 / 23</a:t>
            </a:r>
          </a:p>
        </p:txBody>
      </p:sp>
    </p:spTree>
    <p:extLst>
      <p:ext uri="{BB962C8B-B14F-4D97-AF65-F5344CB8AC3E}">
        <p14:creationId xmlns:p14="http://schemas.microsoft.com/office/powerpoint/2010/main" val="572589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2564A-B325-4B9B-9B3B-02C9121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92D5D-6593-4C39-BCB7-4A3506BB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036D9-1CEB-4CCA-A346-CDA7433F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C54DF-3792-445B-B5E8-405839E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Curriculum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DE659-109F-4376-8AAD-3CC5340A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Build connected learning journeys.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0C64E-007D-4042-BF92-4965F6D1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See how every lesson, skill, and outcome links across the year — and across subjects.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FA6C2-CF7A-4B7E-8175-34AB6E73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55FFB-AA4E-42E8-AA43-6A4DDC0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C4586-AB0E-4936-99AA-CEF31B22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9055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26973-564D-482C-8567-B2A6877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43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Term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52A80-0B07-4BD9-965F-DF39CD0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7BEEA-D111-4D00-8897-D0E0F42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43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Term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E13A1-60B7-490F-9963-DBE8B087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9055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D0B38-5FA4-4703-834E-68D4611C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43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Term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00A1E-31C2-44F7-97DE-BD5C339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055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08E8C-CD3D-47F2-90AF-9F619B2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43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Skills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336D1-EEC7-4600-85C0-39DC60DF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905500"/>
            <a:ext cx="647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091E8-2EDB-498D-AA53-D148B32F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436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Voice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041BF-74F6-4D11-BCE0-34CDE2DF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05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01BB7-DB83-4509-8960-FBEF553B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436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1F25F-6883-4223-8C7C-2F2F3D33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38885-A2B8-4754-9B17-A8359D3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43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Composition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CF173-FD87-4651-9EAC-AE0345DA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90550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E3F90-6EB8-46AE-B73A-7D2438D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43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Reflection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00F72-63FA-4223-BD88-EC4CA53C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BC92E-CA3E-4A2E-9E1A-98E704D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820280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7736C-B35D-402D-9538-367A8953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7AFC4-08C1-4053-AE17-FC2C4B6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0207A-029F-476D-BDC4-D29F8D3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E9D65-2646-4791-A4FE-4BA888D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Plan from the rehearsal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F67BD-0AAD-47DC-9C3C-F7D2266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Plan anywhere.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ECE3A-6211-49A0-847C-6A1EB48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From a KS3 Drama studio to an EYFS carpet session — author the lesson once, on whatever device is in your hand.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DCF49-10C5-4D12-9EC2-3EAA709C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3D381-04E6-414D-ABF2-AAE560E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7F4D6-392E-468A-9849-79890EE5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000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Warm-up — Status walks (8 min)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FBAFD-7183-434F-AB5A-0BDDD71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023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Levels 1–10 across the room; freeze on clap to find a Commedia silhouette.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8E438-8DDD-4CC7-ABE1-28F74E1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0556C-A5C0-412D-89CF-10E46BE6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B8449-E3F8-4746-8B73-38D08058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5241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Stimulus — Mask &amp; scenario reveal (10 min)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F9B00-5175-4BA3-93C1-3965A2A5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229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Watch lazzo clip, distribute character cards and a one-line piazza scenario.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0FC8A-1D53-45EA-9C41-8ECA75C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B9082-5791-4AE4-A4F0-F3F408CA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582CD-A832-4B63-A19C-606BE30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5241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Devising — Piazza scene in trios (25 min)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1C355-8758-410B-A2D4-CCC1B110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042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Build a beginning / lazzo / resolution with one triple-take and one chase.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F74F3-7006-4A2B-B2F2-F5799E0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A7B1C-4DBC-4E79-84BC-3D6FD640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F4D31-8EB6-4C77-994C-FF7EA8F3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5241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Performance &amp; peer feedback (12 min)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0B723-62BD-4CCE-BE0A-F1C68E9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567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Two stars + one wish anchored to status, physicality and audience contact.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426DB-6032-487B-A344-D7B2B01A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6718E-A9AD-473E-9A17-3FF18D7E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D0008-20C2-41E8-BFE9-25426759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5943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Plenary — Reflection ticket (5 min)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50FA6-DD17-490A-9CA3-A06323F6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023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Exit slip: which Commedia choice landed loudest and why?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EB9C1-E205-49E4-B781-910D607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91AE1-DA0D-4094-938C-80920ADB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E2BCB-536D-4553-8D8C-08BFCFD1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449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Warm-up — Hello song (3 min)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78C30-3A4C-4ADB-81B9-394FB55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023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"Hello, hello, can you clap your hands?" on so–mi; children echo back.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2BDE8-CC98-4DB8-88C9-FE6D036A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C6EA10-CE6A-40A2-B653-E35083D9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B724F9-3B99-4669-BAD2-D119083D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5264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Scarf activity — Floating melody (5 min)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11AC02-D071-4140-BB00-A77458D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72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Children draw the so–mi contour with scarves; high above, low to the lap.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001963-2BE6-4915-AF68-B6A46B60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E9B8BE-AF64-42FB-95F5-3C1B508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19D8D-517C-4C61-9A40-E24EB2AE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037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Rhythm sticks — Ta &amp; ti-ti (6 min)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840DD9-FDE2-4B33-B650-845A2B09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447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Tap heartbeat on knees, then sticks on "Bee bee bum-ble-bee" — ta ta ti-ti ta.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1CB1F8-2449-4CF6-9B5C-939D861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9FD20D-9B76-4F1D-A26A-3E8FE4D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821945-7968-4C2B-BB2D-BDBA5BDF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5605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Singing game — Pass the bee (8 min)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F01DD4-23D1-41EC-AAD6-C5BF6AD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0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Circle game: child holding the bee chooses high or low, group sings back.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8F987E-2ACF-463E-9DD2-14E27467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71700"/>
            <a:ext cx="971550" cy="2000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BAA712-A3EF-4B26-B8FF-62705F13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05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18EEEF-AA92-493B-8505-5A58093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28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287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Plenary — Goodbye song (3 min)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711E72-0576-4663-B3FE-F071B9BB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62300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023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Whispered so–mi farewell; thumbs-up if they heard a high note today.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03B7ED-2312-4FA0-A082-88E19183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1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CACD30-7BD2-4E0C-B0C4-0FFAD70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KS3 — Year 8 · Wk 4 • 60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E7C58A-3595-4A6F-A63E-13C5409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Stock Characters &amp; Lazzi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6EF7EE-33D9-45E3-80DF-038E464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514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Embody status, mask logic and physicality of three Commedia stock characters (Arlecchino, Pantalone, Il Capitano).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F96C9D-06D3-445E-8F31-29D57BCB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541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F71224-8FC5-4F05-ABF4-21B4D7C4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EYFS — Reception · Carpet • 25 min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1F3EE7-765C-46EB-A90A-43FC17D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Bee Bee Bumblebee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27B756-CECE-4508-AB24-282BC0E6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67300"/>
            <a:ext cx="514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EYFS EAD: Sing a range of well-known nursery rhymes; perform with others, trying to move in time with music.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031AAB-EFFD-4184-8023-610164C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EEB4D4-3D43-4B1F-94D6-3A418B38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21 / 22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8896D1-0CC1-41A5-8541-8D3D68DD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8737FF-CD97-4065-85A4-E094BA2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361943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430C4-58C1-46AE-9C9D-6E6CCFD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AAAA4-A9E5-42FB-AA17-36EE9CF3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4CFF6-F3D4-4823-90FB-13CB1D39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22C7F-C792-46D1-8E60-7437A2CC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Your ideas, captured forever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76984-9487-4D3B-9B9C-DA944B7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Never lose a brilliant idea.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AA35-1179-404B-ADAE-AFC08FD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9B7F-CCAD-487B-8B4A-28730456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WARMUP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BA7AF-A939-4A71-9FE0-026B828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Action songs to anchor circle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04F52-C22C-4DDB-B95D-5627AD38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EYFS · Music &amp; Drama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055BA-3410-407C-BB97-D2E3244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2E7AB-6940-4A26-BB54-A84F4F35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5621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997B9-F788-42BA-8957-768984D3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907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Animal movement stories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5000B-1AA0-41BC-9234-CE69B318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479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KS1 · 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A6310-E113-4A66-8447-E1E6E440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D7F5C-D94A-4DD0-B51D-38BC90F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REHEARSAL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3AD4A-ACD4-49F2-BFE5-58B4CC6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Echo-and-respond rhythm circle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3AC8F-B81F-4340-A771-469AA4D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KS2 · Music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4F2D8-F58D-42A1-B534-1314340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53CAB-E67E-424D-9956-B91FC824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IDEA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313B0-9B68-417D-879A-51260A51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Tableaux to explore character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CDF12-848A-4A9A-B70D-8E46E98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KS3 · Drama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D28C8-42A7-4864-AA85-E2DC8BF6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194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FB8E4-1385-4314-B15A-0701B37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527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DEVISING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CAD7F-82F6-4CE2-A7B3-8E75B213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813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Devising from a stimulus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86262-1636-4029-9B25-50F3C862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385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GCSE Drama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DA53A-BAB3-4D41-8E47-128F628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F960E-ED96-42BE-AC81-700A9EE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COMPOSITION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749C9-A451-4FCC-AD4D-C149161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Cunningham-style chance choreography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441F7-A2A3-44D3-B7A4-B3A4DDE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A-Level · BTEC Dance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271BA-5847-4333-9DC5-6441B9C3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DD6C70-08D2-4D30-B4C4-0201F332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03 / 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8D52DA-73D5-486A-8458-B703784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B24CD0-0667-441E-8B5D-C4B98F9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1331823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19147-9B36-4111-BDEC-9C154EFD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C3EB5-652A-45AE-8EC9-3633CE49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03311-3CA2-4F2C-A4D2-AE3771B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6A29F-B295-4D5C-A5C0-79667DDC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Skills, sequenced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A2549-1C9C-4A39-99FE-2F1C6263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Track growth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E7CB9-44C6-449B-9376-16A6D7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Each skill builds on the last. Progress becomes visible — not assumed.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A5068-DF23-4A6C-B842-C53A2D43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9F395-30E8-47DD-A7F0-0128C988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Aut1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64517-EC68-4A71-8167-21D859BB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3D40C-E983-4110-B57C-2E7D5018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Aut2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B2862-93FE-4E45-8974-E179AB8D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16711-DCF1-418E-AC6C-830213D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Spr1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D32F7-0D85-4083-87D5-25DDB11D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3E464-B6C7-4F28-8034-54CD4945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Spr2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976C2-02EF-4274-B753-4E25486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271F4-DC30-45F5-8CA2-C146EDBB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4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Sum1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903A9-0203-4219-B859-3ADB3B1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1A1A5-2048-463F-907C-92BF7EF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4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Sum2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1758E-6AB8-4AF2-AF24-7C272F0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3FF0D-71B3-472A-B035-1228057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115060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ADEEF-48E9-40A0-9AFA-282DC9F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1008C-DE43-4520-8E5B-11B367F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324A8-E489-4EBE-962C-EE27C05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DD1BE-7AEF-4B4B-AA95-E3AA6431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A loop, not a 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35DF2-9B83-412B-B3AB-DC73E63D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Reflect. Adapt. Improve.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8B6F4-87C5-44CA-B9A3-F14240F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Capture what worked. Refine what didn't. Each lesson becomes the seed of the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59DA-C5DF-4B44-A660-5DCD79F7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6384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71911-39AD-4670-B3EA-E37782B6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71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984A1-4D6B-4217-8B44-126F7D0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Teach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15E7C-CEDB-4F9B-9AA0-672BBCF0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71700"/>
            <a:ext cx="26384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80403-5AF3-4EC9-B722-9182FC57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05050"/>
            <a:ext cx="2371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A70EC-BE64-47BA-86FE-43F41D31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28900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Reflect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BBFE9-B7A1-417C-913E-0A1B9BD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71700"/>
            <a:ext cx="26384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A0AEA-5741-416C-80C8-D3C5578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371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441EF-BA97-4018-8BF8-26A9CCA6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Adapt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37708-F56F-4E0F-B181-D3DE5F28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71700"/>
            <a:ext cx="26384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3A18A-CA94-44C4-9138-6C06895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05050"/>
            <a:ext cx="2371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5853B-8C88-471C-93DF-60A97AF4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28900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Refine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3B805-8280-4622-A2CC-FC262EB3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D9D59-2D09-4720-B836-6BF8BFE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14 / 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7E273-5E28-4954-9C6C-CC2F608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5A505-78F4-4B99-A89C-E2C0494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17115536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D05E4-4CC9-4F2A-947A-6D0BF12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DD7F0-0889-472A-908F-CBD08F9A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59CE3-1A78-43DD-9380-05D40092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D3F91-402E-49C5-99DA-6B3F32D8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Inclusion at the centre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4EB3-1500-4417-8096-5F3363C9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Support every child meaningfully.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14F06-C9D2-4149-AC87-FEB14E05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Sensory considerations, communication scaffolds, and movement-friendly options — built into the planning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78A5F-A51E-4B76-9EFD-1CC3114C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34DA5-2C65-42FC-9ED5-54976105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11 / 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01231-B27B-4ED1-804E-CA5FAE5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1C819-749E-49B1-AC37-88946A29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8330704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AA063-5A09-4615-A562-43B91A42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78639-1E2A-455D-8BA1-1CA38773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688E4-6DA6-469A-A2D0-B841C793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5869A-0C42-4CF6-B117-C4D3627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Knowledge, on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07242-4D5E-44F9-BE15-260076F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Build knowledge intentionally.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E8FC4-A16F-48A8-85A3-EC16F328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Sequence what matters. Layer concepts so they hold. Nothing important left to chance.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BEA4D-6E8D-4252-88B4-D01A545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0859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78AF7-6E45-4B32-AFF8-4B2C690E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819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B393F-5B12-456B-A89B-83F147C5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57DAB-19F1-43C2-BCB6-0AE0087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71700"/>
            <a:ext cx="20859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A995E-BFC6-4087-916D-1486551F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05050"/>
            <a:ext cx="1819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5254E-1643-423E-90EA-74FD4E62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2890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Vocabulary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72EFF-0389-4C27-A0D3-24D73290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20859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8074E-1EC5-4793-B9DF-D5895BC3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05050"/>
            <a:ext cx="1819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112D4-BC1D-4FA7-9935-C8A4041A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Technique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CC007-FD99-4911-95CE-60E989B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71700"/>
            <a:ext cx="20859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89303-66A5-41A5-854D-716942C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05050"/>
            <a:ext cx="1819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DAE94-68B4-4649-BEAB-0802CD5D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2890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C191F-E715-4E42-A022-7E3DCE2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20859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586D0-9F0F-46D2-BBBB-30A64C2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819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37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D24"/>
                </a:solidFill>
              </a:defRPr>
            </a:pPr>
            <a:r>
              <a:rPr sz="1350" b="1">
                <a:solidFill>
                  <a:srgbClr val="002D24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F0A34-A980-4E9B-8DD3-02E2116D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2A2E"/>
                </a:solidFill>
              </a:defRPr>
            </a:pPr>
            <a:r>
              <a:rPr sz="1125" b="1">
                <a:solidFill>
                  <a:srgbClr val="0F2A2E"/>
                </a:solidFill>
              </a:rPr>
              <a:t>Mastery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C53FD-4E34-4B8A-99DC-7F81A0CD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7E651-3FAE-4CC8-880C-47B8AF58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16 / 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8B572-8C88-4BE5-8749-35BD003B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B9B65-19E6-41AE-AF44-AFD3F9B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19065692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19E76-67A9-43C8-BC43-24925989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67E1E-E9C6-4F4B-BE56-0DBE428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3A9BB-0E76-40C2-AF13-36A613D9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71136-1AEC-4DA6-93CB-DE23523E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Depth, not 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3D388-0EED-4CA4-89E2-8DD81423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Create deeper learning opportunities.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96D62-9B8C-48C8-B429-2EF9711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Stretch tasks, metacognitive prompts, and challenge layers — woven naturally through every lesson.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8693-247D-4A27-BCF3-9FEB4F3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E809F-39E4-496A-8A35-3820CD9A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12 / 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35360-4F3C-4B43-8E4B-24C77BE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91FD5-D1C0-4A94-BC64-9834E90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6113183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1069B-A06B-4C9B-9F20-F8BE0696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55DBD-C3DA-4DA3-B76A-0AE548B1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F40A6-C4D0-40AB-85C9-FE757BD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98612-2058-4869-871A-294574D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A philosophy,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08E9B-FEAD-4C7C-A736-EBB3C109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Teaching is creative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301F1-9F9B-4430-9BB9-0DF52F55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Your ideas are valuable. Your practice should grow. Great teaching should never disappear into forgotten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CC870-9AD5-48FF-B2D4-97B00EF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27797-A291-4D24-950E-CA86C7A5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02 / 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3E6CB-D5A6-4C11-8C7C-C98070AA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8EE01-052A-4432-B952-85547E4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20713334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86F10-8DEF-4D89-AAD1-E5DF9518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CDF25-497B-47DF-83E5-5950AC21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CD00C-9052-4810-B7AB-9B45210C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BD22C-C124-4B1B-A9A5-B7324B56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Protecting the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A81EC-7233-4DFF-AD1A-99C1C9F4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D24"/>
                </a:solidFill>
              </a:defRPr>
            </a:pPr>
            <a:r>
              <a:rPr sz="2100" b="1">
                <a:solidFill>
                  <a:srgbClr val="002D24"/>
                </a:solidFill>
              </a:rPr>
              <a:t>From a Reception assembly to a conservatoire stage — one continuous arc.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77A10-90CB-46E8-9F66-E706EDED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EF49C-DFC7-4BB7-9A80-31B7AAD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548"/>
                </a:solidFill>
              </a:defRPr>
            </a:pPr>
            <a:r>
              <a:rPr sz="1050" b="0">
                <a:solidFill>
                  <a:srgbClr val="2A4548"/>
                </a:solidFill>
              </a:rPr>
              <a:t>When schools, arts orgs, practitioners and universities work in the same archive, no stage of a child's creative life sits in isolation. The lesson plan a Year 4 teacher writes is the same evidence base a head of conservatoire admissions will one day rely on.</a:t>
            </a:r>
          </a:p>
          <a:p xmlns:a="http://schemas.openxmlformats.org/drawingml/2006/main">
            <a:pPr algn="l">
              <a:defRPr sz="1050" b="0">
                <a:solidFill>
                  <a:srgbClr val="2A4548"/>
                </a:solidFill>
              </a:defRPr>
            </a:pPr>
            <a:r>
              <a:rPr sz="1050" b="0">
                <a:solidFill>
                  <a:srgbClr val="2A4548"/>
                </a:solidFill>
              </a:rPr>
              <a:t>Cut any link in this chain, and the next generation of artists never reaches the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362EC-8DA9-4B58-A864-96CAC25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7128F-D531-4F7A-8340-92D058E9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EYFS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74470-B066-4EB5-B518-B03A2FD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First sparks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D00EF-4C40-488D-A7ED-F3E61213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42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Songs, role play, movement to music. The first time a child is told they're an artist.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9C542-5B9C-437C-A03E-8C2EC60F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6CD23-A519-4FA9-BEA9-957B635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573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KS1–KS2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93878-2715-42BE-8308-B6C8B877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859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Practice &amp;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D9292-A47C-4BA4-9887-E0BCBCA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431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124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Ensemble performance, improvisation, the first lead role. Where the habit of making takes 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561FC-ED01-453B-934C-7C53D199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7D6F8-B269-4264-A193-639ED38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KS3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903B2-4A64-42BD-B124-AFDA4CBD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Specialism opens 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B761B-9BDD-42FE-ABA7-FB0C1922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124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Choosing an instrument, a discipline, a voice. The years that decide which children carry the arts forward.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58D89-05CF-4CFF-BAB2-8CFBB57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398F0-9C4D-49DE-A6D1-C72EB26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KS4–KS5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5A233-CB12-4C96-AE1C-0F29E472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Toward conservatoire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755A0-463E-4375-A143-2F7F7A2B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56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GCSE, A-Level, BTEC, LAMDA. The portfolio that the auditioning panel will read.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73C64-872F-4112-9F64-4EA03C6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14650"/>
            <a:ext cx="35528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98A38-5786-438F-9A7F-63370F7F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480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University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718E5-48E9-46F2-94C2-4338608A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766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The pipeline protected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0CF7E-BC75-4F10-A261-1DD9B2B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3380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124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Drama school, conservatoire, music college. The next generation of professional artists — only as strong as Year 4 was.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8831C-6702-41FA-A6FB-68B4B3A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019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3B94F-EC70-4221-9804-C27E0AB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EYFS → KS5 → University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A9482-AFC5-4C50-8B5E-7CF5234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1BC0B-A585-4A26-ADCF-CBC8DB5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270437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70B04-C187-42BF-99E9-2DDE43F2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9B907-5DB4-4562-BDB9-B1BBD085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8C87A-1264-46A7-9F57-C7D5BB6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47026-984D-4926-9256-C5B366B3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Feature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CDE13-1732-4DEE-8A9B-6D6A1394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D24"/>
                </a:solidFill>
              </a:defRPr>
            </a:pPr>
            <a:r>
              <a:rPr sz="2100" b="1">
                <a:solidFill>
                  <a:srgbClr val="002D24"/>
                </a:solidFill>
              </a:rPr>
              <a:t>Your school's homepage. A real preview.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EEA84-9644-4D97-8D66-2FB411E8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548"/>
                </a:solidFill>
              </a:defRPr>
            </a:pPr>
            <a:r>
              <a:rPr sz="1050" b="0">
                <a:solidFill>
                  <a:srgbClr val="2A4548"/>
                </a:solidFill>
              </a:rPr>
              <a:t>Each school gets a public landing page with their branding, plus a one-click preview that drops parents, partner organisations, outreach teams or visiting practitioners into a curated, read-only walkthrough — no sign-up.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E25D8-90C0-46E3-8BE1-952520FC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11C83-845A-4B26-BDE5-A421365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Public homepage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1CF62-BD1C-4D45-8072-59A6FCE9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Performing Arts at Coopersale 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8E3F1-FB39-413A-BA63-1E006004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286125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A year of drama, music and dance — built by our teachers, for our pupils.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AF148-B389-40E4-9AF2-033C0C4F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7170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FBC04-F257-4060-94E1-868BD2A0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050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Preview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E3145-7A73-4D0F-A8FF-48C7BB1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336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You're in preview mode · sample drama, music &amp; dance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FA48D-0B78-419F-AA4D-D37D2530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3286125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Read-only — click any lesson to explore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FEA3D-6876-463C-A0EE-91B8F47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4F8F6-4D33-410A-825C-1A0BB1F8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Drama · Y4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4D07A-5AD6-45CA-9BA6-F160891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Storytelling Through Drama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04A65-5946-46C1-BA0A-C9C438F1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BD394-7267-4BE4-8403-0E8A7688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Music · Y3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EAF27-1915-452F-BEE1-8D6647D0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Rhythms of West Africa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146AE-50CF-421A-8E5D-28F0A77F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5755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86611-0862-4411-9E6B-F872D24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909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Dance · Y5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51FA48-11DC-45FD-A4CC-0FE3A673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481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Storm Motif &amp; Canon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CC2FD-E69B-4241-9D8D-993A3217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23198-D7E7-453E-A2D2-109CFB3A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Lesson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13E77-066C-46D5-B905-7ED18F62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Rhythms of West Africa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D8FE9-8D47-4D38-9683-D2058B9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5F648-AD78-4787-B867-6D3151EC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Lesson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74B8F-E1EA-4661-96C4-0255422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Body percussion patterns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6383AB-C14B-4AB7-BBE5-BCCDB2F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4340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444F9-A03D-477E-98F4-EC6BA06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767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Lesson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F637F-6E6D-4C64-82C4-5E6F03F9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339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Call &amp; response groups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6F714-C61B-400A-B33D-661D55D0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53781B-051B-4748-AE0F-7E4F64DE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Lesson 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4C176F-EBE4-4263-8E0E-51C51430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Singing in unison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C55A16-F9A7-445F-A3B8-FBFBB588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97E570-F224-4184-B489-1A7FDB11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Lesson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EDC660-DC09-459C-B112-A8816D14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Composing with loops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EB1596-D00A-4D2B-A1F8-A9AD79FB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29250"/>
            <a:ext cx="35528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99E62C-2AC5-469E-8B92-895E217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6260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2A2E"/>
                </a:solidFill>
              </a:defRPr>
            </a:pPr>
            <a:r>
              <a:rPr sz="1050" b="1">
                <a:solidFill>
                  <a:srgbClr val="0F2A2E"/>
                </a:solidFill>
              </a:rPr>
              <a:t>Lesson 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B57D0-04E4-4EAC-A3F1-3104B11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6019800"/>
            <a:ext cx="3286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8661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Class performance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12D4AC-50DC-4819-81D5-C182112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2476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78D80B-28DB-483D-B3E8-0588071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59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D24"/>
                </a:solidFill>
              </a:defRPr>
            </a:pPr>
            <a:r>
              <a:rPr sz="1050" b="1">
                <a:solidFill>
                  <a:srgbClr val="002D24"/>
                </a:solidFill>
              </a:rPr>
              <a:t>Preview the curriculum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0D5520-89BB-4C3F-A6DC-A7A6C687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BDD097-C540-4A03-95EC-1CE27A0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5510235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E4D66-00F7-41AC-99C9-E013F046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7B52-8A82-4C0A-BE49-6045CE3B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EBE5B-181F-4B1F-8774-B7AB783A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968D9-8B7C-4737-8BEA-6FBFE46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Feature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81098-C33B-4649-B8CE-9227DD73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2D24"/>
                </a:solidFill>
              </a:defRPr>
            </a:pPr>
            <a:r>
              <a:rPr sz="2100" b="1">
                <a:solidFill>
                  <a:srgbClr val="002D24"/>
                </a:solidFill>
              </a:rPr>
              <a:t>Settings that fit your school.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0DFA8-ED49-4234-8E80-C15B651C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4548"/>
                </a:solidFill>
              </a:defRPr>
            </a:pPr>
            <a:r>
              <a:rPr sz="1050" b="0">
                <a:solidFill>
                  <a:srgbClr val="2A4548"/>
                </a:solidFill>
              </a:rPr>
              <a:t>One panel for the things that change school by school — year groups, activity categories, your branding on every print-out, and where your data lives. Free to use, no resource lock-in: your practice belongs to you and the wider sector — not a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E2CC4-998A-40C6-83B2-EDEAF389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5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2A2E"/>
                </a:solidFill>
              </a:defRPr>
            </a:pPr>
            <a:r>
              <a:rPr sz="975" b="0">
                <a:solidFill>
                  <a:srgbClr val="0F2A2E"/>
                </a:solidFill>
              </a:rPr>
              <a:t>• Year groups, EYFS through Year 6</a:t>
            </a:r>
          </a:p>
          <a:p xmlns:a="http://schemas.openxmlformats.org/drawingml/2006/main">
            <a:pPr algn="l">
              <a:defRPr sz="975" b="0">
                <a:solidFill>
                  <a:srgbClr val="0F2A2E"/>
                </a:solidFill>
              </a:defRPr>
            </a:pPr>
            <a:r>
              <a:rPr sz="975" b="0">
                <a:solidFill>
                  <a:srgbClr val="0F2A2E"/>
                </a:solidFill>
              </a:rPr>
              <a:t>• Custom activity categories per subject</a:t>
            </a:r>
          </a:p>
          <a:p xmlns:a="http://schemas.openxmlformats.org/drawingml/2006/main">
            <a:pPr algn="l">
              <a:defRPr sz="975" b="0">
                <a:solidFill>
                  <a:srgbClr val="0F2A2E"/>
                </a:solidFill>
              </a:defRPr>
            </a:pPr>
            <a:r>
              <a:rPr sz="975" b="0">
                <a:solidFill>
                  <a:srgbClr val="0F2A2E"/>
                </a:solidFill>
              </a:rPr>
              <a:t>• Logo, colours, header on every PDF</a:t>
            </a:r>
          </a:p>
          <a:p xmlns:a="http://schemas.openxmlformats.org/drawingml/2006/main">
            <a:pPr algn="l">
              <a:defRPr sz="975" b="0">
                <a:solidFill>
                  <a:srgbClr val="0F2A2E"/>
                </a:solidFill>
              </a:defRPr>
            </a:pPr>
            <a:r>
              <a:rPr sz="975" b="0">
                <a:solidFill>
                  <a:srgbClr val="0F2A2E"/>
                </a:solidFill>
              </a:rPr>
              <a:t>• Import, export, back up — your data stays yours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087F6-F1E0-4094-AD89-7ABEC66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1463C-7605-4B0A-AE29-26BC18A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Year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EAC67-4544-4694-BBBE-19D8E11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CBA99-0545-4D0A-B05D-5D9E2CD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43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0E48B-73E3-4988-8B2B-571A7B76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055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4ADEC-5104-4832-96C0-482F93D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436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Resource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399FD-6464-4870-AE0F-79990D1C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79449-591D-46D5-AFCB-575473A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9436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Custom objectives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E9AC2-DA14-439A-9C23-425D5179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66E71-F31C-46E0-B8A8-F3C8D7CE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436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Branding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181D5-B64B-48C8-B187-EAB830A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90550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69595-F518-4C3C-A194-4F106B21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43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E5146-949C-4CF4-89A9-4AC3731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905500"/>
            <a:ext cx="647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54A18-4D0C-46DB-9D2E-A62BEC5B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436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3BB2B-7621-4DE1-90D1-D228D230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DBEBF-E8CD-4513-8BAF-2B41283F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18490594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800C7-04DA-45F3-9611-FF4A38CA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872F3-ED4E-4627-ABF8-C4C902CE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72C5-8A98-4CE4-A2A2-9E7C0A9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8ABE2-1292-4BB1-86D5-75468BE7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830EB-F9C5-42C4-AA9F-FAF75815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C0C09-A016-445B-BCFD-5ADB78E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D24"/>
                </a:solidFill>
              </a:defRPr>
            </a:pPr>
            <a:r>
              <a:rPr sz="900" b="1">
                <a:solidFill>
                  <a:srgbClr val="002D24"/>
                </a:solidFill>
              </a:rPr>
              <a:t>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FF912-FE52-4746-9F4D-BC91919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2D24"/>
                </a:solidFill>
              </a:defRPr>
            </a:pPr>
            <a:r>
              <a:rPr sz="2250" b="1">
                <a:solidFill>
                  <a:srgbClr val="002D24"/>
                </a:solidFill>
              </a:rPr>
              <a:t>Continue into the prototype — or talk to 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760E6-DD7E-45C4-B113-887F4EA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4548"/>
                </a:solidFill>
              </a:defRPr>
            </a:pPr>
            <a:r>
              <a:rPr sz="1125" b="0">
                <a:solidFill>
                  <a:srgbClr val="2A4548"/>
                </a:solidFill>
              </a:rPr>
              <a:t>Close this walkthrough to sign in or explore. For funding conversations and partner access, get in touch.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07CC1-D1C4-4D4D-A50D-F0F8F8D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52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8AAE9-B768-448C-99BD-F04CC39A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2E"/>
                </a:solidFill>
              </a:defRPr>
            </a:pPr>
            <a:r>
              <a:rPr sz="1200" b="1">
                <a:solidFill>
                  <a:srgbClr val="0F2A2E"/>
                </a:solidFill>
              </a:rPr>
              <a:t>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CBE6-1280-4D92-8F11-0E3FBFC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rob@rhythmstix.co.uk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F005B-BCE7-4419-9EDB-CAB4B51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52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C852D-136B-43EE-90D7-F1236F5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2E"/>
                </a:solidFill>
              </a:defRPr>
            </a:pPr>
            <a:r>
              <a:rPr sz="1200" b="1">
                <a:solidFill>
                  <a:srgbClr val="0F2A2E"/>
                </a:solidFill>
              </a:rPr>
              <a:t>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2822C-3BA3-4E6D-93B9-22E5472B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www.ccdesigner.co.uk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70662-F9FB-4622-9DDA-BD531B49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552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74575-1E05-4E85-BDE6-7CD0E6E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A2E"/>
                </a:solidFill>
              </a:defRPr>
            </a:pPr>
            <a:r>
              <a:rPr sz="1200" b="1">
                <a:solidFill>
                  <a:srgbClr val="0F2A2E"/>
                </a:solidFill>
              </a:rPr>
              <a:t>In the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5F082-153E-46D5-B54E-EEAF48A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328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4548"/>
                </a:solidFill>
              </a:defRPr>
            </a:pPr>
            <a:r>
              <a:rPr sz="900" b="0">
                <a:solidFill>
                  <a:srgbClr val="2A4548"/>
                </a:solidFill>
              </a:rPr>
              <a:t>Sign in or explore the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33F3B-9F5D-4B11-990F-18444820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42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B6F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642E9-442C-40FB-A21C-7B11AE53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D24"/>
                </a:solidFill>
              </a:defRPr>
            </a:pPr>
            <a:r>
              <a:rPr sz="1125" b="1">
                <a:solidFill>
                  <a:srgbClr val="002D24"/>
                </a:solidFill>
              </a:rPr>
              <a:t>Sign in or explore the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32479-5C92-42AC-8FBB-B36BA34E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Creative Curriculum Designer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2A8FF-32AF-471C-ADB5-552A7AF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7275"/>
                </a:solidFill>
              </a:defRPr>
            </a:pPr>
            <a:r>
              <a:rPr sz="825" b="0">
                <a:solidFill>
                  <a:srgbClr val="5A7275"/>
                </a:solidFill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13437783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6B66A1-7834-4685-8FE2-0D35CC8BA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57D65-2990-4751-A743-DED8D14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95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D392A-4E22-4CEC-BE3F-55E113F2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6A158-6387-49EC-A942-307A9D3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95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FF7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8380F-F1BC-4C39-A174-CF6ACF3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AB20F-82F3-4086-8077-24EDCE5D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FF7E"/>
                </a:solidFill>
              </a:defRPr>
            </a:pPr>
            <a:r>
              <a:rPr sz="975" b="1">
                <a:solidFill>
                  <a:srgbClr val="B6FF7E"/>
                </a:solidFill>
              </a:rPr>
              <a:t>Prototype · partners &amp; funding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0B239-207C-4A88-85A8-ADB1FB6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477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6FF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4F3A3-F353-4414-9B4B-3490AB3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66875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6FF7E"/>
                </a:solidFill>
              </a:defRPr>
            </a:pPr>
            <a:r>
              <a:rPr sz="3000" b="1">
                <a:solidFill>
                  <a:srgbClr val="B6FF7E"/>
                </a:solidFill>
              </a:rPr>
              <a:t>CCD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59EAB-2DAD-41A9-8255-E7818BFA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One living home for creative teaching — connected to the sector.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E396B-E660-4198-9A2A-B69A2E3F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BE4"/>
                </a:solidFill>
              </a:defRPr>
            </a:pPr>
            <a:r>
              <a:rPr sz="1200" b="0">
                <a:solidFill>
                  <a:srgbClr val="D8EBE4"/>
                </a:solidFill>
              </a:rPr>
              <a:t>A short tour of Partner Hubs, planning, key dates, paid partners, and how schools and arts organisations work together inside CCDesigner.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47B5D-BE41-4A8E-908F-6E5EEDA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95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75D21-8789-4513-B200-5E1DF95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68741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CCD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5AAE8-C00A-4088-804C-740D548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86CCF-92FA-446F-B97F-AC51DE3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626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D24"/>
                </a:solidFill>
              </a:defRPr>
            </a:pPr>
            <a:r>
              <a:rPr sz="825" b="1">
                <a:solidFill>
                  <a:srgbClr val="002D24"/>
                </a:solidFill>
              </a:rPr>
              <a:t>Feature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499AB-84AC-4E46-BA58-A9C45142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B5AD"/>
                </a:solidFill>
              </a:defRPr>
            </a:pPr>
            <a:r>
              <a:rPr sz="825" b="0">
                <a:solidFill>
                  <a:srgbClr val="8FB5AD"/>
                </a:solidFill>
              </a:rPr>
              <a:t>Creative Curriculum Designer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DF1B5-F13C-44FD-8101-2BE384FC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>
            <a:normAutofit fontScale="7925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B5AD"/>
                </a:solidFill>
              </a:defRPr>
            </a:pPr>
            <a:r>
              <a:rPr sz="825" b="0">
                <a:solidFill>
                  <a:srgbClr val="8FB5AD"/>
                </a:solidFill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780722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2026-07-24T09:49:13.9730000Z</dcterms:created>
  <dcterms:modified xsi:type="dcterms:W3CDTF">2026-07-24T09:49:13.9740000Z</dcterms:modified>
</coreProperties>
</file>