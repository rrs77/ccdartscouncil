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458319487e74cd9" /><Relationship Type="http://schemas.openxmlformats.org/officeDocument/2006/relationships/extended-properties" Target="/docProps/app.xml" Id="Rbead42c802da4d4d" /><Relationship Type="http://schemas.openxmlformats.org/officeDocument/2006/relationships/officeDocument" Target="/ppt/presentation.xml" Id="R5c5d4cd07454422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c9152d28a6a49ce"/>
  </p:sldMasterIdLst>
  <p:notesMasterIdLst>
    <p:notesMasterId xmlns:r="http://schemas.openxmlformats.org/officeDocument/2006/relationships" r:id="Re31081f40ae54b0c"/>
  </p:notesMasterIdLst>
  <p:sldIdLst>
    <p:sldId xmlns:r="http://schemas.openxmlformats.org/officeDocument/2006/relationships" id="256" r:id="Re006706d51e147d3"/>
    <p:sldId xmlns:r="http://schemas.openxmlformats.org/officeDocument/2006/relationships" id="257" r:id="R12b4acc5f4344531"/>
    <p:sldId xmlns:r="http://schemas.openxmlformats.org/officeDocument/2006/relationships" id="258" r:id="R1abc38814ce943f4"/>
    <p:sldId xmlns:r="http://schemas.openxmlformats.org/officeDocument/2006/relationships" id="259" r:id="Ra2c840277e2345e1"/>
    <p:sldId xmlns:r="http://schemas.openxmlformats.org/officeDocument/2006/relationships" id="260" r:id="Re0bf3e2eea1f4848"/>
    <p:sldId xmlns:r="http://schemas.openxmlformats.org/officeDocument/2006/relationships" id="261" r:id="R8608f56ea3e241b2"/>
    <p:sldId xmlns:r="http://schemas.openxmlformats.org/officeDocument/2006/relationships" id="262" r:id="R51a185a1178a4f69"/>
    <p:sldId xmlns:r="http://schemas.openxmlformats.org/officeDocument/2006/relationships" id="263" r:id="R56dce21491834f86"/>
    <p:sldId xmlns:r="http://schemas.openxmlformats.org/officeDocument/2006/relationships" id="264" r:id="R0a3dde93940d44f3"/>
    <p:sldId xmlns:r="http://schemas.openxmlformats.org/officeDocument/2006/relationships" id="265" r:id="R836d80f9021c4a45"/>
    <p:sldId xmlns:r="http://schemas.openxmlformats.org/officeDocument/2006/relationships" id="266" r:id="R2fd2fa6c78f347ee"/>
    <p:sldId xmlns:r="http://schemas.openxmlformats.org/officeDocument/2006/relationships" id="267" r:id="R14d5b7dc6b214a6f"/>
    <p:sldId xmlns:r="http://schemas.openxmlformats.org/officeDocument/2006/relationships" id="268" r:id="Rbd07e08c3bd44024"/>
    <p:sldId xmlns:r="http://schemas.openxmlformats.org/officeDocument/2006/relationships" id="269" r:id="Rba6783a78a5f403e"/>
    <p:sldId xmlns:r="http://schemas.openxmlformats.org/officeDocument/2006/relationships" id="270" r:id="R9ae9bde3128f4e75"/>
    <p:sldId xmlns:r="http://schemas.openxmlformats.org/officeDocument/2006/relationships" id="271" r:id="R81499d5eb5b64d86"/>
    <p:sldId xmlns:r="http://schemas.openxmlformats.org/officeDocument/2006/relationships" id="272" r:id="Reee76381a5c64d49"/>
    <p:sldId xmlns:r="http://schemas.openxmlformats.org/officeDocument/2006/relationships" id="273" r:id="Rc2abeaf4a3334da6"/>
    <p:sldId xmlns:r="http://schemas.openxmlformats.org/officeDocument/2006/relationships" id="274" r:id="Rda9d4acbcdd04249"/>
    <p:sldId xmlns:r="http://schemas.openxmlformats.org/officeDocument/2006/relationships" id="275" r:id="Ra613eb16e2ea42fb"/>
    <p:sldId xmlns:r="http://schemas.openxmlformats.org/officeDocument/2006/relationships" id="276" r:id="R650656ba26ce49c2"/>
    <p:sldId xmlns:r="http://schemas.openxmlformats.org/officeDocument/2006/relationships" id="277" r:id="R519580b9209545ea"/>
    <p:sldId xmlns:r="http://schemas.openxmlformats.org/officeDocument/2006/relationships" id="278" r:id="Rb1542ccd65604963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9152d28a6a49ce" /><Relationship Type="http://schemas.openxmlformats.org/officeDocument/2006/relationships/theme" Target="/ppt/theme/theme1.xml" Id="R6b225ee23eab47d6" /><Relationship Type="http://schemas.openxmlformats.org/officeDocument/2006/relationships/notesMaster" Target="/ppt/notesMasters/notesMaster1.xml" Id="Re31081f40ae54b0c" /><Relationship Type="http://schemas.openxmlformats.org/officeDocument/2006/relationships/presProps" Target="/ppt/presProps.xml" Id="Rfa00816e003740e2" /><Relationship Type="http://schemas.openxmlformats.org/officeDocument/2006/relationships/viewProps" Target="/ppt/viewProps.xml" Id="Rb3cc4174393a486a" /><Relationship Type="http://schemas.openxmlformats.org/officeDocument/2006/relationships/tableStyles" Target="/ppt/tableStyles.xml" Id="Reecbe87be7524c83" /><Relationship Type="http://schemas.openxmlformats.org/officeDocument/2006/relationships/slide" Target="/ppt/slides/slide1.xml" Id="Re006706d51e147d3" /><Relationship Type="http://schemas.openxmlformats.org/officeDocument/2006/relationships/slide" Target="/ppt/slides/slide2.xml" Id="R12b4acc5f4344531" /><Relationship Type="http://schemas.openxmlformats.org/officeDocument/2006/relationships/slide" Target="/ppt/slides/slide3.xml" Id="R1abc38814ce943f4" /><Relationship Type="http://schemas.openxmlformats.org/officeDocument/2006/relationships/slide" Target="/ppt/slides/slide4.xml" Id="Ra2c840277e2345e1" /><Relationship Type="http://schemas.openxmlformats.org/officeDocument/2006/relationships/slide" Target="/ppt/slides/slide5.xml" Id="Re0bf3e2eea1f4848" /><Relationship Type="http://schemas.openxmlformats.org/officeDocument/2006/relationships/slide" Target="/ppt/slides/slide6.xml" Id="R8608f56ea3e241b2" /><Relationship Type="http://schemas.openxmlformats.org/officeDocument/2006/relationships/slide" Target="/ppt/slides/slide7.xml" Id="R51a185a1178a4f69" /><Relationship Type="http://schemas.openxmlformats.org/officeDocument/2006/relationships/slide" Target="/ppt/slides/slide8.xml" Id="R56dce21491834f86" /><Relationship Type="http://schemas.openxmlformats.org/officeDocument/2006/relationships/slide" Target="/ppt/slides/slide9.xml" Id="R0a3dde93940d44f3" /><Relationship Type="http://schemas.openxmlformats.org/officeDocument/2006/relationships/slide" Target="/ppt/slides/slide10.xml" Id="R836d80f9021c4a45" /><Relationship Type="http://schemas.openxmlformats.org/officeDocument/2006/relationships/slide" Target="/ppt/slides/slide11.xml" Id="R2fd2fa6c78f347ee" /><Relationship Type="http://schemas.openxmlformats.org/officeDocument/2006/relationships/slide" Target="/ppt/slides/slide12.xml" Id="R14d5b7dc6b214a6f" /><Relationship Type="http://schemas.openxmlformats.org/officeDocument/2006/relationships/slide" Target="/ppt/slides/slide13.xml" Id="Rbd07e08c3bd44024" /><Relationship Type="http://schemas.openxmlformats.org/officeDocument/2006/relationships/slide" Target="/ppt/slides/slide14.xml" Id="Rba6783a78a5f403e" /><Relationship Type="http://schemas.openxmlformats.org/officeDocument/2006/relationships/slide" Target="/ppt/slides/slide15.xml" Id="R9ae9bde3128f4e75" /><Relationship Type="http://schemas.openxmlformats.org/officeDocument/2006/relationships/slide" Target="/ppt/slides/slide16.xml" Id="R81499d5eb5b64d86" /><Relationship Type="http://schemas.openxmlformats.org/officeDocument/2006/relationships/slide" Target="/ppt/slides/slide17.xml" Id="Reee76381a5c64d49" /><Relationship Type="http://schemas.openxmlformats.org/officeDocument/2006/relationships/slide" Target="/ppt/slides/slide18.xml" Id="Rc2abeaf4a3334da6" /><Relationship Type="http://schemas.openxmlformats.org/officeDocument/2006/relationships/slide" Target="/ppt/slides/slide19.xml" Id="Rda9d4acbcdd04249" /><Relationship Type="http://schemas.openxmlformats.org/officeDocument/2006/relationships/slide" Target="/ppt/slides/slide20.xml" Id="Ra613eb16e2ea42fb" /><Relationship Type="http://schemas.openxmlformats.org/officeDocument/2006/relationships/slide" Target="/ppt/slides/slide21.xml" Id="R650656ba26ce49c2" /><Relationship Type="http://schemas.openxmlformats.org/officeDocument/2006/relationships/slide" Target="/ppt/slides/slide22.xml" Id="R519580b9209545ea" /><Relationship Type="http://schemas.openxmlformats.org/officeDocument/2006/relationships/slide" Target="/ppt/slides/slide23.xml" Id="Rb1542ccd6560496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4b5307edfb624e0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7015b8cb98c4d12" /><Relationship Type="http://schemas.openxmlformats.org/officeDocument/2006/relationships/notesMaster" Target="/ppt/notesMasters/notesMaster1.xml" Id="R1d23a41b09164ce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5642257bf23462f" /><Relationship Type="http://schemas.openxmlformats.org/officeDocument/2006/relationships/notesMaster" Target="/ppt/notesMasters/notesMaster1.xml" Id="R955241a30f0d43b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3a81ab5d241478c" /><Relationship Type="http://schemas.openxmlformats.org/officeDocument/2006/relationships/notesMaster" Target="/ppt/notesMasters/notesMaster1.xml" Id="Ra13e814bebbf4e1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16352f98f7649b3" /><Relationship Type="http://schemas.openxmlformats.org/officeDocument/2006/relationships/notesMaster" Target="/ppt/notesMasters/notesMaster1.xml" Id="R9fc92f8d461b428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743afc1f8c643c7" /><Relationship Type="http://schemas.openxmlformats.org/officeDocument/2006/relationships/notesMaster" Target="/ppt/notesMasters/notesMaster1.xml" Id="Rd9abd0d98d61422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f3df7f42ff14f0c" /><Relationship Type="http://schemas.openxmlformats.org/officeDocument/2006/relationships/notesMaster" Target="/ppt/notesMasters/notesMaster1.xml" Id="R1bead12770aa482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8c81bc1652d4325" /><Relationship Type="http://schemas.openxmlformats.org/officeDocument/2006/relationships/notesMaster" Target="/ppt/notesMasters/notesMaster1.xml" Id="R12a96bdd2dae47b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9cdea8a6c4148f8" /><Relationship Type="http://schemas.openxmlformats.org/officeDocument/2006/relationships/notesMaster" Target="/ppt/notesMasters/notesMaster1.xml" Id="Rf70d48e51dad486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ee6c307b1624c5c" /><Relationship Type="http://schemas.openxmlformats.org/officeDocument/2006/relationships/notesMaster" Target="/ppt/notesMasters/notesMaster1.xml" Id="Rc45cc03fa4884d7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fc0081fe5a94a57" /><Relationship Type="http://schemas.openxmlformats.org/officeDocument/2006/relationships/notesMaster" Target="/ppt/notesMasters/notesMaster1.xml" Id="R59b2c203c7b745f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07ba7e3322240c4" /><Relationship Type="http://schemas.openxmlformats.org/officeDocument/2006/relationships/notesMaster" Target="/ppt/notesMasters/notesMaster1.xml" Id="Rfb70863d494e4e9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d51dbc88bce46c2" /><Relationship Type="http://schemas.openxmlformats.org/officeDocument/2006/relationships/notesMaster" Target="/ppt/notesMasters/notesMaster1.xml" Id="Re0c8624aec8d438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77f426c88244d21" /><Relationship Type="http://schemas.openxmlformats.org/officeDocument/2006/relationships/notesMaster" Target="/ppt/notesMasters/notesMaster1.xml" Id="R0131a6babada47f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0d71d773d7e45b0" /><Relationship Type="http://schemas.openxmlformats.org/officeDocument/2006/relationships/notesMaster" Target="/ppt/notesMasters/notesMaster1.xml" Id="Ref3b9e1e13c8457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c4e671108df64bf2" /><Relationship Type="http://schemas.openxmlformats.org/officeDocument/2006/relationships/notesMaster" Target="/ppt/notesMasters/notesMaster1.xml" Id="R880a64e91b58435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e428585e6a0e4b84" /><Relationship Type="http://schemas.openxmlformats.org/officeDocument/2006/relationships/notesMaster" Target="/ppt/notesMasters/notesMaster1.xml" Id="R45644c03362342b1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fbc51e8eddc64dbd" /><Relationship Type="http://schemas.openxmlformats.org/officeDocument/2006/relationships/notesMaster" Target="/ppt/notesMasters/notesMaster1.xml" Id="Rba659e333ef24b8b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eaee22bf8a4b47be" /><Relationship Type="http://schemas.openxmlformats.org/officeDocument/2006/relationships/notesMaster" Target="/ppt/notesMasters/notesMaster1.xml" Id="Rd5cb0f909a33430a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d2ba3cb2853f41ba" /><Relationship Type="http://schemas.openxmlformats.org/officeDocument/2006/relationships/notesMaster" Target="/ppt/notesMasters/notesMaster1.xml" Id="R76069ecf12634a26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4468ebe785b1421c" /><Relationship Type="http://schemas.openxmlformats.org/officeDocument/2006/relationships/notesMaster" Target="/ppt/notesMasters/notesMaster1.xml" Id="R2581e94b948d4aec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2aa1d93492ac473e" /><Relationship Type="http://schemas.openxmlformats.org/officeDocument/2006/relationships/notesMaster" Target="/ppt/notesMasters/notesMaster1.xml" Id="Rf6d22a7cccb046a8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c12e16e3419d4e62" /><Relationship Type="http://schemas.openxmlformats.org/officeDocument/2006/relationships/notesMaster" Target="/ppt/notesMasters/notesMaster1.xml" Id="R6d53ebac3c5146f2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61253c9b77c74607" /><Relationship Type="http://schemas.openxmlformats.org/officeDocument/2006/relationships/notesMaster" Target="/ppt/notesMasters/notesMaster1.xml" Id="R00f709326d9d46f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Print-ready lesson PDF samples across key stages.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Melting-pot argument for a shared creative archive.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AI as assistant that amplifies teacher judgement.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Adaptive pathways from one core lesson.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Partner ecosystem powering shared practice.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Curiosity and imagination by design.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Cross-curricular threads across subjects.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Brand mark closing beat with site URL.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Remix diagram — old ideas become new lessons.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Curriculum mapping node web.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Mobile planning with KS3 and EYFS lesson previews.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Idea cards so practice is never lost.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Skills progression across the school year.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Teach–reflect–adapt–refine loop.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SEND inclusion at the centre of planning.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Intentional knowledge sequencing to mastery.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Stretch and deeper learning opportunities.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Teaching as creative work philosophy.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Pipeline from EYFS to university stage.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School homepage and read-only preview mode.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School settings hub for years, branding,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Contact and next steps into the prototype.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Prototype intro for partners and funding.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82de77bd69a4198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 1">
            <a:extLst xmlns:a="http://schemas.openxmlformats.org/drawingml/2006/main">
              <a:ext uri="{FF2B5EF4-FFF2-40B4-BE49-F238E27FC236}">
                <a16:creationId xmlns:a16="http://schemas.microsoft.com/office/drawing/2014/main" id="{0967CC40-BB6D-459B-AB82-45F8A27DE98A}"/>
              </a:ext>
            </a:extLst>
          </p:cNvPr>
          <p:cNvSpPr/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/>
        </p:txBody>
      </p:sp>
      <p:sp>
        <p:nvSpPr>
          <p:cNvPr id="2" name="Subtitle 2">
            <a:extLst xmlns:a="http://schemas.openxmlformats.org/drawingml/2006/main">
              <a:ext uri="{FF2B5EF4-FFF2-40B4-BE49-F238E27FC236}">
                <a16:creationId xmlns:a16="http://schemas.microsoft.com/office/drawing/2014/main" id="{378293F7-C8AB-4836-8FBF-6BD8F697800B}"/>
              </a:ext>
            </a:extLst>
          </p:cNvPr>
          <p:cNvSpPr/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/>
        </p:txBody>
      </p:sp>
      <p:sp>
        <p:nvSpPr>
          <p:cNvPr id="3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7069EF0-B226-4EAB-96E1-44E303F76841}"/>
              </a:ext>
            </a:extLst>
          </p:cNvPr>
          <p:cNvSpPr/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2D37F5C-DB12-4D23-9860-A2B3F84722FE}"/>
              </a:ext>
            </a:extLst>
          </p:cNvPr>
          <p:cNvSpPr/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3655F1B-23B2-46A1-831C-F524158FF513}"/>
              </a:ext>
            </a:extLst>
          </p:cNvPr>
          <p:cNvSpPr/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cf3fe9cc404f4b6b" /><Relationship Type="http://schemas.openxmlformats.org/officeDocument/2006/relationships/slideLayout" Target="/ppt/slideLayouts/slideLayout2.xml" Id="Rdbfba012a9a347c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F076D67-8182-494F-806C-7DBE4C58DA69}"/>
              </a:ext>
            </a:extLst>
          </p:cNvPr>
          <p:cNvSpPr/>
          <p:nvPr>
            <p:ph type="sldNum" idx="4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bfba012a9a347c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5734b50b24a4234" /><Relationship Type="http://schemas.openxmlformats.org/officeDocument/2006/relationships/notesSlide" Target="/ppt/notesSlides/notesSlide1.xml" Id="R1b417c76abaf4fd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107e7dda4244c07" /><Relationship Type="http://schemas.openxmlformats.org/officeDocument/2006/relationships/notesSlide" Target="/ppt/notesSlides/notesSlide2.xml" Id="Raaf15031256e4f1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2d82cb2eba84bff" /><Relationship Type="http://schemas.openxmlformats.org/officeDocument/2006/relationships/notesSlide" Target="/ppt/notesSlides/notesSlide3.xml" Id="Rb35ec7decc9241a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5d82e8ebcad46f4" /><Relationship Type="http://schemas.openxmlformats.org/officeDocument/2006/relationships/notesSlide" Target="/ppt/notesSlides/notesSlide4.xml" Id="R44a616b59e484ab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fa15d7e254a4b00" /><Relationship Type="http://schemas.openxmlformats.org/officeDocument/2006/relationships/notesSlide" Target="/ppt/notesSlides/notesSlide5.xml" Id="R9ae6c492c1fd478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896f5e6fdb44fd1" /><Relationship Type="http://schemas.openxmlformats.org/officeDocument/2006/relationships/notesSlide" Target="/ppt/notesSlides/notesSlide6.xml" Id="R73d48fb4c5e84be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83dbc4982e44719" /><Relationship Type="http://schemas.openxmlformats.org/officeDocument/2006/relationships/notesSlide" Target="/ppt/notesSlides/notesSlide7.xml" Id="Rceb51cc761604e7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aefee6044fe4f60" /><Relationship Type="http://schemas.openxmlformats.org/officeDocument/2006/relationships/notesSlide" Target="/ppt/notesSlides/notesSlide8.xml" Id="R6f08eaaf570c435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435dc4c95994d6b" /><Relationship Type="http://schemas.openxmlformats.org/officeDocument/2006/relationships/notesSlide" Target="/ppt/notesSlides/notesSlide9.xml" Id="R00ea6831ac2e4b2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d7f882df4ae468c" /><Relationship Type="http://schemas.openxmlformats.org/officeDocument/2006/relationships/notesSlide" Target="/ppt/notesSlides/notesSlide10.xml" Id="R5d2f8b74d131452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954633ed4c847c0" /><Relationship Type="http://schemas.openxmlformats.org/officeDocument/2006/relationships/notesSlide" Target="/ppt/notesSlides/notesSlide11.xml" Id="R80e972c6efb14d6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e4131d839f346d9" /><Relationship Type="http://schemas.openxmlformats.org/officeDocument/2006/relationships/notesSlide" Target="/ppt/notesSlides/notesSlide12.xml" Id="Rf2e6fe2f795c464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19fe3fe84e04c9b" /><Relationship Type="http://schemas.openxmlformats.org/officeDocument/2006/relationships/notesSlide" Target="/ppt/notesSlides/notesSlide13.xml" Id="R53eec008b768476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a3f02fb75cf4119" /><Relationship Type="http://schemas.openxmlformats.org/officeDocument/2006/relationships/notesSlide" Target="/ppt/notesSlides/notesSlide14.xml" Id="R6aaefb3b6db04a79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d13d89b5699451a" /><Relationship Type="http://schemas.openxmlformats.org/officeDocument/2006/relationships/notesSlide" Target="/ppt/notesSlides/notesSlide15.xml" Id="Raa90b1f1fa9844ea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c7b656f92ad4eff" /><Relationship Type="http://schemas.openxmlformats.org/officeDocument/2006/relationships/notesSlide" Target="/ppt/notesSlides/notesSlide16.xml" Id="R68e8bee4b4f44644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3f6ffabe171419f" /><Relationship Type="http://schemas.openxmlformats.org/officeDocument/2006/relationships/notesSlide" Target="/ppt/notesSlides/notesSlide17.xml" Id="R3ecdb09e1af74ac2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1ed76281b3d4e0a" /><Relationship Type="http://schemas.openxmlformats.org/officeDocument/2006/relationships/notesSlide" Target="/ppt/notesSlides/notesSlide18.xml" Id="Ra3a8e332fb394763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25586655ffc4bb2" /><Relationship Type="http://schemas.openxmlformats.org/officeDocument/2006/relationships/notesSlide" Target="/ppt/notesSlides/notesSlide19.xml" Id="Rf538a6facf3f41f5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339bd95e9c54eb4" /><Relationship Type="http://schemas.openxmlformats.org/officeDocument/2006/relationships/notesSlide" Target="/ppt/notesSlides/notesSlide20.xml" Id="R27839a609a4f4639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10a261bd74b4eef" /><Relationship Type="http://schemas.openxmlformats.org/officeDocument/2006/relationships/notesSlide" Target="/ppt/notesSlides/notesSlide21.xml" Id="R061e870d53034d12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3b3daa801834e85" /><Relationship Type="http://schemas.openxmlformats.org/officeDocument/2006/relationships/notesSlide" Target="/ppt/notesSlides/notesSlide22.xml" Id="Rc10facad81a24aad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50009914a254592" /><Relationship Type="http://schemas.openxmlformats.org/officeDocument/2006/relationships/notesSlide" Target="/ppt/notesSlides/notesSlide23.xml" Id="Racde75d6ca674fd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3655F1B-23B2-46A1-831C-F524158FF51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39056E-046B-4E6B-B82D-A10522870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F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8719F5-3720-4BC8-B6A0-AD2DB181E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-1333500"/>
            <a:ext cx="4000500" cy="400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6FF7E">
              <a:alpha val="1019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3EC4C1-0206-4A04-A958-03960F89E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2476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F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4741AC-7344-4B28-8EDC-F335E9A4A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5750"/>
            <a:ext cx="857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98279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2D24"/>
                </a:solidFill>
              </a:defRPr>
            </a:pPr>
            <a:r>
              <a:rPr sz="900" b="1">
                <a:solidFill>
                  <a:srgbClr val="002D24"/>
                </a:solidFill>
              </a:rPr>
              <a:t>Feature 06 · Print, project, share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69A0E8-EA67-4E30-B925-A7A2B39E9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53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02D24"/>
                </a:solidFill>
              </a:defRPr>
            </a:pPr>
            <a:r>
              <a:rPr sz="2100" b="1">
                <a:solidFill>
                  <a:srgbClr val="002D24"/>
                </a:solidFill>
              </a:rPr>
              <a:t>The same workspace — from A-Level Drama to EYFS Reception.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108FCD-384C-49A2-B4D2-6F115E00E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5419725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D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40A6DA-5FC0-4013-AA4C-FC319C4F0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43050"/>
            <a:ext cx="51911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7432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2D24"/>
                </a:solidFill>
              </a:defRPr>
            </a:pPr>
            <a:r>
              <a:rPr sz="825" b="1">
                <a:solidFill>
                  <a:srgbClr val="002D24"/>
                </a:solidFill>
              </a:rPr>
              <a:t>Year 13 · A-Level Drama (Eduqas) · Component 1 · Lesson 4 of 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213DDA-6573-4A43-B202-1790BD85B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52600"/>
            <a:ext cx="51911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F2A2E"/>
                </a:solidFill>
              </a:defRPr>
            </a:pPr>
            <a:r>
              <a:rPr sz="975" b="1">
                <a:solidFill>
                  <a:srgbClr val="0F2A2E"/>
                </a:solidFill>
              </a:rPr>
              <a:t>Brecht in Practice — Gestus &amp; Verfremdung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B84930-9CE3-417D-8F83-DF992277F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52650"/>
            <a:ext cx="51911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62914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2A4548"/>
                </a:solidFill>
              </a:defRPr>
            </a:pPr>
            <a:r>
              <a:rPr sz="825" b="0">
                <a:solidFill>
                  <a:srgbClr val="2A4548"/>
                </a:solidFill>
              </a:rPr>
              <a:t>Apply Brechtian techniques (gestus, direct address, placard, song) to a 3-minute extract from Mother Courage and analyse how each device disrupts naturalistic empathy.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071183-3BC3-4334-810A-6B1A482B7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1428750"/>
            <a:ext cx="5419725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D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741C3A-1597-4FA5-A0A5-D2B48C86F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543050"/>
            <a:ext cx="51911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7432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2D24"/>
                </a:solidFill>
              </a:defRPr>
            </a:pPr>
            <a:r>
              <a:rPr sz="825" b="1">
                <a:solidFill>
                  <a:srgbClr val="002D24"/>
                </a:solidFill>
              </a:rPr>
              <a:t>Reception · EYFS Drama · Storytelling Through Drama · Lesson 1 of 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960D3C-D0AA-499A-BF19-79CCD2516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52600"/>
            <a:ext cx="51911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F2A2E"/>
                </a:solidFill>
              </a:defRPr>
            </a:pPr>
            <a:r>
              <a:rPr sz="975" b="1">
                <a:solidFill>
                  <a:srgbClr val="0F2A2E"/>
                </a:solidFill>
              </a:rPr>
              <a:t>The Three Little Pigs — Acting Out the Story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0FF67F-524E-4976-8CD3-945B801B7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2152650"/>
            <a:ext cx="51911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0141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2A4548"/>
                </a:solidFill>
              </a:defRPr>
            </a:pPr>
            <a:r>
              <a:rPr sz="825" b="0">
                <a:solidFill>
                  <a:srgbClr val="2A4548"/>
                </a:solidFill>
              </a:rPr>
              <a:t>Children retell a familiar story through role play, using their bodies, voices and props to bring three characters to life and joining in with a repeated refrain.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6815AB5-6A86-4A82-9F21-DBA6DF170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109537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0F2A2E"/>
                </a:solidFill>
              </a:defRPr>
            </a:pPr>
            <a:r>
              <a:rPr sz="750" b="0">
                <a:solidFill>
                  <a:srgbClr val="0F2A2E"/>
                </a:solidFill>
              </a:rPr>
              <a:t>• I can define gestus and demonstrate it through a single, socially-loaded gesture.</a:t>
            </a:r>
          </a:p>
          <a:p xmlns:a="http://schemas.openxmlformats.org/drawingml/2006/main">
            <a:pPr algn="l">
              <a:defRPr sz="750" b="0">
                <a:solidFill>
                  <a:srgbClr val="0F2A2E"/>
                </a:solidFill>
              </a:defRPr>
            </a:pPr>
            <a:r>
              <a:rPr sz="750" b="0">
                <a:solidFill>
                  <a:srgbClr val="0F2A2E"/>
                </a:solidFill>
              </a:rPr>
              <a:t>• I can use Verfremdung (the 'V-effekt') to break the fourth wall in performance.</a:t>
            </a:r>
          </a:p>
          <a:p xmlns:a="http://schemas.openxmlformats.org/drawingml/2006/main">
            <a:pPr algn="l">
              <a:defRPr sz="750" b="0">
                <a:solidFill>
                  <a:srgbClr val="0F2A2E"/>
                </a:solidFill>
              </a:defRPr>
            </a:pPr>
            <a:r>
              <a:rPr sz="750" b="0">
                <a:solidFill>
                  <a:srgbClr val="0F2A2E"/>
                </a:solidFill>
              </a:rPr>
              <a:t>• I can justify a directorial choice in writing using Brecht's own terminology.</a:t>
            </a:r>
          </a:p>
          <a:p xmlns:a="http://schemas.openxmlformats.org/drawingml/2006/main">
            <a:pPr algn="l">
              <a:defRPr sz="750" b="0">
                <a:solidFill>
                  <a:srgbClr val="0F2A2E"/>
                </a:solidFill>
              </a:defRPr>
            </a:pPr>
            <a:r>
              <a:rPr sz="750" b="0">
                <a:solidFill>
                  <a:srgbClr val="0F2A2E"/>
                </a:solidFill>
              </a:rPr>
              <a:t>• I can use my big voice and my little voice to be different characters.</a:t>
            </a:r>
          </a:p>
          <a:p xmlns:a="http://schemas.openxmlformats.org/drawingml/2006/main">
            <a:pPr algn="l">
              <a:defRPr sz="750" b="0">
                <a:solidFill>
                  <a:srgbClr val="0F2A2E"/>
                </a:solidFill>
              </a:defRPr>
            </a:pPr>
            <a:r>
              <a:rPr sz="750" b="0">
                <a:solidFill>
                  <a:srgbClr val="0F2A2E"/>
                </a:solidFill>
              </a:rPr>
              <a:t>• I can act out the story with my friends and take turns.</a:t>
            </a:r>
          </a:p>
          <a:p xmlns:a="http://schemas.openxmlformats.org/drawingml/2006/main">
            <a:pPr algn="l">
              <a:defRPr sz="750" b="0">
                <a:solidFill>
                  <a:srgbClr val="0F2A2E"/>
                </a:solidFill>
              </a:defRPr>
            </a:pPr>
            <a:r>
              <a:rPr sz="750" b="0">
                <a:solidFill>
                  <a:srgbClr val="0F2A2E"/>
                </a:solidFill>
              </a:rPr>
              <a:t>• I can join in with 'I'll huff and I'll puff' at the right moment.</a:t>
            </a:r>
          </a:p>
          <a:p xmlns:a="http://schemas.openxmlformats.org/drawingml/2006/main">
            <a:pPr algn="l">
              <a:defRPr sz="750" b="0">
                <a:solidFill>
                  <a:srgbClr val="0F2A2E"/>
                </a:solidFill>
              </a:defRPr>
            </a:pPr>
            <a:r>
              <a:rPr sz="750" b="0">
                <a:solidFill>
                  <a:srgbClr val="0F2A2E"/>
                </a:solidFill>
              </a:rPr>
              <a:t>• I can show how the wolf feels using my face and my body.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750" b="0">
                <a:solidFill>
                  <a:srgbClr val="0F2A2E"/>
                </a:solidFill>
              </a:defRPr>
            </a:pPr>
            <a:r>
              <a:rPr sz="750" b="0">
                <a:solidFill>
                  <a:srgbClr val="0F2A2E"/>
                </a:solidFill>
              </a:rPr>
              <a:t>• 10 min · Do Now · Gestus Gallery — Students enter to projected stills from the Berliner Ensemble. In silence, each strikes a single 'socially loaded' gesture (the boss, the soldier, the mother). Hold for 30 seconds. Discuss: what does the body alone tell us about class and power?</a:t>
            </a:r>
          </a:p>
          <a:p xmlns:a="http://schemas.openxmlformats.org/drawingml/2006/main">
            <a:pPr algn="l">
              <a:defRPr sz="750" b="0">
                <a:solidFill>
                  <a:srgbClr val="0F2A2E"/>
                </a:solidFill>
              </a:defRPr>
            </a:pPr>
            <a:r>
              <a:rPr sz="750" b="0">
                <a:solidFill>
                  <a:srgbClr val="0F2A2E"/>
                </a:solidFill>
              </a:rPr>
              <a:t>• 40 min · Main · Staging the Verfremdung extract — Groups of four stage the recruiter scene from Mother Courage. Each version must integrate at least three Brechtian devices: placard, direct address, song interruption, half-curtain reveal. Rehearse with a stop-and-justify prompt every 8 minutes.</a:t>
            </a:r>
          </a:p>
          <a:p xmlns:a="http://schemas.openxmlformats.org/drawingml/2006/main">
            <a:pPr algn="l">
              <a:defRPr sz="750" b="0">
                <a:solidFill>
                  <a:srgbClr val="0F2A2E"/>
                </a:solidFill>
              </a:defRPr>
            </a:pPr>
            <a:r>
              <a:rPr sz="750" b="0">
                <a:solidFill>
                  <a:srgbClr val="0F2A2E"/>
                </a:solidFill>
              </a:rPr>
              <a:t>• 15 min · Stretch · Director's commentary — Each director writes a 200-word programme note in the style of Brecht's Short Organum, defending one staging decision against an imagined naturalistic critic.</a:t>
            </a:r>
          </a:p>
          <a:p xmlns:a="http://schemas.openxmlformats.org/drawingml/2006/main">
            <a:pPr algn="l">
              <a:defRPr sz="750" b="0">
                <a:solidFill>
                  <a:srgbClr val="0F2A2E"/>
                </a:solidFill>
              </a:defRPr>
            </a:pPr>
            <a:r>
              <a:rPr sz="750" b="0">
                <a:solidFill>
                  <a:srgbClr val="0F2A2E"/>
                </a:solidFill>
              </a:rPr>
              <a:t>• 15 min · Plenary · Cold-call &amp; exam link — Two groups perform. Cold-call three students to identify the gestus, the V-effekt moment, and the political 'invitation to think'. Map evidence onto AO2 / AO3 of the Component 1 mark scheme.</a:t>
            </a:r>
          </a:p>
          <a:p xmlns:a="http://schemas.openxmlformats.org/drawingml/2006/main">
            <a:pPr algn="l">
              <a:defRPr sz="750" b="0">
                <a:solidFill>
                  <a:srgbClr val="0F2A2E"/>
                </a:solidFill>
              </a:defRPr>
            </a:pPr>
            <a:r>
              <a:rPr sz="750" b="0">
                <a:solidFill>
                  <a:srgbClr val="0F2A2E"/>
                </a:solidFill>
              </a:rPr>
              <a:t>• 6 min · Carpet · Story Voice Warm-Up — On the story carpet, children practise three voices together: the squeaky pig, the stomping wolf, the calm narrator. Echo a line back in each voice. Builds vocal control before role play begins.</a:t>
            </a:r>
          </a:p>
          <a:p xmlns:a="http://schemas.openxmlformats.org/drawingml/2006/main">
            <a:pPr algn="l">
              <a:defRPr sz="750" b="0">
                <a:solidFill>
                  <a:srgbClr val="0F2A2E"/>
                </a:solidFill>
              </a:defRPr>
            </a:pPr>
            <a:r>
              <a:rPr sz="750" b="0">
                <a:solidFill>
                  <a:srgbClr val="0F2A2E"/>
                </a:solidFill>
              </a:rPr>
              <a:t>• 18 min · Main · Acting Out the Story (small groups) — Four corners of the hall become straw, sticks, brick and the wolf's path. Children move between zones in groups of four (3 pigs + 1 wolf), swapping roles after each refrain. Adults model gesture and facial expression at each new house.</a:t>
            </a:r>
          </a:p>
          <a:p xmlns:a="http://schemas.openxmlformats.org/drawingml/2006/main">
            <a:pPr algn="l">
              <a:defRPr sz="750" b="0">
                <a:solidFill>
                  <a:srgbClr val="0F2A2E"/>
                </a:solidFill>
              </a:defRPr>
            </a:pPr>
            <a:r>
              <a:rPr sz="750" b="0">
                <a:solidFill>
                  <a:srgbClr val="0F2A2E"/>
                </a:solidFill>
              </a:rPr>
              <a:t>• 6 min · Language · Repeated Refrain Together — Whole class chants 'Little pig, little pig, let me come in!' / 'Not by the hair of my chinny-chin-chin!' Add a clap on each beat. Encourages turn-taking and confident speaking in role.</a:t>
            </a:r>
          </a:p>
          <a:p xmlns:a="http://schemas.openxmlformats.org/drawingml/2006/main">
            <a:pPr algn="l">
              <a:defRPr sz="750" b="0">
                <a:solidFill>
                  <a:srgbClr val="0F2A2E"/>
                </a:solidFill>
              </a:defRPr>
            </a:pPr>
            <a:r>
              <a:rPr sz="750" b="0">
                <a:solidFill>
                  <a:srgbClr val="0F2A2E"/>
                </a:solidFill>
              </a:rPr>
              <a:t>• 5 min · Plenary · 'How did the wolf feel?' — Sit in a circle. Each child shows the wolf's face at the start, the middle, and the end of the story. Practitioner notes which children used facial expression to communicate feeling — evidence for the EAD profile.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72E3A2F-3646-4EE8-BB0F-3A8AAEE46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7907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8F6E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50177C-90C3-4E18-92DD-8CD909CF1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43600"/>
            <a:ext cx="1638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7432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002D24"/>
                </a:solidFill>
              </a:defRPr>
            </a:pPr>
            <a:r>
              <a:rPr sz="825" b="1">
                <a:solidFill>
                  <a:srgbClr val="002D24"/>
                </a:solidFill>
              </a:rPr>
              <a:t>PDF · A4 print-ready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34481C-BD2E-4DA0-B01E-D5BD9D81D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905500"/>
            <a:ext cx="28575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8F6E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F60903-C2DB-49D3-A9CE-0520AEDDD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5943600"/>
            <a:ext cx="2705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7432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002D24"/>
                </a:solidFill>
              </a:defRPr>
            </a:pPr>
            <a:r>
              <a:rPr sz="825" b="1">
                <a:solidFill>
                  <a:srgbClr val="002D24"/>
                </a:solidFill>
              </a:rPr>
              <a:t>I-can statements · clickable weblinks · school header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A517DAB-FE75-41E6-A41C-BA211692A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5905500"/>
            <a:ext cx="19431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8F6E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C288CE7-4CF8-4C9F-B3A7-668D583C4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5943600"/>
            <a:ext cx="1790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7432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002D24"/>
                </a:solidFill>
              </a:defRPr>
            </a:pPr>
            <a:r>
              <a:rPr sz="825" b="1">
                <a:solidFill>
                  <a:srgbClr val="002D24"/>
                </a:solidFill>
              </a:rPr>
              <a:t>Linked EYFS objectives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B25BE5C-25EB-491D-9261-2C63BA761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5905500"/>
            <a:ext cx="28575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8F6E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3407A10-797E-49D0-955A-AB6DE0E51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5943600"/>
            <a:ext cx="2705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7432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002D24"/>
                </a:solidFill>
              </a:defRPr>
            </a:pPr>
            <a:r>
              <a:rPr sz="825" b="1">
                <a:solidFill>
                  <a:srgbClr val="002D24"/>
                </a:solidFill>
              </a:rPr>
              <a:t>Created in Creative Curriculum Designer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DA8808B-BBE3-453A-96F1-EA9F569D8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5905500"/>
            <a:ext cx="11049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8F6E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25E584D-6D47-47E7-B114-5E94EE2C3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5943600"/>
            <a:ext cx="95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7432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002D24"/>
                </a:solidFill>
              </a:defRPr>
            </a:pPr>
            <a:r>
              <a:rPr sz="825" b="1">
                <a:solidFill>
                  <a:srgbClr val="002D24"/>
                </a:solidFill>
              </a:rPr>
              <a:t>Page 1 of 1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8E78AA6-1449-4662-8928-D0946909D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9431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8F6E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BBC39BB-62DC-4A22-A400-CA3D404A0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34100"/>
            <a:ext cx="1790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7432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002D24"/>
                </a:solidFill>
              </a:defRPr>
            </a:pPr>
            <a:r>
              <a:rPr sz="825" b="1">
                <a:solidFill>
                  <a:srgbClr val="002D24"/>
                </a:solidFill>
              </a:rPr>
              <a:t>Linked EYFS objectives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60749B3-801D-4776-90F6-05B1995A1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6096000"/>
            <a:ext cx="28575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8F6E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EF4D03B-1119-4C38-B3E5-FB0CEEA4B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6134100"/>
            <a:ext cx="2705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7432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002D24"/>
                </a:solidFill>
              </a:defRPr>
            </a:pPr>
            <a:r>
              <a:rPr sz="825" b="1">
                <a:solidFill>
                  <a:srgbClr val="002D24"/>
                </a:solidFill>
              </a:rPr>
              <a:t>Created in Creative Curriculum Designer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869C00E-9D69-4282-A08F-B9AF26978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6096000"/>
            <a:ext cx="11049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8F6E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D5FEB35-FADD-4A1F-80CF-64B6D537A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6134100"/>
            <a:ext cx="95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7432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002D24"/>
                </a:solidFill>
              </a:defRPr>
            </a:pPr>
            <a:r>
              <a:rPr sz="825" b="1">
                <a:solidFill>
                  <a:srgbClr val="002D24"/>
                </a:solidFill>
              </a:rPr>
              <a:t>Page 1 of 1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26EE1E4-352A-4DE4-9E85-3F0550F89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9251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A7275"/>
                </a:solidFill>
              </a:defRPr>
            </a:pPr>
            <a:r>
              <a:rPr sz="825" b="0">
                <a:solidFill>
                  <a:srgbClr val="5A7275"/>
                </a:solidFill>
              </a:rPr>
              <a:t>Creative Curriculum Designer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7EBD5E1-34E3-4807-BFE9-65ECF0216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53200"/>
            <a:ext cx="133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9251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A7275"/>
                </a:solidFill>
              </a:defRPr>
            </a:pPr>
            <a:r>
              <a:rPr sz="825" b="0">
                <a:solidFill>
                  <a:srgbClr val="5A7275"/>
                </a:solidFill>
              </a:rPr>
              <a:t>01 / 23</a:t>
            </a:r>
          </a:p>
        </p:txBody>
      </p:sp>
    </p:spTree>
    <p:extLst>
      <p:ext uri="{BB962C8B-B14F-4D97-AF65-F5344CB8AC3E}">
        <p14:creationId xmlns:p14="http://schemas.microsoft.com/office/powerpoint/2010/main" val="202971667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3655F1B-23B2-46A1-831C-F524158FF51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DF6BF0-721F-497B-A6EC-940F25950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F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85DBAA-CCC7-40F6-85B7-DA87A4344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-1333500"/>
            <a:ext cx="4000500" cy="400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6FF7E">
              <a:alpha val="1019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5E3046-F10E-488B-9CEF-F6F3BB736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2476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F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606756-4603-47D1-B5DC-776466295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5750"/>
            <a:ext cx="857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98279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2D24"/>
                </a:solidFill>
              </a:defRPr>
            </a:pPr>
            <a:r>
              <a:rPr sz="900" b="1">
                <a:solidFill>
                  <a:srgbClr val="002D24"/>
                </a:solidFill>
              </a:rPr>
              <a:t>The argument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F89E76-8142-4892-BDB7-88148639D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53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02D24"/>
                </a:solidFill>
              </a:defRPr>
            </a:pPr>
            <a:r>
              <a:rPr sz="2100" b="1">
                <a:solidFill>
                  <a:srgbClr val="002D24"/>
                </a:solidFill>
              </a:rPr>
              <a:t>A melting pot of knowledge.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BA7A13-7262-4FB5-8495-DC4A797BF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35623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D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D75FAC-5D5C-4DA0-86CA-167625CD5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43050"/>
            <a:ext cx="3333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F2A2E"/>
                </a:solidFill>
              </a:defRPr>
            </a:pPr>
            <a:r>
              <a:rPr sz="1050" b="1">
                <a:solidFill>
                  <a:srgbClr val="0F2A2E"/>
                </a:solidFill>
              </a:rPr>
              <a:t>Schools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151C53-B84A-40F3-86EB-F7246ECF7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43100"/>
            <a:ext cx="3333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A4548"/>
                </a:solidFill>
              </a:defRPr>
            </a:pPr>
            <a:r>
              <a:rPr sz="900" b="0">
                <a:solidFill>
                  <a:srgbClr val="2A4548"/>
                </a:solidFill>
              </a:rPr>
              <a:t>Drama, music &amp; dance specialists across EYFS to KS5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0DCE11-9FFE-4BCA-AAEE-ED072C84D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428750"/>
            <a:ext cx="35623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D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CD34B3-AF0B-475E-9783-A669DEB23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543050"/>
            <a:ext cx="3333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F2A2E"/>
                </a:solidFill>
              </a:defRPr>
            </a:pPr>
            <a:r>
              <a:rPr sz="1050" b="1">
                <a:solidFill>
                  <a:srgbClr val="0F2A2E"/>
                </a:solidFill>
              </a:rPr>
              <a:t>Universities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F90CCE-A76C-4B54-9478-CD7DBBD4F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943100"/>
            <a:ext cx="3333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A4548"/>
                </a:solidFill>
              </a:defRPr>
            </a:pPr>
            <a:r>
              <a:rPr sz="900" b="0">
                <a:solidFill>
                  <a:srgbClr val="2A4548"/>
                </a:solidFill>
              </a:rPr>
              <a:t>Conservatoires &amp; arts faculties protecting the pipeline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510AD2-DBFF-4F97-ABD0-92A9ABDC4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428750"/>
            <a:ext cx="35623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D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7460CD-CB8C-4FCB-99AC-43CFA9465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543050"/>
            <a:ext cx="3333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F2A2E"/>
                </a:solidFill>
              </a:defRPr>
            </a:pPr>
            <a:r>
              <a:rPr sz="1050" b="1">
                <a:solidFill>
                  <a:srgbClr val="0F2A2E"/>
                </a:solidFill>
              </a:rPr>
              <a:t>Arts orgs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D4D8E5-9EAC-4CEE-BFEB-012146983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943100"/>
            <a:ext cx="3333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A4548"/>
                </a:solidFill>
              </a:defRPr>
            </a:pPr>
            <a:r>
              <a:rPr sz="900" b="0">
                <a:solidFill>
                  <a:srgbClr val="2A4548"/>
                </a:solidFill>
              </a:rPr>
              <a:t>Theatres, orchestras, dance companies, touring outreach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BA526F-8AAF-49B6-B16F-D5266612A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05100"/>
            <a:ext cx="35623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D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7FF9D5B-7E8C-4E7C-BE55-2770F869D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19400"/>
            <a:ext cx="3333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F2A2E"/>
                </a:solidFill>
              </a:defRPr>
            </a:pPr>
            <a:r>
              <a:rPr sz="1050" b="1">
                <a:solidFill>
                  <a:srgbClr val="0F2A2E"/>
                </a:solidFill>
              </a:rPr>
              <a:t>Practitioners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A9D6593-A68D-42A8-AAC0-E10790006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19450"/>
            <a:ext cx="3333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A4548"/>
                </a:solidFill>
              </a:defRPr>
            </a:pPr>
            <a:r>
              <a:rPr sz="900" b="0">
                <a:solidFill>
                  <a:srgbClr val="2A4548"/>
                </a:solidFill>
              </a:rPr>
              <a:t>Working artists, freelance teachers, visiting workshops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6C054C-821A-4385-B299-78D9ADFCA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705100"/>
            <a:ext cx="35623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D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52F850A-B7BD-4C4E-8E44-C2EBF5541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819400"/>
            <a:ext cx="3333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F2A2E"/>
                </a:solidFill>
              </a:defRPr>
            </a:pPr>
            <a:r>
              <a:rPr sz="1050" b="1">
                <a:solidFill>
                  <a:srgbClr val="0F2A2E"/>
                </a:solidFill>
              </a:rPr>
              <a:t>Communities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9D62C3F-778A-4B8E-A645-51BAA217C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219450"/>
            <a:ext cx="3333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A4548"/>
                </a:solidFill>
              </a:defRPr>
            </a:pPr>
            <a:r>
              <a:rPr sz="900" b="0">
                <a:solidFill>
                  <a:srgbClr val="2A4548"/>
                </a:solidFill>
              </a:rPr>
              <a:t>Parents, alumni, local audiences, partner primaries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95142DF-C86F-4DD1-9776-00A922029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705100"/>
            <a:ext cx="35623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D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B1CC739-A086-4DA2-8DB0-66AE07770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819400"/>
            <a:ext cx="3333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F2A2E"/>
                </a:solidFill>
              </a:defRPr>
            </a:pPr>
            <a:r>
              <a:rPr sz="1050" b="1">
                <a:solidFill>
                  <a:srgbClr val="0F2A2E"/>
                </a:solidFill>
              </a:rPr>
              <a:t>Children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85B9587-5C49-40E2-BB4C-6113A4D76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219450"/>
            <a:ext cx="3333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A4548"/>
                </a:solidFill>
              </a:defRPr>
            </a:pPr>
            <a:r>
              <a:rPr sz="900" b="0">
                <a:solidFill>
                  <a:srgbClr val="2A4548"/>
                </a:solidFill>
              </a:rPr>
              <a:t>The young artists every contribution is in service of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A66FB6D-9123-48A3-9CF7-609AB8038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9251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A7275"/>
                </a:solidFill>
              </a:defRPr>
            </a:pPr>
            <a:r>
              <a:rPr sz="825" b="0">
                <a:solidFill>
                  <a:srgbClr val="5A7275"/>
                </a:solidFill>
              </a:rPr>
              <a:t>Creative Curriculum Designer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D7FC58D-BE82-415B-809C-C2434774E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53200"/>
            <a:ext cx="133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9251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A7275"/>
                </a:solidFill>
              </a:defRPr>
            </a:pPr>
            <a:r>
              <a:rPr sz="825" b="0">
                <a:solidFill>
                  <a:srgbClr val="5A7275"/>
                </a:solidFill>
              </a:rPr>
              <a:t>02 / 23</a:t>
            </a:r>
          </a:p>
        </p:txBody>
      </p:sp>
    </p:spTree>
    <p:extLst>
      <p:ext uri="{BB962C8B-B14F-4D97-AF65-F5344CB8AC3E}">
        <p14:creationId xmlns:p14="http://schemas.microsoft.com/office/powerpoint/2010/main" val="103126842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3655F1B-23B2-46A1-831C-F524158FF51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F54D9E-49A4-4EA4-88C3-6DD08B4BD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F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B88737-7A1C-4DFD-97D8-99A6DDF48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-1333500"/>
            <a:ext cx="4000500" cy="400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6FF7E">
              <a:alpha val="1019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2BA710-5AF9-47DB-B75A-A9FEE2D09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2476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F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D623A4-4A1D-48B4-888E-DF17F220B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5750"/>
            <a:ext cx="857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98279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2D24"/>
                </a:solidFill>
              </a:defRPr>
            </a:pPr>
            <a:r>
              <a:rPr sz="900" b="1">
                <a:solidFill>
                  <a:srgbClr val="002D24"/>
                </a:solidFill>
              </a:rPr>
              <a:t>An assistant, not a replacement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605BF7-0932-405A-8D56-CD8DDAFA8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4762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02D24"/>
                </a:solidFill>
              </a:defRPr>
            </a:pPr>
            <a:r>
              <a:rPr sz="2100" b="1">
                <a:solidFill>
                  <a:srgbClr val="002D24"/>
                </a:solidFill>
              </a:rPr>
              <a:t>AI that amplifies your thinking.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44D9C0-2FB3-4195-BD51-DC6BD82D8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4762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A4548"/>
                </a:solidFill>
              </a:defRPr>
            </a:pPr>
            <a:r>
              <a:rPr sz="1050" b="0">
                <a:solidFill>
                  <a:srgbClr val="2A4548"/>
                </a:solidFill>
              </a:rPr>
              <a:t>A creative thinking partner — never a replacement for the teacher in the room.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DF5232-77C9-406C-A04A-9DF75419A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762000"/>
            <a:ext cx="2886075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D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1A36FD-691E-4F4F-80C5-DE4FB6FFD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876300"/>
            <a:ext cx="26574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F2A2E"/>
                </a:solidFill>
              </a:defRPr>
            </a:pPr>
            <a:r>
              <a:rPr sz="1050" b="1">
                <a:solidFill>
                  <a:srgbClr val="0F2A2E"/>
                </a:solidFill>
              </a:rPr>
              <a:t>you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B7A88B-6710-4EE5-A69B-D6435671A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1276350"/>
            <a:ext cx="2657475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2A4548"/>
                </a:solidFill>
              </a:defRPr>
            </a:pPr>
            <a:r>
              <a:rPr sz="825" b="0">
                <a:solidFill>
                  <a:srgbClr val="2A4548"/>
                </a:solidFill>
              </a:rPr>
              <a:t>15-min KS2 warmup that builds focus?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30AB80-F1B8-4D41-AD5B-F0D9DA52E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762000"/>
            <a:ext cx="2886075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D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454A82-63E9-414B-8F2A-00840C8AC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876300"/>
            <a:ext cx="265747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7432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2D24"/>
                </a:solidFill>
              </a:defRPr>
            </a:pPr>
            <a:r>
              <a:rPr sz="825" b="1">
                <a:solidFill>
                  <a:srgbClr val="002D24"/>
                </a:solidFill>
              </a:rPr>
              <a:t>Three options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0105446-8BBF-43FE-A482-5E47546FD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1085850"/>
            <a:ext cx="26574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F2A2E"/>
                </a:solidFill>
              </a:defRPr>
            </a:pPr>
            <a:r>
              <a:rPr sz="1050" b="1">
                <a:solidFill>
                  <a:srgbClr val="0F2A2E"/>
                </a:solidFill>
              </a:rPr>
              <a:t>ai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81D115-15CC-4AF0-A250-88C8D93B1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1485900"/>
            <a:ext cx="26574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2A4548"/>
                </a:solidFill>
              </a:defRPr>
            </a:pPr>
            <a:r>
              <a:rPr sz="825" b="0">
                <a:solidFill>
                  <a:srgbClr val="2A4548"/>
                </a:solidFill>
              </a:rPr>
              <a:t>Try "Zip-zap-boing" → "1-2-3 mirror" → silent count-up to 20.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085EE3-3D24-4DFE-A253-42FC255D8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419350"/>
            <a:ext cx="2886075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D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85E7BD1-2BF5-4E4A-8AE1-D1CBE2C3F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533650"/>
            <a:ext cx="26574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F2A2E"/>
                </a:solidFill>
              </a:defRPr>
            </a:pPr>
            <a:r>
              <a:rPr sz="1050" b="1">
                <a:solidFill>
                  <a:srgbClr val="0F2A2E"/>
                </a:solidFill>
              </a:rPr>
              <a:t>you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EB0D53-32E8-4309-849C-5B2427270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933700"/>
            <a:ext cx="2657475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2A4548"/>
                </a:solidFill>
              </a:defRPr>
            </a:pPr>
            <a:r>
              <a:rPr sz="825" b="0">
                <a:solidFill>
                  <a:srgbClr val="2A4548"/>
                </a:solidFill>
              </a:rPr>
              <a:t>Make one SEND-friendly, one stretch.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A759F1-F6BD-489B-8E89-3F1DFFAB4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2419350"/>
            <a:ext cx="2886075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D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5399F8-CEAF-4F66-AA39-9250A2B6F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533650"/>
            <a:ext cx="265747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7432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2D24"/>
                </a:solidFill>
              </a:defRPr>
            </a:pPr>
            <a:r>
              <a:rPr sz="825" b="1">
                <a:solidFill>
                  <a:srgbClr val="002D24"/>
                </a:solidFill>
              </a:rPr>
              <a:t>Adapted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B9AF754-94A4-4282-B1C2-A71146C74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743200"/>
            <a:ext cx="26574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F2A2E"/>
                </a:solidFill>
              </a:defRPr>
            </a:pPr>
            <a:r>
              <a:rPr sz="1050" b="1">
                <a:solidFill>
                  <a:srgbClr val="0F2A2E"/>
                </a:solidFill>
              </a:rPr>
              <a:t>ai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E631EC6-B8BF-44A1-BCF1-F3E82AF77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143250"/>
            <a:ext cx="26574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2A4548"/>
                </a:solidFill>
              </a:defRPr>
            </a:pPr>
            <a:r>
              <a:rPr sz="825" b="0">
                <a:solidFill>
                  <a:srgbClr val="2A4548"/>
                </a:solidFill>
              </a:rPr>
              <a:t>SEND: visual cue cards + paired calls. Stretch: pupils lead the round.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ACF22F7-FE3B-402B-B3D6-1BC501EA1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8001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8F6E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CDB9AAE-9A56-4BF9-9026-E5331B264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34100"/>
            <a:ext cx="647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7432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002D24"/>
                </a:solidFill>
              </a:defRPr>
            </a:pPr>
            <a:r>
              <a:rPr sz="825" b="1">
                <a:solidFill>
                  <a:srgbClr val="002D24"/>
                </a:solidFill>
              </a:rPr>
              <a:t>09 / 22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F1B9EDA-B9C6-4F15-AD9F-E90C6092A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9251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A7275"/>
                </a:solidFill>
              </a:defRPr>
            </a:pPr>
            <a:r>
              <a:rPr sz="825" b="0">
                <a:solidFill>
                  <a:srgbClr val="5A7275"/>
                </a:solidFill>
              </a:rPr>
              <a:t>Creative Curriculum Designer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2677A99-5C29-4085-BACB-46CAA0BEC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53200"/>
            <a:ext cx="133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9251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A7275"/>
                </a:solidFill>
              </a:defRPr>
            </a:pPr>
            <a:r>
              <a:rPr sz="825" b="0">
                <a:solidFill>
                  <a:srgbClr val="5A7275"/>
                </a:solidFill>
              </a:rPr>
              <a:t>03 / 23</a:t>
            </a:r>
          </a:p>
        </p:txBody>
      </p:sp>
    </p:spTree>
    <p:extLst>
      <p:ext uri="{BB962C8B-B14F-4D97-AF65-F5344CB8AC3E}">
        <p14:creationId xmlns:p14="http://schemas.microsoft.com/office/powerpoint/2010/main" val="184213307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3655F1B-23B2-46A1-831C-F524158FF51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9AC16F-0ECF-44DB-A73E-A192C91DE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F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93CD62-AF5D-4694-B6A8-550824450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-1333500"/>
            <a:ext cx="4000500" cy="400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6FF7E">
              <a:alpha val="1019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77627C-DEFC-428F-A090-E95FDFF9B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2476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F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782ACC-F4E4-4E54-B5A8-1096BD5A1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5750"/>
            <a:ext cx="857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98279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2D24"/>
                </a:solidFill>
              </a:defRPr>
            </a:pPr>
            <a:r>
              <a:rPr sz="900" b="1">
                <a:solidFill>
                  <a:srgbClr val="002D24"/>
                </a:solidFill>
              </a:rPr>
              <a:t>Adaptive by design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37BA51-884E-4D9E-9F8B-715D02205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4762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02D24"/>
                </a:solidFill>
              </a:defRPr>
            </a:pPr>
            <a:r>
              <a:rPr sz="2100" b="1">
                <a:solidFill>
                  <a:srgbClr val="002D24"/>
                </a:solidFill>
              </a:rPr>
              <a:t>Adapt instantly for different learners.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6EA317-3508-4996-8BE4-994340148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4762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A4548"/>
                </a:solidFill>
              </a:defRPr>
            </a:pPr>
            <a:r>
              <a:rPr sz="1050" b="0">
                <a:solidFill>
                  <a:srgbClr val="2A4548"/>
                </a:solidFill>
              </a:rPr>
              <a:t>One lesson, many pathways — generated and refined at the speed of the room.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C95AAF-4C7E-432B-A9B1-74D1A7894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762000"/>
            <a:ext cx="2886075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D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4A810C-9DE0-48F3-9B5B-0735E1A7B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876300"/>
            <a:ext cx="265747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7432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2D24"/>
                </a:solidFill>
              </a:defRPr>
            </a:pPr>
            <a:r>
              <a:rPr sz="825" b="1">
                <a:solidFill>
                  <a:srgbClr val="002D24"/>
                </a:solidFill>
              </a:rPr>
              <a:t>KS3 · 50 min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59B103-E062-4F55-BDC6-08DD4F51E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1085850"/>
            <a:ext cx="26574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F2A2E"/>
                </a:solidFill>
              </a:defRPr>
            </a:pPr>
            <a:r>
              <a:rPr sz="1050" b="1">
                <a:solidFill>
                  <a:srgbClr val="0F2A2E"/>
                </a:solidFill>
              </a:rPr>
              <a:t>Core lesson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4E7177-9FFD-4B08-88A6-D4CF06B49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1485900"/>
            <a:ext cx="26574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2A4548"/>
                </a:solidFill>
              </a:defRPr>
            </a:pPr>
            <a:r>
              <a:rPr sz="825" b="0">
                <a:solidFill>
                  <a:srgbClr val="2A4548"/>
                </a:solidFill>
              </a:rPr>
              <a:t>Tableaux to explore character motivations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1E4413-44DF-41AE-8E7F-C3EA6AE33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762000"/>
            <a:ext cx="2886075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D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F08815-807E-47C2-8BDF-2FEAF49A5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876300"/>
            <a:ext cx="265747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7432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2D24"/>
                </a:solidFill>
              </a:defRPr>
            </a:pPr>
            <a:r>
              <a:rPr sz="825" b="1">
                <a:solidFill>
                  <a:srgbClr val="002D24"/>
                </a:solidFill>
              </a:rPr>
              <a:t>GCSE-ready · 65 min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F28A44-EA9F-4ACA-BE4C-491C62B15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1085850"/>
            <a:ext cx="26574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F2A2E"/>
                </a:solidFill>
              </a:defRPr>
            </a:pPr>
            <a:r>
              <a:rPr sz="1050" b="1">
                <a:solidFill>
                  <a:srgbClr val="0F2A2E"/>
                </a:solidFill>
              </a:rPr>
              <a:t>Stretch &amp; challenge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E1FF43-837E-42FA-A117-7BA5C1AF4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1485900"/>
            <a:ext cx="26574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2A4548"/>
                </a:solidFill>
              </a:defRPr>
            </a:pPr>
            <a:r>
              <a:rPr sz="825" b="0">
                <a:solidFill>
                  <a:srgbClr val="2A4548"/>
                </a:solidFill>
              </a:rPr>
              <a:t>+ Subtext layering, role-on-the-wall extension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067C30-A5B1-42B1-B05D-CD7D9B024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419350"/>
            <a:ext cx="2886075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D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65D2E9-F0BA-4E55-9DBE-A352F52AE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533650"/>
            <a:ext cx="265747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7432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2D24"/>
                </a:solidFill>
              </a:defRPr>
            </a:pPr>
            <a:r>
              <a:rPr sz="825" b="1">
                <a:solidFill>
                  <a:srgbClr val="002D24"/>
                </a:solidFill>
              </a:rPr>
              <a:t>Inclusion · 45 min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A31779A-3802-45A8-A7EB-F000EB49B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743200"/>
            <a:ext cx="26574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F2A2E"/>
                </a:solidFill>
              </a:defRPr>
            </a:pPr>
            <a:r>
              <a:rPr sz="1050" b="1">
                <a:solidFill>
                  <a:srgbClr val="0F2A2E"/>
                </a:solidFill>
              </a:rPr>
              <a:t>SEND adaptation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A42F174-940F-4FE9-B64E-F04D08EEB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3143250"/>
            <a:ext cx="26574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2A4548"/>
                </a:solidFill>
              </a:defRPr>
            </a:pPr>
            <a:r>
              <a:rPr sz="825" b="0">
                <a:solidFill>
                  <a:srgbClr val="2A4548"/>
                </a:solidFill>
              </a:rPr>
              <a:t>Visual cue cards · paired support · sensory-friendly pacing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3D4A52A-D360-4B04-91F3-7BF7BDB32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2419350"/>
            <a:ext cx="2886075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D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708CF55-C47A-4B2A-BD91-176D21A0D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533650"/>
            <a:ext cx="265747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7432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2D24"/>
                </a:solidFill>
              </a:defRPr>
            </a:pPr>
            <a:r>
              <a:rPr sz="825" b="1">
                <a:solidFill>
                  <a:srgbClr val="002D24"/>
                </a:solidFill>
              </a:rPr>
              <a:t>EAL · 50 min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376BC86-F58A-4CDD-8855-226C4B25F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743200"/>
            <a:ext cx="26574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F2A2E"/>
                </a:solidFill>
              </a:defRPr>
            </a:pPr>
            <a:r>
              <a:rPr sz="1050" b="1">
                <a:solidFill>
                  <a:srgbClr val="0F2A2E"/>
                </a:solidFill>
              </a:rPr>
              <a:t>EAL scaffolds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85156DF-2EDC-415C-9DD4-C7BE749BB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143250"/>
            <a:ext cx="26574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2A4548"/>
                </a:solidFill>
              </a:defRPr>
            </a:pPr>
            <a:r>
              <a:rPr sz="825" b="0">
                <a:solidFill>
                  <a:srgbClr val="2A4548"/>
                </a:solidFill>
              </a:rPr>
              <a:t>Picture vocab bank · sentence stems · mother-tongue option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6BE6C8A-47DA-421E-9808-48D634BA0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8001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8F6E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8CCFE81-DB98-488E-ACEC-6358D69D7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34100"/>
            <a:ext cx="647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7432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002D24"/>
                </a:solidFill>
              </a:defRPr>
            </a:pPr>
            <a:r>
              <a:rPr sz="825" b="1">
                <a:solidFill>
                  <a:srgbClr val="002D24"/>
                </a:solidFill>
              </a:rPr>
              <a:t>10 / 22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3907FD4-A9BF-48AC-8FE0-8572DD4CB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9251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A7275"/>
                </a:solidFill>
              </a:defRPr>
            </a:pPr>
            <a:r>
              <a:rPr sz="825" b="0">
                <a:solidFill>
                  <a:srgbClr val="5A7275"/>
                </a:solidFill>
              </a:rPr>
              <a:t>Creative Curriculum Designer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FF524C6-E3B0-41B1-A93C-80E85FF12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53200"/>
            <a:ext cx="133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9251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A7275"/>
                </a:solidFill>
              </a:defRPr>
            </a:pPr>
            <a:r>
              <a:rPr sz="825" b="0">
                <a:solidFill>
                  <a:srgbClr val="5A7275"/>
                </a:solidFill>
              </a:rPr>
              <a:t>04 / 23</a:t>
            </a:r>
          </a:p>
        </p:txBody>
      </p:sp>
    </p:spTree>
    <p:extLst>
      <p:ext uri="{BB962C8B-B14F-4D97-AF65-F5344CB8AC3E}">
        <p14:creationId xmlns:p14="http://schemas.microsoft.com/office/powerpoint/2010/main" val="104028642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3655F1B-23B2-46A1-831C-F524158FF51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765303-52DD-48B4-96D0-B48935784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F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270A29-D423-4EBA-8557-4E82069D1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-1333500"/>
            <a:ext cx="4000500" cy="400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6FF7E">
              <a:alpha val="1019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026F33-4152-4E29-B7BC-C65C2A2FC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2476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F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8380FE-54A2-490C-ACBB-F560B2D8B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5750"/>
            <a:ext cx="857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98279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2D24"/>
                </a:solidFill>
              </a:defRPr>
            </a:pPr>
            <a:r>
              <a:rPr sz="900" b="1">
                <a:solidFill>
                  <a:srgbClr val="002D24"/>
                </a:solidFill>
              </a:rPr>
              <a:t>A growing ecosystem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626755-168A-4B14-9B9B-4F5A51C2D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53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2D24"/>
                </a:solidFill>
              </a:defRPr>
            </a:pPr>
            <a:r>
              <a:rPr sz="2250" b="1">
                <a:solidFill>
                  <a:srgbClr val="002D24"/>
                </a:solidFill>
              </a:rPr>
              <a:t>Powered by creative communities.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06C3EA-AD4C-4423-B840-DF8D38959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953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A4548"/>
                </a:solidFill>
              </a:defRPr>
            </a:pPr>
            <a:r>
              <a:rPr sz="1125" b="0">
                <a:solidFill>
                  <a:srgbClr val="2A4548"/>
                </a:solidFill>
              </a:rPr>
              <a:t>Theatres, orchestras, dance companies, universities and outreach teams — all contributing to a shared, evolving ecosystem of creative practice. Free to use, made together.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D2D03A-577D-4CD8-984B-5CAC1B3FC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35623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D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295F2C-890A-45BE-A4BE-8246C1451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86000"/>
            <a:ext cx="3333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7432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2D24"/>
                </a:solidFill>
              </a:defRPr>
            </a:pPr>
            <a:r>
              <a:rPr sz="825" b="1">
                <a:solidFill>
                  <a:srgbClr val="002D24"/>
                </a:solidFill>
              </a:rPr>
              <a:t>142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5EDD9C-BA99-4DB1-AA27-C64C84751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95550"/>
            <a:ext cx="3333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F2A2E"/>
                </a:solidFill>
              </a:defRPr>
            </a:pPr>
            <a:r>
              <a:rPr sz="1050" b="1">
                <a:solidFill>
                  <a:srgbClr val="0F2A2E"/>
                </a:solidFill>
              </a:rPr>
              <a:t>Theatre companies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FB7351-0872-4269-8508-972E96B6D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95600"/>
            <a:ext cx="3333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A4548"/>
                </a:solidFill>
              </a:defRPr>
            </a:pPr>
            <a:r>
              <a:rPr sz="900" b="0">
                <a:solidFill>
                  <a:srgbClr val="2A4548"/>
                </a:solidFill>
              </a:rPr>
              <a:t>sharing rehearsal toolkits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40DF61-A547-4D17-9190-974652213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171700"/>
            <a:ext cx="35623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D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F52FB5-A277-4CDB-A3BF-F9BD794A4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286000"/>
            <a:ext cx="3333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7432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2D24"/>
                </a:solidFill>
              </a:defRPr>
            </a:pPr>
            <a:r>
              <a:rPr sz="825" b="1">
                <a:solidFill>
                  <a:srgbClr val="002D24"/>
                </a:solidFill>
              </a:rPr>
              <a:t>38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FC27EB-5676-46D5-89A6-DB6BFADC5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495550"/>
            <a:ext cx="3333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F2A2E"/>
                </a:solidFill>
              </a:defRPr>
            </a:pPr>
            <a:r>
              <a:rPr sz="1050" b="1">
                <a:solidFill>
                  <a:srgbClr val="0F2A2E"/>
                </a:solidFill>
              </a:rPr>
              <a:t>Orchestras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BB514F-86A5-4A69-97D6-1A25AAFEC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895600"/>
            <a:ext cx="3333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A4548"/>
                </a:solidFill>
              </a:defRPr>
            </a:pPr>
            <a:r>
              <a:rPr sz="900" b="0">
                <a:solidFill>
                  <a:srgbClr val="2A4548"/>
                </a:solidFill>
              </a:rPr>
              <a:t>composition + listening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BE19A25-ED2D-4493-85CA-C51C0F695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71700"/>
            <a:ext cx="35623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D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72578C-0F5B-4CDF-BA0E-44B41BC9E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286000"/>
            <a:ext cx="3333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7432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2D24"/>
                </a:solidFill>
              </a:defRPr>
            </a:pPr>
            <a:r>
              <a:rPr sz="825" b="1">
                <a:solidFill>
                  <a:srgbClr val="002D24"/>
                </a:solidFill>
              </a:rPr>
              <a:t>67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C91D8E-A4D3-496C-A68C-1A934AC0F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495550"/>
            <a:ext cx="3333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F2A2E"/>
                </a:solidFill>
              </a:defRPr>
            </a:pPr>
            <a:r>
              <a:rPr sz="1050" b="1">
                <a:solidFill>
                  <a:srgbClr val="0F2A2E"/>
                </a:solidFill>
              </a:rPr>
              <a:t>Dance companies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70B4FB2-D2FA-41BD-85BA-5B912F343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895600"/>
            <a:ext cx="3333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A4548"/>
                </a:solidFill>
              </a:defRPr>
            </a:pPr>
            <a:r>
              <a:rPr sz="900" b="0">
                <a:solidFill>
                  <a:srgbClr val="2A4548"/>
                </a:solidFill>
              </a:rPr>
              <a:t>choreographic warm-ups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C91FCD-7FC1-48B9-9473-CE6B90158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8050"/>
            <a:ext cx="35623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D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B41B3A4-11D6-4ACA-8A5B-71CD51621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62350"/>
            <a:ext cx="3333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7432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2D24"/>
                </a:solidFill>
              </a:defRPr>
            </a:pPr>
            <a:r>
              <a:rPr sz="825" b="1">
                <a:solidFill>
                  <a:srgbClr val="002D24"/>
                </a:solidFill>
              </a:rPr>
              <a:t>24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31D8B0E-1285-4A6E-A4D8-6572CE0A1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71900"/>
            <a:ext cx="3333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F2A2E"/>
                </a:solidFill>
              </a:defRPr>
            </a:pPr>
            <a:r>
              <a:rPr sz="1050" b="1">
                <a:solidFill>
                  <a:srgbClr val="0F2A2E"/>
                </a:solidFill>
              </a:rPr>
              <a:t>Universities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51878A9-5F64-4096-8EAC-34960BCAE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71950"/>
            <a:ext cx="3333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A4548"/>
                </a:solidFill>
              </a:defRPr>
            </a:pPr>
            <a:r>
              <a:rPr sz="900" b="0">
                <a:solidFill>
                  <a:srgbClr val="2A4548"/>
                </a:solidFill>
              </a:rPr>
              <a:t>PGCE + research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A90175B-9085-420D-B5F2-43C25A60E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448050"/>
            <a:ext cx="35623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D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595C8B6-A374-483A-B2CE-3F374C002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562350"/>
            <a:ext cx="3333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7432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2D24"/>
                </a:solidFill>
              </a:defRPr>
            </a:pPr>
            <a:r>
              <a:rPr sz="825" b="1">
                <a:solidFill>
                  <a:srgbClr val="002D24"/>
                </a:solidFill>
              </a:rPr>
              <a:t>91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B8753B4-02E2-4EA6-8DD4-33EDD885C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771900"/>
            <a:ext cx="3333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F2A2E"/>
                </a:solidFill>
              </a:defRPr>
            </a:pPr>
            <a:r>
              <a:rPr sz="1050" b="1">
                <a:solidFill>
                  <a:srgbClr val="0F2A2E"/>
                </a:solidFill>
              </a:rPr>
              <a:t>Outreach teams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BD1E558-42BE-4D7D-966D-FFF7A4FAB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171950"/>
            <a:ext cx="3333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A4548"/>
                </a:solidFill>
              </a:defRPr>
            </a:pPr>
            <a:r>
              <a:rPr sz="900" b="0">
                <a:solidFill>
                  <a:srgbClr val="2A4548"/>
                </a:solidFill>
              </a:rPr>
              <a:t>community workshops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A602760-FBE5-4AC2-911A-F0915163D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8001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8F6E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739C626-9ECF-48D4-B234-EA0DF210C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43600"/>
            <a:ext cx="647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7432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002D24"/>
                </a:solidFill>
              </a:defRPr>
            </a:pPr>
            <a:r>
              <a:rPr sz="825" b="1">
                <a:solidFill>
                  <a:srgbClr val="002D24"/>
                </a:solidFill>
              </a:rPr>
              <a:t>18 / 22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54E8FC6-7161-4E80-9B51-D0C36C845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9251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A7275"/>
                </a:solidFill>
              </a:defRPr>
            </a:pPr>
            <a:r>
              <a:rPr sz="825" b="0">
                <a:solidFill>
                  <a:srgbClr val="5A7275"/>
                </a:solidFill>
              </a:rPr>
              <a:t>Creative Curriculum Designer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B0E3B17-A000-4771-8119-BB4BFE055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53200"/>
            <a:ext cx="133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9251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A7275"/>
                </a:solidFill>
              </a:defRPr>
            </a:pPr>
            <a:r>
              <a:rPr sz="825" b="0">
                <a:solidFill>
                  <a:srgbClr val="5A7275"/>
                </a:solidFill>
              </a:rPr>
              <a:t>05 / 23</a:t>
            </a:r>
          </a:p>
        </p:txBody>
      </p:sp>
    </p:spTree>
    <p:extLst>
      <p:ext uri="{BB962C8B-B14F-4D97-AF65-F5344CB8AC3E}">
        <p14:creationId xmlns:p14="http://schemas.microsoft.com/office/powerpoint/2010/main" val="62435914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3655F1B-23B2-46A1-831C-F524158FF51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A2355D-DA76-4672-9335-722448FA8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F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6E82C2-015A-4F05-81EC-885327A5F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-1333500"/>
            <a:ext cx="4000500" cy="400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6FF7E">
              <a:alpha val="1019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0956C6-0D0D-4DFC-AC12-7A31ABCB0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2476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F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A1E44B-DDB2-4981-8607-CE8BFF523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5750"/>
            <a:ext cx="857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98279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2D24"/>
                </a:solidFill>
              </a:defRPr>
            </a:pPr>
            <a:r>
              <a:rPr sz="900" b="1">
                <a:solidFill>
                  <a:srgbClr val="002D24"/>
                </a:solidFill>
              </a:rPr>
              <a:t>Curiosity, by design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1D2A40-B278-4749-868A-F6FD045FB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53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2D24"/>
                </a:solidFill>
              </a:defRPr>
            </a:pPr>
            <a:r>
              <a:rPr sz="2250" b="1">
                <a:solidFill>
                  <a:srgbClr val="002D24"/>
                </a:solidFill>
              </a:rPr>
              <a:t>Encourage curiosity and imagination.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9A6E94-9E61-4BC1-82D6-B4843D149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953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A4548"/>
                </a:solidFill>
              </a:defRPr>
            </a:pPr>
            <a:r>
              <a:rPr sz="1125" b="0">
                <a:solidFill>
                  <a:srgbClr val="2A4548"/>
                </a:solidFill>
              </a:rPr>
              <a:t>Design moments of wonder, risk-taking, and play — woven into every learning sequence.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17166D-33A3-4B7F-8881-C7EF4D03A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8001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8F6E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FAFFA0-CE21-47DF-9E2A-30CFF7AFA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43600"/>
            <a:ext cx="647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7432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002D24"/>
                </a:solidFill>
              </a:defRPr>
            </a:pPr>
            <a:r>
              <a:rPr sz="825" b="1">
                <a:solidFill>
                  <a:srgbClr val="002D24"/>
                </a:solidFill>
              </a:rPr>
              <a:t>08 / 22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4AC0E5-843A-41F8-9566-E791DCCE2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9251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A7275"/>
                </a:solidFill>
              </a:defRPr>
            </a:pPr>
            <a:r>
              <a:rPr sz="825" b="0">
                <a:solidFill>
                  <a:srgbClr val="5A7275"/>
                </a:solidFill>
              </a:rPr>
              <a:t>Creative Curriculum Designer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0C22AE-2E69-4F9F-8150-BA4124916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53200"/>
            <a:ext cx="133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9251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A7275"/>
                </a:solidFill>
              </a:defRPr>
            </a:pPr>
            <a:r>
              <a:rPr sz="825" b="0">
                <a:solidFill>
                  <a:srgbClr val="5A7275"/>
                </a:solidFill>
              </a:rPr>
              <a:t>06 / 23</a:t>
            </a:r>
          </a:p>
        </p:txBody>
      </p:sp>
    </p:spTree>
    <p:extLst>
      <p:ext uri="{BB962C8B-B14F-4D97-AF65-F5344CB8AC3E}">
        <p14:creationId xmlns:p14="http://schemas.microsoft.com/office/powerpoint/2010/main" val="185326410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3655F1B-23B2-46A1-831C-F524158FF51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9D216D-E14A-476A-9F12-BA87C9C49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F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76FDED-4313-4B3A-8AEF-E3B59A9C9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-1333500"/>
            <a:ext cx="4000500" cy="400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6FF7E">
              <a:alpha val="1019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732C7A-67A1-41C6-8A04-05CE52F6F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2476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F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074091-095D-4050-A198-0E60772B2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5750"/>
            <a:ext cx="857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98279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2D24"/>
                </a:solidFill>
              </a:defRPr>
            </a:pPr>
            <a:r>
              <a:rPr sz="900" b="1">
                <a:solidFill>
                  <a:srgbClr val="002D24"/>
                </a:solidFill>
              </a:rPr>
              <a:t>One thread, many subjects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226007-D0AF-4B84-AD0C-14AB7FEBB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53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2D24"/>
                </a:solidFill>
              </a:defRPr>
            </a:pPr>
            <a:r>
              <a:rPr sz="2250" b="1">
                <a:solidFill>
                  <a:srgbClr val="002D24"/>
                </a:solidFill>
              </a:rPr>
              <a:t>Connect subjects naturally.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0A5329-4770-42E7-8129-8F54B13AC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953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A4548"/>
                </a:solidFill>
              </a:defRPr>
            </a:pPr>
            <a:r>
              <a:rPr sz="1125" b="0">
                <a:solidFill>
                  <a:srgbClr val="2A4548"/>
                </a:solidFill>
              </a:rPr>
              <a:t>A single creative thread can run through drama, literacy, history, and beyond — designed deliberately, not by accident.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922140-1888-443A-A81B-168E9C9C2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6477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8F6E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C941C4-2DEC-4F2F-9FA6-D6457867D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43600"/>
            <a:ext cx="495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7432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002D24"/>
                </a:solidFill>
              </a:defRPr>
            </a:pPr>
            <a:r>
              <a:rPr sz="825" b="1">
                <a:solidFill>
                  <a:srgbClr val="002D24"/>
                </a:solidFill>
              </a:rPr>
              <a:t>Drama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88A580-339C-422D-A77D-3C015E943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905500"/>
            <a:ext cx="8001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8F6E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72002A-F690-4899-A9F7-03AD400E3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5943600"/>
            <a:ext cx="647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7432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002D24"/>
                </a:solidFill>
              </a:defRPr>
            </a:pPr>
            <a:r>
              <a:rPr sz="825" b="1">
                <a:solidFill>
                  <a:srgbClr val="002D24"/>
                </a:solidFill>
              </a:rPr>
              <a:t>English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5D831C-CFA4-4965-90CF-7B8DBDA2D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905500"/>
            <a:ext cx="8001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8F6E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4D6F3A-3B11-4050-9644-8996A5DDE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943600"/>
            <a:ext cx="647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7432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002D24"/>
                </a:solidFill>
              </a:defRPr>
            </a:pPr>
            <a:r>
              <a:rPr sz="825" b="1">
                <a:solidFill>
                  <a:srgbClr val="002D24"/>
                </a:solidFill>
              </a:rPr>
              <a:t>History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C83B05-14B3-435A-9639-9C7652629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9251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A7275"/>
                </a:solidFill>
              </a:defRPr>
            </a:pPr>
            <a:r>
              <a:rPr sz="825" b="0">
                <a:solidFill>
                  <a:srgbClr val="5A7275"/>
                </a:solidFill>
              </a:rPr>
              <a:t>Creative Curriculum Designer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76093E-6CCF-4966-861D-E4FBEC4D0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53200"/>
            <a:ext cx="133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9251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A7275"/>
                </a:solidFill>
              </a:defRPr>
            </a:pPr>
            <a:r>
              <a:rPr sz="825" b="0">
                <a:solidFill>
                  <a:srgbClr val="5A7275"/>
                </a:solidFill>
              </a:rPr>
              <a:t>07 / 23</a:t>
            </a:r>
          </a:p>
        </p:txBody>
      </p:sp>
    </p:spTree>
    <p:extLst>
      <p:ext uri="{BB962C8B-B14F-4D97-AF65-F5344CB8AC3E}">
        <p14:creationId xmlns:p14="http://schemas.microsoft.com/office/powerpoint/2010/main" val="165242120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3655F1B-23B2-46A1-831C-F524158FF51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20E7CC-F97B-421E-90AE-50FDDCAB7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F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48C5C8-224E-4C60-B9E8-5AADBA4F5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-1333500"/>
            <a:ext cx="4000500" cy="400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6FF7E">
              <a:alpha val="1019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439D4D-28CF-497E-9CB7-740649592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53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2D24"/>
                </a:solidFill>
              </a:defRPr>
            </a:pPr>
            <a:r>
              <a:rPr sz="2250" b="1">
                <a:solidFill>
                  <a:srgbClr val="002D24"/>
                </a:solidFill>
              </a:rPr>
              <a:t>Designer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2BC90D-E58D-4B90-9D4E-597B53945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8001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8F6E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A7ED36-71BE-4AB7-BBAB-CA02A2DC7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43600"/>
            <a:ext cx="647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7432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002D24"/>
                </a:solidFill>
              </a:defRPr>
            </a:pPr>
            <a:r>
              <a:rPr sz="825" b="1">
                <a:solidFill>
                  <a:srgbClr val="002D24"/>
                </a:solidFill>
              </a:rPr>
              <a:t>22 / 22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9BE69F-E6C3-4A77-B4FC-1128E025A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905500"/>
            <a:ext cx="8763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8F6E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2EA54A-7E65-4E4B-A803-E8F9190D9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5943600"/>
            <a:ext cx="723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7432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002D24"/>
                </a:solidFill>
              </a:defRPr>
            </a:pPr>
            <a:r>
              <a:rPr sz="825" b="1">
                <a:solidFill>
                  <a:srgbClr val="002D24"/>
                </a:solidFill>
              </a:rPr>
              <a:t>Designer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1FD10A-B616-48BC-ACA5-9A8A7917C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22860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B6F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946ABB-6C46-4956-9448-CD0233B37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53150"/>
            <a:ext cx="3619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90719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02D24"/>
                </a:solidFill>
              </a:defRPr>
            </a:pPr>
            <a:r>
              <a:rPr sz="975" b="1">
                <a:solidFill>
                  <a:srgbClr val="002D24"/>
                </a:solidFill>
              </a:rPr>
              <a:t>www.ccdesigner.co.uk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71CF53-BD56-4D89-A63C-B3CBAAC2F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9251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A7275"/>
                </a:solidFill>
              </a:defRPr>
            </a:pPr>
            <a:r>
              <a:rPr sz="825" b="0">
                <a:solidFill>
                  <a:srgbClr val="5A7275"/>
                </a:solidFill>
              </a:rPr>
              <a:t>Creative Curriculum Designer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608741-043C-46B3-9CCE-43BBC258D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53200"/>
            <a:ext cx="133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9251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A7275"/>
                </a:solidFill>
              </a:defRPr>
            </a:pPr>
            <a:r>
              <a:rPr sz="825" b="0">
                <a:solidFill>
                  <a:srgbClr val="5A7275"/>
                </a:solidFill>
              </a:rPr>
              <a:t>08 / 23</a:t>
            </a:r>
          </a:p>
        </p:txBody>
      </p:sp>
    </p:spTree>
    <p:extLst>
      <p:ext uri="{BB962C8B-B14F-4D97-AF65-F5344CB8AC3E}">
        <p14:creationId xmlns:p14="http://schemas.microsoft.com/office/powerpoint/2010/main" val="30750598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3655F1B-23B2-46A1-831C-F524158FF51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F719E3-3FF6-4FFF-9B13-0A4470DA7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F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7E6933-327E-4CCD-A286-C44602C81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-1333500"/>
            <a:ext cx="4000500" cy="400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6FF7E">
              <a:alpha val="1019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948BB1-589F-41F6-86E6-AF0CC1B90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2476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F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44062D-3DC1-42EA-A824-AD8BA750B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5750"/>
            <a:ext cx="857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98279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2D24"/>
                </a:solidFill>
              </a:defRPr>
            </a:pPr>
            <a:r>
              <a:rPr sz="900" b="1">
                <a:solidFill>
                  <a:srgbClr val="002D24"/>
                </a:solidFill>
              </a:rPr>
              <a:t>Remix, don't restart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558037-9457-4C50-8D53-F6B3C064B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53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2D24"/>
                </a:solidFill>
              </a:defRPr>
            </a:pPr>
            <a:r>
              <a:rPr sz="2250" b="1">
                <a:solidFill>
                  <a:srgbClr val="002D24"/>
                </a:solidFill>
              </a:rPr>
              <a:t>Inspiration that grows with you.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1452F4-4F21-41DE-910B-F728D04CB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953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A4548"/>
                </a:solidFill>
              </a:defRPr>
            </a:pPr>
            <a:r>
              <a:rPr sz="1125" b="0">
                <a:solidFill>
                  <a:srgbClr val="2A4548"/>
                </a:solidFill>
              </a:rPr>
              <a:t>Old ideas reconnect into new lessons. Your past teaching becomes the soil for what's next.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EEA04D-FF27-4889-9E8E-E8002056A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35623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D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CA72D0-FFAA-4A84-B807-DA52F83A4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86000"/>
            <a:ext cx="3333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7432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2D24"/>
                </a:solidFill>
              </a:defRPr>
            </a:pPr>
            <a:r>
              <a:rPr sz="825" b="1">
                <a:solidFill>
                  <a:srgbClr val="002D24"/>
                </a:solidFill>
              </a:rPr>
              <a:t>KS3 · Drama · 2024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DB4EDE-F15A-4BF9-B448-F3E567FDD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95550"/>
            <a:ext cx="3333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F2A2E"/>
                </a:solidFill>
              </a:defRPr>
            </a:pPr>
            <a:r>
              <a:rPr sz="1050" b="1">
                <a:solidFill>
                  <a:srgbClr val="0F2A2E"/>
                </a:solidFill>
              </a:rPr>
              <a:t>Tableaux to explore character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31CA58-877E-4249-8BE1-F8DFDD221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171700"/>
            <a:ext cx="35623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D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287A0A-C2F1-44F5-BE73-64934CAB7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286000"/>
            <a:ext cx="3333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7432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2D24"/>
                </a:solidFill>
              </a:defRPr>
            </a:pPr>
            <a:r>
              <a:rPr sz="825" b="1">
                <a:solidFill>
                  <a:srgbClr val="002D24"/>
                </a:solidFill>
              </a:rPr>
              <a:t>remix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A7C1B2-26C6-444E-9F30-950FCDFEA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495550"/>
            <a:ext cx="3333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F2A2E"/>
                </a:solidFill>
              </a:defRPr>
            </a:pPr>
            <a:r>
              <a:rPr sz="1050" b="1">
                <a:solidFill>
                  <a:srgbClr val="0F2A2E"/>
                </a:solidFill>
              </a:rPr>
              <a:t>Add subtext layering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7298B5-F493-4BB0-B536-F89D08E56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71700"/>
            <a:ext cx="35623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D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8FF1D2-3DA1-418F-9E03-8A08AD736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286000"/>
            <a:ext cx="3333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7432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2D24"/>
                </a:solidFill>
              </a:defRPr>
            </a:pPr>
            <a:r>
              <a:rPr sz="825" b="1">
                <a:solidFill>
                  <a:srgbClr val="002D24"/>
                </a:solidFill>
              </a:rPr>
              <a:t>remix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94594D-B777-422A-B84C-568EB2D57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495550"/>
            <a:ext cx="3333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F2A2E"/>
                </a:solidFill>
              </a:defRPr>
            </a:pPr>
            <a:r>
              <a:rPr sz="1050" b="1">
                <a:solidFill>
                  <a:srgbClr val="0F2A2E"/>
                </a:solidFill>
              </a:rPr>
              <a:t>Move to physical theatre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EB5C1F-7E5B-4BE5-832B-FAB3A8174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8050"/>
            <a:ext cx="35623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D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6F3F0B-52F5-42FE-80AE-6CDF8EF0C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62350"/>
            <a:ext cx="3333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7432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2D24"/>
                </a:solidFill>
              </a:defRPr>
            </a:pPr>
            <a:r>
              <a:rPr sz="825" b="1">
                <a:solidFill>
                  <a:srgbClr val="002D24"/>
                </a:solidFill>
              </a:rPr>
              <a:t>New lesson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38C5BB5-3AA0-419B-9D0E-32EF8C2A6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71900"/>
            <a:ext cx="3333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F2A2E"/>
                </a:solidFill>
              </a:defRPr>
            </a:pPr>
            <a:r>
              <a:rPr sz="1050" b="1">
                <a:solidFill>
                  <a:srgbClr val="0F2A2E"/>
                </a:solidFill>
              </a:rPr>
              <a:t>GCSE devising warm-up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97E8CD3-A81D-4F05-9ADF-4EE079A16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448050"/>
            <a:ext cx="35623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D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DD36D8A-875B-4740-AED0-1D759D6BE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562350"/>
            <a:ext cx="3333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7432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2D24"/>
                </a:solidFill>
              </a:defRPr>
            </a:pPr>
            <a:r>
              <a:rPr sz="825" b="1">
                <a:solidFill>
                  <a:srgbClr val="002D24"/>
                </a:solidFill>
              </a:rPr>
              <a:t>New unit · 3 lessons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68B7AA8-C73C-4F85-BE73-F9BD952D0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771900"/>
            <a:ext cx="3333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F2A2E"/>
                </a:solidFill>
              </a:defRPr>
            </a:pPr>
            <a:r>
              <a:rPr sz="1050" b="1">
                <a:solidFill>
                  <a:srgbClr val="0F2A2E"/>
                </a:solidFill>
              </a:rPr>
              <a:t>Subtext mini-unit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B9CC5A4-AFFB-44BC-A354-B06765924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448050"/>
            <a:ext cx="35623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D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EC76D6B-8473-4768-A618-28DDB2473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562350"/>
            <a:ext cx="3333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7432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2D24"/>
                </a:solidFill>
              </a:defRPr>
            </a:pPr>
            <a:r>
              <a:rPr sz="825" b="1">
                <a:solidFill>
                  <a:srgbClr val="002D24"/>
                </a:solidFill>
              </a:rPr>
              <a:t>New lesson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C706B6E-5760-48CB-B320-862DDB55A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771900"/>
            <a:ext cx="3333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F2A2E"/>
                </a:solidFill>
              </a:defRPr>
            </a:pPr>
            <a:r>
              <a:rPr sz="1050" b="1">
                <a:solidFill>
                  <a:srgbClr val="0F2A2E"/>
                </a:solidFill>
              </a:rPr>
              <a:t>KS2 movement story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E21FAB0-93B1-4C31-9FCD-F4BA1DC3F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24400"/>
            <a:ext cx="35623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D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E501A7A-591A-42DE-80DA-2DC7E1501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38700"/>
            <a:ext cx="3333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7432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2D24"/>
                </a:solidFill>
              </a:defRPr>
            </a:pPr>
            <a:r>
              <a:rPr sz="825" b="1">
                <a:solidFill>
                  <a:srgbClr val="002D24"/>
                </a:solidFill>
              </a:rPr>
              <a:t>New unit · cross-curric.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AF7E286-AE67-4172-93D0-7E06B7BE3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48250"/>
            <a:ext cx="3333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F2A2E"/>
                </a:solidFill>
              </a:defRPr>
            </a:pPr>
            <a:r>
              <a:rPr sz="1050" b="1">
                <a:solidFill>
                  <a:srgbClr val="0F2A2E"/>
                </a:solidFill>
              </a:rPr>
              <a:t>Tudor masque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5746885-ED2F-4675-8AB8-0EB168422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8001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8F6E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7F5165B-41F9-47AE-8A4B-D225A65FF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43600"/>
            <a:ext cx="647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7432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002D24"/>
                </a:solidFill>
              </a:defRPr>
            </a:pPr>
            <a:r>
              <a:rPr sz="825" b="1">
                <a:solidFill>
                  <a:srgbClr val="002D24"/>
                </a:solidFill>
              </a:rPr>
              <a:t>17 / 22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C873596-B327-4445-BDBF-1A13AF54B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9251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A7275"/>
                </a:solidFill>
              </a:defRPr>
            </a:pPr>
            <a:r>
              <a:rPr sz="825" b="0">
                <a:solidFill>
                  <a:srgbClr val="5A7275"/>
                </a:solidFill>
              </a:rPr>
              <a:t>Creative Curriculum Designer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4D67F32-E434-4C0A-8ADD-B0C0F3DF4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53200"/>
            <a:ext cx="133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9251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A7275"/>
                </a:solidFill>
              </a:defRPr>
            </a:pPr>
            <a:r>
              <a:rPr sz="825" b="0">
                <a:solidFill>
                  <a:srgbClr val="5A7275"/>
                </a:solidFill>
              </a:rPr>
              <a:t>09 / 23</a:t>
            </a:r>
          </a:p>
        </p:txBody>
      </p:sp>
    </p:spTree>
    <p:extLst>
      <p:ext uri="{BB962C8B-B14F-4D97-AF65-F5344CB8AC3E}">
        <p14:creationId xmlns:p14="http://schemas.microsoft.com/office/powerpoint/2010/main" val="32447021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3655F1B-23B2-46A1-831C-F524158FF51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646335-68CD-466C-A8A1-EE1F37FAE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F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BF4B85-EEFE-47FF-9B64-29B25E33F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-1333500"/>
            <a:ext cx="4000500" cy="400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6FF7E">
              <a:alpha val="1019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D13454-35B6-4608-80DE-F2D30C75C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2476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F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98F681-A98F-47F2-8E48-8D03EE58E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5750"/>
            <a:ext cx="857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98279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2D24"/>
                </a:solidFill>
              </a:defRPr>
            </a:pPr>
            <a:r>
              <a:rPr sz="900" b="1">
                <a:solidFill>
                  <a:srgbClr val="002D24"/>
                </a:solidFill>
              </a:rPr>
              <a:t>Curriculum mapping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7E8765-1ABF-4D63-93EE-AD0C63E2C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53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2D24"/>
                </a:solidFill>
              </a:defRPr>
            </a:pPr>
            <a:r>
              <a:rPr sz="2250" b="1">
                <a:solidFill>
                  <a:srgbClr val="002D24"/>
                </a:solidFill>
              </a:rPr>
              <a:t>Build connected learning journeys.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DBF7DE-53D5-4B0B-A679-75C0D8504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953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A4548"/>
                </a:solidFill>
              </a:defRPr>
            </a:pPr>
            <a:r>
              <a:rPr sz="1125" b="0">
                <a:solidFill>
                  <a:srgbClr val="2A4548"/>
                </a:solidFill>
              </a:rPr>
              <a:t>See how every lesson, skill, and outcome links across the year — and across subjects.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75AE6B-68D0-44B7-A0E0-4FDC65023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5715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8F6E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B71F21-6078-4F61-910A-48DEF9489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436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7432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002D24"/>
                </a:solidFill>
              </a:defRPr>
            </a:pPr>
            <a:r>
              <a:rPr sz="825" b="1">
                <a:solidFill>
                  <a:srgbClr val="002D24"/>
                </a:solidFill>
              </a:rPr>
              <a:t>Year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8E70B2-0415-4006-9867-16B03DAB9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905500"/>
            <a:ext cx="7239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8F6E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D68B6C-6FD4-4725-AC97-77CE6CAB4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943600"/>
            <a:ext cx="571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7432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002D24"/>
                </a:solidFill>
              </a:defRPr>
            </a:pPr>
            <a:r>
              <a:rPr sz="825" b="1">
                <a:solidFill>
                  <a:srgbClr val="002D24"/>
                </a:solidFill>
              </a:rPr>
              <a:t>Term 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070966-E439-44A0-90E9-4FD7F5DD6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5905500"/>
            <a:ext cx="7239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8F6E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618D91-B7D1-405D-854F-C4FC2B681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5943600"/>
            <a:ext cx="571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7432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002D24"/>
                </a:solidFill>
              </a:defRPr>
            </a:pPr>
            <a:r>
              <a:rPr sz="825" b="1">
                <a:solidFill>
                  <a:srgbClr val="002D24"/>
                </a:solidFill>
              </a:rPr>
              <a:t>Term 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A928E9-743C-4FDB-B4A8-357AC2837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905500"/>
            <a:ext cx="7239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8F6E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8D2316-A182-4FF2-B54E-84C2DF0F4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5943600"/>
            <a:ext cx="571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7432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002D24"/>
                </a:solidFill>
              </a:defRPr>
            </a:pPr>
            <a:r>
              <a:rPr sz="825" b="1">
                <a:solidFill>
                  <a:srgbClr val="002D24"/>
                </a:solidFill>
              </a:rPr>
              <a:t>Term 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BAFF074-EA2E-41F8-B4C4-1E5F47B3C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905500"/>
            <a:ext cx="7239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8F6E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BFDBD4-8937-42AE-BF2C-09582AB26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5943600"/>
            <a:ext cx="571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7432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002D24"/>
                </a:solidFill>
              </a:defRPr>
            </a:pPr>
            <a:r>
              <a:rPr sz="825" b="1">
                <a:solidFill>
                  <a:srgbClr val="002D24"/>
                </a:solidFill>
              </a:rPr>
              <a:t>Skills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E13CEBE-C6A7-4731-B74C-792E20396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5905500"/>
            <a:ext cx="6477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8F6E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4A18A78-B4F6-43BF-BFA1-05CE15E99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5943600"/>
            <a:ext cx="495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7432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002D24"/>
                </a:solidFill>
              </a:defRPr>
            </a:pPr>
            <a:r>
              <a:rPr sz="825" b="1">
                <a:solidFill>
                  <a:srgbClr val="002D24"/>
                </a:solidFill>
              </a:rPr>
              <a:t>Voice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A325879-9CAA-4968-870A-69CC10FEE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5905500"/>
            <a:ext cx="8763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8F6E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B64F28E-97CC-4F8C-B113-5DC147A05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5943600"/>
            <a:ext cx="723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7432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002D24"/>
                </a:solidFill>
              </a:defRPr>
            </a:pPr>
            <a:r>
              <a:rPr sz="825" b="1">
                <a:solidFill>
                  <a:srgbClr val="002D24"/>
                </a:solidFill>
              </a:rPr>
              <a:t>Movement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6418D2A-0363-44FC-A92A-E00A75FC1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5905500"/>
            <a:ext cx="11049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8F6E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31B0812-F327-4903-B600-8C161AB5B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5943600"/>
            <a:ext cx="95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7432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002D24"/>
                </a:solidFill>
              </a:defRPr>
            </a:pPr>
            <a:r>
              <a:rPr sz="825" b="1">
                <a:solidFill>
                  <a:srgbClr val="002D24"/>
                </a:solidFill>
              </a:rPr>
              <a:t>Composition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0E305E3-EB63-4DE2-BB93-7669CEF55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905500"/>
            <a:ext cx="10287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8F6E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0771884-4AD3-42CE-9497-C3D80E1FD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5943600"/>
            <a:ext cx="876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7432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002D24"/>
                </a:solidFill>
              </a:defRPr>
            </a:pPr>
            <a:r>
              <a:rPr sz="825" b="1">
                <a:solidFill>
                  <a:srgbClr val="002D24"/>
                </a:solidFill>
              </a:rPr>
              <a:t>Reflection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81D759C-CBB7-450D-A30E-2B248CC30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9251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A7275"/>
                </a:solidFill>
              </a:defRPr>
            </a:pPr>
            <a:r>
              <a:rPr sz="825" b="0">
                <a:solidFill>
                  <a:srgbClr val="5A7275"/>
                </a:solidFill>
              </a:rPr>
              <a:t>Creative Curriculum Designer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A43433E-948D-40A2-964D-09704C6B9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53200"/>
            <a:ext cx="133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9251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A7275"/>
                </a:solidFill>
              </a:defRPr>
            </a:pPr>
            <a:r>
              <a:rPr sz="825" b="0">
                <a:solidFill>
                  <a:srgbClr val="5A7275"/>
                </a:solidFill>
              </a:rPr>
              <a:t>10 / 23</a:t>
            </a:r>
          </a:p>
        </p:txBody>
      </p:sp>
    </p:spTree>
    <p:extLst>
      <p:ext uri="{BB962C8B-B14F-4D97-AF65-F5344CB8AC3E}">
        <p14:creationId xmlns:p14="http://schemas.microsoft.com/office/powerpoint/2010/main" val="30634653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3655F1B-23B2-46A1-831C-F524158FF51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02F3C9-1A89-453A-9381-1772F7AF6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F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08C53F-2BB6-465F-A93B-7541EFDEC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-1333500"/>
            <a:ext cx="4000500" cy="400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6FF7E">
              <a:alpha val="1019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E841CF-3D14-427C-87C3-3D1611352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2476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F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C46E99-32AC-4192-9304-872732F4B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5750"/>
            <a:ext cx="857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98279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2D24"/>
                </a:solidFill>
              </a:defRPr>
            </a:pPr>
            <a:r>
              <a:rPr sz="900" b="1">
                <a:solidFill>
                  <a:srgbClr val="002D24"/>
                </a:solidFill>
              </a:rPr>
              <a:t>Plan from the rehearsal room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4F0A04-C73B-4A5A-8537-4030FEE21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53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2D24"/>
                </a:solidFill>
              </a:defRPr>
            </a:pPr>
            <a:r>
              <a:rPr sz="2250" b="1">
                <a:solidFill>
                  <a:srgbClr val="002D24"/>
                </a:solidFill>
              </a:rPr>
              <a:t>Plan anywhere.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9CBF7A-FDAF-464F-B524-516DD7E47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953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A4548"/>
                </a:solidFill>
              </a:defRPr>
            </a:pPr>
            <a:r>
              <a:rPr sz="1125" b="0">
                <a:solidFill>
                  <a:srgbClr val="2A4548"/>
                </a:solidFill>
              </a:rPr>
              <a:t>From a KS3 Drama studio to an EYFS carpet session — author the lesson once, on whatever device is in your hand.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96657A-1342-416D-817C-6490366B3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109537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F2A2E"/>
                </a:solidFill>
              </a:defRPr>
            </a:pPr>
            <a:r>
              <a:rPr sz="825" b="0">
                <a:solidFill>
                  <a:srgbClr val="0F2A2E"/>
                </a:solidFill>
              </a:rPr>
              <a:t>• 1 · Warm-up — Status walks (8 min) — Levels 1–10 across the room; freeze on clap to find a Commedia silhouette.</a:t>
            </a:r>
          </a:p>
          <a:p xmlns:a="http://schemas.openxmlformats.org/drawingml/2006/main">
            <a:pPr algn="l">
              <a:defRPr sz="825" b="0">
                <a:solidFill>
                  <a:srgbClr val="0F2A2E"/>
                </a:solidFill>
              </a:defRPr>
            </a:pPr>
            <a:r>
              <a:rPr sz="825" b="0">
                <a:solidFill>
                  <a:srgbClr val="0F2A2E"/>
                </a:solidFill>
              </a:rPr>
              <a:t>• 2 · Stimulus — Mask &amp; scenario reveal (10 min) — Watch lazzo clip, distribute character cards and a one-line piazza scenario.</a:t>
            </a:r>
          </a:p>
          <a:p xmlns:a="http://schemas.openxmlformats.org/drawingml/2006/main">
            <a:pPr algn="l">
              <a:defRPr sz="825" b="0">
                <a:solidFill>
                  <a:srgbClr val="0F2A2E"/>
                </a:solidFill>
              </a:defRPr>
            </a:pPr>
            <a:r>
              <a:rPr sz="825" b="0">
                <a:solidFill>
                  <a:srgbClr val="0F2A2E"/>
                </a:solidFill>
              </a:rPr>
              <a:t>• 3 · Devising — Piazza scene in trios (25 min) — Build a beginning / lazzo / resolution with one triple-take and one chase.</a:t>
            </a:r>
          </a:p>
          <a:p xmlns:a="http://schemas.openxmlformats.org/drawingml/2006/main">
            <a:pPr algn="l">
              <a:defRPr sz="825" b="0">
                <a:solidFill>
                  <a:srgbClr val="0F2A2E"/>
                </a:solidFill>
              </a:defRPr>
            </a:pPr>
            <a:r>
              <a:rPr sz="825" b="0">
                <a:solidFill>
                  <a:srgbClr val="0F2A2E"/>
                </a:solidFill>
              </a:rPr>
              <a:t>• 4 · Performance &amp; peer feedback (12 min) — Two stars + one wish anchored to status, physicality and audience contact.</a:t>
            </a:r>
          </a:p>
          <a:p xmlns:a="http://schemas.openxmlformats.org/drawingml/2006/main">
            <a:pPr algn="l">
              <a:defRPr sz="825" b="0">
                <a:solidFill>
                  <a:srgbClr val="0F2A2E"/>
                </a:solidFill>
              </a:defRPr>
            </a:pPr>
            <a:r>
              <a:rPr sz="825" b="0">
                <a:solidFill>
                  <a:srgbClr val="0F2A2E"/>
                </a:solidFill>
              </a:rPr>
              <a:t>• 5 · Plenary — Reflection ticket (5 min) — Exit slip: which Commedia choice landed loudest and why?</a:t>
            </a:r>
          </a:p>
          <a:p xmlns:a="http://schemas.openxmlformats.org/drawingml/2006/main">
            <a:pPr algn="l">
              <a:defRPr sz="825" b="0">
                <a:solidFill>
                  <a:srgbClr val="0F2A2E"/>
                </a:solidFill>
              </a:defRPr>
            </a:pPr>
            <a:r>
              <a:rPr sz="825" b="0">
                <a:solidFill>
                  <a:srgbClr val="0F2A2E"/>
                </a:solidFill>
              </a:rPr>
              <a:t>• 1 · Warm-up — Hello song (3 min) — "Hello, hello, can you clap your hands?" on so–mi; children echo back.</a:t>
            </a:r>
          </a:p>
          <a:p xmlns:a="http://schemas.openxmlformats.org/drawingml/2006/main">
            <a:pPr algn="l">
              <a:defRPr sz="825" b="0">
                <a:solidFill>
                  <a:srgbClr val="0F2A2E"/>
                </a:solidFill>
              </a:defRPr>
            </a:pPr>
            <a:r>
              <a:rPr sz="825" b="0">
                <a:solidFill>
                  <a:srgbClr val="0F2A2E"/>
                </a:solidFill>
              </a:rPr>
              <a:t>• 2 · Scarf activity — Floating melody (5 min) — Children draw the so–mi contour with scarves; high above, low to the lap.</a:t>
            </a:r>
          </a:p>
          <a:p xmlns:a="http://schemas.openxmlformats.org/drawingml/2006/main">
            <a:pPr algn="l">
              <a:defRPr sz="825" b="0">
                <a:solidFill>
                  <a:srgbClr val="0F2A2E"/>
                </a:solidFill>
              </a:defRPr>
            </a:pPr>
            <a:r>
              <a:rPr sz="825" b="0">
                <a:solidFill>
                  <a:srgbClr val="0F2A2E"/>
                </a:solidFill>
              </a:rPr>
              <a:t>• 3 · Rhythm sticks — Ta &amp; ti-ti (6 min) — Tap heartbeat on knees, then sticks on "Bee bee bum-ble-bee" — ta ta ti-ti ta.</a:t>
            </a:r>
          </a:p>
          <a:p xmlns:a="http://schemas.openxmlformats.org/drawingml/2006/main">
            <a:pPr algn="l">
              <a:defRPr sz="825" b="0">
                <a:solidFill>
                  <a:srgbClr val="0F2A2E"/>
                </a:solidFill>
              </a:defRPr>
            </a:pPr>
            <a:r>
              <a:rPr sz="825" b="0">
                <a:solidFill>
                  <a:srgbClr val="0F2A2E"/>
                </a:solidFill>
              </a:rPr>
              <a:t>• 4 · Singing game — Pass the bee (8 min) — Circle game: child holding the bee chooses high or low, group sings back.</a:t>
            </a:r>
          </a:p>
          <a:p xmlns:a="http://schemas.openxmlformats.org/drawingml/2006/main">
            <a:pPr algn="l">
              <a:defRPr sz="825" b="0">
                <a:solidFill>
                  <a:srgbClr val="0F2A2E"/>
                </a:solidFill>
              </a:defRPr>
            </a:pPr>
            <a:r>
              <a:rPr sz="825" b="0">
                <a:solidFill>
                  <a:srgbClr val="0F2A2E"/>
                </a:solidFill>
              </a:rPr>
              <a:t>• 5 · Plenary — Goodbye song (3 min) — Whispered so–mi farewell; thumbs-up if they heard a high note today.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DF2D4D-297D-4535-A396-47ED38B9F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8001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8F6E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AC4A82-F06C-4A71-B2CD-8327C04FD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43600"/>
            <a:ext cx="647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7432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002D24"/>
                </a:solidFill>
              </a:defRPr>
            </a:pPr>
            <a:r>
              <a:rPr sz="825" b="1">
                <a:solidFill>
                  <a:srgbClr val="002D24"/>
                </a:solidFill>
              </a:rPr>
              <a:t>21 / 22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50109E-CC09-4A9F-AD69-1F3456C63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9251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A7275"/>
                </a:solidFill>
              </a:defRPr>
            </a:pPr>
            <a:r>
              <a:rPr sz="825" b="0">
                <a:solidFill>
                  <a:srgbClr val="5A7275"/>
                </a:solidFill>
              </a:rPr>
              <a:t>Creative Curriculum Designer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2C8CA0-8A9D-45D8-9303-C25931572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53200"/>
            <a:ext cx="133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9251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A7275"/>
                </a:solidFill>
              </a:defRPr>
            </a:pPr>
            <a:r>
              <a:rPr sz="825" b="0">
                <a:solidFill>
                  <a:srgbClr val="5A7275"/>
                </a:solidFill>
              </a:rPr>
              <a:t>11 / 23</a:t>
            </a:r>
          </a:p>
        </p:txBody>
      </p:sp>
    </p:spTree>
    <p:extLst>
      <p:ext uri="{BB962C8B-B14F-4D97-AF65-F5344CB8AC3E}">
        <p14:creationId xmlns:p14="http://schemas.microsoft.com/office/powerpoint/2010/main" val="78349807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3655F1B-23B2-46A1-831C-F524158FF51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647B22-8C3E-4DFD-A70E-B1B0CE2B6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F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874485-B61D-4E63-B832-8506CF7B2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-1333500"/>
            <a:ext cx="4000500" cy="400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6FF7E">
              <a:alpha val="1019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083064-6A16-407E-AD80-7D0DD1F7D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2476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F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0A6906-6417-4BDB-9A0E-38E195A10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5750"/>
            <a:ext cx="857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98279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2D24"/>
                </a:solidFill>
              </a:defRPr>
            </a:pPr>
            <a:r>
              <a:rPr sz="900" b="1">
                <a:solidFill>
                  <a:srgbClr val="002D24"/>
                </a:solidFill>
              </a:rPr>
              <a:t>Your ideas, captured forever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BAEE12-8991-4D3D-BDFC-8A3FC2632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53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2D24"/>
                </a:solidFill>
              </a:defRPr>
            </a:pPr>
            <a:r>
              <a:rPr sz="2250" b="1">
                <a:solidFill>
                  <a:srgbClr val="002D24"/>
                </a:solidFill>
              </a:rPr>
              <a:t>Never lose a brilliant idea.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BB5BCC-B4F2-4E66-A733-A50E61848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35623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D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4CA54B-2683-458A-ADC3-903568F98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43050"/>
            <a:ext cx="3333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7432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2D24"/>
                </a:solidFill>
              </a:defRPr>
            </a:pPr>
            <a:r>
              <a:rPr sz="825" b="1">
                <a:solidFill>
                  <a:srgbClr val="002D24"/>
                </a:solidFill>
              </a:rPr>
              <a:t>WARMUP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413CC8-6F70-46D6-B688-03959835F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52600"/>
            <a:ext cx="3333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F2A2E"/>
                </a:solidFill>
              </a:defRPr>
            </a:pPr>
            <a:r>
              <a:rPr sz="1050" b="1">
                <a:solidFill>
                  <a:srgbClr val="0F2A2E"/>
                </a:solidFill>
              </a:rPr>
              <a:t>Action songs to anchor circle time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3D0910-6D38-433B-8D6E-F129E32D3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52650"/>
            <a:ext cx="3333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A4548"/>
                </a:solidFill>
              </a:defRPr>
            </a:pPr>
            <a:r>
              <a:rPr sz="900" b="0">
                <a:solidFill>
                  <a:srgbClr val="2A4548"/>
                </a:solidFill>
              </a:rPr>
              <a:t>EYFS · Music &amp; Drama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FB65E6-BD75-4FBD-AC44-CF3481357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428750"/>
            <a:ext cx="35623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D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3EB924-E8D7-43D0-A40B-4DF2EA525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543050"/>
            <a:ext cx="3333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7432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2D24"/>
                </a:solidFill>
              </a:defRPr>
            </a:pPr>
            <a:r>
              <a:rPr sz="825" b="1">
                <a:solidFill>
                  <a:srgbClr val="002D24"/>
                </a:solidFill>
              </a:rPr>
              <a:t>IDEA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2D140B-245E-4EB1-97C7-A42A10818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752600"/>
            <a:ext cx="3333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F2A2E"/>
                </a:solidFill>
              </a:defRPr>
            </a:pPr>
            <a:r>
              <a:rPr sz="1050" b="1">
                <a:solidFill>
                  <a:srgbClr val="0F2A2E"/>
                </a:solidFill>
              </a:rPr>
              <a:t>Animal movement stories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CF9A0E-1511-46EB-A9C1-B79A46E89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152650"/>
            <a:ext cx="3333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A4548"/>
                </a:solidFill>
              </a:defRPr>
            </a:pPr>
            <a:r>
              <a:rPr sz="900" b="0">
                <a:solidFill>
                  <a:srgbClr val="2A4548"/>
                </a:solidFill>
              </a:rPr>
              <a:t>KS1 · Dance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600A76-08A2-4702-BDA9-0E8D67D63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428750"/>
            <a:ext cx="35623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D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CBA136-E446-41CB-AA33-362A6A220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543050"/>
            <a:ext cx="3333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7432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2D24"/>
                </a:solidFill>
              </a:defRPr>
            </a:pPr>
            <a:r>
              <a:rPr sz="825" b="1">
                <a:solidFill>
                  <a:srgbClr val="002D24"/>
                </a:solidFill>
              </a:rPr>
              <a:t>REHEARSAL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47CB060-8642-4F19-8982-E6360DB08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752600"/>
            <a:ext cx="3333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F2A2E"/>
                </a:solidFill>
              </a:defRPr>
            </a:pPr>
            <a:r>
              <a:rPr sz="1050" b="1">
                <a:solidFill>
                  <a:srgbClr val="0F2A2E"/>
                </a:solidFill>
              </a:rPr>
              <a:t>Echo-and-respond rhythm circle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472233-A904-4F68-8CDA-023CBF137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152650"/>
            <a:ext cx="3333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A4548"/>
                </a:solidFill>
              </a:defRPr>
            </a:pPr>
            <a:r>
              <a:rPr sz="900" b="0">
                <a:solidFill>
                  <a:srgbClr val="2A4548"/>
                </a:solidFill>
              </a:rPr>
              <a:t>KS2 · Music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C265046-0150-4749-9F4B-F9534971D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05100"/>
            <a:ext cx="35623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D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F8EB074-9F5A-4AB7-86A0-9513F7C97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19400"/>
            <a:ext cx="3333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7432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2D24"/>
                </a:solidFill>
              </a:defRPr>
            </a:pPr>
            <a:r>
              <a:rPr sz="825" b="1">
                <a:solidFill>
                  <a:srgbClr val="002D24"/>
                </a:solidFill>
              </a:rPr>
              <a:t>IDEA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20A91BB-CE86-43CA-AE93-8CD045E09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3333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F2A2E"/>
                </a:solidFill>
              </a:defRPr>
            </a:pPr>
            <a:r>
              <a:rPr sz="1050" b="1">
                <a:solidFill>
                  <a:srgbClr val="0F2A2E"/>
                </a:solidFill>
              </a:rPr>
              <a:t>Tableaux to explore character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EA340E7-338A-4DAA-9AF8-788B0E44A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29000"/>
            <a:ext cx="3333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A4548"/>
                </a:solidFill>
              </a:defRPr>
            </a:pPr>
            <a:r>
              <a:rPr sz="900" b="0">
                <a:solidFill>
                  <a:srgbClr val="2A4548"/>
                </a:solidFill>
              </a:rPr>
              <a:t>KS3 · Drama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B6B5A5E-28AE-46C5-A912-09F4274F1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705100"/>
            <a:ext cx="35623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D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DBC3770-E5D8-431B-9ADC-93DC7D771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819400"/>
            <a:ext cx="3333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7432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2D24"/>
                </a:solidFill>
              </a:defRPr>
            </a:pPr>
            <a:r>
              <a:rPr sz="825" b="1">
                <a:solidFill>
                  <a:srgbClr val="002D24"/>
                </a:solidFill>
              </a:rPr>
              <a:t>DEVISING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7515AE4-4E59-4A8B-BBE3-A5A8964AB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028950"/>
            <a:ext cx="3333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F2A2E"/>
                </a:solidFill>
              </a:defRPr>
            </a:pPr>
            <a:r>
              <a:rPr sz="1050" b="1">
                <a:solidFill>
                  <a:srgbClr val="0F2A2E"/>
                </a:solidFill>
              </a:rPr>
              <a:t>Devising from a stimulus image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E8BDA59-B228-4BAE-B001-F85E2E729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429000"/>
            <a:ext cx="3333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A4548"/>
                </a:solidFill>
              </a:defRPr>
            </a:pPr>
            <a:r>
              <a:rPr sz="900" b="0">
                <a:solidFill>
                  <a:srgbClr val="2A4548"/>
                </a:solidFill>
              </a:rPr>
              <a:t>GCSE Drama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CCF8A9B-AEEE-4890-BA65-CDF123313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705100"/>
            <a:ext cx="35623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D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621C6FD-FE39-49BA-8FBF-94FAE1B4C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819400"/>
            <a:ext cx="3333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7432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2D24"/>
                </a:solidFill>
              </a:defRPr>
            </a:pPr>
            <a:r>
              <a:rPr sz="825" b="1">
                <a:solidFill>
                  <a:srgbClr val="002D24"/>
                </a:solidFill>
              </a:rPr>
              <a:t>COMPOSITION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ADDCF1B-4C95-424E-9588-A33C6E8C4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028950"/>
            <a:ext cx="3333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F2A2E"/>
                </a:solidFill>
              </a:defRPr>
            </a:pPr>
            <a:r>
              <a:rPr sz="1050" b="1">
                <a:solidFill>
                  <a:srgbClr val="0F2A2E"/>
                </a:solidFill>
              </a:rPr>
              <a:t>Cunningham-style chance choreography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C0F89FA-C188-47A6-ADC3-0826C530C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429000"/>
            <a:ext cx="3333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A4548"/>
                </a:solidFill>
              </a:defRPr>
            </a:pPr>
            <a:r>
              <a:rPr sz="900" b="0">
                <a:solidFill>
                  <a:srgbClr val="2A4548"/>
                </a:solidFill>
              </a:rPr>
              <a:t>A-Level · BTEC Dance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377D015-79D4-4F73-8BD9-B9B5B1241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8001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8F6E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6EC3405-BCB2-430F-A2E4-7E5A299DF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43600"/>
            <a:ext cx="647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7432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002D24"/>
                </a:solidFill>
              </a:defRPr>
            </a:pPr>
            <a:r>
              <a:rPr sz="825" b="1">
                <a:solidFill>
                  <a:srgbClr val="002D24"/>
                </a:solidFill>
              </a:rPr>
              <a:t>03 / 22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204BFCF-C25B-4CBA-9650-ADEA36429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9251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A7275"/>
                </a:solidFill>
              </a:defRPr>
            </a:pPr>
            <a:r>
              <a:rPr sz="825" b="0">
                <a:solidFill>
                  <a:srgbClr val="5A7275"/>
                </a:solidFill>
              </a:rPr>
              <a:t>Creative Curriculum Designer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DA194D9-4020-419C-A58A-B14C61F79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53200"/>
            <a:ext cx="133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9251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A7275"/>
                </a:solidFill>
              </a:defRPr>
            </a:pPr>
            <a:r>
              <a:rPr sz="825" b="0">
                <a:solidFill>
                  <a:srgbClr val="5A7275"/>
                </a:solidFill>
              </a:rPr>
              <a:t>12 / 23</a:t>
            </a:r>
          </a:p>
        </p:txBody>
      </p:sp>
    </p:spTree>
    <p:extLst>
      <p:ext uri="{BB962C8B-B14F-4D97-AF65-F5344CB8AC3E}">
        <p14:creationId xmlns:p14="http://schemas.microsoft.com/office/powerpoint/2010/main" val="163588780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3655F1B-23B2-46A1-831C-F524158FF51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5E82A9-4309-43E6-887C-0009F43CD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F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8BDC7B-B96B-47DC-B524-4A0D53A3A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-1333500"/>
            <a:ext cx="4000500" cy="400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6FF7E">
              <a:alpha val="1019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16813C-0E4B-4BBB-85A1-FC9D6C8F6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2476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F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A3AA62-8C01-47D0-97BC-1470E2059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5750"/>
            <a:ext cx="857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98279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2D24"/>
                </a:solidFill>
              </a:defRPr>
            </a:pPr>
            <a:r>
              <a:rPr sz="900" b="1">
                <a:solidFill>
                  <a:srgbClr val="002D24"/>
                </a:solidFill>
              </a:rPr>
              <a:t>Skills, sequenced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D9EBF9-CF5A-42AF-8D38-DE7436AA2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53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2D24"/>
                </a:solidFill>
              </a:defRPr>
            </a:pPr>
            <a:r>
              <a:rPr sz="2250" b="1">
                <a:solidFill>
                  <a:srgbClr val="002D24"/>
                </a:solidFill>
              </a:rPr>
              <a:t>Track growth over time.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468B74-E316-4171-A21F-554B890D9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953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A4548"/>
                </a:solidFill>
              </a:defRPr>
            </a:pPr>
            <a:r>
              <a:rPr sz="1125" b="0">
                <a:solidFill>
                  <a:srgbClr val="2A4548"/>
                </a:solidFill>
              </a:rPr>
              <a:t>Each skill builds on the last. Progress becomes visible — not assumed.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E1D744-7118-448D-83B1-BB62F3960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5715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8F6E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657E4F-45B2-4D95-8314-495662563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436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7432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002D24"/>
                </a:solidFill>
              </a:defRPr>
            </a:pPr>
            <a:r>
              <a:rPr sz="825" b="1">
                <a:solidFill>
                  <a:srgbClr val="002D24"/>
                </a:solidFill>
              </a:rPr>
              <a:t>Aut1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809C97-D7EE-43FE-8725-3872B6D85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905500"/>
            <a:ext cx="5715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8F6E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1B2419-82E5-4EB2-A3D4-F2873BBA2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9436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7432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002D24"/>
                </a:solidFill>
              </a:defRPr>
            </a:pPr>
            <a:r>
              <a:rPr sz="825" b="1">
                <a:solidFill>
                  <a:srgbClr val="002D24"/>
                </a:solidFill>
              </a:rPr>
              <a:t>Aut2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B47E87-2884-4C53-83D7-3B0638E71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905500"/>
            <a:ext cx="5715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8F6E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0EBBD9-75E6-4AB3-9957-323302B71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59436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7432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002D24"/>
                </a:solidFill>
              </a:defRPr>
            </a:pPr>
            <a:r>
              <a:rPr sz="825" b="1">
                <a:solidFill>
                  <a:srgbClr val="002D24"/>
                </a:solidFill>
              </a:rPr>
              <a:t>Spr1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F93737-2428-48E7-A55C-0886CB8F1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5905500"/>
            <a:ext cx="5715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8F6E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49849B-8055-49CD-B46C-C1C044E09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59436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7432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002D24"/>
                </a:solidFill>
              </a:defRPr>
            </a:pPr>
            <a:r>
              <a:rPr sz="825" b="1">
                <a:solidFill>
                  <a:srgbClr val="002D24"/>
                </a:solidFill>
              </a:rPr>
              <a:t>Spr2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3177889-7811-4EC6-A79C-F6C868AA1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905500"/>
            <a:ext cx="5715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8F6E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601C835-74BC-4854-A79C-4B180F875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9436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7432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002D24"/>
                </a:solidFill>
              </a:defRPr>
            </a:pPr>
            <a:r>
              <a:rPr sz="825" b="1">
                <a:solidFill>
                  <a:srgbClr val="002D24"/>
                </a:solidFill>
              </a:rPr>
              <a:t>Sum1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80B69D-6304-4293-B3B6-375B9806A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5905500"/>
            <a:ext cx="5715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8F6E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5D5030-18A7-462F-A498-91540CBC2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59436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7432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002D24"/>
                </a:solidFill>
              </a:defRPr>
            </a:pPr>
            <a:r>
              <a:rPr sz="825" b="1">
                <a:solidFill>
                  <a:srgbClr val="002D24"/>
                </a:solidFill>
              </a:rPr>
              <a:t>Sum2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4788AF-68D6-4A5C-99EC-5608F2FD8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9251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A7275"/>
                </a:solidFill>
              </a:defRPr>
            </a:pPr>
            <a:r>
              <a:rPr sz="825" b="0">
                <a:solidFill>
                  <a:srgbClr val="5A7275"/>
                </a:solidFill>
              </a:rPr>
              <a:t>Creative Curriculum Designer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475709-65A0-43C3-AFCB-BAFD454E0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53200"/>
            <a:ext cx="133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9251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A7275"/>
                </a:solidFill>
              </a:defRPr>
            </a:pPr>
            <a:r>
              <a:rPr sz="825" b="0">
                <a:solidFill>
                  <a:srgbClr val="5A7275"/>
                </a:solidFill>
              </a:rPr>
              <a:t>13 / 23</a:t>
            </a:r>
          </a:p>
        </p:txBody>
      </p:sp>
    </p:spTree>
    <p:extLst>
      <p:ext uri="{BB962C8B-B14F-4D97-AF65-F5344CB8AC3E}">
        <p14:creationId xmlns:p14="http://schemas.microsoft.com/office/powerpoint/2010/main" val="7608207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3655F1B-23B2-46A1-831C-F524158FF51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E7369C-B0BA-4C6B-9A0F-5008F99AD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F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134068-8366-48DA-81C7-0D24F2FB0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-1333500"/>
            <a:ext cx="4000500" cy="400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6FF7E">
              <a:alpha val="1019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120EB9-9192-439F-9252-B9B1712F9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2476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F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3E939A-AAC8-4D53-8D18-467425A35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5750"/>
            <a:ext cx="857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98279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2D24"/>
                </a:solidFill>
              </a:defRPr>
            </a:pPr>
            <a:r>
              <a:rPr sz="900" b="1">
                <a:solidFill>
                  <a:srgbClr val="002D24"/>
                </a:solidFill>
              </a:rPr>
              <a:t>A loop, not a line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0B88E9-0347-4D02-AE3D-F1B87D639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53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2D24"/>
                </a:solidFill>
              </a:defRPr>
            </a:pPr>
            <a:r>
              <a:rPr sz="2250" b="1">
                <a:solidFill>
                  <a:srgbClr val="002D24"/>
                </a:solidFill>
              </a:rPr>
              <a:t>Reflect. Adapt. Improve.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8C4F43-811D-47BD-9B44-109A2F1CC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953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A4548"/>
                </a:solidFill>
              </a:defRPr>
            </a:pPr>
            <a:r>
              <a:rPr sz="1125" b="0">
                <a:solidFill>
                  <a:srgbClr val="2A4548"/>
                </a:solidFill>
              </a:rPr>
              <a:t>Capture what worked. Refine what didn't. Each lesson becomes the seed of the next.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7C872D-A976-4CC0-89B2-CE479F44E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2657475" cy="1905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D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38E7D5-0C1D-450A-99C2-4CFB9E272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86000"/>
            <a:ext cx="2428875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8394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02D24"/>
                </a:solidFill>
              </a:defRPr>
            </a:pPr>
            <a:r>
              <a:rPr sz="1200" b="1">
                <a:solidFill>
                  <a:srgbClr val="002D24"/>
                </a:solidFill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FC9E3A-B609-4703-B30F-D0394789F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90800"/>
            <a:ext cx="24288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F2A2E"/>
                </a:solidFill>
              </a:defRPr>
            </a:pPr>
            <a:r>
              <a:rPr sz="1050" b="1">
                <a:solidFill>
                  <a:srgbClr val="0F2A2E"/>
                </a:solidFill>
              </a:rPr>
              <a:t>Teach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B4E0CE-F8F5-400A-96FF-22898D361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171700"/>
            <a:ext cx="2657475" cy="1905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D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7CE791-25F9-4A79-974F-9C0DCCF16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2286000"/>
            <a:ext cx="2428875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8394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02D24"/>
                </a:solidFill>
              </a:defRPr>
            </a:pPr>
            <a:r>
              <a:rPr sz="1200" b="1">
                <a:solidFill>
                  <a:srgbClr val="002D24"/>
                </a:solidFill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179767-39BF-4321-B15A-B9A5217ED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2590800"/>
            <a:ext cx="24288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F2A2E"/>
                </a:solidFill>
              </a:defRPr>
            </a:pPr>
            <a:r>
              <a:rPr sz="1050" b="1">
                <a:solidFill>
                  <a:srgbClr val="0F2A2E"/>
                </a:solidFill>
              </a:rPr>
              <a:t>Reflect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9CBA1A-F46A-44E1-9612-3E61C933B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171700"/>
            <a:ext cx="2657475" cy="1905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D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C6324F-9DE8-48B8-86AA-130202D71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286000"/>
            <a:ext cx="2428875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8394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02D24"/>
                </a:solidFill>
              </a:defRPr>
            </a:pPr>
            <a:r>
              <a:rPr sz="1200" b="1">
                <a:solidFill>
                  <a:srgbClr val="002D24"/>
                </a:solidFill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6397D2-9990-4A06-8D40-74CD93240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590800"/>
            <a:ext cx="24288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F2A2E"/>
                </a:solidFill>
              </a:defRPr>
            </a:pPr>
            <a:r>
              <a:rPr sz="1050" b="1">
                <a:solidFill>
                  <a:srgbClr val="0F2A2E"/>
                </a:solidFill>
              </a:rPr>
              <a:t>Adapt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A822474-47C5-44AC-9FB5-BF4953C7B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4925" y="2171700"/>
            <a:ext cx="2657475" cy="1905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D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BDCA6A7-25D8-4182-8F6A-BAB92E449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2286000"/>
            <a:ext cx="2428875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8394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02D24"/>
                </a:solidFill>
              </a:defRPr>
            </a:pPr>
            <a:r>
              <a:rPr sz="1200" b="1">
                <a:solidFill>
                  <a:srgbClr val="002D24"/>
                </a:solidFill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BE5D6FF-CAB1-4298-9378-ED771F7AB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2590800"/>
            <a:ext cx="24288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F2A2E"/>
                </a:solidFill>
              </a:defRPr>
            </a:pPr>
            <a:r>
              <a:rPr sz="1050" b="1">
                <a:solidFill>
                  <a:srgbClr val="0F2A2E"/>
                </a:solidFill>
              </a:rPr>
              <a:t>Refine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D8A9DEE-3461-47CF-BBC3-E752D9F8D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8001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8F6E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EC9CDE6-8C74-4401-8BC4-3BB1836DB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43600"/>
            <a:ext cx="647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7432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002D24"/>
                </a:solidFill>
              </a:defRPr>
            </a:pPr>
            <a:r>
              <a:rPr sz="825" b="1">
                <a:solidFill>
                  <a:srgbClr val="002D24"/>
                </a:solidFill>
              </a:rPr>
              <a:t>14 / 22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4605D52-7122-4E60-B136-7FC451B83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9251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A7275"/>
                </a:solidFill>
              </a:defRPr>
            </a:pPr>
            <a:r>
              <a:rPr sz="825" b="0">
                <a:solidFill>
                  <a:srgbClr val="5A7275"/>
                </a:solidFill>
              </a:rPr>
              <a:t>Creative Curriculum Designer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0F9D561-096D-4402-A0EF-7A97977A0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53200"/>
            <a:ext cx="133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9251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A7275"/>
                </a:solidFill>
              </a:defRPr>
            </a:pPr>
            <a:r>
              <a:rPr sz="825" b="0">
                <a:solidFill>
                  <a:srgbClr val="5A7275"/>
                </a:solidFill>
              </a:rPr>
              <a:t>14 / 23</a:t>
            </a:r>
          </a:p>
        </p:txBody>
      </p:sp>
    </p:spTree>
    <p:extLst>
      <p:ext uri="{BB962C8B-B14F-4D97-AF65-F5344CB8AC3E}">
        <p14:creationId xmlns:p14="http://schemas.microsoft.com/office/powerpoint/2010/main" val="67591695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3655F1B-23B2-46A1-831C-F524158FF51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F79EAE-65B2-4BF3-9136-D4D925E27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F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544838-4849-471A-AEEC-44C21DE58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-1333500"/>
            <a:ext cx="4000500" cy="400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6FF7E">
              <a:alpha val="1019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845F34-1E2F-48B8-A469-E752E81BC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2476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F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A35A40-B4FA-44CB-BC79-EABBA7A90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5750"/>
            <a:ext cx="857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98279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2D24"/>
                </a:solidFill>
              </a:defRPr>
            </a:pPr>
            <a:r>
              <a:rPr sz="900" b="1">
                <a:solidFill>
                  <a:srgbClr val="002D24"/>
                </a:solidFill>
              </a:rPr>
              <a:t>Inclusion at the centre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CD4B04-D417-417B-9327-FEFFC8A37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53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2D24"/>
                </a:solidFill>
              </a:defRPr>
            </a:pPr>
            <a:r>
              <a:rPr sz="2250" b="1">
                <a:solidFill>
                  <a:srgbClr val="002D24"/>
                </a:solidFill>
              </a:rPr>
              <a:t>Support every child meaningfully.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B1DF7E-50C0-462F-B887-534F74F38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953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A4548"/>
                </a:solidFill>
              </a:defRPr>
            </a:pPr>
            <a:r>
              <a:rPr sz="1125" b="0">
                <a:solidFill>
                  <a:srgbClr val="2A4548"/>
                </a:solidFill>
              </a:rPr>
              <a:t>Sensory considerations, communication scaffolds, and movement-friendly options — built into the planning surface.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BAFA21-5653-4B72-BADE-F2C322B4A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8001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8F6E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A066D3-7AA5-4B42-9F2D-2F4207904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43600"/>
            <a:ext cx="647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7432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002D24"/>
                </a:solidFill>
              </a:defRPr>
            </a:pPr>
            <a:r>
              <a:rPr sz="825" b="1">
                <a:solidFill>
                  <a:srgbClr val="002D24"/>
                </a:solidFill>
              </a:rPr>
              <a:t>11 / 22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9D77A9-6AED-4C0F-8E4A-CB2DCB4F3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9251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A7275"/>
                </a:solidFill>
              </a:defRPr>
            </a:pPr>
            <a:r>
              <a:rPr sz="825" b="0">
                <a:solidFill>
                  <a:srgbClr val="5A7275"/>
                </a:solidFill>
              </a:rPr>
              <a:t>Creative Curriculum Designer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643A27-1751-484B-8E57-223FC57BC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53200"/>
            <a:ext cx="133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9251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A7275"/>
                </a:solidFill>
              </a:defRPr>
            </a:pPr>
            <a:r>
              <a:rPr sz="825" b="0">
                <a:solidFill>
                  <a:srgbClr val="5A7275"/>
                </a:solidFill>
              </a:rPr>
              <a:t>15 / 23</a:t>
            </a:r>
          </a:p>
        </p:txBody>
      </p:sp>
    </p:spTree>
    <p:extLst>
      <p:ext uri="{BB962C8B-B14F-4D97-AF65-F5344CB8AC3E}">
        <p14:creationId xmlns:p14="http://schemas.microsoft.com/office/powerpoint/2010/main" val="160247805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3655F1B-23B2-46A1-831C-F524158FF51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91AF1F-349E-4E43-B0EC-E49B750D5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F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A380FC-51AD-44FC-884E-25CDB4E9A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-1333500"/>
            <a:ext cx="4000500" cy="400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6FF7E">
              <a:alpha val="1019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08E0DE-4BF7-4674-9663-56DF1D897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2476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F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A47C3D-8316-4647-9C98-EA72D5445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5750"/>
            <a:ext cx="857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98279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2D24"/>
                </a:solidFill>
              </a:defRPr>
            </a:pPr>
            <a:r>
              <a:rPr sz="900" b="1">
                <a:solidFill>
                  <a:srgbClr val="002D24"/>
                </a:solidFill>
              </a:rPr>
              <a:t>Knowledge, on purpose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2B486D-C765-48D5-A057-797E09F75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53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2D24"/>
                </a:solidFill>
              </a:defRPr>
            </a:pPr>
            <a:r>
              <a:rPr sz="2250" b="1">
                <a:solidFill>
                  <a:srgbClr val="002D24"/>
                </a:solidFill>
              </a:rPr>
              <a:t>Build knowledge intentionally.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164966-4DFF-4D08-8FF9-EFB9E2B64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953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A4548"/>
                </a:solidFill>
              </a:defRPr>
            </a:pPr>
            <a:r>
              <a:rPr sz="1125" b="0">
                <a:solidFill>
                  <a:srgbClr val="2A4548"/>
                </a:solidFill>
              </a:rPr>
              <a:t>Sequence what matters. Layer concepts so they hold. Nothing important left to chance.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DAF0C9-9F10-4FC5-9600-48921A6F7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109537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F2A2E"/>
                </a:solidFill>
              </a:defRPr>
            </a:pPr>
            <a:r>
              <a:rPr sz="825" b="0">
                <a:solidFill>
                  <a:srgbClr val="0F2A2E"/>
                </a:solidFill>
              </a:rPr>
              <a:t>• 1 · Foundation</a:t>
            </a:r>
          </a:p>
          <a:p xmlns:a="http://schemas.openxmlformats.org/drawingml/2006/main">
            <a:pPr algn="l">
              <a:defRPr sz="825" b="0">
                <a:solidFill>
                  <a:srgbClr val="0F2A2E"/>
                </a:solidFill>
              </a:defRPr>
            </a:pPr>
            <a:r>
              <a:rPr sz="825" b="0">
                <a:solidFill>
                  <a:srgbClr val="0F2A2E"/>
                </a:solidFill>
              </a:rPr>
              <a:t>• 2 · Vocabulary</a:t>
            </a:r>
          </a:p>
          <a:p xmlns:a="http://schemas.openxmlformats.org/drawingml/2006/main">
            <a:pPr algn="l">
              <a:defRPr sz="825" b="0">
                <a:solidFill>
                  <a:srgbClr val="0F2A2E"/>
                </a:solidFill>
              </a:defRPr>
            </a:pPr>
            <a:r>
              <a:rPr sz="825" b="0">
                <a:solidFill>
                  <a:srgbClr val="0F2A2E"/>
                </a:solidFill>
              </a:rPr>
              <a:t>• 3 · Technique</a:t>
            </a:r>
          </a:p>
          <a:p xmlns:a="http://schemas.openxmlformats.org/drawingml/2006/main">
            <a:pPr algn="l">
              <a:defRPr sz="825" b="0">
                <a:solidFill>
                  <a:srgbClr val="0F2A2E"/>
                </a:solidFill>
              </a:defRPr>
            </a:pPr>
            <a:r>
              <a:rPr sz="825" b="0">
                <a:solidFill>
                  <a:srgbClr val="0F2A2E"/>
                </a:solidFill>
              </a:rPr>
              <a:t>• 4 · Application</a:t>
            </a:r>
          </a:p>
          <a:p xmlns:a="http://schemas.openxmlformats.org/drawingml/2006/main">
            <a:pPr algn="l">
              <a:defRPr sz="825" b="0">
                <a:solidFill>
                  <a:srgbClr val="0F2A2E"/>
                </a:solidFill>
              </a:defRPr>
            </a:pPr>
            <a:r>
              <a:rPr sz="825" b="0">
                <a:solidFill>
                  <a:srgbClr val="0F2A2E"/>
                </a:solidFill>
              </a:rPr>
              <a:t>• 5 · Mastery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D6F9FE-0954-44A8-8DDA-48C936750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8001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8F6E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A41CD4-C6C8-42D2-98A6-03E917CE9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43600"/>
            <a:ext cx="647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7432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002D24"/>
                </a:solidFill>
              </a:defRPr>
            </a:pPr>
            <a:r>
              <a:rPr sz="825" b="1">
                <a:solidFill>
                  <a:srgbClr val="002D24"/>
                </a:solidFill>
              </a:rPr>
              <a:t>16 / 22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10C324-A369-4511-B98C-DC5E28893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9251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A7275"/>
                </a:solidFill>
              </a:defRPr>
            </a:pPr>
            <a:r>
              <a:rPr sz="825" b="0">
                <a:solidFill>
                  <a:srgbClr val="5A7275"/>
                </a:solidFill>
              </a:rPr>
              <a:t>Creative Curriculum Designer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13C646-C1A5-4F9C-85A5-C20B67604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53200"/>
            <a:ext cx="133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9251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A7275"/>
                </a:solidFill>
              </a:defRPr>
            </a:pPr>
            <a:r>
              <a:rPr sz="825" b="0">
                <a:solidFill>
                  <a:srgbClr val="5A7275"/>
                </a:solidFill>
              </a:rPr>
              <a:t>16 / 23</a:t>
            </a:r>
          </a:p>
        </p:txBody>
      </p:sp>
    </p:spTree>
    <p:extLst>
      <p:ext uri="{BB962C8B-B14F-4D97-AF65-F5344CB8AC3E}">
        <p14:creationId xmlns:p14="http://schemas.microsoft.com/office/powerpoint/2010/main" val="1042214471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3655F1B-23B2-46A1-831C-F524158FF51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050CDF-D0A1-496B-B8DD-18C926E51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F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0959AB-1FDC-462B-9D3A-83D0D96A2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-1333500"/>
            <a:ext cx="4000500" cy="400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6FF7E">
              <a:alpha val="1019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A794C6-8BC3-4FA4-ABF2-746FB5873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2476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F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0FCD2D-BA01-468A-BFE5-4A460464D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5750"/>
            <a:ext cx="857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98279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2D24"/>
                </a:solidFill>
              </a:defRPr>
            </a:pPr>
            <a:r>
              <a:rPr sz="900" b="1">
                <a:solidFill>
                  <a:srgbClr val="002D24"/>
                </a:solidFill>
              </a:rPr>
              <a:t>Depth, not speed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9375A1-7CD3-4AF9-9CF1-A51BE6DC7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53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2D24"/>
                </a:solidFill>
              </a:defRPr>
            </a:pPr>
            <a:r>
              <a:rPr sz="2250" b="1">
                <a:solidFill>
                  <a:srgbClr val="002D24"/>
                </a:solidFill>
              </a:rPr>
              <a:t>Create deeper learning opportunities.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5B66BF-9E82-414A-BB42-16D308818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953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A4548"/>
                </a:solidFill>
              </a:defRPr>
            </a:pPr>
            <a:r>
              <a:rPr sz="1125" b="0">
                <a:solidFill>
                  <a:srgbClr val="2A4548"/>
                </a:solidFill>
              </a:rPr>
              <a:t>Stretch tasks, metacognitive prompts, and challenge layers — woven naturally through every lesson.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85D7C4-5360-485E-8735-8297DE699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8001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8F6E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88FAA8-48AC-49C0-8695-E674D9507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43600"/>
            <a:ext cx="647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7432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002D24"/>
                </a:solidFill>
              </a:defRPr>
            </a:pPr>
            <a:r>
              <a:rPr sz="825" b="1">
                <a:solidFill>
                  <a:srgbClr val="002D24"/>
                </a:solidFill>
              </a:rPr>
              <a:t>12 / 22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EE5041-087D-4080-BA74-432D6E834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9251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A7275"/>
                </a:solidFill>
              </a:defRPr>
            </a:pPr>
            <a:r>
              <a:rPr sz="825" b="0">
                <a:solidFill>
                  <a:srgbClr val="5A7275"/>
                </a:solidFill>
              </a:rPr>
              <a:t>Creative Curriculum Designer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7914BE-49A3-43C7-9292-64BFD071D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53200"/>
            <a:ext cx="133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9251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A7275"/>
                </a:solidFill>
              </a:defRPr>
            </a:pPr>
            <a:r>
              <a:rPr sz="825" b="0">
                <a:solidFill>
                  <a:srgbClr val="5A7275"/>
                </a:solidFill>
              </a:rPr>
              <a:t>17 / 23</a:t>
            </a:r>
          </a:p>
        </p:txBody>
      </p:sp>
    </p:spTree>
    <p:extLst>
      <p:ext uri="{BB962C8B-B14F-4D97-AF65-F5344CB8AC3E}">
        <p14:creationId xmlns:p14="http://schemas.microsoft.com/office/powerpoint/2010/main" val="80169117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3655F1B-23B2-46A1-831C-F524158FF51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0D03B5-102F-43A2-BB53-8806A1651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F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1ACAAC-CDDB-4E65-B9C1-61A62FB1D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-1333500"/>
            <a:ext cx="4000500" cy="400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6FF7E">
              <a:alpha val="1019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2A2705-62EC-45DA-9875-7A8901483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2476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F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FE629C-8A91-4894-A98D-9CC0F99FC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5750"/>
            <a:ext cx="857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98279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2D24"/>
                </a:solidFill>
              </a:defRPr>
            </a:pPr>
            <a:r>
              <a:rPr sz="900" b="1">
                <a:solidFill>
                  <a:srgbClr val="002D24"/>
                </a:solidFill>
              </a:rPr>
              <a:t>A philosophy, first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3BD728-2977-4FA3-89FC-8B2E580B2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53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2D24"/>
                </a:solidFill>
              </a:defRPr>
            </a:pPr>
            <a:r>
              <a:rPr sz="2250" b="1">
                <a:solidFill>
                  <a:srgbClr val="002D24"/>
                </a:solidFill>
              </a:rPr>
              <a:t>Teaching is creative work.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C9F95B-FAD9-497A-952F-13322DD69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953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A4548"/>
                </a:solidFill>
              </a:defRPr>
            </a:pPr>
            <a:r>
              <a:rPr sz="1125" b="0">
                <a:solidFill>
                  <a:srgbClr val="2A4548"/>
                </a:solidFill>
              </a:rPr>
              <a:t>Your ideas are valuable. Your practice should grow. Great teaching should never disappear into forgotten documents.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537E31-CF87-4BFE-9BD5-D2F621F73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8001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8F6E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26340A-6CEC-46AE-B1BE-EE61738B1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43600"/>
            <a:ext cx="647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7432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002D24"/>
                </a:solidFill>
              </a:defRPr>
            </a:pPr>
            <a:r>
              <a:rPr sz="825" b="1">
                <a:solidFill>
                  <a:srgbClr val="002D24"/>
                </a:solidFill>
              </a:rPr>
              <a:t>02 / 22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21D039-9D7C-4688-B713-631B6B0B7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9251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A7275"/>
                </a:solidFill>
              </a:defRPr>
            </a:pPr>
            <a:r>
              <a:rPr sz="825" b="0">
                <a:solidFill>
                  <a:srgbClr val="5A7275"/>
                </a:solidFill>
              </a:rPr>
              <a:t>Creative Curriculum Designer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0B6AF2-6023-415C-814D-93CD2E59B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53200"/>
            <a:ext cx="133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9251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A7275"/>
                </a:solidFill>
              </a:defRPr>
            </a:pPr>
            <a:r>
              <a:rPr sz="825" b="0">
                <a:solidFill>
                  <a:srgbClr val="5A7275"/>
                </a:solidFill>
              </a:rPr>
              <a:t>18 / 23</a:t>
            </a:r>
          </a:p>
        </p:txBody>
      </p:sp>
    </p:spTree>
    <p:extLst>
      <p:ext uri="{BB962C8B-B14F-4D97-AF65-F5344CB8AC3E}">
        <p14:creationId xmlns:p14="http://schemas.microsoft.com/office/powerpoint/2010/main" val="253199165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3655F1B-23B2-46A1-831C-F524158FF51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82B5DB-F7A8-4374-B840-A073A1C4A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F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01400F-2B44-46EE-9A94-C4EA51C71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-1333500"/>
            <a:ext cx="4000500" cy="400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6FF7E">
              <a:alpha val="1019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ABE9E7-C2E4-446E-B7D4-DA6A06AEE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2476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F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6E199C-4D47-4348-B6E9-74F3EB3AE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5750"/>
            <a:ext cx="857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98279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2D24"/>
                </a:solidFill>
              </a:defRPr>
            </a:pPr>
            <a:r>
              <a:rPr sz="900" b="1">
                <a:solidFill>
                  <a:srgbClr val="002D24"/>
                </a:solidFill>
              </a:rPr>
              <a:t>Protecting the pipeline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04E4E5-5969-461F-97A7-47DF6342C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53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02D24"/>
                </a:solidFill>
              </a:defRPr>
            </a:pPr>
            <a:r>
              <a:rPr sz="2100" b="1">
                <a:solidFill>
                  <a:srgbClr val="002D24"/>
                </a:solidFill>
              </a:rPr>
              <a:t>From a Reception assembly to a conservatoire stage — one continuous arc.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223C35-DC66-456F-9A7B-AF39D281F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35623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D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6560D1-B261-4618-9BA7-32D88E4D2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43050"/>
            <a:ext cx="3333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7432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2D24"/>
                </a:solidFill>
              </a:defRPr>
            </a:pPr>
            <a:r>
              <a:rPr sz="825" b="1">
                <a:solidFill>
                  <a:srgbClr val="002D24"/>
                </a:solidFill>
              </a:rPr>
              <a:t>EYFS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A23F87-40DF-4615-B85C-7FB63CA08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52600"/>
            <a:ext cx="3333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F2A2E"/>
                </a:solidFill>
              </a:defRPr>
            </a:pPr>
            <a:r>
              <a:rPr sz="1050" b="1">
                <a:solidFill>
                  <a:srgbClr val="0F2A2E"/>
                </a:solidFill>
              </a:rPr>
              <a:t>First sparks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737EE1-890D-48A6-B451-500111769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52650"/>
            <a:ext cx="3333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8235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A4548"/>
                </a:solidFill>
              </a:defRPr>
            </a:pPr>
            <a:r>
              <a:rPr sz="900" b="0">
                <a:solidFill>
                  <a:srgbClr val="2A4548"/>
                </a:solidFill>
              </a:rPr>
              <a:t>Songs, role play, movement to music. The first time a child is told they're an artist.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514C5A-F777-464C-BF2D-1E214AC3A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428750"/>
            <a:ext cx="35623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D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7172B6-77DC-4B1C-8D5D-CB5243B37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543050"/>
            <a:ext cx="3333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7432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2D24"/>
                </a:solidFill>
              </a:defRPr>
            </a:pPr>
            <a:r>
              <a:rPr sz="825" b="1">
                <a:solidFill>
                  <a:srgbClr val="002D24"/>
                </a:solidFill>
              </a:rPr>
              <a:t>KS1–KS2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B86877-A9CA-474B-80CC-683291ECF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752600"/>
            <a:ext cx="3333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F2A2E"/>
                </a:solidFill>
              </a:defRPr>
            </a:pPr>
            <a:r>
              <a:rPr sz="1050" b="1">
                <a:solidFill>
                  <a:srgbClr val="0F2A2E"/>
                </a:solidFill>
              </a:rPr>
              <a:t>Practice &amp; confidence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FB5607-8C2F-49DD-8D25-92C8A41F7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152650"/>
            <a:ext cx="3333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8235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A4548"/>
                </a:solidFill>
              </a:defRPr>
            </a:pPr>
            <a:r>
              <a:rPr sz="900" b="0">
                <a:solidFill>
                  <a:srgbClr val="2A4548"/>
                </a:solidFill>
              </a:rPr>
              <a:t>Ensemble performance, improvisation, the first lead role. Where the habit of making takes hold.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689687-E425-40F9-ADC2-7B8D37FC8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428750"/>
            <a:ext cx="35623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D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6B279C-027C-4A96-A965-AF3C155A7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543050"/>
            <a:ext cx="3333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7432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2D24"/>
                </a:solidFill>
              </a:defRPr>
            </a:pPr>
            <a:r>
              <a:rPr sz="825" b="1">
                <a:solidFill>
                  <a:srgbClr val="002D24"/>
                </a:solidFill>
              </a:rPr>
              <a:t>KS3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4DB804-12B7-4AC4-9799-FA5F18446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752600"/>
            <a:ext cx="3333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F2A2E"/>
                </a:solidFill>
              </a:defRPr>
            </a:pPr>
            <a:r>
              <a:rPr sz="1050" b="1">
                <a:solidFill>
                  <a:srgbClr val="0F2A2E"/>
                </a:solidFill>
              </a:rPr>
              <a:t>Specialism opens up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CD08D3C-4123-43F3-99DE-6A01AAB32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152650"/>
            <a:ext cx="3333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8235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A4548"/>
                </a:solidFill>
              </a:defRPr>
            </a:pPr>
            <a:r>
              <a:rPr sz="900" b="0">
                <a:solidFill>
                  <a:srgbClr val="2A4548"/>
                </a:solidFill>
              </a:rPr>
              <a:t>Choosing an instrument, a discipline, a voice. The years that decide which children carry the arts forward.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D6A9880-1842-49D0-B3F0-BDB701DE9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05100"/>
            <a:ext cx="35623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D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EB50ED-8100-44CF-A59D-AF0FCB95F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19400"/>
            <a:ext cx="3333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7432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2D24"/>
                </a:solidFill>
              </a:defRPr>
            </a:pPr>
            <a:r>
              <a:rPr sz="825" b="1">
                <a:solidFill>
                  <a:srgbClr val="002D24"/>
                </a:solidFill>
              </a:rPr>
              <a:t>KS4–KS5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71EAE3-AFB7-4BBE-8443-B3D065B79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3333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F2A2E"/>
                </a:solidFill>
              </a:defRPr>
            </a:pPr>
            <a:r>
              <a:rPr sz="1050" b="1">
                <a:solidFill>
                  <a:srgbClr val="0F2A2E"/>
                </a:solidFill>
              </a:rPr>
              <a:t>Toward conservatoire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716DF77-4853-4FAE-A2DA-824BE48D8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29000"/>
            <a:ext cx="3333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8235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A4548"/>
                </a:solidFill>
              </a:defRPr>
            </a:pPr>
            <a:r>
              <a:rPr sz="900" b="0">
                <a:solidFill>
                  <a:srgbClr val="2A4548"/>
                </a:solidFill>
              </a:rPr>
              <a:t>GCSE, A-Level, BTEC, LAMDA. The portfolio that the auditioning panel will read.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8E5AAE7-71EB-4570-B876-C8E178848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705100"/>
            <a:ext cx="35623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D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1C6423E-9914-44EF-BFAE-6C67E0786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819400"/>
            <a:ext cx="3333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7432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2D24"/>
                </a:solidFill>
              </a:defRPr>
            </a:pPr>
            <a:r>
              <a:rPr sz="825" b="1">
                <a:solidFill>
                  <a:srgbClr val="002D24"/>
                </a:solidFill>
              </a:rPr>
              <a:t>University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F22B245-0BFC-4C83-8B7F-762A0F753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028950"/>
            <a:ext cx="3333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F2A2E"/>
                </a:solidFill>
              </a:defRPr>
            </a:pPr>
            <a:r>
              <a:rPr sz="1050" b="1">
                <a:solidFill>
                  <a:srgbClr val="0F2A2E"/>
                </a:solidFill>
              </a:rPr>
              <a:t>The pipeline protected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E78FB50-303F-4A73-8910-8B6586526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429000"/>
            <a:ext cx="3333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8235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A4548"/>
                </a:solidFill>
              </a:defRPr>
            </a:pPr>
            <a:r>
              <a:rPr sz="900" b="0">
                <a:solidFill>
                  <a:srgbClr val="2A4548"/>
                </a:solidFill>
              </a:rPr>
              <a:t>Drama school, conservatoire, music college. The next generation of professional artists — only as strong as Year 4 was.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7BDF356-21F2-4991-A2EA-2FFC88525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20193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8F6E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C9ED230-E057-4923-AA8C-E0003B11F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43600"/>
            <a:ext cx="1866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7432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002D24"/>
                </a:solidFill>
              </a:defRPr>
            </a:pPr>
            <a:r>
              <a:rPr sz="825" b="1">
                <a:solidFill>
                  <a:srgbClr val="002D24"/>
                </a:solidFill>
              </a:rPr>
              <a:t>EYFS → KS5 → University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6DAEAC5-2857-4DC7-9659-026A7B5A5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9251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A7275"/>
                </a:solidFill>
              </a:defRPr>
            </a:pPr>
            <a:r>
              <a:rPr sz="825" b="0">
                <a:solidFill>
                  <a:srgbClr val="5A7275"/>
                </a:solidFill>
              </a:rPr>
              <a:t>Creative Curriculum Designer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987314A-F913-4D2D-B8F9-6F0476183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53200"/>
            <a:ext cx="133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9251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A7275"/>
                </a:solidFill>
              </a:defRPr>
            </a:pPr>
            <a:r>
              <a:rPr sz="825" b="0">
                <a:solidFill>
                  <a:srgbClr val="5A7275"/>
                </a:solidFill>
              </a:rPr>
              <a:t>19 / 23</a:t>
            </a:r>
          </a:p>
        </p:txBody>
      </p:sp>
    </p:spTree>
    <p:extLst>
      <p:ext uri="{BB962C8B-B14F-4D97-AF65-F5344CB8AC3E}">
        <p14:creationId xmlns:p14="http://schemas.microsoft.com/office/powerpoint/2010/main" val="150130512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3655F1B-23B2-46A1-831C-F524158FF51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BA008C-AC66-4DA3-A445-4F847AB33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F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C51172-5EFB-4D1C-A52A-20C1F9FAD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-1333500"/>
            <a:ext cx="4000500" cy="400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6FF7E">
              <a:alpha val="1019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24E62B-2843-4ACC-B784-F099DEC0E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2476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F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D48FE9-8064-4CE6-959F-D31EE3252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5750"/>
            <a:ext cx="857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98279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2D24"/>
                </a:solidFill>
              </a:defRPr>
            </a:pPr>
            <a:r>
              <a:rPr sz="900" b="1">
                <a:solidFill>
                  <a:srgbClr val="002D24"/>
                </a:solidFill>
              </a:rPr>
              <a:t>Feature 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13680D-4084-447C-97BD-0E37B4A87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53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02D24"/>
                </a:solidFill>
              </a:defRPr>
            </a:pPr>
            <a:r>
              <a:rPr sz="1950" b="1">
                <a:solidFill>
                  <a:srgbClr val="002D24"/>
                </a:solidFill>
              </a:rPr>
              <a:t>Your school's homepage. A real preview.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FC2D2B-1817-4FDC-AEF9-AB7431558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71600"/>
            <a:ext cx="5400675" cy="4991100"/>
          </a:xfrm>
          <a:prstGeom xmlns:a="http://schemas.openxmlformats.org/drawingml/2006/main" prst="roundRect">
            <a:avLst>
              <a:gd name="adj" fmla="val 152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D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294DD9-0116-4B65-8C3A-59B18007D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66850"/>
            <a:ext cx="509587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87176"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A7275"/>
                </a:solidFill>
              </a:defRPr>
            </a:pPr>
            <a:r>
              <a:rPr sz="750" b="0">
                <a:solidFill>
                  <a:srgbClr val="5A7275"/>
                </a:solidFill>
              </a:rPr>
              <a:t>www.ccdesigner.co.uk/coopersalehall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A56660-45A0-452F-AA5C-BC444CDEA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3475" y="1466850"/>
            <a:ext cx="95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87176"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5A7275"/>
                </a:solidFill>
              </a:defRPr>
            </a:pPr>
            <a:r>
              <a:rPr sz="750" b="0">
                <a:solidFill>
                  <a:srgbClr val="5A7275"/>
                </a:solidFill>
              </a:rPr>
              <a:t>Public homepage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1FD38C-C19A-4FA0-9D1A-E287F68D9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2700338" cy="464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D2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651310-2C52-46D4-AF14-C5F604BC2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47850"/>
            <a:ext cx="2430304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90719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Coopersale Hall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EAACDB-B9EB-43AA-A995-55712F6AB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19350"/>
            <a:ext cx="2430304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Performing Arts at Coopersale Hall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4A27C9-58AD-4323-95E5-DFA091070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81350"/>
            <a:ext cx="2430304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CFE3DC"/>
                </a:solidFill>
              </a:defRPr>
            </a:pPr>
            <a:r>
              <a:rPr sz="825" b="0">
                <a:solidFill>
                  <a:srgbClr val="CFE3DC"/>
                </a:solidFill>
              </a:rPr>
              <a:t>A year of drama, music and dance — built by our teachers, for our pupils.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2AE2EE-BAA8-4E7D-AD11-CF9475689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05450"/>
            <a:ext cx="2268284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B6F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020733-F65C-4E5C-87C7-777AF6A85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43550"/>
            <a:ext cx="2268284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84629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02D24"/>
                </a:solidFill>
              </a:defRPr>
            </a:pPr>
            <a:r>
              <a:rPr sz="900" b="1">
                <a:solidFill>
                  <a:srgbClr val="002D24"/>
                </a:solidFill>
              </a:rPr>
              <a:t>Sign in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770468D-2355-4AC1-A33E-65D084A54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86450"/>
            <a:ext cx="2268284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94491"/>
          </a:bodyPr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FFFFFF"/>
                </a:solidFill>
              </a:defRPr>
            </a:pPr>
            <a:r>
              <a:rPr sz="825" b="0">
                <a:solidFill>
                  <a:srgbClr val="FFFFFF"/>
                </a:solidFill>
              </a:rPr>
              <a:t>Preview the curriculum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214010-AF99-4CE3-926F-A646ABE20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6138" y="1943100"/>
            <a:ext cx="2430304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D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A2C19A-3B42-48FA-88D5-7F7CDFEC8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2019300"/>
            <a:ext cx="216027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62541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2D24"/>
                </a:solidFill>
              </a:defRPr>
            </a:pPr>
            <a:r>
              <a:rPr sz="825" b="1">
                <a:solidFill>
                  <a:srgbClr val="002D24"/>
                </a:solidFill>
              </a:rPr>
              <a:t>Drama · Y4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8507EC2-085F-4A27-B885-0441BE62C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2209800"/>
            <a:ext cx="216027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86617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F2A2E"/>
                </a:solidFill>
              </a:defRPr>
            </a:pPr>
            <a:r>
              <a:rPr sz="900" b="0">
                <a:solidFill>
                  <a:srgbClr val="0F2A2E"/>
                </a:solidFill>
              </a:rPr>
              <a:t>Storytelling Through Drama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96638FF-4F75-459B-AF8F-71922861B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6138" y="2609850"/>
            <a:ext cx="2430304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D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FAFE4C1-7A0B-4621-AB0E-9DEE185F7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2686050"/>
            <a:ext cx="216027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62541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2D24"/>
                </a:solidFill>
              </a:defRPr>
            </a:pPr>
            <a:r>
              <a:rPr sz="825" b="1">
                <a:solidFill>
                  <a:srgbClr val="002D24"/>
                </a:solidFill>
              </a:rPr>
              <a:t>Music · Y3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7D86702-82EA-4D1A-BDE4-A4E762B81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2876550"/>
            <a:ext cx="216027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86617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F2A2E"/>
                </a:solidFill>
              </a:defRPr>
            </a:pPr>
            <a:r>
              <a:rPr sz="900" b="0">
                <a:solidFill>
                  <a:srgbClr val="0F2A2E"/>
                </a:solidFill>
              </a:rPr>
              <a:t>Rhythms of West Africa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0BF086C-8A93-4296-ACFE-4DD83AB5B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6138" y="3276600"/>
            <a:ext cx="2430304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D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5210ACA-D9BC-4F18-A461-CFB86B49E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16027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62541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2D24"/>
                </a:solidFill>
              </a:defRPr>
            </a:pPr>
            <a:r>
              <a:rPr sz="825" b="1">
                <a:solidFill>
                  <a:srgbClr val="002D24"/>
                </a:solidFill>
              </a:rPr>
              <a:t>Dance · Y5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412E725-2395-4270-ACC9-8F071BC3A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543300"/>
            <a:ext cx="216027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86617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F2A2E"/>
                </a:solidFill>
              </a:defRPr>
            </a:pPr>
            <a:r>
              <a:rPr sz="900" b="0">
                <a:solidFill>
                  <a:srgbClr val="0F2A2E"/>
                </a:solidFill>
              </a:rPr>
              <a:t>Storm Motif &amp; Canon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9563652-E168-4FB1-929B-DA3F4CE66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1371600"/>
            <a:ext cx="5400675" cy="4991100"/>
          </a:xfrm>
          <a:prstGeom xmlns:a="http://schemas.openxmlformats.org/drawingml/2006/main" prst="roundRect">
            <a:avLst>
              <a:gd name="adj" fmla="val 152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D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1C018A4-F39D-411F-A817-41559F4DD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466850"/>
            <a:ext cx="509587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87176"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A7275"/>
                </a:solidFill>
              </a:defRPr>
            </a:pPr>
            <a:r>
              <a:rPr sz="750" b="0">
                <a:solidFill>
                  <a:srgbClr val="5A7275"/>
                </a:solidFill>
              </a:rPr>
              <a:t>www.ccdesigner.co.uk/app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B5847FE-8AC5-44FB-BA30-7AAEF8BD9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1466850"/>
            <a:ext cx="95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87176"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5A7275"/>
                </a:solidFill>
              </a:defRPr>
            </a:pPr>
            <a:r>
              <a:rPr sz="750" b="0">
                <a:solidFill>
                  <a:srgbClr val="5A7275"/>
                </a:solidFill>
              </a:rPr>
              <a:t>Preview mode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D7A393B-567F-4C3C-A5E0-0385025F2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1714500"/>
            <a:ext cx="54006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D172248-9B66-4C64-AAB4-63F0B9208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71650"/>
            <a:ext cx="43338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FFFFFF"/>
                </a:solidFill>
              </a:defRPr>
            </a:pPr>
            <a:r>
              <a:rPr sz="750" b="0">
                <a:solidFill>
                  <a:srgbClr val="FFFFFF"/>
                </a:solidFill>
              </a:rPr>
              <a:t>You're in preview mode · sample drama, music &amp; dance content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648EEE6-14BD-4925-BD7A-403FCCCF9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1771650"/>
            <a:ext cx="476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Exit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D6814DB-6809-4CE1-B860-1D0583AB7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2190750"/>
            <a:ext cx="2738438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8424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F2A2E"/>
                </a:solidFill>
              </a:defRPr>
            </a:pPr>
            <a:r>
              <a:rPr sz="1050" b="1">
                <a:solidFill>
                  <a:srgbClr val="0F2A2E"/>
                </a:solidFill>
              </a:rPr>
              <a:t>Year 4 · Music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4590CCF-236B-4128-AA4F-C4D91006A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1113" y="2209800"/>
            <a:ext cx="2547938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94491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A7275"/>
                </a:solidFill>
              </a:defRPr>
            </a:pPr>
            <a:r>
              <a:rPr sz="825" b="0">
                <a:solidFill>
                  <a:srgbClr val="5A7275"/>
                </a:solidFill>
              </a:rPr>
              <a:t>Autumn 1 · 2025–26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E29A703-F961-41E6-9C20-7B47938AA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2609850"/>
            <a:ext cx="5172075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F2A2E"/>
                </a:solidFill>
              </a:defRPr>
            </a:pPr>
            <a:r>
              <a:rPr sz="900" b="0">
                <a:solidFill>
                  <a:srgbClr val="0F2A2E"/>
                </a:solidFill>
              </a:rPr>
              <a:t>Lesson 1 · Rhythms of West Africa</a:t>
            </a:r>
          </a:p>
          <a:p xmlns:a="http://schemas.openxmlformats.org/drawingml/2006/main">
            <a:pPr algn="l">
              <a:defRPr sz="900" b="0">
                <a:solidFill>
                  <a:srgbClr val="0F2A2E"/>
                </a:solidFill>
              </a:defRPr>
            </a:pPr>
            <a:r>
              <a:rPr sz="900" b="0">
                <a:solidFill>
                  <a:srgbClr val="0F2A2E"/>
                </a:solidFill>
              </a:rPr>
              <a:t>Lesson 2 · Body percussion patterns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4D070BA-B8FB-4909-8A4E-DD58E1B66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9251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A7275"/>
                </a:solidFill>
              </a:defRPr>
            </a:pPr>
            <a:r>
              <a:rPr sz="825" b="0">
                <a:solidFill>
                  <a:srgbClr val="5A7275"/>
                </a:solidFill>
              </a:rPr>
              <a:t>Creative Curriculum Designer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D903490-B18C-4571-B2B2-6DB9944A9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53200"/>
            <a:ext cx="133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9251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A7275"/>
                </a:solidFill>
              </a:defRPr>
            </a:pPr>
            <a:r>
              <a:rPr sz="825" b="0">
                <a:solidFill>
                  <a:srgbClr val="5A7275"/>
                </a:solidFill>
              </a:rPr>
              <a:t>20 / 23</a:t>
            </a:r>
          </a:p>
        </p:txBody>
      </p:sp>
    </p:spTree>
    <p:extLst>
      <p:ext uri="{BB962C8B-B14F-4D97-AF65-F5344CB8AC3E}">
        <p14:creationId xmlns:p14="http://schemas.microsoft.com/office/powerpoint/2010/main" val="158384350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3655F1B-23B2-46A1-831C-F524158FF51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DA6484-EB85-4B70-BC1D-BB4174E31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F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14EA8C-E24C-4EA0-9C5C-AF88DF036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-1333500"/>
            <a:ext cx="4000500" cy="400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6FF7E">
              <a:alpha val="1019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DE6C67-F702-4258-A214-6A98825A7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2476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F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EBAC11-EA89-4899-9FB7-23DEC84AB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5750"/>
            <a:ext cx="857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98279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2D24"/>
                </a:solidFill>
              </a:defRPr>
            </a:pPr>
            <a:r>
              <a:rPr sz="900" b="1">
                <a:solidFill>
                  <a:srgbClr val="002D24"/>
                </a:solidFill>
              </a:rPr>
              <a:t>Feature 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75D8C8-F842-4E48-91D4-53EB33B84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47625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02D24"/>
                </a:solidFill>
              </a:defRPr>
            </a:pPr>
            <a:r>
              <a:rPr sz="1950" b="1">
                <a:solidFill>
                  <a:srgbClr val="002D24"/>
                </a:solidFill>
              </a:rPr>
              <a:t>Settings that fit your school.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6BD168-F658-4E34-9340-D12685EA0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4762500" cy="4686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85112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A4548"/>
                </a:solidFill>
              </a:defRPr>
            </a:pPr>
            <a:r>
              <a:rPr sz="975" b="0">
                <a:solidFill>
                  <a:srgbClr val="2A4548"/>
                </a:solidFill>
              </a:rPr>
              <a:t>One panel for the things that change school by school — year groups, activity categories, your branding on every print-out, and where your data lives. Free to use, no resource lock-in: your practice belongs to you and the wider sector — not a platform.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600E3E-AA80-4F6E-A46C-3F03CAAFC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9780"/>
            <a:ext cx="47625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F2A2E"/>
                </a:solidFill>
              </a:defRPr>
            </a:pPr>
            <a:r>
              <a:rPr sz="975" b="0">
                <a:solidFill>
                  <a:srgbClr val="0F2A2E"/>
                </a:solidFill>
              </a:rPr>
              <a:t>• Year groups, EYFS through Year 6</a:t>
            </a:r>
          </a:p>
          <a:p xmlns:a="http://schemas.openxmlformats.org/drawingml/2006/main">
            <a:pPr algn="l">
              <a:defRPr sz="975" b="0">
                <a:solidFill>
                  <a:srgbClr val="0F2A2E"/>
                </a:solidFill>
              </a:defRPr>
            </a:pPr>
            <a:r>
              <a:rPr sz="975" b="0">
                <a:solidFill>
                  <a:srgbClr val="0F2A2E"/>
                </a:solidFill>
              </a:rPr>
              <a:t>• Custom activity categories per subject</a:t>
            </a:r>
          </a:p>
          <a:p xmlns:a="http://schemas.openxmlformats.org/drawingml/2006/main">
            <a:pPr algn="l">
              <a:defRPr sz="975" b="0">
                <a:solidFill>
                  <a:srgbClr val="0F2A2E"/>
                </a:solidFill>
              </a:defRPr>
            </a:pPr>
            <a:r>
              <a:rPr sz="975" b="0">
                <a:solidFill>
                  <a:srgbClr val="0F2A2E"/>
                </a:solidFill>
              </a:rPr>
              <a:t>• Logo, colours, header on every PDF</a:t>
            </a:r>
          </a:p>
          <a:p xmlns:a="http://schemas.openxmlformats.org/drawingml/2006/main">
            <a:pPr algn="l">
              <a:defRPr sz="975" b="0">
                <a:solidFill>
                  <a:srgbClr val="0F2A2E"/>
                </a:solidFill>
              </a:defRPr>
            </a:pPr>
            <a:r>
              <a:rPr sz="975" b="0">
                <a:solidFill>
                  <a:srgbClr val="0F2A2E"/>
                </a:solidFill>
              </a:rPr>
              <a:t>• Import, export, back up — your data stays yours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170123-A7A5-49D5-9BC1-52EB6C56B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666750"/>
            <a:ext cx="6000750" cy="5524500"/>
          </a:xfrm>
          <a:prstGeom xmlns:a="http://schemas.openxmlformats.org/drawingml/2006/main" prst="roundRect">
            <a:avLst>
              <a:gd name="adj" fmla="val 137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D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8CEB1A-34D7-4896-B617-48F334317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781050"/>
            <a:ext cx="2400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94184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2A2E"/>
                </a:solidFill>
              </a:defRPr>
            </a:pPr>
            <a:r>
              <a:rPr sz="1200" b="1">
                <a:solidFill>
                  <a:srgbClr val="0F2A2E"/>
                </a:solidFill>
              </a:rPr>
              <a:t>Settings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9DDA91-2DAE-49DC-A387-1E83DB63E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0088" y="800100"/>
            <a:ext cx="28479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A7275"/>
                </a:solidFill>
              </a:defRPr>
            </a:pPr>
            <a:r>
              <a:rPr sz="900" b="0">
                <a:solidFill>
                  <a:srgbClr val="5A7275"/>
                </a:solidFill>
              </a:rPr>
              <a:t>Coopersale Hall School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EDE4D4-D32C-4AB9-A73C-4C89323BC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1123950"/>
            <a:ext cx="5695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2D24"/>
                </a:solidFill>
              </a:defRPr>
            </a:pPr>
            <a:r>
              <a:rPr sz="825" b="1">
                <a:solidFill>
                  <a:srgbClr val="002D24"/>
                </a:solidFill>
              </a:rPr>
              <a:t>Year groups  ·  Categories  ·  Resource links  ·  Custom objectives  ·  Branding  ·  Data  ·  Users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46C4BC-EF84-43E6-93CC-81B026E94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1466850"/>
            <a:ext cx="2700338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812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F2A2E"/>
                </a:solidFill>
              </a:defRPr>
            </a:pPr>
            <a:r>
              <a:rPr sz="975" b="1">
                <a:solidFill>
                  <a:srgbClr val="0F2A2E"/>
                </a:solidFill>
              </a:rPr>
              <a:t>Active year groups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2DAC40-B412-4947-8CDE-A8B15C965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1733550"/>
            <a:ext cx="2520315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F2A2E"/>
                </a:solidFill>
              </a:defRPr>
            </a:pPr>
            <a:r>
              <a:rPr sz="900" b="0">
                <a:solidFill>
                  <a:srgbClr val="0F2A2E"/>
                </a:solidFill>
              </a:rPr>
              <a:t>EYFS · Reception</a:t>
            </a:r>
          </a:p>
          <a:p xmlns:a="http://schemas.openxmlformats.org/drawingml/2006/main">
            <a:pPr algn="l">
              <a:defRPr sz="900" b="0">
                <a:solidFill>
                  <a:srgbClr val="0F2A2E"/>
                </a:solidFill>
              </a:defRPr>
            </a:pPr>
            <a:r>
              <a:rPr sz="900" b="0">
                <a:solidFill>
                  <a:srgbClr val="0F2A2E"/>
                </a:solidFill>
              </a:rPr>
              <a:t>Year 1</a:t>
            </a:r>
          </a:p>
          <a:p xmlns:a="http://schemas.openxmlformats.org/drawingml/2006/main">
            <a:pPr algn="l">
              <a:defRPr sz="900" b="0">
                <a:solidFill>
                  <a:srgbClr val="0F2A2E"/>
                </a:solidFill>
              </a:defRPr>
            </a:pPr>
            <a:r>
              <a:rPr sz="900" b="0">
                <a:solidFill>
                  <a:srgbClr val="0F2A2E"/>
                </a:solidFill>
              </a:rPr>
              <a:t>Year 2</a:t>
            </a:r>
          </a:p>
          <a:p xmlns:a="http://schemas.openxmlformats.org/drawingml/2006/main">
            <a:pPr algn="l">
              <a:defRPr sz="900" b="0">
                <a:solidFill>
                  <a:srgbClr val="0F2A2E"/>
                </a:solidFill>
              </a:defRPr>
            </a:pPr>
            <a:r>
              <a:rPr sz="900" b="0">
                <a:solidFill>
                  <a:srgbClr val="0F2A2E"/>
                </a:solidFill>
              </a:rPr>
              <a:t>Year 3</a:t>
            </a:r>
          </a:p>
          <a:p xmlns:a="http://schemas.openxmlformats.org/drawingml/2006/main">
            <a:pPr algn="l">
              <a:defRPr sz="900" b="0">
                <a:solidFill>
                  <a:srgbClr val="0F2A2E"/>
                </a:solidFill>
              </a:defRPr>
            </a:pPr>
            <a:r>
              <a:rPr sz="900" b="0">
                <a:solidFill>
                  <a:srgbClr val="0F2A2E"/>
                </a:solidFill>
              </a:rPr>
              <a:t>Year 4</a:t>
            </a:r>
          </a:p>
          <a:p xmlns:a="http://schemas.openxmlformats.org/drawingml/2006/main">
            <a:pPr algn="l">
              <a:defRPr sz="900" b="0">
                <a:solidFill>
                  <a:srgbClr val="0F2A2E"/>
                </a:solidFill>
              </a:defRPr>
            </a:pPr>
            <a:r>
              <a:rPr sz="900" b="0">
                <a:solidFill>
                  <a:srgbClr val="0F2A2E"/>
                </a:solidFill>
              </a:rPr>
              <a:t>Year 5 &amp; 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F76E2C7-5990-49F0-9281-FCB1A752C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0140" y="1466850"/>
            <a:ext cx="252031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812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F2A2E"/>
                </a:solidFill>
              </a:defRPr>
            </a:pPr>
            <a:r>
              <a:rPr sz="975" b="1">
                <a:solidFill>
                  <a:srgbClr val="0F2A2E"/>
                </a:solidFill>
              </a:rPr>
              <a:t>Branding preview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7D80C1-2C92-44D1-B14A-95C351F38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0140" y="1752600"/>
            <a:ext cx="252031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A4548"/>
                </a:solidFill>
              </a:defRPr>
            </a:pPr>
            <a:r>
              <a:rPr sz="900" b="0">
                <a:solidFill>
                  <a:srgbClr val="2A4548"/>
                </a:solidFill>
              </a:rPr>
              <a:t>Coopersale Hall School</a:t>
            </a:r>
          </a:p>
          <a:p xmlns:a="http://schemas.openxmlformats.org/drawingml/2006/main">
            <a:pPr algn="l">
              <a:defRPr sz="900" b="0">
                <a:solidFill>
                  <a:srgbClr val="2A4548"/>
                </a:solidFill>
              </a:defRPr>
            </a:pPr>
            <a:r>
              <a:rPr sz="900" b="0">
                <a:solidFill>
                  <a:srgbClr val="2A4548"/>
                </a:solidFill>
              </a:rPr>
              <a:t>Performing Arts Curriculum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0DEE325-AE4A-4058-BE35-860E40319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0140" y="2381250"/>
            <a:ext cx="252031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812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F2A2E"/>
                </a:solidFill>
              </a:defRPr>
            </a:pPr>
            <a:r>
              <a:rPr sz="975" b="1">
                <a:solidFill>
                  <a:srgbClr val="0F2A2E"/>
                </a:solidFill>
              </a:rPr>
              <a:t>Categories · Drama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70BE8A2-53D7-484B-81A3-547C1BC2A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0140" y="2667000"/>
            <a:ext cx="2520315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F2A2E"/>
                </a:solidFill>
              </a:defRPr>
            </a:pPr>
            <a:r>
              <a:rPr sz="900" b="0">
                <a:solidFill>
                  <a:srgbClr val="0F2A2E"/>
                </a:solidFill>
              </a:rPr>
              <a:t>Main Activity</a:t>
            </a:r>
          </a:p>
          <a:p xmlns:a="http://schemas.openxmlformats.org/drawingml/2006/main">
            <a:pPr algn="l">
              <a:defRPr sz="900" b="0">
                <a:solidFill>
                  <a:srgbClr val="0F2A2E"/>
                </a:solidFill>
              </a:defRPr>
            </a:pPr>
            <a:r>
              <a:rPr sz="900" b="0">
                <a:solidFill>
                  <a:srgbClr val="0F2A2E"/>
                </a:solidFill>
              </a:rPr>
              <a:t>Warm-up</a:t>
            </a:r>
          </a:p>
          <a:p xmlns:a="http://schemas.openxmlformats.org/drawingml/2006/main">
            <a:pPr algn="l">
              <a:defRPr sz="900" b="0">
                <a:solidFill>
                  <a:srgbClr val="0F2A2E"/>
                </a:solidFill>
              </a:defRPr>
            </a:pPr>
            <a:r>
              <a:rPr sz="900" b="0">
                <a:solidFill>
                  <a:srgbClr val="0F2A2E"/>
                </a:solidFill>
              </a:rPr>
              <a:t>Plenary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A68507C-26B6-4FE3-AA71-E066EEDFE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9251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A7275"/>
                </a:solidFill>
              </a:defRPr>
            </a:pPr>
            <a:r>
              <a:rPr sz="825" b="0">
                <a:solidFill>
                  <a:srgbClr val="5A7275"/>
                </a:solidFill>
              </a:rPr>
              <a:t>Creative Curriculum Designer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053E2ED-CE6E-4F82-A593-17C9D1ACC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53200"/>
            <a:ext cx="133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9251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A7275"/>
                </a:solidFill>
              </a:defRPr>
            </a:pPr>
            <a:r>
              <a:rPr sz="825" b="0">
                <a:solidFill>
                  <a:srgbClr val="5A7275"/>
                </a:solidFill>
              </a:rPr>
              <a:t>21 / 23</a:t>
            </a:r>
          </a:p>
        </p:txBody>
      </p:sp>
    </p:spTree>
    <p:extLst>
      <p:ext uri="{BB962C8B-B14F-4D97-AF65-F5344CB8AC3E}">
        <p14:creationId xmlns:p14="http://schemas.microsoft.com/office/powerpoint/2010/main" val="1238900542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3655F1B-23B2-46A1-831C-F524158FF51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2A40CA-E0E1-422E-87CC-75C0B2D40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F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630A6E-029E-4251-97EC-2313562E2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-1333500"/>
            <a:ext cx="4000500" cy="400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6FF7E">
              <a:alpha val="1019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5DBDC9-2921-4B17-AF78-E69CA15CF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2476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F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02B018-E045-4093-860D-9D9289795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5750"/>
            <a:ext cx="857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98279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2D24"/>
                </a:solidFill>
              </a:defRPr>
            </a:pPr>
            <a:r>
              <a:rPr sz="900" b="1">
                <a:solidFill>
                  <a:srgbClr val="002D24"/>
                </a:solidFill>
              </a:rPr>
              <a:t>Next steps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049925-F873-4EAA-87A6-CCFC0818B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9537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2D24"/>
                </a:solidFill>
              </a:defRPr>
            </a:pPr>
            <a:r>
              <a:rPr sz="2250" b="1">
                <a:solidFill>
                  <a:srgbClr val="002D24"/>
                </a:solidFill>
              </a:rPr>
              <a:t>Continue into the prototype — or talk to us.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3B1746-D10B-453C-A076-45D314EA2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09537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A4548"/>
                </a:solidFill>
              </a:defRPr>
            </a:pPr>
            <a:r>
              <a:rPr sz="1125" b="0">
                <a:solidFill>
                  <a:srgbClr val="2A4548"/>
                </a:solidFill>
              </a:rPr>
              <a:t>Close this walkthrough to sign in or explore. For funding conversations and partner access, get in touch.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D3973F-8ED4-4B1F-AC7E-06904E0DB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0"/>
            <a:ext cx="35623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D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1A9619-FA3E-4EB2-9525-974E6F950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71800"/>
            <a:ext cx="3333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2A2E"/>
                </a:solidFill>
              </a:defRPr>
            </a:pPr>
            <a:r>
              <a:rPr sz="1200" b="1">
                <a:solidFill>
                  <a:srgbClr val="0F2A2E"/>
                </a:solidFill>
              </a:rPr>
              <a:t>Email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DE2A29-0635-4935-BE0F-F03F5EF7F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71850"/>
            <a:ext cx="3333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2A4548"/>
                </a:solidFill>
              </a:defRPr>
            </a:pPr>
            <a:r>
              <a:rPr sz="825" b="0">
                <a:solidFill>
                  <a:srgbClr val="2A4548"/>
                </a:solidFill>
              </a:rPr>
              <a:t>rob@rhythmstix.co.uk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D948B1-1E7F-417F-886F-A5F957174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857500"/>
            <a:ext cx="35623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D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3A844C-0BF5-495D-950C-BBCFA042D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971800"/>
            <a:ext cx="3333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2A2E"/>
                </a:solidFill>
              </a:defRPr>
            </a:pPr>
            <a:r>
              <a:rPr sz="1200" b="1">
                <a:solidFill>
                  <a:srgbClr val="0F2A2E"/>
                </a:solidFill>
              </a:rPr>
              <a:t>Web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21BAEE-445E-40B2-B915-DA879B75C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371850"/>
            <a:ext cx="3333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2A4548"/>
                </a:solidFill>
              </a:defRPr>
            </a:pPr>
            <a:r>
              <a:rPr sz="825" b="0">
                <a:solidFill>
                  <a:srgbClr val="2A4548"/>
                </a:solidFill>
              </a:rPr>
              <a:t>www.ccdesigner.co.uk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B2C694-835D-4B0E-9C7E-0DAF94645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857500"/>
            <a:ext cx="35623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D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F58614-7F1A-4642-813E-6EC8903DC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971800"/>
            <a:ext cx="3333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2A2E"/>
                </a:solidFill>
              </a:defRPr>
            </a:pPr>
            <a:r>
              <a:rPr sz="1200" b="1">
                <a:solidFill>
                  <a:srgbClr val="0F2A2E"/>
                </a:solidFill>
              </a:rPr>
              <a:t>In the app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27FE4A-CB7C-486E-B455-84640DB72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371850"/>
            <a:ext cx="3333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2A4548"/>
                </a:solidFill>
              </a:defRPr>
            </a:pPr>
            <a:r>
              <a:rPr sz="825" b="0">
                <a:solidFill>
                  <a:srgbClr val="2A4548"/>
                </a:solidFill>
              </a:rPr>
              <a:t>Sign in or explore the prototype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941BFE-4403-410A-834C-3FF02C5C6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34290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B6F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0C6BC2-847E-4638-B5D0-3DB4A2DF2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0"/>
            <a:ext cx="3143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2D24"/>
                </a:solidFill>
              </a:defRPr>
            </a:pPr>
            <a:r>
              <a:rPr sz="1125" b="1">
                <a:solidFill>
                  <a:srgbClr val="002D24"/>
                </a:solidFill>
              </a:rPr>
              <a:t>Sign in or explore the prototype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EEEF9AA-AE4D-4196-AC85-937494AFD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9251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A7275"/>
                </a:solidFill>
              </a:defRPr>
            </a:pPr>
            <a:r>
              <a:rPr sz="825" b="0">
                <a:solidFill>
                  <a:srgbClr val="5A7275"/>
                </a:solidFill>
              </a:rPr>
              <a:t>Creative Curriculum Designer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25F4E27-971A-47E8-AA2B-BA4C5D898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53200"/>
            <a:ext cx="133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9251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A7275"/>
                </a:solidFill>
              </a:defRPr>
            </a:pPr>
            <a:r>
              <a:rPr sz="825" b="0">
                <a:solidFill>
                  <a:srgbClr val="5A7275"/>
                </a:solidFill>
              </a:rPr>
              <a:t>22 / 23</a:t>
            </a:r>
          </a:p>
        </p:txBody>
      </p:sp>
    </p:spTree>
    <p:extLst>
      <p:ext uri="{BB962C8B-B14F-4D97-AF65-F5344CB8AC3E}">
        <p14:creationId xmlns:p14="http://schemas.microsoft.com/office/powerpoint/2010/main" val="402324224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002D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3655F1B-23B2-46A1-831C-F524158FF51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D2FA2D-B5F9-4686-B34F-337BB08B4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-952500"/>
            <a:ext cx="4953000" cy="4953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6FF7E">
              <a:alpha val="9412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F31A61-E128-4B4F-B12B-F682009BF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91250"/>
            <a:ext cx="12192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1A1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D84032-8744-4C8B-AEB4-3DA70FDEB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-952500"/>
            <a:ext cx="4953000" cy="4953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6FF7E">
              <a:alpha val="9412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257F75-9CE3-4D3F-AD0C-4108FACF3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91250"/>
            <a:ext cx="12192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1A1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CA1C47-E67D-4D9E-9D60-20F0690CD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57200"/>
            <a:ext cx="10287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B6FF7E"/>
                </a:solidFill>
              </a:defRPr>
            </a:pPr>
            <a:r>
              <a:rPr sz="975" b="1">
                <a:solidFill>
                  <a:srgbClr val="B6FF7E"/>
                </a:solidFill>
              </a:rPr>
              <a:t>Prototype · partners &amp; funding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74776A-07F7-49FF-A350-3CC93CBD7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047750"/>
            <a:ext cx="1905000" cy="190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28575">
            <a:solidFill>
              <a:srgbClr val="B6FF7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B61929-6566-42F7-ACFD-8F3A4D236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666875"/>
            <a:ext cx="1905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47406"/>
          </a:bodyPr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B6FF7E"/>
                </a:solidFill>
              </a:defRPr>
            </a:pPr>
            <a:r>
              <a:rPr sz="3000" b="1">
                <a:solidFill>
                  <a:srgbClr val="B6FF7E"/>
                </a:solidFill>
              </a:rPr>
              <a:t>Creative Curriculum Designer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29B2EC-FFB9-4C0A-ABA9-452FE0CF0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429000"/>
            <a:ext cx="10287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One living home for creative teaching — connected to the sector.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DA1E87-5BBE-44A0-A30F-F7CB813DA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76750"/>
            <a:ext cx="8763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D8EBE4"/>
                </a:solidFill>
              </a:defRPr>
            </a:pPr>
            <a:r>
              <a:rPr sz="1200" b="0">
                <a:solidFill>
                  <a:srgbClr val="D8EBE4"/>
                </a:solidFill>
              </a:rPr>
              <a:t>A short tour of Partner Hubs, planning, key dates, paid partners, and how schools and arts organisations work together inside CCDesigner.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9D4C00-A0C2-4900-9F52-7ABF3ED63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4953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8F6E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38B241-6D76-4EF3-A230-7E8ED966D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342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68741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002D24"/>
                </a:solidFill>
              </a:defRPr>
            </a:pPr>
            <a:r>
              <a:rPr sz="825" b="1">
                <a:solidFill>
                  <a:srgbClr val="002D24"/>
                </a:solidFill>
              </a:rPr>
              <a:t>CCD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8C83CB-B491-4D28-AF72-FA1A6EAF0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7145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8F6E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4D5611-B8EF-4E63-9F8C-A8511A697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562600"/>
            <a:ext cx="1562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7432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002D24"/>
                </a:solidFill>
              </a:defRPr>
            </a:pPr>
            <a:r>
              <a:rPr sz="825" b="1">
                <a:solidFill>
                  <a:srgbClr val="002D24"/>
                </a:solidFill>
              </a:rPr>
              <a:t>Feature walkthrough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882CE9-5098-4E2B-AEAF-A906A6707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524500"/>
            <a:ext cx="24003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8F6E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F6FA1A-837A-4295-8DD3-6A8F416A5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562600"/>
            <a:ext cx="2247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7432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002D24"/>
                </a:solidFill>
              </a:defRPr>
            </a:pPr>
            <a:r>
              <a:rPr sz="825" b="1">
                <a:solidFill>
                  <a:srgbClr val="002D24"/>
                </a:solidFill>
              </a:rPr>
              <a:t>Creative Curriculum Designer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1DBBD1-22A0-4FA0-8162-E27FC4381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9251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FB5AD"/>
                </a:solidFill>
              </a:defRPr>
            </a:pPr>
            <a:r>
              <a:rPr sz="825" b="0">
                <a:solidFill>
                  <a:srgbClr val="8FB5AD"/>
                </a:solidFill>
              </a:rPr>
              <a:t>Creative Curriculum Designer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8B84C6F-738B-45FD-B366-EB4F5E2C9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53200"/>
            <a:ext cx="133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>
            <a:normAutofit fontScale="79251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FB5AD"/>
                </a:solidFill>
              </a:defRPr>
            </a:pPr>
            <a:r>
              <a:rPr sz="825" b="0">
                <a:solidFill>
                  <a:srgbClr val="8FB5AD"/>
                </a:solidFill>
              </a:rPr>
              <a:t>23 / 23</a:t>
            </a:r>
          </a:p>
        </p:txBody>
      </p:sp>
    </p:spTree>
    <p:extLst>
      <p:ext uri="{BB962C8B-B14F-4D97-AF65-F5344CB8AC3E}">
        <p14:creationId xmlns:p14="http://schemas.microsoft.com/office/powerpoint/2010/main" val="124443293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2026-07-24T14:38:43.3520000Z</dcterms:created>
  <dcterms:modified xsi:type="dcterms:W3CDTF">2026-07-24T14:38:43.3520000Z</dcterms:modified>
</coreProperties>
</file>