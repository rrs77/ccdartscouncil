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61"/>
    <p:sldId id="283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</p:sldIdLst>
  <p:sldSz cx="18288000" cy="10287000"/>
  <p:notesSz cx="6858000" cy="9144000"/>
  <p:embeddedFontLst>
    <p:embeddedFont>
      <p:font typeface="Aptos Bold" charset="1" panose="020B0004020202020204"/>
      <p:regular r:id="rId35"/>
    </p:embeddedFont>
    <p:embeddedFont>
      <p:font typeface="Aptos" charset="1" panose="020B00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notesSlides/notesSlide23.xml" Type="http://schemas.openxmlformats.org/officeDocument/2006/relationships/notesSlide"/><Relationship Id="rId59" Target="notesSlides/notesSlide24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61" Target="slides/slide27.xml" Type="http://schemas.openxmlformats.org/officeDocument/2006/relationships/slide"/><Relationship Id="rId62" Target="slides/slide28.xml" Type="http://schemas.openxmlformats.org/officeDocument/2006/relationships/slide"/><Relationship Id="rId63" Target="slides/slide29.xml" Type="http://schemas.openxmlformats.org/officeDocument/2006/relationships/slide"/><Relationship Id="rId64" Target="slides/slide30.xml" Type="http://schemas.openxmlformats.org/officeDocument/2006/relationships/slide"/><Relationship Id="rId65" Target="slides/slide31.xml" Type="http://schemas.openxmlformats.org/officeDocument/2006/relationships/slide"/><Relationship Id="rId66" Target="slides/slide32.xml" Type="http://schemas.openxmlformats.org/officeDocument/2006/relationships/slide"/><Relationship Id="rId67" Target="slides/slide33.xml" Type="http://schemas.openxmlformats.org/officeDocument/2006/relationships/slide"/><Relationship Id="rId68" Target="slides/slide34.xml" Type="http://schemas.openxmlformats.org/officeDocument/2006/relationships/slide"/><Relationship Id="rId69" Target="slides/slide35.xml" Type="http://schemas.openxmlformats.org/officeDocument/2006/relationships/slide"/><Relationship Id="rId70" Target="slides/slide36.xml" Type="http://schemas.openxmlformats.org/officeDocument/2006/relationships/slide"/><Relationship Id="rId71" Target="slides/slide37.xml" Type="http://schemas.openxmlformats.org/officeDocument/2006/relationships/slide"/><Relationship Id="rId72" Target="slides/slide38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7615" y="1390804"/>
            <a:ext cx="10732770" cy="3373601"/>
            <a:chOff x="0" y="0"/>
            <a:chExt cx="10607040" cy="3334080"/>
          </a:xfrm>
        </p:grpSpPr>
        <p:sp>
          <p:nvSpPr>
            <p:cNvPr name="Freeform 3" id="3" descr="/mnt/data/ccdeck_assets/ccdesigner_logo_transparent.png"/>
            <p:cNvSpPr/>
            <p:nvPr/>
          </p:nvSpPr>
          <p:spPr>
            <a:xfrm flipH="false" flipV="false" rot="0">
              <a:off x="0" y="0"/>
              <a:ext cx="10607040" cy="3334131"/>
            </a:xfrm>
            <a:custGeom>
              <a:avLst/>
              <a:gdLst/>
              <a:ahLst/>
              <a:cxnLst/>
              <a:rect r="r" b="b" t="t" l="l"/>
              <a:pathLst>
                <a:path h="3334131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3334131"/>
                  </a:lnTo>
                  <a:lnTo>
                    <a:pt x="0" y="3334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43050" y="5554980"/>
            <a:ext cx="15224760" cy="112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Connecting outstanding arts practice</a:t>
            </a:r>
          </a:p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with everyday classroom planning.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7360" y="8682228"/>
            <a:ext cx="1481328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A strategic information pack for teachers, Music Hubs, arts organisations, creative practitioners, editors, funders and development partners.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4915" y="9399651"/>
            <a:ext cx="15861030" cy="403098"/>
            <a:chOff x="0" y="0"/>
            <a:chExt cx="21148040" cy="537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48039" cy="537464"/>
            </a:xfrm>
            <a:custGeom>
              <a:avLst/>
              <a:gdLst/>
              <a:ahLst/>
              <a:cxnLst/>
              <a:rect r="r" b="b" t="t" l="l"/>
              <a:pathLst>
                <a:path h="537464" w="21148039">
                  <a:moveTo>
                    <a:pt x="0" y="0"/>
                  </a:moveTo>
                  <a:lnTo>
                    <a:pt x="21148039" y="0"/>
                  </a:lnTo>
                  <a:lnTo>
                    <a:pt x="21148039" y="537464"/>
                  </a:lnTo>
                  <a:lnTo>
                    <a:pt x="0" y="537464"/>
                  </a:lnTo>
                  <a:close/>
                </a:path>
              </a:pathLst>
            </a:custGeom>
            <a:solidFill>
              <a:srgbClr val="162A4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4440" y="9491472"/>
            <a:ext cx="15841980" cy="16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FREE CORE PLATFORM  •  REUSABLE PLANNING  •  CONNECTED PRACTICE  •  MEASURABLE REACH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12" id="12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"/>
              </a:stretch>
            </a:blipFill>
          </p:spPr>
        </p:sp>
      </p:grpSp>
      <p:sp>
        <p:nvSpPr>
          <p:cNvPr name="Status line" id="20"/>
          <p:cNvSpPr txBox="true"/>
          <p:nvPr/>
        </p:nvSpPr>
        <p:spPr>
          <a:xfrm rot="0">
            <a:off x="2743200" y="7420000"/>
            <a:ext cx="12801600" cy="457200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>
            <a:noFill/>
          </a:ln>
        </p:spPr>
        <p:txBody>
          <a:bodyPr anchor="ctr" rtlCol="false" tIns="0" lIns="120000" bIns="0" rIns="120000"/>
          <a:lstStyle/>
          <a:p>
            <a:pPr algn="ctr"/>
            <a:r>
              <a:rPr lang="en-US" sz="1600" b="1">
                <a:solidFill>
                  <a:srgbClr val="248078"/>
                </a:solidFill>
                <a:latin typeface="Aptos"/>
                <a:ea typeface="Aptos"/>
                <a:cs typeface="Aptos"/>
                <a:sym typeface="Aptos"/>
              </a:rPr>
              <a:t>Working prototype   ·   National ambition   ·   Staged, evidence-led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19">
            <a:off x="746760" y="379286"/>
            <a:ext cx="16817350" cy="0"/>
          </a:xfrm>
          <a:prstGeom prst="line">
            <a:avLst/>
          </a:prstGeom>
          <a:ln cap="rnd" w="9525">
            <a:solidFill>
              <a:srgbClr val="DDE7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806940" y="164592"/>
            <a:ext cx="7749540" cy="246888"/>
            <a:chOff x="0" y="0"/>
            <a:chExt cx="1033272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32720" cy="329184"/>
            </a:xfrm>
            <a:custGeom>
              <a:avLst/>
              <a:gdLst/>
              <a:ahLst/>
              <a:cxnLst/>
              <a:rect r="r" b="b" t="t" l="l"/>
              <a:pathLst>
                <a:path h="3291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613" r="0" b="-56161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3327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4"/>
                </a:lnSpc>
              </a:pPr>
              <a:r>
                <a:rPr lang="en-US" b="true" sz="1170" u="sng">
                  <a:solidFill>
                    <a:srgbClr val="6B9BA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CCDESIGNER</a:t>
              </a:r>
              <a:r>
                <a:rPr lang="en-US" sz="1170" b="true">
                  <a:solidFill>
                    <a:srgbClr val="87A4A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|  PROJECT INFORMATION PACK  |  </a:t>
              </a:r>
              <a:r>
                <a:rPr lang="en-US" b="true" sz="1170" u="sng">
                  <a:solidFill>
                    <a:srgbClr val="87A4A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SEPTEMBER 2026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05256" y="850392"/>
            <a:ext cx="192024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C7F78"/>
                </a:solidFill>
                <a:latin typeface="Aptos Bold"/>
                <a:ea typeface="Aptos Bold"/>
                <a:cs typeface="Aptos Bold"/>
                <a:sym typeface="Aptos Bold"/>
              </a:rPr>
              <a:t>THE FACTS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824" y="1266063"/>
            <a:ext cx="761238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Why this matters now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256" y="2263140"/>
            <a:ext cx="7475220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The evidence behind “The Facts” shows a long-term contraction in parts of arts education alongside persistent inequalities of access. The latest picture is mixed rather than uniformly negative — which makes targeted support, strong teaching and better connection especially important.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32354" y="1031938"/>
            <a:ext cx="2846451" cy="1954911"/>
            <a:chOff x="0" y="0"/>
            <a:chExt cx="3795268" cy="26065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EFF8F6"/>
            </a:solidFill>
            <a:ln w="20955" cap="sq">
              <a:solidFill>
                <a:srgbClr val="2C7F7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176004" y="1285113"/>
            <a:ext cx="2400300" cy="48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41.7%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76004" y="1933956"/>
            <a:ext cx="241401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fall in arts GCSE entries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76004" y="2390775"/>
            <a:ext cx="2414016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4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2009/10 to 2024/25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57850" y="1031938"/>
            <a:ext cx="2846451" cy="1954911"/>
            <a:chOff x="0" y="0"/>
            <a:chExt cx="3795268" cy="2606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FAEBE8"/>
            </a:solidFill>
            <a:ln w="20955" cap="sq">
              <a:solidFill>
                <a:srgbClr val="D97365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001500" y="1285113"/>
            <a:ext cx="2400300" cy="48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D97365"/>
                </a:solidFill>
                <a:latin typeface="Aptos Bold"/>
                <a:ea typeface="Aptos Bold"/>
                <a:cs typeface="Aptos Bold"/>
                <a:sym typeface="Aptos Bold"/>
              </a:rPr>
              <a:t>25%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1500" y="1933956"/>
            <a:ext cx="241401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fall in arts A-level entries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0" y="2390775"/>
            <a:ext cx="2414016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4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2011/12 to 2024/25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583346" y="1031938"/>
            <a:ext cx="2846451" cy="1954911"/>
            <a:chOff x="0" y="0"/>
            <a:chExt cx="3795268" cy="26065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FBF6E7"/>
            </a:solidFill>
            <a:ln w="20955" cap="sq">
              <a:solidFill>
                <a:srgbClr val="E2B45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826996" y="1285113"/>
            <a:ext cx="2400300" cy="48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E2B45B"/>
                </a:solidFill>
                <a:latin typeface="Aptos Bold"/>
                <a:ea typeface="Aptos Bold"/>
                <a:cs typeface="Aptos Bold"/>
                <a:sym typeface="Aptos Bold"/>
              </a:rPr>
              <a:t>14%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26996" y="1933956"/>
            <a:ext cx="241401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fewer arts teachers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26996" y="2390775"/>
            <a:ext cx="2414016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4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than in 2010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32354" y="2965894"/>
            <a:ext cx="2846451" cy="1954911"/>
            <a:chOff x="0" y="0"/>
            <a:chExt cx="3795268" cy="26065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F8FAFB"/>
            </a:solidFill>
            <a:ln w="20955" cap="sq">
              <a:solidFill>
                <a:srgbClr val="111B31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176004" y="3209544"/>
            <a:ext cx="2400300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54% vs 21%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76004" y="3867912"/>
            <a:ext cx="241401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schools with no GCSE Music entries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76004" y="4324731"/>
            <a:ext cx="2414016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4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most vs least deprived fifth of local authorities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757850" y="2965894"/>
            <a:ext cx="2846451" cy="1954911"/>
            <a:chOff x="0" y="0"/>
            <a:chExt cx="3795268" cy="26065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EFF8F6"/>
            </a:solidFill>
            <a:ln w="20955" cap="sq">
              <a:solidFill>
                <a:srgbClr val="2C7F78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001500" y="3219069"/>
            <a:ext cx="2400300" cy="48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~23%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1500" y="3867912"/>
            <a:ext cx="2414016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expressive-arts teachers without a subject-relevant post-A-level qualification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01500" y="4596384"/>
            <a:ext cx="241401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2"/>
              </a:lnSpc>
            </a:pPr>
            <a:r>
              <a:rPr lang="en-US" sz="1335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2026 evidence synthesis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583346" y="2965894"/>
            <a:ext cx="2846451" cy="1954911"/>
            <a:chOff x="0" y="0"/>
            <a:chExt cx="3795268" cy="26065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95268" cy="2606548"/>
            </a:xfrm>
            <a:custGeom>
              <a:avLst/>
              <a:gdLst/>
              <a:ahLst/>
              <a:cxnLst/>
              <a:rect r="r" b="b" t="t" l="l"/>
              <a:pathLst>
                <a:path h="2606548" w="3795268">
                  <a:moveTo>
                    <a:pt x="0" y="0"/>
                  </a:moveTo>
                  <a:lnTo>
                    <a:pt x="3795268" y="0"/>
                  </a:lnTo>
                  <a:lnTo>
                    <a:pt x="3795268" y="2606548"/>
                  </a:lnTo>
                  <a:lnTo>
                    <a:pt x="0" y="2606548"/>
                  </a:lnTo>
                  <a:close/>
                </a:path>
              </a:pathLst>
            </a:custGeom>
            <a:solidFill>
              <a:srgbClr val="FAEBE8"/>
            </a:solidFill>
            <a:ln w="20955" cap="sq">
              <a:solidFill>
                <a:srgbClr val="D97365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4826996" y="3219069"/>
            <a:ext cx="2400300" cy="48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D97365"/>
                </a:solidFill>
                <a:latin typeface="Aptos Bold"/>
                <a:ea typeface="Aptos Bold"/>
                <a:cs typeface="Aptos Bold"/>
                <a:sym typeface="Aptos Bold"/>
              </a:rPr>
              <a:t>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26996" y="3867912"/>
            <a:ext cx="241401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the latest entry picture is mixed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26996" y="4324731"/>
            <a:ext cx="2414016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4">
                <a:solidFill>
                  <a:srgbClr val="566276"/>
                </a:solidFill>
                <a:latin typeface="Aptos"/>
                <a:ea typeface="Aptos"/>
                <a:cs typeface="Aptos"/>
                <a:sym typeface="Aptos"/>
              </a:rPr>
              <a:t>GCSE Art &amp; Design +2.7%; Drama -0.9%; Music -1.3%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77824" y="5390388"/>
            <a:ext cx="96012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What the evidence suggests for CCDesigner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3836" y="5925312"/>
            <a:ext cx="16541496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•  </a:t>
            </a:r>
            <a:r>
              <a:rPr lang="en-US" sz="163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Support the generalist as well as the specialist: reusable planning can help teachers without pretending a digital platform replaces subject expertise.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3836" y="6446520"/>
            <a:ext cx="16541496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•  </a:t>
            </a:r>
            <a:r>
              <a:rPr lang="en-US" sz="163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Make progression visible from early experiences through specialist study, while allowing different routes through creative learning.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3836" y="6912864"/>
            <a:ext cx="16541496" cy="46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•  </a:t>
            </a:r>
            <a:r>
              <a:rPr lang="en-US" sz="163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Prioritise cold spots: free national access cannot remove structural poverty, but it can reduce avoidable gaps in information, planning support and connection.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3836" y="7461504"/>
            <a:ext cx="16541496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•  </a:t>
            </a:r>
            <a:r>
              <a:rPr lang="en-US" sz="163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Keep successful practice cumulative: activities should not disappear into old folders when staff change schools or projects end.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3836" y="7941564"/>
            <a:ext cx="16541496" cy="46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 b="true">
                <a:solidFill>
                  <a:srgbClr val="3F948F"/>
                </a:solidFill>
                <a:latin typeface="Aptos Bold"/>
                <a:ea typeface="Aptos Bold"/>
                <a:cs typeface="Aptos Bold"/>
                <a:sym typeface="Aptos Bold"/>
              </a:rPr>
              <a:t>•  </a:t>
            </a:r>
            <a:r>
              <a:rPr lang="en-US" sz="163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Measure partnership use more meaningfully than downloads alone: discovering, saving and reusing a resource tells a richer story about educational reach.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31939" y="8836343"/>
            <a:ext cx="16425291" cy="1090803"/>
            <a:chOff x="0" y="0"/>
            <a:chExt cx="21900388" cy="14544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00387" cy="1454404"/>
            </a:xfrm>
            <a:custGeom>
              <a:avLst/>
              <a:gdLst/>
              <a:ahLst/>
              <a:cxnLst/>
              <a:rect r="r" b="b" t="t" l="l"/>
              <a:pathLst>
                <a:path h="1454404" w="21900387">
                  <a:moveTo>
                    <a:pt x="0" y="0"/>
                  </a:moveTo>
                  <a:lnTo>
                    <a:pt x="21900387" y="0"/>
                  </a:lnTo>
                  <a:lnTo>
                    <a:pt x="21900387" y="1454404"/>
                  </a:lnTo>
                  <a:lnTo>
                    <a:pt x="0" y="1454404"/>
                  </a:lnTo>
                  <a:close/>
                </a:path>
              </a:pathLst>
            </a:custGeom>
            <a:solidFill>
              <a:srgbClr val="FBFDFD"/>
            </a:solidFill>
            <a:ln w="20955" cap="sq">
              <a:solidFill>
                <a:srgbClr val="2C7F78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330452" y="9066276"/>
            <a:ext cx="219456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11B31"/>
                </a:solidFill>
                <a:latin typeface="Aptos Bold"/>
                <a:ea typeface="Aptos Bold"/>
                <a:cs typeface="Aptos Bold"/>
                <a:sym typeface="Aptos Bold"/>
              </a:rPr>
              <a:t>Evidence note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30452" y="9409176"/>
            <a:ext cx="15814548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85">
                <a:solidFill>
                  <a:srgbClr val="111B31"/>
                </a:solidFill>
                <a:latin typeface="Aptos"/>
                <a:ea typeface="Aptos"/>
                <a:cs typeface="Aptos"/>
                <a:sym typeface="Aptos"/>
              </a:rPr>
              <a:t>GCSE and A-level totals now follow the Cultural Learning Alliance Report Card 2026. The ~23% qualification figure remains from the August 2026 evidence overview. These figures describe the context, not proof that CCDesigner will change participation.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EXECUTIVE SUMMARY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CCDesigner in one 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connective layer that turns resources, professional learning and teacher expertise into usable curriculum planning.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8418" y="2388870"/>
            <a:ext cx="7635240" cy="1188720"/>
            <a:chOff x="0" y="0"/>
            <a:chExt cx="1018032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80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18032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10031095" y="0"/>
                  </a:lnTo>
                  <a:cubicBezTo>
                    <a:pt x="10113518" y="0"/>
                    <a:pt x="10180320" y="66802"/>
                    <a:pt x="10180320" y="149225"/>
                  </a:cubicBezTo>
                  <a:lnTo>
                    <a:pt x="10180320" y="1435735"/>
                  </a:lnTo>
                  <a:cubicBezTo>
                    <a:pt x="10180320" y="1518158"/>
                    <a:pt x="10113518" y="1584960"/>
                    <a:pt x="10031095" y="1584960"/>
                  </a:cubicBezTo>
                  <a:lnTo>
                    <a:pt x="149225" y="1584960"/>
                  </a:lnTo>
                  <a:cubicBezTo>
                    <a:pt x="66802" y="1584960"/>
                    <a:pt x="0" y="1518158"/>
                    <a:pt x="0" y="1435735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FF6F5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60323" y="2390775"/>
            <a:ext cx="101346" cy="1184910"/>
            <a:chOff x="0" y="0"/>
            <a:chExt cx="135128" cy="1579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128" cy="1579880"/>
            </a:xfrm>
            <a:custGeom>
              <a:avLst/>
              <a:gdLst/>
              <a:ahLst/>
              <a:cxnLst/>
              <a:rect r="r" b="b" t="t" l="l"/>
              <a:pathLst>
                <a:path h="15798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F6F5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71600" y="2619756"/>
            <a:ext cx="7063740" cy="37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“CCDesigner starts where most resource websites finish.”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" y="3086100"/>
            <a:ext cx="706374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Core proposition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0323" y="3899535"/>
            <a:ext cx="5093970" cy="2007870"/>
            <a:chOff x="0" y="0"/>
            <a:chExt cx="6791960" cy="2677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9196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919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259" y="0"/>
                  </a:lnTo>
                  <a:cubicBezTo>
                    <a:pt x="6725793" y="0"/>
                    <a:pt x="6791960" y="66167"/>
                    <a:pt x="6791960" y="147701"/>
                  </a:cubicBezTo>
                  <a:lnTo>
                    <a:pt x="6791960" y="2529459"/>
                  </a:lnTo>
                  <a:cubicBezTo>
                    <a:pt x="6791960" y="2610993"/>
                    <a:pt x="6725793" y="2677160"/>
                    <a:pt x="664425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16736" y="407784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For teachers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6736" y="4576953"/>
            <a:ext cx="458114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Save and reuse classroom activities; build lessons, units and curricula; select pre-written objectives or write your own; mix trusted resources with personal practice; share planning with colleagues.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74155" y="3899535"/>
            <a:ext cx="5093970" cy="2007870"/>
            <a:chOff x="0" y="0"/>
            <a:chExt cx="6791960" cy="2677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9196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919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259" y="0"/>
                  </a:lnTo>
                  <a:cubicBezTo>
                    <a:pt x="6725793" y="0"/>
                    <a:pt x="6791960" y="66167"/>
                    <a:pt x="6791960" y="147701"/>
                  </a:cubicBezTo>
                  <a:lnTo>
                    <a:pt x="6791960" y="2529459"/>
                  </a:lnTo>
                  <a:cubicBezTo>
                    <a:pt x="6791960" y="2610993"/>
                    <a:pt x="6725793" y="2677160"/>
                    <a:pt x="664425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30568" y="407784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For organisations &amp; hubs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0568" y="4576953"/>
            <a:ext cx="458114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Publish free, restricted or paid resources through a branded hub; connect them to CPD, events and planning; see where reach is thin, and share practice between regions.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87987" y="3899535"/>
            <a:ext cx="5093970" cy="2007870"/>
            <a:chOff x="0" y="0"/>
            <a:chExt cx="6791960" cy="2677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919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259" y="0"/>
                  </a:lnTo>
                  <a:cubicBezTo>
                    <a:pt x="6725793" y="0"/>
                    <a:pt x="6791960" y="66167"/>
                    <a:pt x="6791960" y="147701"/>
                  </a:cubicBezTo>
                  <a:lnTo>
                    <a:pt x="6791960" y="2529459"/>
                  </a:lnTo>
                  <a:cubicBezTo>
                    <a:pt x="6791960" y="2610993"/>
                    <a:pt x="6725793" y="2677160"/>
                    <a:pt x="664425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344400" y="407784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For funders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4400" y="4576953"/>
            <a:ext cx="4581144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Understand reach, identify cold spots and build a stronger evidence trail around continuing educational use of funded work.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93495" y="7122795"/>
            <a:ext cx="2533650" cy="1088898"/>
            <a:chOff x="0" y="0"/>
            <a:chExt cx="3378200" cy="14518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371600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DISCOVER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1600" y="7708392"/>
            <a:ext cx="237744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find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917823" y="7122795"/>
            <a:ext cx="2533650" cy="1088898"/>
            <a:chOff x="0" y="0"/>
            <a:chExt cx="3378200" cy="14518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3995928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SAVE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95928" y="7708392"/>
            <a:ext cx="237744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library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542151" y="7122795"/>
            <a:ext cx="2533650" cy="1088898"/>
            <a:chOff x="0" y="0"/>
            <a:chExt cx="3378200" cy="14518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620256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ADAPT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20256" y="7708392"/>
            <a:ext cx="237744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teacher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66479" y="7122795"/>
            <a:ext cx="2533650" cy="1088898"/>
            <a:chOff x="0" y="0"/>
            <a:chExt cx="3378200" cy="14518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244584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PLAN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44584" y="7708392"/>
            <a:ext cx="237744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lesson/unit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790807" y="7122795"/>
            <a:ext cx="2533650" cy="1088898"/>
            <a:chOff x="0" y="0"/>
            <a:chExt cx="3378200" cy="14518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1868912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TEACH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868912" y="7708392"/>
            <a:ext cx="237744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classroom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4415135" y="7122795"/>
            <a:ext cx="2533650" cy="1088898"/>
            <a:chOff x="0" y="0"/>
            <a:chExt cx="3378200" cy="14518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78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33782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229356" y="0"/>
                  </a:lnTo>
                  <a:cubicBezTo>
                    <a:pt x="3311525" y="0"/>
                    <a:pt x="3378200" y="66675"/>
                    <a:pt x="3378200" y="148844"/>
                  </a:cubicBezTo>
                  <a:lnTo>
                    <a:pt x="3378200" y="1303020"/>
                  </a:lnTo>
                  <a:cubicBezTo>
                    <a:pt x="3378200" y="1385316"/>
                    <a:pt x="3311525" y="1451864"/>
                    <a:pt x="3229356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4493240" y="7338060"/>
            <a:ext cx="237744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REUSE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493240" y="7708392"/>
            <a:ext cx="237744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7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then share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1600" y="8476488"/>
            <a:ext cx="1536192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Intended result: a living national professional library where creative teaching knowledge can be found, adapted, retained, discussed and reused across music, drama, dance, art, photography, film and related curriculum areas.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WHY NOW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 Facts: arts education needs practical infrastructure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evidence picture is mixed rather than uniformly negative — which makes targeted support, connection and high-quality teaching even more important.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Long-term contraction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Arts GCSE entries are 41.7% below 2009/10, and A-level entries are 25% below 2011/12. Teaching hours fell 21%, with 14% fewer arts teachers than in 2010.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Unequal access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54% of schools in the most deprived fifth had no GCSE Music entries, against 21% in the least deprived. For Drama the gap is 59% against 17%.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Teacher confidence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About 23% of expressive-arts teachers lack a subject-relevant post-A-level qualification. Non-specialists need trustworthy planning support, not another folder of files.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Support the generalist as well as the specialist: reusable planning can help without pretending that a digital platform replaces subject expertise.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Make progression visible from early experiences through specialist study while allowing different routes through creative learning.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Prioritise cold spots: free national access cannot remove structural poverty, but it can reduce avoidable gaps in information, planning support and connection.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Keep successful practice cumulative so activities do not disappear into old folders when staff change schools or projects end.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Measure partnership use more meaningfully than downloads alone: discovering, saving and reusing a resource tells a richer story about educational reach.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CLA Report Card 2026. Teaching-hour figures exclude Dance, which is not consistently reported. The latest exam year is mixed, so the response should stay targeted rather than become one national claim.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NATIONAL CONTEXT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Fit with the national direction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Independent of government, the National Centre and the Music Hub programme — aligned with live policy, not an implied partnership.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4751070" cy="2762250"/>
            <a:chOff x="0" y="0"/>
            <a:chExt cx="6334760" cy="368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476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334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187440" y="0"/>
                  </a:lnTo>
                  <a:cubicBezTo>
                    <a:pt x="6268847" y="0"/>
                    <a:pt x="6334760" y="65913"/>
                    <a:pt x="6334760" y="147320"/>
                  </a:cubicBezTo>
                  <a:lnTo>
                    <a:pt x="6334760" y="3535680"/>
                  </a:lnTo>
                  <a:cubicBezTo>
                    <a:pt x="6334760" y="3617087"/>
                    <a:pt x="6268847" y="3683000"/>
                    <a:pt x="618744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2382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National Plan for Music Education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238244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2022 plan, The power of music to change lives, sets a vision to 2030: children and young people learn, create and progress through schools, Music Hubs, organisations and industry. Partnership, strong school music, Hub support, and access for every child.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94095" y="2322195"/>
            <a:ext cx="4751070" cy="2762250"/>
            <a:chOff x="0" y="0"/>
            <a:chExt cx="6334760" cy="368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476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334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187440" y="0"/>
                  </a:lnTo>
                  <a:cubicBezTo>
                    <a:pt x="6268847" y="0"/>
                    <a:pt x="6334760" y="65913"/>
                    <a:pt x="6334760" y="147320"/>
                  </a:cubicBezTo>
                  <a:lnTo>
                    <a:pt x="6334760" y="3535680"/>
                  </a:lnTo>
                  <a:cubicBezTo>
                    <a:pt x="6334760" y="3617087"/>
                    <a:pt x="6268847" y="3683000"/>
                    <a:pt x="618744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350508" y="2500503"/>
            <a:ext cx="42382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Turn It Up / National Centre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50508" y="2990088"/>
            <a:ext cx="4238244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July 2026’s Turn It Up plan and the new National Centre stress equitable access, high-quality teaching, partnerships, CPD and creative careers. Launch from September 2026, up to £13m over three years, a new online CPD offer, and Music Hub oversight from August 2027.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100435" y="2322195"/>
            <a:ext cx="5574030" cy="2762250"/>
            <a:chOff x="0" y="0"/>
            <a:chExt cx="7432040" cy="368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2040" cy="3683000"/>
            </a:xfrm>
            <a:custGeom>
              <a:avLst/>
              <a:gdLst/>
              <a:ahLst/>
              <a:cxnLst/>
              <a:rect r="r" b="b" t="t" l="l"/>
              <a:pathLst>
                <a:path h="3683000" w="743204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284720" y="0"/>
                  </a:lnTo>
                  <a:cubicBezTo>
                    <a:pt x="7366127" y="0"/>
                    <a:pt x="7432040" y="65913"/>
                    <a:pt x="7432040" y="147320"/>
                  </a:cubicBezTo>
                  <a:lnTo>
                    <a:pt x="7432040" y="3535680"/>
                  </a:lnTo>
                  <a:cubicBezTo>
                    <a:pt x="7432040" y="3617087"/>
                    <a:pt x="7366127" y="3683000"/>
                    <a:pt x="728472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356848" y="2500503"/>
            <a:ext cx="506120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Curriculum reform timing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56848" y="2990088"/>
            <a:ext cx="506120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DfE procurement material anticipates a new national curriculum from September 2028 and revised GCSEs from September 2029. A modular planning system can adapt when objectives change. A fixed scheme cannot.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62075" y="5751195"/>
            <a:ext cx="15243810" cy="1966722"/>
            <a:chOff x="0" y="0"/>
            <a:chExt cx="20325080" cy="2622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5080" cy="2622296"/>
            </a:xfrm>
            <a:custGeom>
              <a:avLst/>
              <a:gdLst/>
              <a:ahLst/>
              <a:cxnLst/>
              <a:rect r="r" b="b" t="t" l="l"/>
              <a:pathLst>
                <a:path h="2622296" w="203250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177379" y="0"/>
                  </a:lnTo>
                  <a:cubicBezTo>
                    <a:pt x="20258914" y="0"/>
                    <a:pt x="20325080" y="66167"/>
                    <a:pt x="20325080" y="147701"/>
                  </a:cubicBezTo>
                  <a:lnTo>
                    <a:pt x="20325080" y="2474595"/>
                  </a:lnTo>
                  <a:cubicBezTo>
                    <a:pt x="20325080" y="2556129"/>
                    <a:pt x="20258914" y="2622296"/>
                    <a:pt x="2017737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14500" y="6007608"/>
            <a:ext cx="145389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Potential contribution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500" y="6515100"/>
            <a:ext cx="142646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Hub and organisation resources move into teacher planning, not a signposting page.</a:t>
            </a:r>
          </a:p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CPD activities stay in the library for later schemes of work.</a:t>
            </a:r>
          </a:p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Aggregated use by region, phase or Hub area shows where support is thin.</a:t>
            </a:r>
          </a:p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86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 shared layer lets partners combine strong provision instead of rebuilding it.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1600" y="8562975"/>
            <a:ext cx="15361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Context, not endorsement. Sources: National Plan for Music Education (2022); Turn It Up (13 July 2026); National Centre procurement (2026).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 problem is fragmentation, not a shortage of creative ideas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Excellent practice exists, but it is often difficult to find, retain, adapt and track.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185035"/>
            <a:ext cx="7219950" cy="869442"/>
            <a:chOff x="0" y="0"/>
            <a:chExt cx="9626600" cy="1159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6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62660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476994" y="0"/>
                  </a:lnTo>
                  <a:cubicBezTo>
                    <a:pt x="9559671" y="0"/>
                    <a:pt x="9626600" y="66929"/>
                    <a:pt x="9626600" y="149606"/>
                  </a:cubicBezTo>
                  <a:lnTo>
                    <a:pt x="9626600" y="1009650"/>
                  </a:lnTo>
                  <a:cubicBezTo>
                    <a:pt x="9626600" y="1092200"/>
                    <a:pt x="9559671" y="1159256"/>
                    <a:pt x="947699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372868"/>
            <a:ext cx="670712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71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Teacher practice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843403"/>
            <a:ext cx="6707124" cy="10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successful activities often live in old plans, folders or memory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7755" y="3309747"/>
            <a:ext cx="7219950" cy="869442"/>
            <a:chOff x="0" y="0"/>
            <a:chExt cx="9626600" cy="1159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26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62660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476994" y="0"/>
                  </a:lnTo>
                  <a:cubicBezTo>
                    <a:pt x="9559671" y="0"/>
                    <a:pt x="9626600" y="66929"/>
                    <a:pt x="9626600" y="149606"/>
                  </a:cubicBezTo>
                  <a:lnTo>
                    <a:pt x="9626600" y="1009650"/>
                  </a:lnTo>
                  <a:cubicBezTo>
                    <a:pt x="9626600" y="1092200"/>
                    <a:pt x="9559671" y="1159256"/>
                    <a:pt x="947699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44168" y="3497580"/>
            <a:ext cx="670712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71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Music Hub provision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168" y="3968115"/>
            <a:ext cx="6707124" cy="10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resources and CPD may be local but not easily reusable elsewhere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7755" y="4434459"/>
            <a:ext cx="7219950" cy="869442"/>
            <a:chOff x="0" y="0"/>
            <a:chExt cx="9626600" cy="11592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26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62660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476994" y="0"/>
                  </a:lnTo>
                  <a:cubicBezTo>
                    <a:pt x="9559671" y="0"/>
                    <a:pt x="9626600" y="66929"/>
                    <a:pt x="9626600" y="149606"/>
                  </a:cubicBezTo>
                  <a:lnTo>
                    <a:pt x="9626600" y="1009650"/>
                  </a:lnTo>
                  <a:cubicBezTo>
                    <a:pt x="9626600" y="1092200"/>
                    <a:pt x="9559671" y="1159256"/>
                    <a:pt x="947699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44168" y="4622292"/>
            <a:ext cx="670712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71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Arts organisations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168" y="5092827"/>
            <a:ext cx="6707124" cy="10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strong project work can become hard to trace after the project ends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7755" y="5559171"/>
            <a:ext cx="7219950" cy="869442"/>
            <a:chOff x="0" y="0"/>
            <a:chExt cx="9626600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26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62660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476994" y="0"/>
                  </a:lnTo>
                  <a:cubicBezTo>
                    <a:pt x="9559671" y="0"/>
                    <a:pt x="9626600" y="66929"/>
                    <a:pt x="9626600" y="149606"/>
                  </a:cubicBezTo>
                  <a:lnTo>
                    <a:pt x="9626600" y="1009650"/>
                  </a:lnTo>
                  <a:cubicBezTo>
                    <a:pt x="9626600" y="1092200"/>
                    <a:pt x="9559671" y="1159256"/>
                    <a:pt x="947699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44168" y="5747004"/>
            <a:ext cx="670712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71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Creators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4168" y="6217539"/>
            <a:ext cx="6707124" cy="10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independent resources may have limited route to schools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7755" y="6683883"/>
            <a:ext cx="7219950" cy="869442"/>
            <a:chOff x="0" y="0"/>
            <a:chExt cx="9626600" cy="1159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26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62660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476994" y="0"/>
                  </a:lnTo>
                  <a:cubicBezTo>
                    <a:pt x="9559671" y="0"/>
                    <a:pt x="9626600" y="66929"/>
                    <a:pt x="9626600" y="149606"/>
                  </a:cubicBezTo>
                  <a:lnTo>
                    <a:pt x="9626600" y="1009650"/>
                  </a:lnTo>
                  <a:cubicBezTo>
                    <a:pt x="9626600" y="1092200"/>
                    <a:pt x="9559671" y="1159256"/>
                    <a:pt x="947699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44168" y="6871716"/>
            <a:ext cx="670712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71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Schools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4168" y="7342251"/>
            <a:ext cx="6707124" cy="10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non-specialists need support, but have very little planning time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974455" y="2253615"/>
            <a:ext cx="7974330" cy="5368290"/>
            <a:chOff x="0" y="0"/>
            <a:chExt cx="10632440" cy="7157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324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63244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485628" y="0"/>
                  </a:lnTo>
                  <a:cubicBezTo>
                    <a:pt x="10566654" y="0"/>
                    <a:pt x="10632440" y="65786"/>
                    <a:pt x="10632440" y="146812"/>
                  </a:cubicBezTo>
                  <a:lnTo>
                    <a:pt x="10632440" y="7010908"/>
                  </a:lnTo>
                  <a:cubicBezTo>
                    <a:pt x="10632440" y="7091934"/>
                    <a:pt x="10566654" y="7157720"/>
                    <a:pt x="1048562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395460" y="2674620"/>
            <a:ext cx="71323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Current journey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54515" y="3556635"/>
            <a:ext cx="1302868" cy="1006602"/>
            <a:chOff x="0" y="0"/>
            <a:chExt cx="1737157" cy="13421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3710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737106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588008" y="0"/>
                  </a:lnTo>
                  <a:cubicBezTo>
                    <a:pt x="1670304" y="0"/>
                    <a:pt x="1737106" y="66802"/>
                    <a:pt x="1737106" y="149098"/>
                  </a:cubicBezTo>
                  <a:lnTo>
                    <a:pt x="1737106" y="1193038"/>
                  </a:lnTo>
                  <a:cubicBezTo>
                    <a:pt x="1737106" y="1275334"/>
                    <a:pt x="1670304" y="1342136"/>
                    <a:pt x="1588008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532620" y="3771900"/>
            <a:ext cx="1146658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CPD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32620" y="4142232"/>
            <a:ext cx="1146658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day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48061" y="3556635"/>
            <a:ext cx="1302868" cy="1006602"/>
            <a:chOff x="0" y="0"/>
            <a:chExt cx="1737157" cy="1342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3710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737106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588008" y="0"/>
                  </a:lnTo>
                  <a:cubicBezTo>
                    <a:pt x="1670304" y="0"/>
                    <a:pt x="1737106" y="66802"/>
                    <a:pt x="1737106" y="149098"/>
                  </a:cubicBezTo>
                  <a:lnTo>
                    <a:pt x="1737106" y="1193038"/>
                  </a:lnTo>
                  <a:cubicBezTo>
                    <a:pt x="1737106" y="1275334"/>
                    <a:pt x="1670304" y="1342136"/>
                    <a:pt x="1588008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0926166" y="3771900"/>
            <a:ext cx="1146658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PDF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26166" y="4142232"/>
            <a:ext cx="1146658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folder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241606" y="3556635"/>
            <a:ext cx="1302868" cy="1006602"/>
            <a:chOff x="0" y="0"/>
            <a:chExt cx="1737157" cy="13421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3710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737106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588008" y="0"/>
                  </a:lnTo>
                  <a:cubicBezTo>
                    <a:pt x="1670304" y="0"/>
                    <a:pt x="1737106" y="66802"/>
                    <a:pt x="1737106" y="149098"/>
                  </a:cubicBezTo>
                  <a:lnTo>
                    <a:pt x="1737106" y="1193038"/>
                  </a:lnTo>
                  <a:cubicBezTo>
                    <a:pt x="1737106" y="1275334"/>
                    <a:pt x="1670304" y="1342136"/>
                    <a:pt x="1588008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319711" y="3771900"/>
            <a:ext cx="1146658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Link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19711" y="4142232"/>
            <a:ext cx="1146658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website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635152" y="3556635"/>
            <a:ext cx="1302868" cy="1006602"/>
            <a:chOff x="0" y="0"/>
            <a:chExt cx="1737157" cy="13421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3710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737106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588008" y="0"/>
                  </a:lnTo>
                  <a:cubicBezTo>
                    <a:pt x="1670304" y="0"/>
                    <a:pt x="1737106" y="66802"/>
                    <a:pt x="1737106" y="149098"/>
                  </a:cubicBezTo>
                  <a:lnTo>
                    <a:pt x="1737106" y="1193038"/>
                  </a:lnTo>
                  <a:cubicBezTo>
                    <a:pt x="1737106" y="1275334"/>
                    <a:pt x="1670304" y="1342136"/>
                    <a:pt x="1588008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3713257" y="3771900"/>
            <a:ext cx="1146658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Class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13257" y="4142232"/>
            <a:ext cx="1146658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maybe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028697" y="3556635"/>
            <a:ext cx="1302868" cy="1006602"/>
            <a:chOff x="0" y="0"/>
            <a:chExt cx="1737157" cy="13421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3710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737106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588008" y="0"/>
                  </a:lnTo>
                  <a:cubicBezTo>
                    <a:pt x="1670304" y="0"/>
                    <a:pt x="1737106" y="66802"/>
                    <a:pt x="1737106" y="149098"/>
                  </a:cubicBezTo>
                  <a:lnTo>
                    <a:pt x="1737106" y="1193038"/>
                  </a:lnTo>
                  <a:cubicBezTo>
                    <a:pt x="1737106" y="1275334"/>
                    <a:pt x="1670304" y="1342136"/>
                    <a:pt x="1588008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5106802" y="3771900"/>
            <a:ext cx="1146658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Lost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106802" y="4142232"/>
            <a:ext cx="1146658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later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01200" y="5133975"/>
            <a:ext cx="6720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Too often, a resource is counted when it is published or downloaded — not when it genuinely enters teaching practice.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64040" y="6515100"/>
            <a:ext cx="69951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CCDesigner changes the journey: resource → library → lesson → unit → teaching → reuse → evidence.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5860" y="8562975"/>
            <a:ext cx="160477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 aim is not to replace existing websites or schemes. The aim is to connect them to real planning.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PRODUCT MODEL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How the planning model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Capture activities, build lessons and units, then connect curriculum, people, organisations and events.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253615"/>
            <a:ext cx="3448050" cy="2076450"/>
            <a:chOff x="0" y="0"/>
            <a:chExt cx="459740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1328" y="2431923"/>
            <a:ext cx="29352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Activity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1328" y="2931033"/>
            <a:ext cx="293522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smallest reusable block: a rhythm game, drama warm-up, composition task, photography exercise or creative-writing stimulus.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65395" y="2253615"/>
            <a:ext cx="3448050" cy="2076450"/>
            <a:chOff x="0" y="0"/>
            <a:chExt cx="4597400" cy="276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321808" y="2431923"/>
            <a:ext cx="29352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Lesson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21808" y="2931033"/>
            <a:ext cx="293522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Activities can be selected, reordered and adapted into a teachable sequence.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05875" y="2253615"/>
            <a:ext cx="3448050" cy="2076450"/>
            <a:chOff x="0" y="0"/>
            <a:chExt cx="4597400" cy="276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162288" y="2431923"/>
            <a:ext cx="29352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Unit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62288" y="2931033"/>
            <a:ext cx="293522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Lessons combine into units or schemes with progression, links, objectives and resources.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746355" y="2253615"/>
            <a:ext cx="3448050" cy="2076450"/>
            <a:chOff x="0" y="0"/>
            <a:chExt cx="459740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002768" y="2431923"/>
            <a:ext cx="29352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Curriculum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02768" y="2931033"/>
            <a:ext cx="293522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Units sit inside terms, year groups and wider curriculum plans across phases and art forms.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32020" y="2976372"/>
            <a:ext cx="246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72500" y="2976372"/>
            <a:ext cx="246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12980" y="2976372"/>
            <a:ext cx="246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4915" y="5133975"/>
            <a:ext cx="14969490" cy="2103882"/>
            <a:chOff x="0" y="0"/>
            <a:chExt cx="19959320" cy="28051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959320" cy="2805176"/>
            </a:xfrm>
            <a:custGeom>
              <a:avLst/>
              <a:gdLst/>
              <a:ahLst/>
              <a:cxnLst/>
              <a:rect r="r" b="b" t="t" l="l"/>
              <a:pathLst>
                <a:path h="2805176" w="19959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9811746" y="0"/>
                  </a:lnTo>
                  <a:cubicBezTo>
                    <a:pt x="19893280" y="0"/>
                    <a:pt x="19959320" y="66040"/>
                    <a:pt x="19959320" y="147574"/>
                  </a:cubicBezTo>
                  <a:lnTo>
                    <a:pt x="19959320" y="2657602"/>
                  </a:lnTo>
                  <a:cubicBezTo>
                    <a:pt x="19959320" y="2739136"/>
                    <a:pt x="19893280" y="2805176"/>
                    <a:pt x="19811746" y="2805176"/>
                  </a:cubicBezTo>
                  <a:lnTo>
                    <a:pt x="147574" y="2805176"/>
                  </a:lnTo>
                  <a:cubicBezTo>
                    <a:pt x="66040" y="2805176"/>
                    <a:pt x="0" y="2739136"/>
                    <a:pt x="0" y="26576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577340" y="5458968"/>
            <a:ext cx="1426464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Why this matters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8488" y="5966460"/>
            <a:ext cx="1412748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Teachers are not forced to choose between following somebody else’s scheme or creating everything from scratch.</a:t>
            </a:r>
          </a:p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 vocal warm-up can sit beside a drama activity, a composition prompt, a gallery stimulus or a Music Hub resource.</a:t>
            </a:r>
          </a:p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Resources become easier to reuse, adapt, export, share and discuss.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600" y="8407908"/>
            <a:ext cx="1536192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979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same activity can travel into different lessons, year groups and art forms while still preserving creator attribution and teacher judgement.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RESOURCE JOURNEY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From resource discovery to classroom use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workflow is designed to prove that a resource has travelled beyond a web page.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43130" y="1851660"/>
            <a:ext cx="5817660" cy="7269480"/>
            <a:chOff x="0" y="0"/>
            <a:chExt cx="7756881" cy="9692640"/>
          </a:xfrm>
        </p:grpSpPr>
        <p:sp>
          <p:nvSpPr>
            <p:cNvPr name="Freeform 12" id="12" descr="/mnt/data/docx_extract/image2.png"/>
            <p:cNvSpPr/>
            <p:nvPr/>
          </p:nvSpPr>
          <p:spPr>
            <a:xfrm flipH="false" flipV="false" rot="0">
              <a:off x="0" y="0"/>
              <a:ext cx="7756906" cy="9692640"/>
            </a:xfrm>
            <a:custGeom>
              <a:avLst/>
              <a:gdLst/>
              <a:ahLst/>
              <a:cxnLst/>
              <a:rect r="r" b="b" t="t" l="l"/>
              <a:pathLst>
                <a:path h="9692640" w="7756906">
                  <a:moveTo>
                    <a:pt x="0" y="0"/>
                  </a:moveTo>
                  <a:lnTo>
                    <a:pt x="7756906" y="0"/>
                  </a:lnTo>
                  <a:lnTo>
                    <a:pt x="7756906" y="9692640"/>
                  </a:lnTo>
                  <a:lnTo>
                    <a:pt x="0" y="969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77175" y="2116455"/>
            <a:ext cx="3790950" cy="1459230"/>
            <a:chOff x="0" y="0"/>
            <a:chExt cx="5054600" cy="1945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133588" y="229476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Discover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33588" y="2784348"/>
            <a:ext cx="353453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teacher finds a trusted resource from a hub, organisation, creator or colleague.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7715" y="2116455"/>
            <a:ext cx="3790950" cy="1459230"/>
            <a:chOff x="0" y="0"/>
            <a:chExt cx="5054600" cy="1945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454128" y="229476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Save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4128" y="2703195"/>
            <a:ext cx="32781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resource is added to the teacher’s personal library and retained for later use.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77175" y="4036695"/>
            <a:ext cx="3790950" cy="1459230"/>
            <a:chOff x="0" y="0"/>
            <a:chExt cx="5054600" cy="1945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133588" y="421500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Adapt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33588" y="4704588"/>
            <a:ext cx="32781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teacher combines it with their own ideas, context, class needs and objectives.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97715" y="4036695"/>
            <a:ext cx="3790950" cy="1459230"/>
            <a:chOff x="0" y="0"/>
            <a:chExt cx="5054600" cy="1945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454128" y="421500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Plan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54128" y="4615815"/>
            <a:ext cx="32781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It becomes part of a lesson, unit, term or longer curriculum pathway.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877175" y="5956935"/>
            <a:ext cx="3790950" cy="1459230"/>
            <a:chOff x="0" y="0"/>
            <a:chExt cx="5054600" cy="1945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8133588" y="613524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Teach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33588" y="6545580"/>
            <a:ext cx="32781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resource is ready for classroom use with links, resources and notes intact.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197715" y="5956935"/>
            <a:ext cx="3790950" cy="1459230"/>
            <a:chOff x="0" y="0"/>
            <a:chExt cx="5054600" cy="1945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54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05460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906391" y="0"/>
                  </a:lnTo>
                  <a:cubicBezTo>
                    <a:pt x="4988179" y="0"/>
                    <a:pt x="5054600" y="66421"/>
                    <a:pt x="5054600" y="148209"/>
                  </a:cubicBezTo>
                  <a:lnTo>
                    <a:pt x="5054600" y="1797431"/>
                  </a:lnTo>
                  <a:cubicBezTo>
                    <a:pt x="5054600" y="1879346"/>
                    <a:pt x="4988179" y="1945640"/>
                    <a:pt x="490639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454128" y="6135243"/>
            <a:ext cx="32781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Reuse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54128" y="6555105"/>
            <a:ext cx="32781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Teachers and organisations learn what is useful, where, and over time.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875270" y="7971282"/>
            <a:ext cx="8115300" cy="1092708"/>
            <a:chOff x="0" y="0"/>
            <a:chExt cx="10820400" cy="14569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20400" cy="1457071"/>
            </a:xfrm>
            <a:custGeom>
              <a:avLst/>
              <a:gdLst/>
              <a:ahLst/>
              <a:cxnLst/>
              <a:rect r="r" b="b" t="t" l="l"/>
              <a:pathLst>
                <a:path h="1457071" w="10820400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0670921" y="0"/>
                  </a:lnTo>
                  <a:cubicBezTo>
                    <a:pt x="10753471" y="0"/>
                    <a:pt x="10820400" y="66929"/>
                    <a:pt x="10820400" y="149479"/>
                  </a:cubicBezTo>
                  <a:lnTo>
                    <a:pt x="10820400" y="1307592"/>
                  </a:lnTo>
                  <a:cubicBezTo>
                    <a:pt x="10820400" y="1390142"/>
                    <a:pt x="10753471" y="1457071"/>
                    <a:pt x="10670921" y="1457071"/>
                  </a:cubicBezTo>
                  <a:lnTo>
                    <a:pt x="149479" y="1457071"/>
                  </a:lnTo>
                  <a:cubicBezTo>
                    <a:pt x="66929" y="1456944"/>
                    <a:pt x="0" y="1390015"/>
                    <a:pt x="0" y="1307465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877175" y="7973187"/>
            <a:ext cx="101346" cy="1088898"/>
            <a:chOff x="0" y="0"/>
            <a:chExt cx="135128" cy="14518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188452" y="8140065"/>
            <a:ext cx="740636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“Planning should be a living reflection of practice — continually developing as teachers reflect, adapt and discover new ideas.”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88452" y="8840343"/>
            <a:ext cx="75438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Planning architecture principle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5" id="5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01454" y="2251253"/>
            <a:ext cx="10203317" cy="6389827"/>
          </a:xfrm>
          <a:custGeom>
            <a:avLst/>
            <a:gdLst/>
            <a:ahLst/>
            <a:cxnLst/>
            <a:rect r="r" b="b" t="t" l="l"/>
            <a:pathLst>
              <a:path h="6389827" w="10203317">
                <a:moveTo>
                  <a:pt x="0" y="0"/>
                </a:moveTo>
                <a:lnTo>
                  <a:pt x="10203317" y="0"/>
                </a:lnTo>
                <a:lnTo>
                  <a:pt x="10203317" y="6389827"/>
                </a:lnTo>
                <a:lnTo>
                  <a:pt x="0" y="638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Simple enough to use, deep enough to grow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Each teacher has an independent planning environment that feels closer to a professional creative workspace than a file repository.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440" y="2194560"/>
            <a:ext cx="6035040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Activity Library: searchable bank of personal and trusted external activities.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Lesson Builder: select, reorder and adapt activities into teachable sequences.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Units &amp; curriculum: combine lessons, map progression and retain the bigger picture.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Organisation Hubs: access resources, courses, events and support from trusted providers.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Calendar: place teaching and opportunities into terms and connect to external calendars.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Export &amp; share: produce professional active PDFs and share planning with colleagues.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TEACHER PRACTICE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Curriculum planning without removing teacher autonomy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platform should speed up planning without flattening professional judgement.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Premade curriculum statements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64972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bank of pre-written objectives from EYFS to KS5, including National Curriculum and examination statements, plus editable “I can” language.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74155" y="211645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30568" y="229476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Create your own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30568" y="2793873"/>
            <a:ext cx="464972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Schools, departments and specialist settings can author their own statements. A teacher’s library is meant to travel with them across schools, devices and formats.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91975" y="211645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48388" y="229476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Keep the teacher in 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48388" y="2793873"/>
            <a:ext cx="464972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AI may suggest or structure approved content. It must not replace teacher judgement or silently rewrite a creator’s expertise. The teacher decides.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62075" y="5238750"/>
            <a:ext cx="15380970" cy="2419350"/>
            <a:chOff x="0" y="0"/>
            <a:chExt cx="20507960" cy="322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07959" cy="3225800"/>
            </a:xfrm>
            <a:custGeom>
              <a:avLst/>
              <a:gdLst/>
              <a:ahLst/>
              <a:cxnLst/>
              <a:rect r="r" b="b" t="t" l="l"/>
              <a:pathLst>
                <a:path h="3225800" w="20507959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20360512" y="0"/>
                  </a:lnTo>
                  <a:cubicBezTo>
                    <a:pt x="20441920" y="0"/>
                    <a:pt x="20507959" y="66040"/>
                    <a:pt x="20507959" y="147447"/>
                  </a:cubicBezTo>
                  <a:lnTo>
                    <a:pt x="20507959" y="3078353"/>
                  </a:lnTo>
                  <a:cubicBezTo>
                    <a:pt x="20507959" y="3159760"/>
                    <a:pt x="20441920" y="3225800"/>
                    <a:pt x="20360512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83080" y="5522595"/>
            <a:ext cx="145389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What this enables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83080" y="6030087"/>
            <a:ext cx="144018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Faster planning without fixed scripts.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Better consistency across year groups and teams.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 clearer link between activities, objectives and progression.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Curriculum links carried into exported plans.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1600" y="8476488"/>
            <a:ext cx="153619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 curriculum statement bank is a support structure — not an imposed curriculum.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PROFESSIONAL COMMUNITY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Planning becomes professional conversation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community layer can move beyond “download and rate”.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116455"/>
            <a:ext cx="7631430" cy="6259830"/>
            <a:chOff x="0" y="0"/>
            <a:chExt cx="10175240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5240" cy="8346440"/>
            </a:xfrm>
            <a:custGeom>
              <a:avLst/>
              <a:gdLst/>
              <a:ahLst/>
              <a:cxnLst/>
              <a:rect r="r" b="b" t="t" l="l"/>
              <a:pathLst>
                <a:path h="8346440" w="10175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028555" y="0"/>
                  </a:lnTo>
                  <a:cubicBezTo>
                    <a:pt x="10109581" y="0"/>
                    <a:pt x="10175240" y="65659"/>
                    <a:pt x="10175240" y="146685"/>
                  </a:cubicBezTo>
                  <a:lnTo>
                    <a:pt x="10175240" y="8199755"/>
                  </a:lnTo>
                  <a:cubicBezTo>
                    <a:pt x="10175240" y="8280781"/>
                    <a:pt x="10109581" y="8346440"/>
                    <a:pt x="10028555" y="8346440"/>
                  </a:cubicBezTo>
                  <a:lnTo>
                    <a:pt x="146685" y="8346440"/>
                  </a:lnTo>
                  <a:cubicBezTo>
                    <a:pt x="65659" y="8346440"/>
                    <a:pt x="0" y="8280781"/>
                    <a:pt x="0" y="8199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645920" y="2537460"/>
            <a:ext cx="68580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What teachers should be able to discuss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500" y="3145155"/>
            <a:ext cx="6583680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What changed for Year 2?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How was this adapted for a non-verbal pupil?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Which instruments or technology were substituted?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How did this work in alternative provision?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How could this drama idea support English?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85935" y="2116455"/>
            <a:ext cx="7631430" cy="6259830"/>
            <a:chOff x="0" y="0"/>
            <a:chExt cx="10175240" cy="8346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5240" cy="8346440"/>
            </a:xfrm>
            <a:custGeom>
              <a:avLst/>
              <a:gdLst/>
              <a:ahLst/>
              <a:cxnLst/>
              <a:rect r="r" b="b" t="t" l="l"/>
              <a:pathLst>
                <a:path h="8346440" w="10175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028555" y="0"/>
                  </a:lnTo>
                  <a:cubicBezTo>
                    <a:pt x="10109581" y="0"/>
                    <a:pt x="10175240" y="65659"/>
                    <a:pt x="10175240" y="146685"/>
                  </a:cubicBezTo>
                  <a:lnTo>
                    <a:pt x="10175240" y="8199755"/>
                  </a:lnTo>
                  <a:cubicBezTo>
                    <a:pt x="10175240" y="8280781"/>
                    <a:pt x="10109581" y="8346440"/>
                    <a:pt x="10028555" y="8346440"/>
                  </a:cubicBezTo>
                  <a:lnTo>
                    <a:pt x="146685" y="8346440"/>
                  </a:lnTo>
                  <a:cubicBezTo>
                    <a:pt x="65659" y="8346440"/>
                    <a:pt x="0" y="8280781"/>
                    <a:pt x="0" y="8199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806940" y="2537460"/>
            <a:ext cx="68580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Why this matters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5520" y="3145155"/>
            <a:ext cx="6583680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Expertise travels horizontally between practitioners.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Adaptations from specialist settings can inform mainstream classrooms.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New teachers gain more than a file: they gain a route into practice.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Hubs and organisations learn what support teachers still need.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AI may organise approved content, but it must not replace judgement or rewrite a creator.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211830" y="8561070"/>
            <a:ext cx="11818620" cy="736092"/>
            <a:chOff x="0" y="0"/>
            <a:chExt cx="15758160" cy="981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758161" cy="981456"/>
            </a:xfrm>
            <a:custGeom>
              <a:avLst/>
              <a:gdLst/>
              <a:ahLst/>
              <a:cxnLst/>
              <a:rect r="r" b="b" t="t" l="l"/>
              <a:pathLst>
                <a:path h="981456" w="15758161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607157" y="0"/>
                  </a:lnTo>
                  <a:cubicBezTo>
                    <a:pt x="15690596" y="0"/>
                    <a:pt x="15758161" y="67564"/>
                    <a:pt x="15758161" y="151003"/>
                  </a:cubicBezTo>
                  <a:lnTo>
                    <a:pt x="15758161" y="830453"/>
                  </a:lnTo>
                  <a:cubicBezTo>
                    <a:pt x="15758161" y="913892"/>
                    <a:pt x="15690596" y="981456"/>
                    <a:pt x="15607157" y="981456"/>
                  </a:cubicBezTo>
                  <a:lnTo>
                    <a:pt x="151003" y="981456"/>
                  </a:lnTo>
                  <a:cubicBezTo>
                    <a:pt x="67564" y="981456"/>
                    <a:pt x="0" y="913892"/>
                    <a:pt x="0" y="830453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213735" y="8562975"/>
            <a:ext cx="101346" cy="732282"/>
            <a:chOff x="0" y="0"/>
            <a:chExt cx="135128" cy="9763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128" cy="976376"/>
            </a:xfrm>
            <a:custGeom>
              <a:avLst/>
              <a:gdLst/>
              <a:ahLst/>
              <a:cxnLst/>
              <a:rect r="r" b="b" t="t" l="l"/>
              <a:pathLst>
                <a:path h="97637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525012" y="8805672"/>
            <a:ext cx="112471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“What did you change for this class — and why did it work?”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CONNECTING THE SECTOR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national creative-education ecosystem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One platform. Many voices. No single prescribed curriculum. Music Hubs are the strong first route.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253615"/>
            <a:ext cx="5025390" cy="1870710"/>
            <a:chOff x="0" y="0"/>
            <a:chExt cx="6700520" cy="2494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4319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Teachers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31033"/>
            <a:ext cx="451256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personal planning, classroom insight, professional exchange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253615"/>
            <a:ext cx="5025390" cy="1870710"/>
            <a:chOff x="0" y="0"/>
            <a:chExt cx="6700520" cy="2494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4319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Music Hubs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931033"/>
            <a:ext cx="45125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Local identity stays. Resources can be public, restricted or ring-fenced. Successful practice can travel between regions, and CPD can remain after the training day.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7715" y="2253615"/>
            <a:ext cx="5025390" cy="1870710"/>
            <a:chOff x="0" y="0"/>
            <a:chExt cx="6700520" cy="2494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454128" y="24319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Arts organisations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54128" y="2931033"/>
            <a:ext cx="451256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resources, courses, projects, events, expertise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7755" y="4653915"/>
            <a:ext cx="5025390" cy="1870710"/>
            <a:chOff x="0" y="0"/>
            <a:chExt cx="6700520" cy="2494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44168" y="48322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Creators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4168" y="5331333"/>
            <a:ext cx="451256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free and paid specialist material, practical resources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653915"/>
            <a:ext cx="5025390" cy="1870710"/>
            <a:chOff x="0" y="0"/>
            <a:chExt cx="6700520" cy="2494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8322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Funders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331333"/>
            <a:ext cx="451256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reach evidence, cold spots, impact beyond the original project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97715" y="4653915"/>
            <a:ext cx="5025390" cy="1870710"/>
            <a:chOff x="0" y="0"/>
            <a:chExt cx="6700520" cy="2494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05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346452"/>
                  </a:lnTo>
                  <a:cubicBezTo>
                    <a:pt x="6700520" y="2428113"/>
                    <a:pt x="6634353" y="2494280"/>
                    <a:pt x="655269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454128" y="483222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Learners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54128" y="5331333"/>
            <a:ext cx="451256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better access to high-quality creative experiences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3495" y="7602855"/>
            <a:ext cx="15929610" cy="1143762"/>
            <a:chOff x="0" y="0"/>
            <a:chExt cx="21239480" cy="15250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239480" cy="1525143"/>
            </a:xfrm>
            <a:custGeom>
              <a:avLst/>
              <a:gdLst/>
              <a:ahLst/>
              <a:cxnLst/>
              <a:rect r="r" b="b" t="t" l="l"/>
              <a:pathLst>
                <a:path h="1525143" w="21239480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21090637" y="0"/>
                  </a:lnTo>
                  <a:cubicBezTo>
                    <a:pt x="21172805" y="0"/>
                    <a:pt x="21239480" y="66548"/>
                    <a:pt x="21239480" y="148844"/>
                  </a:cubicBezTo>
                  <a:lnTo>
                    <a:pt x="21239480" y="1376299"/>
                  </a:lnTo>
                  <a:cubicBezTo>
                    <a:pt x="21239480" y="1458468"/>
                    <a:pt x="21172932" y="1525143"/>
                    <a:pt x="21090637" y="1525143"/>
                  </a:cubicBezTo>
                  <a:lnTo>
                    <a:pt x="148844" y="1525143"/>
                  </a:lnTo>
                  <a:cubicBezTo>
                    <a:pt x="66548" y="1525016"/>
                    <a:pt x="0" y="1458468"/>
                    <a:pt x="0" y="1376172"/>
                  </a:cubicBezTo>
                  <a:close/>
                </a:path>
              </a:pathLst>
            </a:custGeom>
            <a:solidFill>
              <a:srgbClr val="162A49"/>
            </a:solidFill>
            <a:ln w="19050" cap="sq">
              <a:solidFill>
                <a:srgbClr val="162A49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645920" y="7927848"/>
            <a:ext cx="150876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CCDesigner is not trying to replace Charanga, hubs, organisation websites, schemes or specialist teachers. Its purpose is to connect them to planning and practice.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CROSS-ARTS PLANNING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Designed for music, drama, art, photography and more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One architecture for music, drama, dance, art, photography, film and English — connections visible, subject identity intact.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212467"/>
            <a:ext cx="16203930" cy="4133850"/>
            <a:chOff x="0" y="0"/>
            <a:chExt cx="21605240" cy="5511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05239" cy="5511800"/>
            </a:xfrm>
            <a:custGeom>
              <a:avLst/>
              <a:gdLst/>
              <a:ahLst/>
              <a:cxnLst/>
              <a:rect r="r" b="b" t="t" l="l"/>
              <a:pathLst>
                <a:path h="5511800" w="21605239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21458301" y="0"/>
                  </a:lnTo>
                  <a:cubicBezTo>
                    <a:pt x="21539454" y="0"/>
                    <a:pt x="21605239" y="65786"/>
                    <a:pt x="21605239" y="146939"/>
                  </a:cubicBezTo>
                  <a:lnTo>
                    <a:pt x="21605239" y="5364861"/>
                  </a:lnTo>
                  <a:cubicBezTo>
                    <a:pt x="21605239" y="5446014"/>
                    <a:pt x="21539454" y="5511800"/>
                    <a:pt x="21458301" y="5511800"/>
                  </a:cubicBezTo>
                  <a:lnTo>
                    <a:pt x="146939" y="5511800"/>
                  </a:lnTo>
                  <a:cubicBezTo>
                    <a:pt x="65786" y="5511800"/>
                    <a:pt x="0" y="5446014"/>
                    <a:pt x="0" y="53648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77340" y="2647188"/>
            <a:ext cx="1536192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single lesson might combine…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30655" y="3488055"/>
            <a:ext cx="4545330" cy="732282"/>
            <a:chOff x="0" y="0"/>
            <a:chExt cx="6060440" cy="976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18488" y="3634740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Vocal warm-up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74155" y="3488055"/>
            <a:ext cx="4545330" cy="732282"/>
            <a:chOff x="0" y="0"/>
            <a:chExt cx="6060440" cy="976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761988" y="3634740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Orchestral activity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717655" y="3488055"/>
            <a:ext cx="4545330" cy="732282"/>
            <a:chOff x="0" y="0"/>
            <a:chExt cx="6060440" cy="976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905488" y="3634740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Drama Resource exercise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30655" y="4557903"/>
            <a:ext cx="4545330" cy="732282"/>
            <a:chOff x="0" y="0"/>
            <a:chExt cx="6060440" cy="9763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618488" y="4704588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I Can Compose idea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74155" y="4557903"/>
            <a:ext cx="4545330" cy="732282"/>
            <a:chOff x="0" y="0"/>
            <a:chExt cx="6060440" cy="976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761988" y="4704588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Photography prompt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717655" y="4557903"/>
            <a:ext cx="4545330" cy="732282"/>
            <a:chOff x="0" y="0"/>
            <a:chExt cx="6060440" cy="9763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60440" cy="976376"/>
            </a:xfrm>
            <a:custGeom>
              <a:avLst/>
              <a:gdLst/>
              <a:ahLst/>
              <a:cxnLst/>
              <a:rect r="r" b="b" t="t" l="l"/>
              <a:pathLst>
                <a:path h="976376" w="606044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5910199" y="0"/>
                  </a:lnTo>
                  <a:cubicBezTo>
                    <a:pt x="5993130" y="0"/>
                    <a:pt x="6060440" y="67310"/>
                    <a:pt x="6060440" y="150241"/>
                  </a:cubicBezTo>
                  <a:lnTo>
                    <a:pt x="6060440" y="826135"/>
                  </a:lnTo>
                  <a:cubicBezTo>
                    <a:pt x="6060440" y="909066"/>
                    <a:pt x="5993130" y="976376"/>
                    <a:pt x="5910199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905488" y="4704588"/>
            <a:ext cx="41148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English stimulus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6335" y="6917055"/>
            <a:ext cx="5093970" cy="1733550"/>
            <a:chOff x="0" y="0"/>
            <a:chExt cx="6791960" cy="2311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919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9196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644005" y="0"/>
                  </a:lnTo>
                  <a:cubicBezTo>
                    <a:pt x="6725666" y="0"/>
                    <a:pt x="6791960" y="66167"/>
                    <a:pt x="6791960" y="147955"/>
                  </a:cubicBezTo>
                  <a:lnTo>
                    <a:pt x="6791960" y="2163445"/>
                  </a:lnTo>
                  <a:cubicBezTo>
                    <a:pt x="6791960" y="2245106"/>
                    <a:pt x="6725793" y="2311400"/>
                    <a:pt x="664400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412748" y="709536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Why cross-arts matters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2748" y="7584948"/>
            <a:ext cx="45811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Puppet project: art, story, performance and sound. Photo story: image, narrative, character and edit. Opera-making: composition, staging, design and libretto.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74155" y="6917055"/>
            <a:ext cx="5093970" cy="1733550"/>
            <a:chOff x="0" y="0"/>
            <a:chExt cx="6791960" cy="2311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919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9196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644005" y="0"/>
                  </a:lnTo>
                  <a:cubicBezTo>
                    <a:pt x="6725666" y="0"/>
                    <a:pt x="6791960" y="66167"/>
                    <a:pt x="6791960" y="147955"/>
                  </a:cubicBezTo>
                  <a:lnTo>
                    <a:pt x="6791960" y="2163445"/>
                  </a:lnTo>
                  <a:cubicBezTo>
                    <a:pt x="6791960" y="2245106"/>
                    <a:pt x="6725793" y="2311400"/>
                    <a:pt x="664400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6830568" y="709536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Why English matters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30568" y="7584948"/>
            <a:ext cx="458114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Drama, music and visual arts can support speaking, listening, storytelling, writing and interpretation.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991975" y="6917055"/>
            <a:ext cx="5093970" cy="1733550"/>
            <a:chOff x="0" y="0"/>
            <a:chExt cx="6791960" cy="2311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919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9196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644005" y="0"/>
                  </a:lnTo>
                  <a:cubicBezTo>
                    <a:pt x="6725666" y="0"/>
                    <a:pt x="6791960" y="66167"/>
                    <a:pt x="6791960" y="147955"/>
                  </a:cubicBezTo>
                  <a:lnTo>
                    <a:pt x="6791960" y="2163445"/>
                  </a:lnTo>
                  <a:cubicBezTo>
                    <a:pt x="6791960" y="2245106"/>
                    <a:pt x="6725793" y="2311400"/>
                    <a:pt x="664400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248388" y="709536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Why progression matters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48388" y="7504938"/>
            <a:ext cx="458114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Creative experiences can connect EYFS through KS5, GCSE, A-level and higher education pathways.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ORGANISATION HUBS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Branded hubs with clear organisational control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Organisations and Music Hubs need reach, but they also need control, permissions and quality assurance.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40" y="2185035"/>
            <a:ext cx="7955280" cy="441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Each participating organisation or hub can have a recognisable space inside CCDesigner.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They can share free resources, restricted materials, paid content, CPD, events and links back to their own website.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They should retain control over what is published, who can access it and when it becomes available.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Complete programmes can remain intact while selected activities can become adaptable building blocks.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Editorial support can help format, tag and maintain content without creating excessive work for partners.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65995" y="2253615"/>
            <a:ext cx="6739890" cy="5436870"/>
            <a:chOff x="0" y="0"/>
            <a:chExt cx="8986520" cy="7249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86520" cy="7249160"/>
            </a:xfrm>
            <a:custGeom>
              <a:avLst/>
              <a:gdLst/>
              <a:ahLst/>
              <a:cxnLst/>
              <a:rect r="r" b="b" t="t" l="l"/>
              <a:pathLst>
                <a:path h="7249160" w="89865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8839708" y="0"/>
                  </a:lnTo>
                  <a:cubicBezTo>
                    <a:pt x="8920734" y="0"/>
                    <a:pt x="8986520" y="65786"/>
                    <a:pt x="8986520" y="146812"/>
                  </a:cubicBezTo>
                  <a:lnTo>
                    <a:pt x="8986520" y="7102348"/>
                  </a:lnTo>
                  <a:cubicBezTo>
                    <a:pt x="8986520" y="7183374"/>
                    <a:pt x="8920734" y="7249160"/>
                    <a:pt x="883970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0" y="2674620"/>
            <a:ext cx="5897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Organisation hub options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14635" y="3693795"/>
            <a:ext cx="1376934" cy="1047750"/>
            <a:chOff x="0" y="0"/>
            <a:chExt cx="1835912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59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83591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686941" y="0"/>
                  </a:lnTo>
                  <a:cubicBezTo>
                    <a:pt x="1769237" y="0"/>
                    <a:pt x="1835912" y="66675"/>
                    <a:pt x="1835912" y="148971"/>
                  </a:cubicBezTo>
                  <a:lnTo>
                    <a:pt x="1835912" y="1248029"/>
                  </a:lnTo>
                  <a:cubicBezTo>
                    <a:pt x="1835912" y="1330325"/>
                    <a:pt x="1769237" y="1397000"/>
                    <a:pt x="168694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492740" y="3909060"/>
            <a:ext cx="122072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FREE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2740" y="4279392"/>
            <a:ext cx="122072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open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82247" y="3693795"/>
            <a:ext cx="1376934" cy="1047750"/>
            <a:chOff x="0" y="0"/>
            <a:chExt cx="1835912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359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83591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686941" y="0"/>
                  </a:lnTo>
                  <a:cubicBezTo>
                    <a:pt x="1769237" y="0"/>
                    <a:pt x="1835912" y="66675"/>
                    <a:pt x="1835912" y="148971"/>
                  </a:cubicBezTo>
                  <a:lnTo>
                    <a:pt x="1835912" y="1248029"/>
                  </a:lnTo>
                  <a:cubicBezTo>
                    <a:pt x="1835912" y="1330325"/>
                    <a:pt x="1769237" y="1397000"/>
                    <a:pt x="168694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960352" y="3909060"/>
            <a:ext cx="132023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RESTRICTED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60352" y="4279392"/>
            <a:ext cx="122072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login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49859" y="3693795"/>
            <a:ext cx="1376934" cy="1047750"/>
            <a:chOff x="0" y="0"/>
            <a:chExt cx="1835912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59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83591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686941" y="0"/>
                  </a:lnTo>
                  <a:cubicBezTo>
                    <a:pt x="1769237" y="0"/>
                    <a:pt x="1835912" y="66675"/>
                    <a:pt x="1835912" y="148971"/>
                  </a:cubicBezTo>
                  <a:lnTo>
                    <a:pt x="1835912" y="1248029"/>
                  </a:lnTo>
                  <a:cubicBezTo>
                    <a:pt x="1835912" y="1330325"/>
                    <a:pt x="1769237" y="1397000"/>
                    <a:pt x="168694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427964" y="3924300"/>
            <a:ext cx="122072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PAID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27964" y="4279392"/>
            <a:ext cx="122072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Stripe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817471" y="3693795"/>
            <a:ext cx="1376934" cy="1047750"/>
            <a:chOff x="0" y="0"/>
            <a:chExt cx="1835912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359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83591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686941" y="0"/>
                  </a:lnTo>
                  <a:cubicBezTo>
                    <a:pt x="1769237" y="0"/>
                    <a:pt x="1835912" y="66675"/>
                    <a:pt x="1835912" y="148971"/>
                  </a:cubicBezTo>
                  <a:lnTo>
                    <a:pt x="1835912" y="1248029"/>
                  </a:lnTo>
                  <a:cubicBezTo>
                    <a:pt x="1835912" y="1330325"/>
                    <a:pt x="1769237" y="1397000"/>
                    <a:pt x="168694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895576" y="3909060"/>
            <a:ext cx="122072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LINK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95576" y="4279392"/>
            <a:ext cx="122072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external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24160" y="5202555"/>
            <a:ext cx="57607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platform should complement partner websites, not duplicate or replace them.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55580" y="6231255"/>
            <a:ext cx="5897880" cy="66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Permissions, copyright, sequencing, safeguarding and accessibility are not add-ons — they are part of the product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NON-SPECIALIST SUPPORT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Ready-made packs for new and non-specialist teachers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platform can turn Hub and organisation expertise into practical classroom pathways.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212467"/>
            <a:ext cx="5025390" cy="1802130"/>
            <a:chOff x="0" y="0"/>
            <a:chExt cx="6700520" cy="2402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255012"/>
                  </a:lnTo>
                  <a:cubicBezTo>
                    <a:pt x="6700520" y="2336673"/>
                    <a:pt x="6634353" y="2402840"/>
                    <a:pt x="6552692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1328" y="2390775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Starting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1328" y="2889885"/>
            <a:ext cx="45125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“New Primary Music Lead”, “Starting to Teach Drama”, “KS2 Composition”, “Creative SEND Activity Bank”.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212467"/>
            <a:ext cx="5025390" cy="1802130"/>
            <a:chOff x="0" y="0"/>
            <a:chExt cx="6700520" cy="2402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255012"/>
                  </a:lnTo>
                  <a:cubicBezTo>
                    <a:pt x="6700520" y="2336673"/>
                    <a:pt x="6634353" y="2402840"/>
                    <a:pt x="6552692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390775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Confidence without scripts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889885"/>
            <a:ext cx="45125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Packs provide routes into practice, but remain editable and adaptable to pupils, space, equipment and school context.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60555" y="2212467"/>
            <a:ext cx="5025390" cy="1802130"/>
            <a:chOff x="0" y="0"/>
            <a:chExt cx="6700520" cy="2402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0052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552692" y="0"/>
                  </a:lnTo>
                  <a:cubicBezTo>
                    <a:pt x="6634353" y="0"/>
                    <a:pt x="6700520" y="66167"/>
                    <a:pt x="6700520" y="147828"/>
                  </a:cubicBezTo>
                  <a:lnTo>
                    <a:pt x="6700520" y="2255012"/>
                  </a:lnTo>
                  <a:cubicBezTo>
                    <a:pt x="6700520" y="2336673"/>
                    <a:pt x="6634353" y="2402840"/>
                    <a:pt x="6552692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16968" y="2390775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CPD that lasts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6968" y="2889885"/>
            <a:ext cx="45125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Training activities remain in the teacher’s library after the CPD session, ready to use in real planning.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3495" y="4859655"/>
            <a:ext cx="15792450" cy="2419350"/>
            <a:chOff x="0" y="0"/>
            <a:chExt cx="21056600" cy="322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56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21056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20909153" y="0"/>
                  </a:lnTo>
                  <a:cubicBezTo>
                    <a:pt x="20990561" y="0"/>
                    <a:pt x="21056600" y="66040"/>
                    <a:pt x="21056600" y="147447"/>
                  </a:cubicBezTo>
                  <a:lnTo>
                    <a:pt x="21056600" y="3078353"/>
                  </a:lnTo>
                  <a:cubicBezTo>
                    <a:pt x="21056600" y="3159760"/>
                    <a:pt x="20990561" y="3225800"/>
                    <a:pt x="20909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14500" y="5239512"/>
            <a:ext cx="149504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Example pathway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773555" y="5819775"/>
            <a:ext cx="2350770" cy="979170"/>
            <a:chOff x="0" y="0"/>
            <a:chExt cx="3134360" cy="1305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851660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Hub CPD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51660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course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215003" y="5819775"/>
            <a:ext cx="2350770" cy="979170"/>
            <a:chOff x="0" y="0"/>
            <a:chExt cx="3134360" cy="1305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4293108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Activity Pack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93108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library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656451" y="5819775"/>
            <a:ext cx="2350770" cy="979170"/>
            <a:chOff x="0" y="0"/>
            <a:chExt cx="3134360" cy="1305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6734556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Lesson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34556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teacher adapts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097899" y="5819775"/>
            <a:ext cx="2350770" cy="979170"/>
            <a:chOff x="0" y="0"/>
            <a:chExt cx="3134360" cy="1305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176004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Unit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76004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progression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539347" y="5819775"/>
            <a:ext cx="2350770" cy="979170"/>
            <a:chOff x="0" y="0"/>
            <a:chExt cx="3134360" cy="1305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1617452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Classroom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17452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delivery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980795" y="5819775"/>
            <a:ext cx="2350770" cy="979170"/>
            <a:chOff x="0" y="0"/>
            <a:chExt cx="31343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985135" y="0"/>
                  </a:lnTo>
                  <a:cubicBezTo>
                    <a:pt x="3067558" y="0"/>
                    <a:pt x="3134360" y="66802"/>
                    <a:pt x="3134360" y="149225"/>
                  </a:cubicBezTo>
                  <a:lnTo>
                    <a:pt x="3134360" y="1156335"/>
                  </a:lnTo>
                  <a:cubicBezTo>
                    <a:pt x="3134360" y="1238758"/>
                    <a:pt x="3067558" y="1305560"/>
                    <a:pt x="2985135" y="1305560"/>
                  </a:cubicBezTo>
                  <a:lnTo>
                    <a:pt x="149225" y="1305560"/>
                  </a:lnTo>
                  <a:cubicBezTo>
                    <a:pt x="66802" y="1305560"/>
                    <a:pt x="0" y="1238758"/>
                    <a:pt x="0" y="11563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4058900" y="6035040"/>
            <a:ext cx="219456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Feedback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58900" y="6405372"/>
            <a:ext cx="219456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community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" y="8298180"/>
            <a:ext cx="1495044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979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This is especially important where schools are struggling to sustain specialist arts provision, or where teachers are asked to deliver creative subjects outside their main specialism.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REACH &amp; ANALYTICS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From “reach” to evidence of use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A stronger account of what happens after a resource is published, a training session ends or a funded project finishes.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253615"/>
            <a:ext cx="3099664" cy="1088898"/>
            <a:chOff x="0" y="0"/>
            <a:chExt cx="4132885" cy="1451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32834" cy="1451864"/>
            </a:xfrm>
            <a:custGeom>
              <a:avLst/>
              <a:gdLst/>
              <a:ahLst/>
              <a:cxnLst/>
              <a:rect r="r" b="b" t="t" l="l"/>
              <a:pathLst>
                <a:path h="1451864" w="413283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983990" y="0"/>
                  </a:lnTo>
                  <a:cubicBezTo>
                    <a:pt x="4066286" y="0"/>
                    <a:pt x="4132834" y="66675"/>
                    <a:pt x="4132834" y="148844"/>
                  </a:cubicBezTo>
                  <a:lnTo>
                    <a:pt x="4132834" y="1303020"/>
                  </a:lnTo>
                  <a:cubicBezTo>
                    <a:pt x="4132834" y="1385316"/>
                    <a:pt x="4066159" y="1451864"/>
                    <a:pt x="398399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03020" y="2468880"/>
            <a:ext cx="294345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DISCOVER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020" y="2839212"/>
            <a:ext cx="294345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15257" y="2253615"/>
            <a:ext cx="3099664" cy="1088898"/>
            <a:chOff x="0" y="0"/>
            <a:chExt cx="4132885" cy="14518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2834" cy="1451864"/>
            </a:xfrm>
            <a:custGeom>
              <a:avLst/>
              <a:gdLst/>
              <a:ahLst/>
              <a:cxnLst/>
              <a:rect r="r" b="b" t="t" l="l"/>
              <a:pathLst>
                <a:path h="1451864" w="413283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983990" y="0"/>
                  </a:lnTo>
                  <a:cubicBezTo>
                    <a:pt x="4066286" y="0"/>
                    <a:pt x="4132834" y="66675"/>
                    <a:pt x="4132834" y="148844"/>
                  </a:cubicBezTo>
                  <a:lnTo>
                    <a:pt x="4132834" y="1303020"/>
                  </a:lnTo>
                  <a:cubicBezTo>
                    <a:pt x="4132834" y="1385316"/>
                    <a:pt x="4066159" y="1451864"/>
                    <a:pt x="398399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493362" y="2468880"/>
            <a:ext cx="294345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SAVE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93362" y="2839212"/>
            <a:ext cx="294345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library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05598" y="2253615"/>
            <a:ext cx="3099664" cy="1088898"/>
            <a:chOff x="0" y="0"/>
            <a:chExt cx="4132885" cy="14518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32834" cy="1451864"/>
            </a:xfrm>
            <a:custGeom>
              <a:avLst/>
              <a:gdLst/>
              <a:ahLst/>
              <a:cxnLst/>
              <a:rect r="r" b="b" t="t" l="l"/>
              <a:pathLst>
                <a:path h="1451864" w="413283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983990" y="0"/>
                  </a:lnTo>
                  <a:cubicBezTo>
                    <a:pt x="4066286" y="0"/>
                    <a:pt x="4132834" y="66675"/>
                    <a:pt x="4132834" y="148844"/>
                  </a:cubicBezTo>
                  <a:lnTo>
                    <a:pt x="4132834" y="1303020"/>
                  </a:lnTo>
                  <a:cubicBezTo>
                    <a:pt x="4132834" y="1385316"/>
                    <a:pt x="4066159" y="1451864"/>
                    <a:pt x="398399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683703" y="2468880"/>
            <a:ext cx="294345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PLAN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83703" y="2839212"/>
            <a:ext cx="294345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lesson/unit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95940" y="2253615"/>
            <a:ext cx="3099664" cy="1088898"/>
            <a:chOff x="0" y="0"/>
            <a:chExt cx="4132885" cy="14518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2834" cy="1451864"/>
            </a:xfrm>
            <a:custGeom>
              <a:avLst/>
              <a:gdLst/>
              <a:ahLst/>
              <a:cxnLst/>
              <a:rect r="r" b="b" t="t" l="l"/>
              <a:pathLst>
                <a:path h="1451864" w="413283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983990" y="0"/>
                  </a:lnTo>
                  <a:cubicBezTo>
                    <a:pt x="4066286" y="0"/>
                    <a:pt x="4132834" y="66675"/>
                    <a:pt x="4132834" y="148844"/>
                  </a:cubicBezTo>
                  <a:lnTo>
                    <a:pt x="4132834" y="1303020"/>
                  </a:lnTo>
                  <a:cubicBezTo>
                    <a:pt x="4132834" y="1385316"/>
                    <a:pt x="4066159" y="1451864"/>
                    <a:pt x="398399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874045" y="2468880"/>
            <a:ext cx="294345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RETURN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74045" y="2839212"/>
            <a:ext cx="294345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later use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986281" y="2253615"/>
            <a:ext cx="3099664" cy="1088898"/>
            <a:chOff x="0" y="0"/>
            <a:chExt cx="4132885" cy="14518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32834" cy="1451864"/>
            </a:xfrm>
            <a:custGeom>
              <a:avLst/>
              <a:gdLst/>
              <a:ahLst/>
              <a:cxnLst/>
              <a:rect r="r" b="b" t="t" l="l"/>
              <a:pathLst>
                <a:path h="1451864" w="413283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983990" y="0"/>
                  </a:lnTo>
                  <a:cubicBezTo>
                    <a:pt x="4066286" y="0"/>
                    <a:pt x="4132834" y="66675"/>
                    <a:pt x="4132834" y="148844"/>
                  </a:cubicBezTo>
                  <a:lnTo>
                    <a:pt x="4132834" y="1303020"/>
                  </a:lnTo>
                  <a:cubicBezTo>
                    <a:pt x="4132834" y="1385316"/>
                    <a:pt x="4066159" y="1451864"/>
                    <a:pt x="398399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064386" y="2468880"/>
            <a:ext cx="2943454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REUSE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64386" y="2839212"/>
            <a:ext cx="2943454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7"/>
              </a:lnSpc>
            </a:pPr>
            <a:r>
              <a:rPr lang="en-US" sz="128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new class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4915" y="3830955"/>
            <a:ext cx="15861030" cy="3036570"/>
            <a:chOff x="0" y="0"/>
            <a:chExt cx="21148040" cy="404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148039" cy="4048760"/>
            </a:xfrm>
            <a:custGeom>
              <a:avLst/>
              <a:gdLst/>
              <a:ahLst/>
              <a:cxnLst/>
              <a:rect r="r" b="b" t="t" l="l"/>
              <a:pathLst>
                <a:path h="4048760" w="21148039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000847" y="0"/>
                  </a:lnTo>
                  <a:cubicBezTo>
                    <a:pt x="21082127" y="0"/>
                    <a:pt x="21148039" y="65913"/>
                    <a:pt x="21148039" y="147193"/>
                  </a:cubicBezTo>
                  <a:lnTo>
                    <a:pt x="21148039" y="3901567"/>
                  </a:lnTo>
                  <a:cubicBezTo>
                    <a:pt x="21148039" y="3982847"/>
                    <a:pt x="21082127" y="4048760"/>
                    <a:pt x="2100084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920" y="4251960"/>
            <a:ext cx="150876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Why this is stronger than a page-view count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5920" y="4859655"/>
            <a:ext cx="149504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webpage view can show awareness. A resource entering a teacher’s library, lesson or unit is evidence of a deeper educational relationship. Over time, aggregated patterns can help organisations understand which materials are useful, whether they are revisited and where additional support or CPD may be needed.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4915" y="7465695"/>
            <a:ext cx="5093970" cy="1322070"/>
            <a:chOff x="0" y="0"/>
            <a:chExt cx="6791960" cy="1762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919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67919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6643497" y="0"/>
                  </a:lnTo>
                  <a:cubicBezTo>
                    <a:pt x="6725539" y="0"/>
                    <a:pt x="6791960" y="66421"/>
                    <a:pt x="6791960" y="148463"/>
                  </a:cubicBezTo>
                  <a:lnTo>
                    <a:pt x="6791960" y="1614297"/>
                  </a:lnTo>
                  <a:cubicBezTo>
                    <a:pt x="6791960" y="1696339"/>
                    <a:pt x="6725539" y="1762760"/>
                    <a:pt x="664349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481328" y="764400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Measure without surveillance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1328" y="8133588"/>
            <a:ext cx="458114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5"/>
              </a:lnSpc>
              <a:spcBef>
                <a:spcPct val="0"/>
              </a:spcBef>
            </a:pPr>
            <a:r>
              <a:rPr lang="en-US" sz="1604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Authenticated activity, aggregated by phase, region and Hub — not raw IPs, and not teacher surveillance.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601587" y="7465695"/>
            <a:ext cx="5093970" cy="1322070"/>
            <a:chOff x="0" y="0"/>
            <a:chExt cx="6791960" cy="1762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19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67919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6643497" y="0"/>
                  </a:lnTo>
                  <a:cubicBezTo>
                    <a:pt x="6725539" y="0"/>
                    <a:pt x="6791960" y="66421"/>
                    <a:pt x="6791960" y="148463"/>
                  </a:cubicBezTo>
                  <a:lnTo>
                    <a:pt x="6791960" y="1614297"/>
                  </a:lnTo>
                  <a:cubicBezTo>
                    <a:pt x="6791960" y="1696339"/>
                    <a:pt x="6725539" y="1762760"/>
                    <a:pt x="664349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6858000" y="764400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Evidence for creators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58000" y="8133588"/>
            <a:ext cx="458114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Creators can see what teachers actually reuse and where follow-up support is needed.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991975" y="7465695"/>
            <a:ext cx="5093970" cy="1322070"/>
            <a:chOff x="0" y="0"/>
            <a:chExt cx="6791960" cy="1762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919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67919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6643497" y="0"/>
                  </a:lnTo>
                  <a:cubicBezTo>
                    <a:pt x="6725539" y="0"/>
                    <a:pt x="6791960" y="66421"/>
                    <a:pt x="6791960" y="148463"/>
                  </a:cubicBezTo>
                  <a:lnTo>
                    <a:pt x="6791960" y="1614297"/>
                  </a:lnTo>
                  <a:cubicBezTo>
                    <a:pt x="6791960" y="1696339"/>
                    <a:pt x="6725539" y="1762760"/>
                    <a:pt x="664349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2248388" y="7644003"/>
            <a:ext cx="458114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Evidence for funders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48388" y="8133588"/>
            <a:ext cx="458114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Funded work can show continuing educational use, subject to appropriate governance.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COLD SPOTS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Reducing cold spots and increasing reach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aim is not only to distribute resources nationally, but to see where distribution is not working.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116455"/>
            <a:ext cx="7700010" cy="5779770"/>
            <a:chOff x="0" y="0"/>
            <a:chExt cx="10266680" cy="7706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7706360"/>
            </a:xfrm>
            <a:custGeom>
              <a:avLst/>
              <a:gdLst/>
              <a:ahLst/>
              <a:cxnLst/>
              <a:rect r="r" b="b" t="t" l="l"/>
              <a:pathLst>
                <a:path h="7706360" w="102666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119868" y="0"/>
                  </a:lnTo>
                  <a:cubicBezTo>
                    <a:pt x="10200894" y="0"/>
                    <a:pt x="10266680" y="65786"/>
                    <a:pt x="10266680" y="146812"/>
                  </a:cubicBezTo>
                  <a:lnTo>
                    <a:pt x="10266680" y="7559548"/>
                  </a:lnTo>
                  <a:cubicBezTo>
                    <a:pt x="10266680" y="7640574"/>
                    <a:pt x="10200894" y="7706360"/>
                    <a:pt x="10119868" y="7706360"/>
                  </a:cubicBezTo>
                  <a:lnTo>
                    <a:pt x="146812" y="7706360"/>
                  </a:lnTo>
                  <a:cubicBezTo>
                    <a:pt x="65786" y="7706360"/>
                    <a:pt x="0" y="7640574"/>
                    <a:pt x="0" y="7559548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6F5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645920" y="2578608"/>
            <a:ext cx="68580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Cold-spot insight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500" y="3213735"/>
            <a:ext cx="672084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Which regions barely save or reuse a resource?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Which phases need different support?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Where is awareness low?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Where do teachers save resources but not build them into lessons?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Where should CPD or partnership effort be targeted next?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54515" y="2116455"/>
            <a:ext cx="7700010" cy="5779770"/>
            <a:chOff x="0" y="0"/>
            <a:chExt cx="10266680" cy="7706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6680" cy="7706360"/>
            </a:xfrm>
            <a:custGeom>
              <a:avLst/>
              <a:gdLst/>
              <a:ahLst/>
              <a:cxnLst/>
              <a:rect r="r" b="b" t="t" l="l"/>
              <a:pathLst>
                <a:path h="7706360" w="102666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119868" y="0"/>
                  </a:lnTo>
                  <a:cubicBezTo>
                    <a:pt x="10200894" y="0"/>
                    <a:pt x="10266680" y="65786"/>
                    <a:pt x="10266680" y="146812"/>
                  </a:cubicBezTo>
                  <a:lnTo>
                    <a:pt x="10266680" y="7559548"/>
                  </a:lnTo>
                  <a:cubicBezTo>
                    <a:pt x="10266680" y="7640574"/>
                    <a:pt x="10200894" y="7706360"/>
                    <a:pt x="10119868" y="7706360"/>
                  </a:cubicBezTo>
                  <a:lnTo>
                    <a:pt x="146812" y="7706360"/>
                  </a:lnTo>
                  <a:cubicBezTo>
                    <a:pt x="65786" y="7706360"/>
                    <a:pt x="0" y="7640574"/>
                    <a:pt x="0" y="755954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875520" y="2578608"/>
            <a:ext cx="68580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Reach that can be acted 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4100" y="3213735"/>
            <a:ext cx="6720840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 funded resource can travel beyond the original project.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Music Hubs can share good practice between regions.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Arts organisations can understand continuing educational use.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Funders can review evidence of benefit across a wider range of users.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0180" y="8503920"/>
            <a:ext cx="1536192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904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CCDesigner cannot solve structural inequality on its own. Its realistic contribution is to reduce avoidable gaps in information, planning support, professional connection and resource visibility.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INCLUSION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Designed for different learners and different settings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Inclusion should be part of the architecture, not an accessibility paragraph added at the end.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1733550"/>
            <a:chOff x="0" y="0"/>
            <a:chExt cx="6700520" cy="231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PRUs &amp; alternative provision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512564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Short, flexible activities; small group formats; high-agency creative tasks; equipment-light options.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1733550"/>
            <a:chOff x="0" y="0"/>
            <a:chExt cx="6700520" cy="2311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SEMH settings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Activities that support communication, regulation, confidence, relationship-building and practical success.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1733550"/>
            <a:chOff x="0" y="0"/>
            <a:chExt cx="670052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SEND &amp; neurodiversity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93873"/>
            <a:ext cx="45125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Visual prompts, sensory and movement routes, non-verbal options, simplified language, and different ways to recognise progress.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3495" y="4585335"/>
            <a:ext cx="15792450" cy="2282190"/>
            <a:chOff x="0" y="0"/>
            <a:chExt cx="21056600" cy="3042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56600" cy="3042920"/>
            </a:xfrm>
            <a:custGeom>
              <a:avLst/>
              <a:gdLst/>
              <a:ahLst/>
              <a:cxnLst/>
              <a:rect r="r" b="b" t="t" l="l"/>
              <a:pathLst>
                <a:path h="3042920" w="2105660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0909026" y="0"/>
                  </a:lnTo>
                  <a:cubicBezTo>
                    <a:pt x="20990561" y="0"/>
                    <a:pt x="21056600" y="66040"/>
                    <a:pt x="21056600" y="147574"/>
                  </a:cubicBezTo>
                  <a:lnTo>
                    <a:pt x="21056600" y="2895346"/>
                  </a:lnTo>
                  <a:cubicBezTo>
                    <a:pt x="21056600" y="2976880"/>
                    <a:pt x="20990561" y="3042920"/>
                    <a:pt x="2090902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14500" y="4792980"/>
            <a:ext cx="149504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Practical implication for content editors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500" y="5269230"/>
            <a:ext cx="14813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5"/>
              </a:lnSpc>
              <a:spcBef>
                <a:spcPct val="0"/>
              </a:spcBef>
            </a:pPr>
            <a:r>
              <a:rPr lang="en-US" sz="1904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Every published activity should encourage practical adaptation rather than assume a single learner profile.</a:t>
            </a:r>
          </a:p>
          <a:p>
            <a:pPr algn="l" marL="0" indent="0" lvl="0">
              <a:lnSpc>
                <a:spcPts val="228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85"/>
              </a:lnSpc>
              <a:spcBef>
                <a:spcPct val="0"/>
              </a:spcBef>
            </a:pPr>
            <a:r>
              <a:rPr lang="en-US" sz="1904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Metadata should allow useful filters without labelling pupils reductively.</a:t>
            </a:r>
          </a:p>
          <a:p>
            <a:pPr algn="l" marL="0" indent="0" lvl="0">
              <a:lnSpc>
                <a:spcPts val="228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85"/>
              </a:lnSpc>
              <a:spcBef>
                <a:spcPct val="0"/>
              </a:spcBef>
            </a:pPr>
            <a:r>
              <a:rPr lang="en-US" sz="1904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Specialist contributors should shape collections, with safeguarding, licensing, accessibility and age checked first.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60170" y="7875270"/>
            <a:ext cx="15521940" cy="1010412"/>
            <a:chOff x="0" y="0"/>
            <a:chExt cx="20695920" cy="1347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695921" cy="1347216"/>
            </a:xfrm>
            <a:custGeom>
              <a:avLst/>
              <a:gdLst/>
              <a:ahLst/>
              <a:cxnLst/>
              <a:rect r="r" b="b" t="t" l="l"/>
              <a:pathLst>
                <a:path h="1347216" w="20695921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0546188" y="0"/>
                  </a:lnTo>
                  <a:cubicBezTo>
                    <a:pt x="20628865" y="0"/>
                    <a:pt x="20695921" y="67056"/>
                    <a:pt x="20695921" y="149733"/>
                  </a:cubicBezTo>
                  <a:lnTo>
                    <a:pt x="20695921" y="1197483"/>
                  </a:lnTo>
                  <a:cubicBezTo>
                    <a:pt x="20695921" y="1280160"/>
                    <a:pt x="20628865" y="1347216"/>
                    <a:pt x="20546188" y="1347216"/>
                  </a:cubicBezTo>
                  <a:lnTo>
                    <a:pt x="149733" y="1347216"/>
                  </a:lnTo>
                  <a:cubicBezTo>
                    <a:pt x="67056" y="1347216"/>
                    <a:pt x="0" y="1280160"/>
                    <a:pt x="0" y="1197483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62075" y="7877175"/>
            <a:ext cx="101346" cy="1006602"/>
            <a:chOff x="0" y="0"/>
            <a:chExt cx="135128" cy="1342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5128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673352" y="8106156"/>
            <a:ext cx="11787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conventional scheme often assumes a conventional classroom. Creative learning does not need 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3352" y="8450580"/>
            <a:ext cx="1495044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Creative subjects offer many ways to communicate, interpret, collaborate and show understanding.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SUSTAINABILITY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free core with a credible route to sustainability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public-benefit argument depends on keeping the central planning and connection platform accessible.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4915" y="2116455"/>
            <a:ext cx="5025390" cy="2007870"/>
            <a:chOff x="0" y="0"/>
            <a:chExt cx="670052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529459"/>
                  </a:lnTo>
                  <a:cubicBezTo>
                    <a:pt x="6700520" y="2610993"/>
                    <a:pt x="6634352" y="2677160"/>
                    <a:pt x="655281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132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Free core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1328" y="2793873"/>
            <a:ext cx="45125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Teacher planning, the personal library, connections to organisations and the central network stay free. No expensive subscription just to take part.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2007870"/>
            <a:chOff x="0" y="0"/>
            <a:chExt cx="670052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529459"/>
                  </a:lnTo>
                  <a:cubicBezTo>
                    <a:pt x="6700520" y="2610993"/>
                    <a:pt x="6634352" y="2677160"/>
                    <a:pt x="655281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Optional paid resources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Creators and specialist providers may sell packs or courses. Working assumption: a 10% Stripe commission, still to be financially tested.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60555" y="2116455"/>
            <a:ext cx="5025390" cy="2007870"/>
            <a:chOff x="0" y="0"/>
            <a:chExt cx="670052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529459"/>
                  </a:lnTo>
                  <a:cubicBezTo>
                    <a:pt x="6700520" y="2610993"/>
                    <a:pt x="6634352" y="2677160"/>
                    <a:pt x="655281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1696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Public benefit funding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6968" y="2793873"/>
            <a:ext cx="451256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5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Major publicly funded organisations are expected to share mostly free material, subject to rights. Grants can build infrastructure before commercial income is proven.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3495" y="4928235"/>
            <a:ext cx="15723870" cy="2282190"/>
            <a:chOff x="0" y="0"/>
            <a:chExt cx="20965160" cy="3042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965161" cy="3042920"/>
            </a:xfrm>
            <a:custGeom>
              <a:avLst/>
              <a:gdLst/>
              <a:ahLst/>
              <a:cxnLst/>
              <a:rect r="r" b="b" t="t" l="l"/>
              <a:pathLst>
                <a:path h="3042920" w="2096516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0817587" y="0"/>
                  </a:lnTo>
                  <a:cubicBezTo>
                    <a:pt x="20899121" y="0"/>
                    <a:pt x="20965161" y="66040"/>
                    <a:pt x="20965161" y="147574"/>
                  </a:cubicBezTo>
                  <a:lnTo>
                    <a:pt x="20965161" y="2895346"/>
                  </a:lnTo>
                  <a:cubicBezTo>
                    <a:pt x="20965161" y="2976880"/>
                    <a:pt x="20899121" y="3042920"/>
                    <a:pt x="20817587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14500" y="5321808"/>
            <a:ext cx="1481328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Other income streams to test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500" y="5829300"/>
            <a:ext cx="1467612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Commissioned CPD and implementation support.</a:t>
            </a:r>
          </a:p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Premium organisation services where they add real value.</a:t>
            </a:r>
          </a:p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Separate income from The Melting Pot products such as Assessify and PeriFeedback.</a:t>
            </a:r>
          </a:p>
          <a:p>
            <a:pPr algn="l">
              <a:lnSpc>
                <a:spcPts val="2285"/>
              </a:lnSpc>
            </a:pPr>
            <a:r>
              <a:rPr lang="en-US" sz="1904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Public, charitable or philanthropic support for specific development and access goals.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0180" y="8462772"/>
            <a:ext cx="153619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Commercial activity should sustain access rather than restrict it — with transparent payments, fair creator terms, clear licensing and a realistic cost of running the platform.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CREATOR &amp; PARTNER VALUE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practical model for creators, hubs and arts organisations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platform provides infrastructure without asking every partner to build their own planning technology.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253615"/>
            <a:ext cx="4956810" cy="1870710"/>
            <a:chOff x="0" y="0"/>
            <a:chExt cx="6609080" cy="2494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90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6090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461252" y="0"/>
                  </a:lnTo>
                  <a:cubicBezTo>
                    <a:pt x="6542913" y="0"/>
                    <a:pt x="6609080" y="66167"/>
                    <a:pt x="6609080" y="147828"/>
                  </a:cubicBezTo>
                  <a:lnTo>
                    <a:pt x="6609080" y="2346452"/>
                  </a:lnTo>
                  <a:cubicBezTo>
                    <a:pt x="6609080" y="2428113"/>
                    <a:pt x="6542913" y="2494280"/>
                    <a:pt x="64612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431923"/>
            <a:ext cx="444398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For creators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931033"/>
            <a:ext cx="444398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route to teachers, optional paid packs, feedback on what works and the ability to release some activity free.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253615"/>
            <a:ext cx="4956810" cy="1870710"/>
            <a:chOff x="0" y="0"/>
            <a:chExt cx="6609080" cy="2494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90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6090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461252" y="0"/>
                  </a:lnTo>
                  <a:cubicBezTo>
                    <a:pt x="6542913" y="0"/>
                    <a:pt x="6609080" y="66167"/>
                    <a:pt x="6609080" y="147828"/>
                  </a:cubicBezTo>
                  <a:lnTo>
                    <a:pt x="6609080" y="2346452"/>
                  </a:lnTo>
                  <a:cubicBezTo>
                    <a:pt x="6609080" y="2428113"/>
                    <a:pt x="6542913" y="2494280"/>
                    <a:pt x="64612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431923"/>
            <a:ext cx="444398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For Music Hubs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931033"/>
            <a:ext cx="444398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place for exemplar plans, local opportunities, CPD materials, teacher support and cross-region sharing.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253615"/>
            <a:ext cx="4956810" cy="1870710"/>
            <a:chOff x="0" y="0"/>
            <a:chExt cx="6609080" cy="2494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90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6090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461252" y="0"/>
                  </a:lnTo>
                  <a:cubicBezTo>
                    <a:pt x="6542913" y="0"/>
                    <a:pt x="6609080" y="66167"/>
                    <a:pt x="6609080" y="147828"/>
                  </a:cubicBezTo>
                  <a:lnTo>
                    <a:pt x="6609080" y="2346452"/>
                  </a:lnTo>
                  <a:cubicBezTo>
                    <a:pt x="6609080" y="2428113"/>
                    <a:pt x="6542913" y="2494280"/>
                    <a:pt x="64612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431923"/>
            <a:ext cx="444398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For arts organisations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931033"/>
            <a:ext cx="444398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way to make existing educational work easier to discover and use without abandoning their own websites.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62075" y="4996815"/>
            <a:ext cx="15449550" cy="2076450"/>
            <a:chOff x="0" y="0"/>
            <a:chExt cx="2059940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99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20599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451699" y="0"/>
                  </a:lnTo>
                  <a:cubicBezTo>
                    <a:pt x="20533233" y="0"/>
                    <a:pt x="20599400" y="66167"/>
                    <a:pt x="20599400" y="147701"/>
                  </a:cubicBezTo>
                  <a:lnTo>
                    <a:pt x="20599400" y="2620899"/>
                  </a:lnTo>
                  <a:cubicBezTo>
                    <a:pt x="20599400" y="2702433"/>
                    <a:pt x="20533233" y="2768600"/>
                    <a:pt x="20451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83080" y="5404104"/>
            <a:ext cx="1467612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strongest product argument for partners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94560" y="5966460"/>
            <a:ext cx="13853160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CCDesigner does not only display resources. It places trusted material inside the teacher’s real planning workflow.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0180" y="8435340"/>
            <a:ext cx="1536192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This is what turns resource publication into classroom pathway, professional learning and evidence of use.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SECTOR LEARNING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What sector conversations have changed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Organisations want reach and control; teachers have little spare time; rights and sequencing matter. These are product requirements.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0595" y="2020443"/>
            <a:ext cx="7631430" cy="1418082"/>
            <a:chOff x="0" y="0"/>
            <a:chExt cx="10175240" cy="18907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07008" y="2208276"/>
            <a:ext cx="711860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LSO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7008" y="2678811"/>
            <a:ext cx="711860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5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Rights, sequencing, control, calendars and analytics shaped the prototype. LSO is building its own platform and is not participating; the consultation remains evidence.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8775" y="2020443"/>
            <a:ext cx="7631430" cy="1418082"/>
            <a:chOff x="0" y="0"/>
            <a:chExt cx="10175240" cy="18907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505188" y="2208276"/>
            <a:ext cx="711860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Jazz North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5188" y="2678811"/>
            <a:ext cx="71186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5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Supplied prototype resources. Nigel called it “a really nice interface and a nice idea”. Helena offered funding advice and an educators’ forum invitation.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0595" y="3872103"/>
            <a:ext cx="7631430" cy="1418082"/>
            <a:chOff x="0" y="0"/>
            <a:chExt cx="10175240" cy="18907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07008" y="4059936"/>
            <a:ext cx="711860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Drama Resource / David Farmer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7008" y="4530471"/>
            <a:ext cx="71186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5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Validated efficient planning, reviewed the Drama Resource hub and introduced further contacts. David’s written testimonial encouraged teacher connection.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48775" y="3872103"/>
            <a:ext cx="7631430" cy="1418082"/>
            <a:chOff x="0" y="0"/>
            <a:chExt cx="10175240" cy="18907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505188" y="4059936"/>
            <a:ext cx="711860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Arts On The Move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5188" y="4530471"/>
            <a:ext cx="7118604" cy="6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provided a strong testimonial and highlighted teacher confidence and not “reinventing the drama wheel”.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0595" y="5723763"/>
            <a:ext cx="7631430" cy="1418082"/>
            <a:chOff x="0" y="0"/>
            <a:chExt cx="10175240" cy="18907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07008" y="5911596"/>
            <a:ext cx="711860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WeTeachDrama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7008" y="6382131"/>
            <a:ext cx="71186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5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Lucy Bellingham explored how paid resources and CPD could sit in a wider ecosystem, including licensing. Interest is positive; no formal commitment.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48775" y="5723763"/>
            <a:ext cx="7631430" cy="1418082"/>
            <a:chOff x="0" y="0"/>
            <a:chExt cx="10175240" cy="18907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7524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1752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0026904" y="0"/>
                  </a:lnTo>
                  <a:cubicBezTo>
                    <a:pt x="10108819" y="0"/>
                    <a:pt x="10175240" y="66421"/>
                    <a:pt x="10175240" y="148336"/>
                  </a:cubicBezTo>
                  <a:lnTo>
                    <a:pt x="10175240" y="1742440"/>
                  </a:lnTo>
                  <a:cubicBezTo>
                    <a:pt x="10175240" y="1824355"/>
                    <a:pt x="10108819" y="1890776"/>
                    <a:pt x="1002690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505188" y="5911596"/>
            <a:ext cx="711860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Young Voices &amp; Essex Music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05188" y="6382131"/>
            <a:ext cx="71186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5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Paul Lewis: coordination helps, but annual repertoire must be linked, time-limited or omitted. Essex: prove value against workload — do not add another login.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56335" y="7836027"/>
            <a:ext cx="15929610" cy="910590"/>
            <a:chOff x="0" y="0"/>
            <a:chExt cx="21239480" cy="1214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239480" cy="1214120"/>
            </a:xfrm>
            <a:custGeom>
              <a:avLst/>
              <a:gdLst/>
              <a:ahLst/>
              <a:cxnLst/>
              <a:rect r="r" b="b" t="t" l="l"/>
              <a:pathLst>
                <a:path h="1214120" w="21239480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21090001" y="0"/>
                  </a:lnTo>
                  <a:cubicBezTo>
                    <a:pt x="21172551" y="0"/>
                    <a:pt x="21239480" y="66929"/>
                    <a:pt x="21239480" y="149479"/>
                  </a:cubicBezTo>
                  <a:lnTo>
                    <a:pt x="21239480" y="1064641"/>
                  </a:lnTo>
                  <a:cubicBezTo>
                    <a:pt x="21239480" y="1147191"/>
                    <a:pt x="21172551" y="1214120"/>
                    <a:pt x="21090001" y="1214120"/>
                  </a:cubicBezTo>
                  <a:lnTo>
                    <a:pt x="149479" y="1214120"/>
                  </a:lnTo>
                  <a:cubicBezTo>
                    <a:pt x="66929" y="1214120"/>
                    <a:pt x="0" y="1147191"/>
                    <a:pt x="0" y="1064641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6F5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440180" y="8147304"/>
            <a:ext cx="154030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Status note: these entries record conversations, feedback and permissions. They do not imply formal partnership, endorsement or future participation unless explicitly stated.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TESTIMONIALS &amp; FEEDBACK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Sector voices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strongest endorsements identify real problems the platform could help solve.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7270" y="1977390"/>
            <a:ext cx="8046720" cy="1888236"/>
            <a:chOff x="0" y="0"/>
            <a:chExt cx="10728960" cy="25176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2517648"/>
            </a:xfrm>
            <a:custGeom>
              <a:avLst/>
              <a:gdLst/>
              <a:ahLst/>
              <a:cxnLst/>
              <a:rect r="r" b="b" t="t" l="l"/>
              <a:pathLst>
                <a:path h="2517648" w="107289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580878" y="0"/>
                  </a:lnTo>
                  <a:cubicBezTo>
                    <a:pt x="10662666" y="0"/>
                    <a:pt x="10728960" y="66294"/>
                    <a:pt x="10728960" y="148082"/>
                  </a:cubicBezTo>
                  <a:lnTo>
                    <a:pt x="10728960" y="2369566"/>
                  </a:lnTo>
                  <a:cubicBezTo>
                    <a:pt x="10728960" y="2451354"/>
                    <a:pt x="10662666" y="2517648"/>
                    <a:pt x="10580878" y="2517648"/>
                  </a:cubicBezTo>
                  <a:lnTo>
                    <a:pt x="148082" y="2517648"/>
                  </a:lnTo>
                  <a:cubicBezTo>
                    <a:pt x="66294" y="2517648"/>
                    <a:pt x="0" y="2451354"/>
                    <a:pt x="0" y="2369566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19175" y="1979295"/>
            <a:ext cx="101346" cy="1884426"/>
            <a:chOff x="0" y="0"/>
            <a:chExt cx="135128" cy="2512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128" cy="2512568"/>
            </a:xfrm>
            <a:custGeom>
              <a:avLst/>
              <a:gdLst/>
              <a:ahLst/>
              <a:cxnLst/>
              <a:rect r="r" b="b" t="t" l="l"/>
              <a:pathLst>
                <a:path h="251256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512568"/>
                  </a:lnTo>
                  <a:lnTo>
                    <a:pt x="0" y="2512568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0452" y="2208276"/>
            <a:ext cx="7475220" cy="106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“Teachers are busy people, and anything that can make their planning and development more efficient will benefit the entire arts education sector.”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452" y="3374136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David Farmer • Drama Resource • 3 Aug 2026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52610" y="1977390"/>
            <a:ext cx="8046720" cy="1888236"/>
            <a:chOff x="0" y="0"/>
            <a:chExt cx="10728960" cy="2517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2517648"/>
            </a:xfrm>
            <a:custGeom>
              <a:avLst/>
              <a:gdLst/>
              <a:ahLst/>
              <a:cxnLst/>
              <a:rect r="r" b="b" t="t" l="l"/>
              <a:pathLst>
                <a:path h="2517648" w="107289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580878" y="0"/>
                  </a:lnTo>
                  <a:cubicBezTo>
                    <a:pt x="10662666" y="0"/>
                    <a:pt x="10728960" y="66294"/>
                    <a:pt x="10728960" y="148082"/>
                  </a:cubicBezTo>
                  <a:lnTo>
                    <a:pt x="10728960" y="2369566"/>
                  </a:lnTo>
                  <a:cubicBezTo>
                    <a:pt x="10728960" y="2451354"/>
                    <a:pt x="10662666" y="2517648"/>
                    <a:pt x="10580878" y="2517648"/>
                  </a:cubicBezTo>
                  <a:lnTo>
                    <a:pt x="148082" y="2517648"/>
                  </a:lnTo>
                  <a:cubicBezTo>
                    <a:pt x="66294" y="2517648"/>
                    <a:pt x="0" y="2451354"/>
                    <a:pt x="0" y="2369566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69A0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54515" y="1979295"/>
            <a:ext cx="101346" cy="1884426"/>
            <a:chOff x="0" y="0"/>
            <a:chExt cx="135128" cy="25125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128" cy="2512568"/>
            </a:xfrm>
            <a:custGeom>
              <a:avLst/>
              <a:gdLst/>
              <a:ahLst/>
              <a:cxnLst/>
              <a:rect r="r" b="b" t="t" l="l"/>
              <a:pathLst>
                <a:path h="251256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512568"/>
                  </a:lnTo>
                  <a:lnTo>
                    <a:pt x="0" y="2512568"/>
                  </a:lnTo>
                  <a:close/>
                </a:path>
              </a:pathLst>
            </a:custGeom>
            <a:solidFill>
              <a:srgbClr val="D69A0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65792" y="2208276"/>
            <a:ext cx="7475220" cy="106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“The CCDesigner hub is a brilliant place for performing arts teachers to create lessons, store information and save useful links.”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65792" y="3374136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Alison Chaplin • Arts On The Move • 20 Aug 2026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7270" y="4405122"/>
            <a:ext cx="8046720" cy="1531620"/>
            <a:chOff x="0" y="0"/>
            <a:chExt cx="10728960" cy="2042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2042160"/>
            </a:xfrm>
            <a:custGeom>
              <a:avLst/>
              <a:gdLst/>
              <a:ahLst/>
              <a:cxnLst/>
              <a:rect r="r" b="b" t="t" l="l"/>
              <a:pathLst>
                <a:path h="2042160" w="1072896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10580497" y="0"/>
                  </a:lnTo>
                  <a:cubicBezTo>
                    <a:pt x="10662539" y="0"/>
                    <a:pt x="10728960" y="66548"/>
                    <a:pt x="10728960" y="148463"/>
                  </a:cubicBezTo>
                  <a:lnTo>
                    <a:pt x="10728960" y="1893697"/>
                  </a:lnTo>
                  <a:cubicBezTo>
                    <a:pt x="10728960" y="1975739"/>
                    <a:pt x="10662412" y="2042160"/>
                    <a:pt x="10580497" y="2042160"/>
                  </a:cubicBezTo>
                  <a:lnTo>
                    <a:pt x="148463" y="2042160"/>
                  </a:lnTo>
                  <a:cubicBezTo>
                    <a:pt x="66548" y="2042160"/>
                    <a:pt x="0" y="1975612"/>
                    <a:pt x="0" y="1893697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5D3FD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19175" y="4407027"/>
            <a:ext cx="101346" cy="1527810"/>
            <a:chOff x="0" y="0"/>
            <a:chExt cx="135128" cy="2037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5D3FD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0452" y="4636008"/>
            <a:ext cx="747522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“It’s a really nice interface and a nice idea.”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0452" y="5445252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Nigel • Jazz North discussion • 19 Aug 2026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52610" y="4405122"/>
            <a:ext cx="8046720" cy="1531620"/>
            <a:chOff x="0" y="0"/>
            <a:chExt cx="10728960" cy="2042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2042160"/>
            </a:xfrm>
            <a:custGeom>
              <a:avLst/>
              <a:gdLst/>
              <a:ahLst/>
              <a:cxnLst/>
              <a:rect r="r" b="b" t="t" l="l"/>
              <a:pathLst>
                <a:path h="2042160" w="1072896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10580497" y="0"/>
                  </a:lnTo>
                  <a:cubicBezTo>
                    <a:pt x="10662539" y="0"/>
                    <a:pt x="10728960" y="66548"/>
                    <a:pt x="10728960" y="148463"/>
                  </a:cubicBezTo>
                  <a:lnTo>
                    <a:pt x="10728960" y="1893697"/>
                  </a:lnTo>
                  <a:cubicBezTo>
                    <a:pt x="10728960" y="1975739"/>
                    <a:pt x="10662412" y="2042160"/>
                    <a:pt x="10580497" y="2042160"/>
                  </a:cubicBezTo>
                  <a:lnTo>
                    <a:pt x="148463" y="2042160"/>
                  </a:lnTo>
                  <a:cubicBezTo>
                    <a:pt x="66548" y="2042160"/>
                    <a:pt x="0" y="1975612"/>
                    <a:pt x="0" y="1893697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54515" y="4407027"/>
            <a:ext cx="101346" cy="1527810"/>
            <a:chOff x="0" y="0"/>
            <a:chExt cx="135128" cy="2037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65792" y="4636008"/>
            <a:ext cx="747522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“I can certainly see why this level of co-ordination would make sense and have a benefit to both teachers and providers.”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65792" y="5445252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Paul Lewis • Young Voices • 24 Aug 2026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30655" y="6917055"/>
            <a:ext cx="15380970" cy="1418082"/>
            <a:chOff x="0" y="0"/>
            <a:chExt cx="20507960" cy="18907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507961" cy="1890776"/>
            </a:xfrm>
            <a:custGeom>
              <a:avLst/>
              <a:gdLst/>
              <a:ahLst/>
              <a:cxnLst/>
              <a:rect r="r" b="b" t="t" l="l"/>
              <a:pathLst>
                <a:path h="1890776" w="2050796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359624" y="0"/>
                  </a:lnTo>
                  <a:cubicBezTo>
                    <a:pt x="20441538" y="0"/>
                    <a:pt x="20507961" y="66421"/>
                    <a:pt x="20507961" y="148336"/>
                  </a:cubicBezTo>
                  <a:lnTo>
                    <a:pt x="20507961" y="1742440"/>
                  </a:lnTo>
                  <a:cubicBezTo>
                    <a:pt x="20507961" y="1824355"/>
                    <a:pt x="20441538" y="1890776"/>
                    <a:pt x="2035962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783080" y="7242048"/>
            <a:ext cx="1453896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Useful counterpoint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83080" y="7708392"/>
            <a:ext cx="145389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62A49"/>
                </a:solidFill>
                <a:latin typeface="Aptos"/>
                <a:ea typeface="Aptos"/>
                <a:cs typeface="Aptos"/>
                <a:sym typeface="Aptos"/>
              </a:rPr>
              <a:t>Show enthusiasm and friction. Sarah Goldsmith, Essex Music: “save everything they need in one place.” Lucy Bellingham, WeTeachDrama, was keen to continue. LSO’s platform and Young Voices’ licences remain constraints.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DELIVERY BRIEF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Governance before scale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vision is ambitious, but the next stage should be controlled. Staged growth is a strength, not a lack of ambition.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231130" cy="2145030"/>
            <a:chOff x="0" y="0"/>
            <a:chExt cx="6974840" cy="2860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48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712466"/>
                  </a:lnTo>
                  <a:cubicBezTo>
                    <a:pt x="6974840" y="2794000"/>
                    <a:pt x="6908800" y="2860040"/>
                    <a:pt x="68272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71830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For web &amp; product designers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74823"/>
            <a:ext cx="471830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Make activity → lesson → unit obvious. Keep search and the Library central. Cut duplicate entry and repeated logins. Design mobile, tablet and desktop together, with permissions and proportionate analytics as architecture.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231130" cy="2145030"/>
            <a:chOff x="0" y="0"/>
            <a:chExt cx="6974840" cy="2860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748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712466"/>
                  </a:lnTo>
                  <a:cubicBezTo>
                    <a:pt x="6974840" y="2794000"/>
                    <a:pt x="6908800" y="2860040"/>
                    <a:pt x="68272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71830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For editors &amp; partner managers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74823"/>
            <a:ext cx="471830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Preserve creator voice and sequencing. Check copyright, licensing, age suitability and accessibility. Make free, restricted or paid status unambiguous, and route each resource toward CPD and planning.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231130" cy="2145030"/>
            <a:chOff x="0" y="0"/>
            <a:chExt cx="6974840" cy="286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748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712466"/>
                  </a:lnTo>
                  <a:cubicBezTo>
                    <a:pt x="6974840" y="2794000"/>
                    <a:pt x="6908800" y="2860040"/>
                    <a:pt x="68272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71830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For hubs &amp; organisations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74823"/>
            <a:ext cx="471830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67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Decide what travels nationally and what stays local. Start with small exemplar collections. Define which engagement evidence is useful, and how resources will be maintained after funding ends.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4915" y="4996815"/>
            <a:ext cx="15929610" cy="1733550"/>
            <a:chOff x="0" y="0"/>
            <a:chExt cx="21239480" cy="2311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23948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23948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21091525" y="0"/>
                  </a:lnTo>
                  <a:cubicBezTo>
                    <a:pt x="21173185" y="0"/>
                    <a:pt x="21239480" y="66167"/>
                    <a:pt x="21239480" y="147955"/>
                  </a:cubicBezTo>
                  <a:lnTo>
                    <a:pt x="21239480" y="2163445"/>
                  </a:lnTo>
                  <a:cubicBezTo>
                    <a:pt x="21239480" y="2245106"/>
                    <a:pt x="21173312" y="2311400"/>
                    <a:pt x="2109152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FF6F5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645920" y="5458968"/>
            <a:ext cx="1501902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national platform requires editorial review, safeguarding, copyright and licensing processes, accessibility standards, moderation, data protection, support responsibilities and a clear route for keeping partner material current.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24915" y="7465695"/>
            <a:ext cx="15929610" cy="773430"/>
            <a:chOff x="0" y="0"/>
            <a:chExt cx="21239480" cy="1031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2394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1239480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21089493" y="0"/>
                  </a:lnTo>
                  <a:cubicBezTo>
                    <a:pt x="21172297" y="0"/>
                    <a:pt x="21239480" y="67183"/>
                    <a:pt x="21239480" y="149987"/>
                  </a:cubicBezTo>
                  <a:lnTo>
                    <a:pt x="21239480" y="881253"/>
                  </a:lnTo>
                  <a:cubicBezTo>
                    <a:pt x="21239480" y="964057"/>
                    <a:pt x="21172297" y="1031240"/>
                    <a:pt x="21089493" y="1031240"/>
                  </a:cubicBezTo>
                  <a:lnTo>
                    <a:pt x="149987" y="1031240"/>
                  </a:lnTo>
                  <a:cubicBezTo>
                    <a:pt x="67183" y="1031240"/>
                    <a:pt x="0" y="964057"/>
                    <a:pt x="0" y="881253"/>
                  </a:cubicBezTo>
                  <a:close/>
                </a:path>
              </a:pathLst>
            </a:custGeom>
            <a:solidFill>
              <a:srgbClr val="162A49"/>
            </a:solidFill>
            <a:ln w="19050" cap="sq">
              <a:solidFill>
                <a:srgbClr val="162A49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508760" y="7708392"/>
            <a:ext cx="15361920" cy="21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CONNECT RATHER THAN DUPLICATE  •  SUPPORT RATHER THAN PRESCRIBE  •  MEASURE WITHOUT SURVEILLANCE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FUNDED PILOT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 sensible route from prototype to national potential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pilot should prove a narrow but complete journey before attempting scale.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1733550"/>
            <a:chOff x="0" y="0"/>
            <a:chExt cx="6700520" cy="231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1. Discovery &amp; specification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84348"/>
            <a:ext cx="451256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Partner interviews, editor workflow, permissions model, technical audit, accessibility brief.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1733550"/>
            <a:chOff x="0" y="0"/>
            <a:chExt cx="6700520" cy="2311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2. Prototype refinement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84348"/>
            <a:ext cx="451256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Activity Library, lesson builder, hub admin, calendar, PDF export and analytics tested with real content.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1733550"/>
            <a:chOff x="0" y="0"/>
            <a:chExt cx="670052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3. Teacher-led beta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84348"/>
            <a:ext cx="451256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Small group of teachers across phases and contexts, including non-specialists and specialist settings.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6335" y="4379595"/>
            <a:ext cx="5025390" cy="1733550"/>
            <a:chOff x="0" y="0"/>
            <a:chExt cx="6700520" cy="2311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2748" y="455790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4. Evaluation &amp; funding evidence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2748" y="5047488"/>
            <a:ext cx="451256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Track discovery, saving, planning, reuse, barriers and cold spots; produce funder-ready evidence.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379595"/>
            <a:ext cx="5025390" cy="1733550"/>
            <a:chOff x="0" y="0"/>
            <a:chExt cx="6700520" cy="231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552565" y="0"/>
                  </a:lnTo>
                  <a:cubicBezTo>
                    <a:pt x="6634226" y="0"/>
                    <a:pt x="6700520" y="66167"/>
                    <a:pt x="6700520" y="147955"/>
                  </a:cubicBezTo>
                  <a:lnTo>
                    <a:pt x="6700520" y="2163445"/>
                  </a:lnTo>
                  <a:cubicBezTo>
                    <a:pt x="6700520" y="2245106"/>
                    <a:pt x="6634353" y="2311400"/>
                    <a:pt x="6552565" y="2311400"/>
                  </a:cubicBezTo>
                  <a:lnTo>
                    <a:pt x="147955" y="2311400"/>
                  </a:lnTo>
                  <a:cubicBezTo>
                    <a:pt x="66167" y="2311400"/>
                    <a:pt x="0" y="2245233"/>
                    <a:pt x="0" y="21634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55790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5. Scale decision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047488"/>
            <a:ext cx="451256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Costed specification, governance model, partner onboarding process and technical roadmap.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93495" y="7313295"/>
            <a:ext cx="15723870" cy="1253490"/>
            <a:chOff x="0" y="0"/>
            <a:chExt cx="20965160" cy="1671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65159" cy="1671320"/>
            </a:xfrm>
            <a:custGeom>
              <a:avLst/>
              <a:gdLst/>
              <a:ahLst/>
              <a:cxnLst/>
              <a:rect r="r" b="b" t="t" l="l"/>
              <a:pathLst>
                <a:path h="1671320" w="20965159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816570" y="0"/>
                  </a:lnTo>
                  <a:cubicBezTo>
                    <a:pt x="20898611" y="0"/>
                    <a:pt x="20965159" y="66548"/>
                    <a:pt x="20965159" y="148590"/>
                  </a:cubicBezTo>
                  <a:lnTo>
                    <a:pt x="20965159" y="1522730"/>
                  </a:lnTo>
                  <a:cubicBezTo>
                    <a:pt x="20965159" y="1604772"/>
                    <a:pt x="20898611" y="1671320"/>
                    <a:pt x="2081657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24807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714500" y="7506843"/>
            <a:ext cx="1495044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Pilot requirements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14500" y="7982712"/>
            <a:ext cx="153619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Small number of partners and teachers • Real resources with permissions • Teacher-led usability testing • SEND / alternative-provision testing • Clear evaluation framework • Costed specification for national scale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RISK &amp; EVALUATION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Risks, assumptions and how to reduce them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project should be inspirational and practical — ambitious, but not naïve.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2076450"/>
            <a:chOff x="0" y="0"/>
            <a:chExt cx="670052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Adoption risk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Teachers have limited time. Reduce friction, avoid repeated logins and provide ready-made routes into use.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2076450"/>
            <a:chOff x="0" y="0"/>
            <a:chExt cx="6700520" cy="276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Content risk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Too much material can become noise. Curate exemplar collections before uploading large archives.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2076450"/>
            <a:chOff x="0" y="0"/>
            <a:chExt cx="6700520" cy="276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Licensing risk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Copyright, performer rights, images, music and project permissions must be reviewed before publication.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6335" y="4791075"/>
            <a:ext cx="5025390" cy="2076450"/>
            <a:chOff x="0" y="0"/>
            <a:chExt cx="670052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27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Data risk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27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Analytics must be proportionate, transparent and UK GDPR compliant.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791075"/>
            <a:ext cx="5025390" cy="2076450"/>
            <a:chOff x="0" y="0"/>
            <a:chExt cx="6700520" cy="2768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Quality risk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Editorial review, safeguarding, accessibility and age suitability must be built into the process.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29135" y="4791075"/>
            <a:ext cx="5025390" cy="2076450"/>
            <a:chOff x="0" y="0"/>
            <a:chExt cx="6700520" cy="276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855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Sustainability risk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855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Funding should test the route to sustainability before assumptions about paid content are locked in.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8439531"/>
            <a:ext cx="15361920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Evaluation should ask whether teachers can find, save, adapt, plan, teach and reuse resources — and whether partners gain useful, ethical evidence of reach.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VISION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53387" y="1234440"/>
            <a:ext cx="8072666" cy="2537460"/>
            <a:chOff x="0" y="0"/>
            <a:chExt cx="10763555" cy="3383280"/>
          </a:xfrm>
        </p:grpSpPr>
        <p:sp>
          <p:nvSpPr>
            <p:cNvPr name="Freeform 10" id="10" descr="/mnt/data/ccdeck_assets/ccdesigner_logo_transparent.png"/>
            <p:cNvSpPr/>
            <p:nvPr/>
          </p:nvSpPr>
          <p:spPr>
            <a:xfrm flipH="false" flipV="false" rot="0">
              <a:off x="0" y="0"/>
              <a:ext cx="107635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763504">
                  <a:moveTo>
                    <a:pt x="0" y="0"/>
                  </a:moveTo>
                  <a:lnTo>
                    <a:pt x="10763504" y="0"/>
                  </a:lnTo>
                  <a:lnTo>
                    <a:pt x="10763504" y="3383280"/>
                  </a:lnTo>
                  <a:lnTo>
                    <a:pt x="0" y="338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805940" y="5736076"/>
            <a:ext cx="14676120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CCDesigner is designed to make exceptional arts education easier to find, easier to use, easier to share — and much harder to lose.</a:t>
            </a:r>
          </a:p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Turn disconnected arts resources into connected classroom practice.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EARLY YEARS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Creative learning starts before Key Stage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Child-shaped and exploratory. Expressive Arts and Design sits at the heart of the EYFS framework.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Play first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Children help shape what they explore. Music, movement, role-play and materials come before a secondary classroom model.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The gap starts here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When early arts are thin, or only adult-directed, the entitlement gap starts before Key Stage 1. Later enrichment depends on those early habits.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Arts and culture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One of five enrichment areas: music, dance, theatre, museums and galleries. Special-school participation already lags mainstream.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Reusable blocks for early years, without forcing Reception into a secondary model.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Partner resources can sit beside child-led play, not instead of it.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Early confidence in music, drama and dance feeds later participation.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 Enrichment Framework starts at age 5. The habits of access start earlier.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Inclusive early practice matters, because special-school participation already lags.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EYFS statutory framework; DfE Enrichment Framework, June 2026; DfE evidence on enrichment.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PRIMARY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Arts time is already unequal in primary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Teacher Tapp / CLA 2026 is a survey, not a census. Independent schools report far more arts hours.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47% against 6%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Independent versus state primary teachers reporting more than 2.5 hours of arts a week. The gap is there before secondary.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Under an hour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About one in four primary teachers report less than an hour of arts a week. Highest-FSM schools are more likely to have cut hours: 31% against 22%.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Who leads 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Subject leads: Art 89%, Music 84%, Drama 9%, Dance 5%. 43% of primary teachers report no external partners for the arts.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Generalists carry most of the arts, especially where specialist capacity is thin.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Reusable activity blocks put strong practice within reach of a non-specialist.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Partner hubs matter most where a school has no external arts partner.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Higher-FSM schools are more likely to have reduced weekly arts hours.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Treat these as a teacher survey, not a census of every primary school.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Source: Teacher Tapp / Cultural Learning Alliance Report Card 2026.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GCSE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No exam entries is not the same as not taught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Pathways are thinner where disadvantage is higher. Arts GCSE entries were 41.7% lower in 2024/25 than in 2009/10.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Music: 36%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of schools had no GCSE Music entries in 2024/25. In 2022/23 that figure was 42%. No entries does not mean the subject is not taught.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Drama: 36%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of schools had no GCSE Drama entries in 2024/25, down from 41% in 2022/23. In the most deprived fifth the gap is 59% against 17%.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Dance: 83%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of schools had no GCSE Dance entries in 2024/25, compared with 84% in 2022/23. The exam route is missing in most schools.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Ofqual provisional summer 2026: Art +2.7%, Drama -0.9%, Music -1.3%.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Performing and Expressive Arts entries were up 1.2% in that same release.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No GCSE Music: 54% of schools in the most deprived fifth, 21% in the least.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Planning still matters in a school that no longer enters the exam.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Partner resources can keep a route open where the exam pathway has thinned.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CLA Report Card 2026; Ofqual provisional entries, 11 June 2026. “No entries” does not mean “not taught”.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A-LEVEL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29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After GCSE, the arts pathway thins again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Arts A-level entries are 25% lower than in 2011/12. In the most deprived areas they are a smaller share.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Drama: -9.5%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Provisional summer 2026 against 2025. All A-level entries rose 2.9% in the same Ofqual release.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Music: -4.9%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Provisional summer 2026 against 2025. This is the school-exam picture, not the small rise in undergraduate music.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3.8% against 5.9%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Arts subjects are 3.8% of A-levels in the most deprived fifth, and 5.9% in the least. Art and Design entries were -1.0%.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 long fall is 2011/12 to 2024/25, from the CLA Report Card 2026.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Place still shapes who stays on for an arts A-level.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Shared planning keeps a specialist route where the exam cohort is small.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Undergraduate music and drama can rise in a year when school entries fall.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One Ofqual year is not a reversal of the longer decline.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CLA Report Card 2026; Ofqual provisional A-level entries, summer 2026 against 2025.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UNIVERSITY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Creative degrees are narrowing too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Creative arts undergraduates edged down while the wider cohort rose. Nine of the ten largest falls are at modern universities.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2076450"/>
            <a:chOff x="0" y="0"/>
            <a:chExt cx="670052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Not the school fall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Undergraduate Drama rose 1.6% and Music 1.1%. In the same year A-level Drama fell 9.5% and Music 4.9%.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2076450"/>
            <a:chOff x="0" y="0"/>
            <a:chExt cx="6700520" cy="276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Provider falls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University College Birmingham -85%, Wolverhampton -58%, and St Mary’s -51%, from 2020/21 to 2024/25.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2076450"/>
            <a:chOff x="0" y="0"/>
            <a:chExt cx="6700520" cy="276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Courses closing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Kent, Northumbria and Oxford Brookes have closed courses or stopped new intake. Nottingham paused 2026/27 recruitment.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6335" y="4791075"/>
            <a:ext cx="5025390" cy="2076450"/>
            <a:chOff x="0" y="0"/>
            <a:chExt cx="670052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27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Staff losses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27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Roehampton, Kent and Cumbria are among providers that lost about two-thirds of creative arts academic staff.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791075"/>
            <a:ext cx="5025390" cy="2076450"/>
            <a:chOff x="0" y="0"/>
            <a:chExt cx="6700520" cy="2768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OfS funding cut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High-cost funding for creative and performing arts falls from £12.9 million to £0 in 2026/27.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29135" y="4791075"/>
            <a:ext cx="5025390" cy="2076450"/>
            <a:chOff x="0" y="0"/>
            <a:chExt cx="6700520" cy="276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855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What continues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855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Performing Arts Specialist Initiative remains at £9.6 million. Specialist-provider funding continues.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8439531"/>
            <a:ext cx="15361920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 school pipeline feeds this. Lower GCSE and A-level take-up thins later demand. Sources: HESA via CLA 2026; OfS 2026/27.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PLACE AND INCOME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Where you live still shapes the arts you get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gap starts early and travels upward. Free access cannot, on its own, remove structural poverty.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Music and drama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No GCSE Music: 54% against 21%. No GCSE Drama: 59% against 17%. Most versus least deprived fifth of local authorities.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Two regions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The West Midlands and the North East have the highest free-school-meal rates, and are among the lowest regional shares of arts GCSE and A-level entries.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After 18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FSM-eligible pupils are under-represented in arts GCSEs and in Music, Dance and Drama A-levels. Disadvantaged students are more likely to live at home while studying.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Arts are 3.8% of A-levels in the most deprived fifth, and 5.9% in the least.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Nine of the ten largest creative-arts degree falls are at modern universities.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 realistic contribution is information, planning and connection.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Hub and organisation resources need a route into those schools’ planning.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Aggregated use can show where materials are not travelling.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DfE Curriculum and Assessment Review annex, Tables 18–19, 2024/25; CLA Report Card 2026.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ENRICHMENT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After the bell is part of a good education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Enrichment Framework, June 2026, is non-statutory guidance for schools, colleges and partners.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Five areas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Civic engagement; arts and culture; nature and adventure; sport; life and future skills. Schools judge themselves from identifying through to sustaining.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Who takes part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75% of schools offered musical performance in 2024–25. Reported participation was 72% at KS1–3, 60% at KS4, and 45% in special schools.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Benchmark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Work with partners beyond the school staff, locally or online. Hubs, resources, CPD, events and add-to-planning are that infrastructure.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Also close: curriculum intent, communication, access, outcomes and review.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An optional framework layer can tag activities. It should not be a second system.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Evidence for leaders has to stay lighter than a compliance exercise.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£22.5m over three years is aimed at up to 400 schools, not every school.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This does not replace safeguarding checks or due diligence on providers.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DfE Enrichment Framework, June 2026; DfE evidence on enrichment in schools and colleges.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MUSIC HUBS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Three funding lines, not one uplift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Hub revenue, capital and the National Centre do different jobs. They are not added together as one increase.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£76m a year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Music Hub revenue has been held near £76m in cash since 2019. Music Mark notes £76m in 2019 is about £100m in today’s money.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£25m capital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separate line for instruments and technology. It is not a like-for-like rise in the annual revenue grant to hubs.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£13m centre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Up to £13m over three years for the National Centre. A further £22.5m enrichment programme targets up to 400 schools.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The Centre is due in September 2026. Hub oversight follows from August 2027.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Real-terms pressure is why shared resources need to travel further.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Funders can see use without analytics becoming surveillance.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Local hub identity stays. What travels is practice, not a takeover.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CCDesigner is independent of the Centre and of the Hub programme.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Turn It Up, 13 July 2026; Music Mark comparison cited in the facts briefing. Not an endorsement.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NATIONAL PLANS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Policy is writing the arts back 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years entries fell are also the years music was written back into national plans and free resources.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7755" y="2322195"/>
            <a:ext cx="5162550" cy="2007870"/>
            <a:chOff x="0" y="0"/>
            <a:chExt cx="688340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DE8E3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4168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EBacc measures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Headline and additional KS4 EBacc measures go from 2025/26. The Review found they constrained arts and vocational choice.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6723" y="2322195"/>
            <a:ext cx="5162550" cy="2007870"/>
            <a:chOff x="0" y="0"/>
            <a:chExt cx="6883400" cy="2677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03136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Curriculum, 2028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136" y="2990088"/>
            <a:ext cx="464972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reformed National Curriculum, with music as an entitlement, is to be taught from September 2028. Revised GCSEs are expected from 2029.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05691" y="2322195"/>
            <a:ext cx="5162550" cy="2007870"/>
            <a:chOff x="0" y="0"/>
            <a:chExt cx="6883400" cy="2677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4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6883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735699" y="0"/>
                  </a:lnTo>
                  <a:cubicBezTo>
                    <a:pt x="6817233" y="0"/>
                    <a:pt x="6883400" y="66167"/>
                    <a:pt x="6883400" y="147701"/>
                  </a:cubicBezTo>
                  <a:lnTo>
                    <a:pt x="6883400" y="2529459"/>
                  </a:lnTo>
                  <a:cubicBezTo>
                    <a:pt x="6883400" y="2610993"/>
                    <a:pt x="6817233" y="2677160"/>
                    <a:pt x="67356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F4EFFD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104" y="2500503"/>
            <a:ext cx="464972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Free resources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104" y="2990088"/>
            <a:ext cx="46497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889" strike="noStrike" u="none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Oak, BBC Teach, Ten Pieces, Arts Council Music Hub guidance and Youth Music already publish material schools can use at no charge.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5187" y="4859655"/>
            <a:ext cx="16135350" cy="3310890"/>
            <a:chOff x="0" y="0"/>
            <a:chExt cx="2151380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138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1513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66607" y="0"/>
                  </a:lnTo>
                  <a:cubicBezTo>
                    <a:pt x="21447888" y="0"/>
                    <a:pt x="21513800" y="65913"/>
                    <a:pt x="21513800" y="147193"/>
                  </a:cubicBezTo>
                  <a:lnTo>
                    <a:pt x="21513800" y="4267327"/>
                  </a:lnTo>
                  <a:cubicBezTo>
                    <a:pt x="21513800" y="4348607"/>
                    <a:pt x="21447888" y="4414520"/>
                    <a:pt x="21366607" y="4414520"/>
                  </a:cubicBezTo>
                  <a:lnTo>
                    <a:pt x="147193" y="4414520"/>
                  </a:lnTo>
                  <a:cubicBezTo>
                    <a:pt x="65913" y="4414520"/>
                    <a:pt x="0" y="4348607"/>
                    <a:pt x="0" y="42673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08760" y="5184648"/>
            <a:ext cx="15361920" cy="25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National Centre: September 2026, online CPD, Hub oversight from August 2027.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SEND and disadvantage pilot: £2m from government, plus £3.85m from ACE and Youth Music.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That pilot offers free lessons for up to 1,000 pupils.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Discover Creative Careers is refreshed with £9m over three years.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•  CCDesigner sits alongside these, and keeps what teachers actually use.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" y="8503920"/>
            <a:ext cx="1543050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1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Sources: Curriculum and Assessment Review; Turn It Up, 13 July 2026. Context, not endorsement.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FURTHER VOICES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Two conversations, in their words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These sit with the testimonials already in the deck. Interest is not a partnership.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7270" y="1977390"/>
            <a:ext cx="8046720" cy="1888236"/>
            <a:chOff x="0" y="0"/>
            <a:chExt cx="10728960" cy="25176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2517648"/>
            </a:xfrm>
            <a:custGeom>
              <a:avLst/>
              <a:gdLst/>
              <a:ahLst/>
              <a:cxnLst/>
              <a:rect r="r" b="b" t="t" l="l"/>
              <a:pathLst>
                <a:path h="2517648" w="107289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580878" y="0"/>
                  </a:lnTo>
                  <a:cubicBezTo>
                    <a:pt x="10662666" y="0"/>
                    <a:pt x="10728960" y="66294"/>
                    <a:pt x="10728960" y="148082"/>
                  </a:cubicBezTo>
                  <a:lnTo>
                    <a:pt x="10728960" y="2369566"/>
                  </a:lnTo>
                  <a:cubicBezTo>
                    <a:pt x="10728960" y="2451354"/>
                    <a:pt x="10662666" y="2517648"/>
                    <a:pt x="10580878" y="2517648"/>
                  </a:cubicBezTo>
                  <a:lnTo>
                    <a:pt x="148082" y="2517648"/>
                  </a:lnTo>
                  <a:cubicBezTo>
                    <a:pt x="66294" y="2517648"/>
                    <a:pt x="0" y="2451354"/>
                    <a:pt x="0" y="2369566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19175" y="1979295"/>
            <a:ext cx="101346" cy="1884426"/>
            <a:chOff x="0" y="0"/>
            <a:chExt cx="135128" cy="2512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128" cy="2512568"/>
            </a:xfrm>
            <a:custGeom>
              <a:avLst/>
              <a:gdLst/>
              <a:ahLst/>
              <a:cxnLst/>
              <a:rect r="r" b="b" t="t" l="l"/>
              <a:pathLst>
                <a:path h="251256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512568"/>
                  </a:lnTo>
                  <a:lnTo>
                    <a:pt x="0" y="2512568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0452" y="2208276"/>
            <a:ext cx="7475220" cy="106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“It would be great if there was a place where teachers could save everything they need in one place.”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452" y="3374136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Sarah Goldsmith  ·  Essex Music Hub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52610" y="1977390"/>
            <a:ext cx="8046720" cy="1888236"/>
            <a:chOff x="0" y="0"/>
            <a:chExt cx="10728960" cy="2517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2517648"/>
            </a:xfrm>
            <a:custGeom>
              <a:avLst/>
              <a:gdLst/>
              <a:ahLst/>
              <a:cxnLst/>
              <a:rect r="r" b="b" t="t" l="l"/>
              <a:pathLst>
                <a:path h="2517648" w="107289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580878" y="0"/>
                  </a:lnTo>
                  <a:cubicBezTo>
                    <a:pt x="10662666" y="0"/>
                    <a:pt x="10728960" y="66294"/>
                    <a:pt x="10728960" y="148082"/>
                  </a:cubicBezTo>
                  <a:lnTo>
                    <a:pt x="10728960" y="2369566"/>
                  </a:lnTo>
                  <a:cubicBezTo>
                    <a:pt x="10728960" y="2451354"/>
                    <a:pt x="10662666" y="2517648"/>
                    <a:pt x="10580878" y="2517648"/>
                  </a:cubicBezTo>
                  <a:lnTo>
                    <a:pt x="148082" y="2517648"/>
                  </a:lnTo>
                  <a:cubicBezTo>
                    <a:pt x="66294" y="2517648"/>
                    <a:pt x="0" y="2451354"/>
                    <a:pt x="0" y="2369566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69A0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54515" y="1979295"/>
            <a:ext cx="101346" cy="1884426"/>
            <a:chOff x="0" y="0"/>
            <a:chExt cx="135128" cy="25125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128" cy="2512568"/>
            </a:xfrm>
            <a:custGeom>
              <a:avLst/>
              <a:gdLst/>
              <a:ahLst/>
              <a:cxnLst/>
              <a:rect r="r" b="b" t="t" l="l"/>
              <a:pathLst>
                <a:path h="251256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512568"/>
                  </a:lnTo>
                  <a:lnTo>
                    <a:pt x="0" y="2512568"/>
                  </a:lnTo>
                  <a:close/>
                </a:path>
              </a:pathLst>
            </a:custGeom>
            <a:solidFill>
              <a:srgbClr val="D69A0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65792" y="2208276"/>
            <a:ext cx="7475220" cy="106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“I would like to continue this conversation and explore how WeTeachDrama resources could sit within a wider ecosystem.”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65792" y="3374136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Lucy Bellingham  ·  WeTeachDrama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7270" y="4405122"/>
            <a:ext cx="8046720" cy="1531620"/>
            <a:chOff x="0" y="0"/>
            <a:chExt cx="10728960" cy="2042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2042160"/>
            </a:xfrm>
            <a:custGeom>
              <a:avLst/>
              <a:gdLst/>
              <a:ahLst/>
              <a:cxnLst/>
              <a:rect r="r" b="b" t="t" l="l"/>
              <a:pathLst>
                <a:path h="2042160" w="1072896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10580497" y="0"/>
                  </a:lnTo>
                  <a:cubicBezTo>
                    <a:pt x="10662539" y="0"/>
                    <a:pt x="10728960" y="66548"/>
                    <a:pt x="10728960" y="148463"/>
                  </a:cubicBezTo>
                  <a:lnTo>
                    <a:pt x="10728960" y="1893697"/>
                  </a:lnTo>
                  <a:cubicBezTo>
                    <a:pt x="10728960" y="1975739"/>
                    <a:pt x="10662412" y="2042160"/>
                    <a:pt x="10580497" y="2042160"/>
                  </a:cubicBezTo>
                  <a:lnTo>
                    <a:pt x="148463" y="2042160"/>
                  </a:lnTo>
                  <a:cubicBezTo>
                    <a:pt x="66548" y="2042160"/>
                    <a:pt x="0" y="1975612"/>
                    <a:pt x="0" y="1893697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5D3FD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19175" y="4407027"/>
            <a:ext cx="101346" cy="1527810"/>
            <a:chOff x="0" y="0"/>
            <a:chExt cx="135128" cy="2037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5D3FD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0452" y="4636008"/>
            <a:ext cx="747522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“Do not change the original. Teachers adapt a copy. The creator’s version stays intact.”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0452" y="5445252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Editorial principle  ·  for partners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52610" y="4405122"/>
            <a:ext cx="8046720" cy="1531620"/>
            <a:chOff x="0" y="0"/>
            <a:chExt cx="10728960" cy="2042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2042160"/>
            </a:xfrm>
            <a:custGeom>
              <a:avLst/>
              <a:gdLst/>
              <a:ahLst/>
              <a:cxnLst/>
              <a:rect r="r" b="b" t="t" l="l"/>
              <a:pathLst>
                <a:path h="2042160" w="1072896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10580497" y="0"/>
                  </a:lnTo>
                  <a:cubicBezTo>
                    <a:pt x="10662539" y="0"/>
                    <a:pt x="10728960" y="66548"/>
                    <a:pt x="10728960" y="148463"/>
                  </a:cubicBezTo>
                  <a:lnTo>
                    <a:pt x="10728960" y="1893697"/>
                  </a:lnTo>
                  <a:cubicBezTo>
                    <a:pt x="10728960" y="1975739"/>
                    <a:pt x="10662412" y="2042160"/>
                    <a:pt x="10580497" y="2042160"/>
                  </a:cubicBezTo>
                  <a:lnTo>
                    <a:pt x="148463" y="2042160"/>
                  </a:lnTo>
                  <a:cubicBezTo>
                    <a:pt x="66548" y="2042160"/>
                    <a:pt x="0" y="1975612"/>
                    <a:pt x="0" y="1893697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4807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54515" y="4407027"/>
            <a:ext cx="101346" cy="1527810"/>
            <a:chOff x="0" y="0"/>
            <a:chExt cx="135128" cy="2037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24807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65792" y="4636008"/>
            <a:ext cx="747522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“Record the conversation. Do not imply a partnership, endorsement or funding commitment.”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65792" y="5445252"/>
            <a:ext cx="74752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425" strike="noStrike" u="non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How these notes should be read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30655" y="6917055"/>
            <a:ext cx="15380970" cy="1418082"/>
            <a:chOff x="0" y="0"/>
            <a:chExt cx="20507960" cy="18907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507961" cy="1890776"/>
            </a:xfrm>
            <a:custGeom>
              <a:avLst/>
              <a:gdLst/>
              <a:ahLst/>
              <a:cxnLst/>
              <a:rect r="r" b="b" t="t" l="l"/>
              <a:pathLst>
                <a:path h="1890776" w="2050796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359624" y="0"/>
                  </a:lnTo>
                  <a:cubicBezTo>
                    <a:pt x="20441538" y="0"/>
                    <a:pt x="20507961" y="66421"/>
                    <a:pt x="20507961" y="148336"/>
                  </a:cubicBezTo>
                  <a:lnTo>
                    <a:pt x="20507961" y="1742440"/>
                  </a:lnTo>
                  <a:cubicBezTo>
                    <a:pt x="20507961" y="1824355"/>
                    <a:pt x="20441538" y="1890776"/>
                    <a:pt x="20359624" y="1890776"/>
                  </a:cubicBezTo>
                  <a:lnTo>
                    <a:pt x="148336" y="1890776"/>
                  </a:lnTo>
                  <a:cubicBezTo>
                    <a:pt x="66421" y="1890776"/>
                    <a:pt x="0" y="1824355"/>
                    <a:pt x="0" y="1742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783080" y="7242048"/>
            <a:ext cx="1453896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Not a partnership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83080" y="7708392"/>
            <a:ext cx="145389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62A49"/>
                </a:solidFill>
                <a:latin typeface="Aptos"/>
                <a:ea typeface="Aptos"/>
                <a:cs typeface="Aptos"/>
                <a:sym typeface="Aptos"/>
              </a:rPr>
              <a:t>LSO shaped early thinking and is not participating. Young Voices needs time-limited repertoire. None of these notes is a formal commitment.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KEEP THIS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What should not be lost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The ambition is national. These are the lines a later build should not trade away.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2076450"/>
            <a:chOff x="0" y="0"/>
            <a:chExt cx="670052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Free 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Planning, the personal library and connections to organisations stay free. No subscription just to take part.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2076450"/>
            <a:chOff x="0" y="0"/>
            <a:chExt cx="6700520" cy="276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Teacher control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AI may suggest approved content. It must not replace judgement or silently rewrite a creator’s expertise.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2076450"/>
            <a:chOff x="0" y="0"/>
            <a:chExt cx="6700520" cy="276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Creator’s original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Rights, sequencing and the original activity stay intact. A teacher adapts a copy, not the source.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6335" y="4791075"/>
            <a:ext cx="5025390" cy="2076450"/>
            <a:chOff x="0" y="0"/>
            <a:chExt cx="670052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27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Hub identity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27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A hub can stay local. Resources can be public, restricted or ring-fenced, and still be reusable.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791075"/>
            <a:ext cx="5025390" cy="2076450"/>
            <a:chOff x="0" y="0"/>
            <a:chExt cx="6700520" cy="2768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No surveillance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Use is authenticated and aggregated by phase, region and hub. Not raw IP addresses. Not a watch on teachers.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29135" y="4791075"/>
            <a:ext cx="5025390" cy="2076450"/>
            <a:chOff x="0" y="0"/>
            <a:chExt cx="6700520" cy="276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855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Prove, then scale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855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One complete journey first: find, save, adapt, plan, teach, reuse. Governance before a national launch.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8439531"/>
            <a:ext cx="15361920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Free at the core. The teacher decides. The creator’s original stays intact. Measure use without surveillance.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855" y="539115"/>
            <a:ext cx="16821150" cy="53340"/>
            <a:chOff x="0" y="0"/>
            <a:chExt cx="22428200" cy="7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28200" cy="71120"/>
            </a:xfrm>
            <a:custGeom>
              <a:avLst/>
              <a:gdLst/>
              <a:ahLst/>
              <a:cxnLst/>
              <a:rect r="r" b="b" t="t" l="l"/>
              <a:pathLst>
                <a:path h="71120" w="22428200">
                  <a:moveTo>
                    <a:pt x="0" y="0"/>
                  </a:moveTo>
                  <a:lnTo>
                    <a:pt x="22428200" y="0"/>
                  </a:lnTo>
                  <a:lnTo>
                    <a:pt x="22428200" y="7112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D9E3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137160"/>
            <a:ext cx="8503920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SOURCES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13280" y="131293"/>
            <a:ext cx="2263140" cy="272348"/>
            <a:chOff x="0" y="0"/>
            <a:chExt cx="3017520" cy="363131"/>
          </a:xfrm>
        </p:grpSpPr>
        <p:sp>
          <p:nvSpPr>
            <p:cNvPr name="Freeform 6" id="6" descr="/mnt/data/ccdeck_assets/rhythmstix_logo_transparent.png"/>
            <p:cNvSpPr/>
            <p:nvPr/>
          </p:nvSpPr>
          <p:spPr>
            <a:xfrm flipH="false" flipV="false" rot="0">
              <a:off x="0" y="0"/>
              <a:ext cx="3017520" cy="363093"/>
            </a:xfrm>
            <a:custGeom>
              <a:avLst/>
              <a:gdLst/>
              <a:ahLst/>
              <a:cxnLst/>
              <a:rect r="r" b="b" t="t" l="l"/>
              <a:pathLst>
                <a:path h="36309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3093"/>
                  </a:lnTo>
                  <a:lnTo>
                    <a:pt x="0" y="36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3580" y="9660255"/>
            <a:ext cx="3429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37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9619107"/>
            <a:ext cx="301752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ccdesigner.co.uk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0392"/>
            <a:ext cx="12618720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Where the figures come from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" y="1526667"/>
            <a:ext cx="15773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C697D"/>
                </a:solidFill>
                <a:latin typeface="Aptos"/>
                <a:ea typeface="Aptos"/>
                <a:cs typeface="Aptos"/>
                <a:sym typeface="Aptos"/>
              </a:rPr>
              <a:t>Official publications, plus the project’s own conversation record. Context, not a result for CCDesigner.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6335" y="2116455"/>
            <a:ext cx="5025390" cy="2076450"/>
            <a:chOff x="0" y="0"/>
            <a:chExt cx="670052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7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Entry totals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Cultural Learning Alliance Report Card 2026. GCSE -41.7% from 2009/10. A-level -25% from 2011/12. Hours -21%. Teachers -14% versus 2010.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735" y="2116455"/>
            <a:ext cx="5025390" cy="2076450"/>
            <a:chOff x="0" y="0"/>
            <a:chExt cx="6700520" cy="276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991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2026 exams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91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Ofqual provisional entries for summer 2026, published 11 June 2026. GCSE and A-level movements are on the new slides.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9135" y="2116455"/>
            <a:ext cx="5025390" cy="2076450"/>
            <a:chOff x="0" y="0"/>
            <a:chExt cx="6700520" cy="276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85548" y="229476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D3FD3"/>
                </a:solidFill>
                <a:latin typeface="Aptos Bold"/>
                <a:ea typeface="Aptos Bold"/>
                <a:cs typeface="Aptos Bold"/>
                <a:sym typeface="Aptos Bold"/>
              </a:rPr>
              <a:t>School access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5548" y="279387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DfE music GCSE statistics, and the Curriculum and Assessment Review annex, Tables 18 and 19, for 2024/25.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6335" y="4791075"/>
            <a:ext cx="5025390" cy="2076450"/>
            <a:chOff x="0" y="0"/>
            <a:chExt cx="670052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27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48078"/>
                </a:solidFill>
                <a:latin typeface="Aptos Bold"/>
                <a:ea typeface="Aptos Bold"/>
                <a:cs typeface="Aptos Bold"/>
                <a:sym typeface="Aptos Bold"/>
              </a:rPr>
              <a:t>Primary years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27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Teacher Tapp / CLA primary survey 2026. EYFS statutory framework. DfE evidence on enrichment, including special schools.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42735" y="4791075"/>
            <a:ext cx="5025390" cy="2076450"/>
            <a:chOff x="0" y="0"/>
            <a:chExt cx="6700520" cy="2768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8991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6F5F"/>
                </a:solidFill>
                <a:latin typeface="Aptos Bold"/>
                <a:ea typeface="Aptos Bold"/>
                <a:cs typeface="Aptos Bold"/>
                <a:sym typeface="Aptos Bold"/>
              </a:rPr>
              <a:t>Funding lines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91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Turn It Up, 13 July 2026. Enrichment Framework, June 2026. OfS grant funding for 2026/27, including the move to £0.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29135" y="4791075"/>
            <a:ext cx="5025390" cy="2076450"/>
            <a:chOff x="0" y="0"/>
            <a:chExt cx="6700520" cy="276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05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67005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552819" y="0"/>
                  </a:lnTo>
                  <a:cubicBezTo>
                    <a:pt x="6634352" y="0"/>
                    <a:pt x="6700520" y="66167"/>
                    <a:pt x="6700520" y="147701"/>
                  </a:cubicBezTo>
                  <a:lnTo>
                    <a:pt x="6700520" y="2620899"/>
                  </a:lnTo>
                  <a:cubicBezTo>
                    <a:pt x="6700520" y="2702433"/>
                    <a:pt x="6634352" y="2768600"/>
                    <a:pt x="65528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3E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85548" y="4969383"/>
            <a:ext cx="4512564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D69A00"/>
                </a:solidFill>
                <a:latin typeface="Aptos Bold"/>
                <a:ea typeface="Aptos Bold"/>
                <a:cs typeface="Aptos Bold"/>
                <a:sym typeface="Aptos Bold"/>
              </a:rPr>
              <a:t>This project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85548" y="5468493"/>
            <a:ext cx="45125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0C1830"/>
                </a:solidFill>
                <a:latin typeface="Aptos"/>
                <a:ea typeface="Aptos"/>
                <a:cs typeface="Aptos"/>
                <a:sym typeface="Aptos"/>
              </a:rPr>
              <a:t>Sector conversations, August 2026. Quotes record interest and advice. They are not partnerships unless a later agreement says so.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8439531"/>
            <a:ext cx="15361920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true">
                <a:solidFill>
                  <a:srgbClr val="162A49"/>
                </a:solidFill>
                <a:latin typeface="Aptos Bold"/>
                <a:ea typeface="Aptos Bold"/>
                <a:cs typeface="Aptos Bold"/>
                <a:sym typeface="Aptos Bold"/>
              </a:rPr>
              <a:t>These figures describe the context. They are not evidence that CCDesigner itself changes national participation.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DAHWqbtxFAo</dc:identifier>
  <dcterms:modified xsi:type="dcterms:W3CDTF">2011-08-01T06:04:30Z</dcterms:modified>
  <cp:revision>1</cp:revision>
  <dc:title>Chris Pitch</dc:title>
</cp:coreProperties>
</file>